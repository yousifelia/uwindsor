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31"/>
  </p:notesMasterIdLst>
  <p:sldIdLst>
    <p:sldId id="440" r:id="rId3"/>
    <p:sldId id="256" r:id="rId4"/>
    <p:sldId id="257" r:id="rId5"/>
    <p:sldId id="3401" r:id="rId6"/>
    <p:sldId id="258" r:id="rId7"/>
    <p:sldId id="259" r:id="rId8"/>
    <p:sldId id="3402" r:id="rId9"/>
    <p:sldId id="260" r:id="rId10"/>
    <p:sldId id="261" r:id="rId11"/>
    <p:sldId id="3403" r:id="rId12"/>
    <p:sldId id="262" r:id="rId13"/>
    <p:sldId id="263" r:id="rId14"/>
    <p:sldId id="264" r:id="rId15"/>
    <p:sldId id="265" r:id="rId16"/>
    <p:sldId id="266" r:id="rId17"/>
    <p:sldId id="3404" r:id="rId18"/>
    <p:sldId id="267" r:id="rId19"/>
    <p:sldId id="268" r:id="rId20"/>
    <p:sldId id="269" r:id="rId21"/>
    <p:sldId id="270" r:id="rId22"/>
    <p:sldId id="271" r:id="rId23"/>
    <p:sldId id="272" r:id="rId24"/>
    <p:sldId id="3407" r:id="rId25"/>
    <p:sldId id="3405" r:id="rId26"/>
    <p:sldId id="3406" r:id="rId27"/>
    <p:sldId id="3400" r:id="rId28"/>
    <p:sldId id="2867" r:id="rId29"/>
    <p:sldId id="441" r:id="rId30"/>
  </p:sldIdLst>
  <p:sldSz cx="615315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62" autoAdjust="0"/>
  </p:normalViewPr>
  <p:slideViewPr>
    <p:cSldViewPr>
      <p:cViewPr varScale="1">
        <p:scale>
          <a:sx n="172" d="100"/>
          <a:sy n="172" d="100"/>
        </p:scale>
        <p:origin x="1386" y="138"/>
      </p:cViewPr>
      <p:guideLst>
        <p:guide orient="horz" pos="2880"/>
        <p:guide pos="28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520" units="cm"/>
          <inkml:channel name="Y" type="integer" min="-185" max="900" units="cm"/>
          <inkml:channel name="T" type="integer" max="2.14748E9" units="dev"/>
        </inkml:traceFormat>
        <inkml:channelProperties>
          <inkml:channelProperty channel="X" name="resolution" value="176.05177" units="1/cm"/>
          <inkml:channelProperty channel="Y" name="resolution" value="62.35632" units="1/cm"/>
          <inkml:channelProperty channel="T" name="resolution" value="1" units="1/dev"/>
        </inkml:channelProperties>
      </inkml:inkSource>
      <inkml:timestamp xml:id="ts0" timeString="2021-03-09T13:50:30.6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988 3872 0,'9'0'16,"0"0"-1,-18 0 64,-9 9-64,-9 0-15,10 0 16,-10 0-16,-44 71 31,53-54-15,0 1-16,9 0 15,0 8-15,0 72 32,18 18-1,0-98-31,0-1 15,0 10-15,0-1 16,0 1-16,0 0 16,0 8-16,0-8 15,-27 53 17,0-80-32,9 0 15,-18-1 1,1 10-16,-1-9 15,-9 0-15,10 0 0,-1 0 16,9-9 31,27 9 15,18 0-62,-1 0 16,1-1-16,-9 10 16,9 0-16,-10 0 15,1 9 1,-9-10-16,0 10 0,27 116 47,-27-108-47,-1 1 15,1-1-15,-9 19 16,0-28 0,18 179 31,-18-169-32,0-10-15,0 1 0,-9 0 16,9 0-16,-35 222 62,26-205-62,0 28 16,9-28 0,9-8-16,0-1 15,35 90 16,36-27 1,-62-80-32,9-10 15,-18 1-15,26 0 47,-26-9-31,-18 0 62,0-9-62,-8 0-16,-19-17 15,9-10-15</inkml:trace>
  <inkml:trace contextRef="#ctx0" brushRef="#br0" timeOffset="25076.55">730 7103 0,'-9'0'16,"9"-9"-16,-9 9 15,-27 18 16,28 0-31,-1 8 16,0 1-16,0 0 16,0 0-16,0-1 15,0 1-15,-26 151 47,35-151-31,0 8-16,0-8 15,0 0-15,8-1 16,-8 1-16,9 0 16,0 0-16,0-1 15,0 1-15,-9 0 16,0-18-16,-9 8 16,-18 10-1,-62 0 16,81-27-15,-1 0-16,18 9 63,-1 0-48,1-1-15,0 1 16,9 0-16,0 0 15,-9 9-15,9 0 16,8 8-16,19 81 47,-36-80-47,0 0 16,-9-1-16,0 1 0,-9 62 31,-27 54 0,27-117-15,0 1-16,0 9 15,0-1-15,1 1 16,-1-10-16,0 19 16,0-9-16,0-1 15,0 1-15,-18 124 47,18-124-47,1-10 0,-1 1 16,9 35-1,0-35-15,0 0 16,9-1-16,26 28 47,-44-54 15,0 0-46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ECA20-93C4-46D0-BF63-DCB64BBFAD74}" type="datetimeFigureOut">
              <a:rPr lang="en-CA" smtClean="0"/>
              <a:t>2025-10-29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8413" y="433388"/>
            <a:ext cx="2073275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69739-F0CB-4B6A-8C14-8D0A836D251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1361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85A15C-93E2-F040-B9B5-7FEEF9327D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576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🧠 Purpose of the Program</a:t>
            </a:r>
          </a:p>
          <a:p>
            <a:r>
              <a:rPr lang="en-US" dirty="0"/>
              <a:t>This program demonstrates </a:t>
            </a:r>
            <a:r>
              <a:rPr lang="en-US" b="1" dirty="0"/>
              <a:t>signal handling</a:t>
            </a:r>
            <a:r>
              <a:rPr lang="en-US" dirty="0"/>
              <a:t> in C — specifically how to use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alarm()</a:t>
            </a:r>
            <a:r>
              <a:rPr lang="en-US" dirty="0"/>
              <a:t> function with a custom signal handler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SIGALRM</a:t>
            </a:r>
            <a:r>
              <a:rPr lang="en-US" dirty="0"/>
              <a:t>.</a:t>
            </a:r>
          </a:p>
          <a:p>
            <a:r>
              <a:rPr lang="en-US" dirty="0"/>
              <a:t>It repeatedly prints a message every 5 seconds, exactly 7 times (0 through 6), then exits.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🧩 Code Breakdown</a:t>
            </a:r>
          </a:p>
          <a:p>
            <a:r>
              <a:rPr lang="en-US" b="1" dirty="0"/>
              <a:t>1. Includes: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stdlib.h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unistd.h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dirty="0"/>
              <a:t>These bring in functions for I/O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dirty="0"/>
              <a:t>), process control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alarm</a:t>
            </a:r>
            <a:r>
              <a:rPr lang="en-US" dirty="0"/>
              <a:t>), and signal handling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</a:t>
            </a:r>
            <a:r>
              <a:rPr lang="en-US" dirty="0"/>
              <a:t>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Signal Handler Function: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AlarmHandler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dummy)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static int n = 0;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if (n++ &lt; 6)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("Beeping Beeping.\n");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alarm(5);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 else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exit(0);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 int n = 0;</a:t>
            </a:r>
            <a:r>
              <a:rPr lang="en-US" dirty="0"/>
              <a:t> keeps track of how many times the alarm has gone off.</a:t>
            </a:r>
          </a:p>
          <a:p>
            <a:pPr lvl="1"/>
            <a:r>
              <a:rPr lang="en-US" dirty="0"/>
              <a:t>Because it’s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en-US" dirty="0"/>
              <a:t>, the value of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dirty="0"/>
              <a:t> persists between function calls.</a:t>
            </a:r>
          </a:p>
          <a:p>
            <a:r>
              <a:rPr lang="en-US" dirty="0"/>
              <a:t>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n-US" dirty="0"/>
              <a:t> statement checks if the counter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dirty="0"/>
              <a:t> is less than 6.</a:t>
            </a:r>
          </a:p>
          <a:p>
            <a:pPr lvl="1"/>
            <a:r>
              <a:rPr lang="en-US" dirty="0"/>
              <a:t>If true → prints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"Beeping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."</a:t>
            </a:r>
            <a:r>
              <a:rPr lang="en-US" dirty="0"/>
              <a:t> and schedules another alarm for 5 seconds later.</a:t>
            </a:r>
          </a:p>
          <a:p>
            <a:pPr lvl="1"/>
            <a:r>
              <a:rPr lang="en-US" dirty="0"/>
              <a:t>If false → calls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exit(0)</a:t>
            </a:r>
            <a:r>
              <a:rPr lang="en-US" dirty="0"/>
              <a:t> to terminate the program.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alarm(5)</a:t>
            </a:r>
            <a:r>
              <a:rPr lang="en-US" dirty="0"/>
              <a:t> schedules the next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SIGALRM</a:t>
            </a:r>
            <a:r>
              <a:rPr lang="en-US" dirty="0"/>
              <a:t> signal to occur in </a:t>
            </a:r>
            <a:r>
              <a:rPr lang="en-US" b="1" dirty="0"/>
              <a:t>5 seconds</a:t>
            </a:r>
            <a:r>
              <a:rPr lang="en-US" dirty="0"/>
              <a:t>.</a:t>
            </a:r>
          </a:p>
          <a:p>
            <a:r>
              <a:rPr lang="en-US" dirty="0"/>
              <a:t>So effectively, every 5 seconds the function runs again, prints, and reschedules itself — up to 7 times.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The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b="1" dirty="0"/>
              <a:t> Function: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main(int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char 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alarm(5);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signal(SIGALRM,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AlarmHandler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while (1)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pause();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alarm(5);</a:t>
            </a:r>
            <a:r>
              <a:rPr lang="en-US" dirty="0"/>
              <a:t> — schedules the first alarm signal 5 seconds after the program starts.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signal(SIGALRM,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AlarmHandler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  <a:r>
              <a:rPr lang="en-US" dirty="0"/>
              <a:t> — tells the OS to run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AlarmHandler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whenever the signal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SIGALRM</a:t>
            </a:r>
            <a:r>
              <a:rPr lang="en-US" dirty="0"/>
              <a:t> occurs.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while(1) pause();</a:t>
            </a:r>
            <a:r>
              <a:rPr lang="en-US" dirty="0"/>
              <a:t> — puts the program to sleep until a signal is received.</a:t>
            </a:r>
          </a:p>
          <a:p>
            <a:pPr lvl="1"/>
            <a:r>
              <a:rPr lang="en-US" dirty="0"/>
              <a:t>When a signal (in this case,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SIGALRM</a:t>
            </a:r>
            <a:r>
              <a:rPr lang="en-US" dirty="0"/>
              <a:t>) arrives,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</a:t>
            </a:r>
            <a:r>
              <a:rPr lang="en-US" dirty="0"/>
              <a:t> returns and the signal handler runs.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⏱️ Program Flow Example</a:t>
            </a:r>
          </a:p>
          <a:p>
            <a:r>
              <a:rPr lang="en-US" dirty="0"/>
              <a:t>Program starts → sets an alarm for 5 seconds.</a:t>
            </a:r>
          </a:p>
          <a:p>
            <a:r>
              <a:rPr lang="en-US" dirty="0"/>
              <a:t>After 5 seconds → OS sends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SIGALRM</a:t>
            </a:r>
            <a:r>
              <a:rPr lang="en-US" dirty="0"/>
              <a:t> → runs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AlarmHandler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/>
              <a:t>Handler prints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dirty="0"/>
              <a:t> → reschedules another alarm.</a:t>
            </a:r>
          </a:p>
          <a:p>
            <a:r>
              <a:rPr lang="en-US" dirty="0"/>
              <a:t>This repeats 7 times.</a:t>
            </a:r>
          </a:p>
          <a:p>
            <a:r>
              <a:rPr lang="en-US" dirty="0"/>
              <a:t>After the 7th time, the handler calls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exit(0)</a:t>
            </a:r>
            <a:r>
              <a:rPr lang="en-US" dirty="0"/>
              <a:t> → program ends.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🧩 Output Example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Beeping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dirty="0"/>
              <a:t>Then the program exits cleanly.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269739-F0CB-4B6A-8C14-8D0A836D251D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6334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🧠 Purpose of the Program</a:t>
            </a:r>
          </a:p>
          <a:p>
            <a:r>
              <a:rPr lang="en-US" dirty="0"/>
              <a:t>This code demonstrates how a </a:t>
            </a:r>
            <a:r>
              <a:rPr lang="en-US" b="1" dirty="0"/>
              <a:t>parent process</a:t>
            </a:r>
            <a:r>
              <a:rPr lang="en-US" dirty="0"/>
              <a:t> and a </a:t>
            </a:r>
            <a:r>
              <a:rPr lang="en-US" b="1" dirty="0"/>
              <a:t>child process</a:t>
            </a:r>
            <a:r>
              <a:rPr lang="en-US" dirty="0"/>
              <a:t> (created with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) can coordinate their execution using </a:t>
            </a:r>
            <a:r>
              <a:rPr lang="en-US" b="1" dirty="0"/>
              <a:t>signals</a:t>
            </a:r>
            <a:r>
              <a:rPr lang="en-US" dirty="0"/>
              <a:t> — in this case,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SIGALRM</a:t>
            </a:r>
            <a:r>
              <a:rPr lang="en-US" dirty="0"/>
              <a:t>.</a:t>
            </a:r>
          </a:p>
          <a:p>
            <a:r>
              <a:rPr lang="en-US" dirty="0"/>
              <a:t>The goal:</a:t>
            </a:r>
          </a:p>
          <a:p>
            <a:r>
              <a:rPr lang="en-US" dirty="0"/>
              <a:t>The child process waits until the parent gives it permission to continue.</a:t>
            </a:r>
          </a:p>
          <a:p>
            <a:r>
              <a:rPr lang="en-US" dirty="0"/>
              <a:t>The parent "wakes up" the child by sending a signal after doing its own work.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🧩 Code Breakdown</a:t>
            </a:r>
          </a:p>
          <a:p>
            <a:r>
              <a:rPr lang="en-US" b="1" dirty="0"/>
              <a:t>Includes: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stdlib.h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unistd.h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dirty="0"/>
              <a:t>These headers provide the needed functions: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sleep()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</a:t>
            </a:r>
            <a:r>
              <a:rPr lang="en-US" dirty="0"/>
              <a:t>,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kill()</a:t>
            </a:r>
            <a:r>
              <a:rPr lang="en-US" dirty="0"/>
              <a:t> from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unistd.h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signal()</a:t>
            </a:r>
            <a:r>
              <a:rPr lang="en-US" dirty="0"/>
              <a:t> and signal handling from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exit()</a:t>
            </a:r>
            <a:r>
              <a:rPr lang="en-US" dirty="0"/>
              <a:t> from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stdlib.h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Signal Handler Definition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myAlarmHandler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myAlarmHandler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dummy) {};</a:t>
            </a:r>
          </a:p>
          <a:p>
            <a:r>
              <a:rPr lang="en-US" dirty="0"/>
              <a:t>This defines an </a:t>
            </a:r>
            <a:r>
              <a:rPr lang="en-US" b="1" dirty="0"/>
              <a:t>empty signal handler</a:t>
            </a:r>
            <a:r>
              <a:rPr lang="en-US" dirty="0"/>
              <a:t> — it does nothing but exists so that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</a:t>
            </a:r>
            <a:r>
              <a:rPr lang="en-US" dirty="0"/>
              <a:t> can return when the signal arrives.</a:t>
            </a:r>
            <a:br>
              <a:rPr lang="en-US" dirty="0"/>
            </a:br>
            <a:r>
              <a:rPr lang="en-US" dirty="0"/>
              <a:t>Without it, the default behavior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SIGALRM</a:t>
            </a:r>
            <a:r>
              <a:rPr lang="en-US" dirty="0"/>
              <a:t> is to terminate the process.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b="1" dirty="0"/>
              <a:t> function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main(int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char 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dirty="0"/>
              <a:t>Declares a process ID variable to store the return of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Parent and Child Process Split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((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fork()) &gt; 0)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Parent process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("My child should wait until I am done\n");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sleep(4);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("Child, now you can do your job\n");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kill(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SIGALRM); // let the child wake up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("Parent Exiting\n");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else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Child process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("I have to wait for my parent\n");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signal(SIGALRM,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myAlarmHandler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pause();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("OK, now I can do my job\n");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sleep(2);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("Child Exiting\n");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exit(0);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🧩 Step-by-Step Explanation</a:t>
            </a:r>
          </a:p>
          <a:p>
            <a:r>
              <a:rPr lang="en-US" b="1" dirty="0"/>
              <a:t>🧱 Step 1 —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endParaRPr lang="en-US" b="1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creates a </a:t>
            </a:r>
            <a:r>
              <a:rPr lang="en-US" b="1" dirty="0"/>
              <a:t>child process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dirty="0"/>
              <a:t> in the </a:t>
            </a:r>
            <a:r>
              <a:rPr lang="en-US" b="1" dirty="0"/>
              <a:t>parent</a:t>
            </a:r>
            <a:r>
              <a:rPr lang="en-US" dirty="0"/>
              <a:t> gets the </a:t>
            </a:r>
            <a:r>
              <a:rPr lang="en-US" b="1" dirty="0"/>
              <a:t>child’s PID</a:t>
            </a:r>
            <a:r>
              <a:rPr lang="en-US" dirty="0"/>
              <a:t> (a positive number).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dirty="0"/>
              <a:t> in the </a:t>
            </a:r>
            <a:r>
              <a:rPr lang="en-US" b="1" dirty="0"/>
              <a:t>child</a:t>
            </a:r>
            <a:r>
              <a:rPr lang="en-US" dirty="0"/>
              <a:t> gets </a:t>
            </a:r>
            <a:r>
              <a:rPr lang="en-US" b="1" dirty="0"/>
              <a:t>0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🧱 Step 2 — Parent Branch 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 0</a:t>
            </a:r>
            <a:r>
              <a:rPr lang="en-US" b="1" dirty="0"/>
              <a:t>)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("My child should wait until I am done\n");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sleep(4);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("Child, now you can do your job\n");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kill(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SIGALRM);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("Parent Exiting\n");</a:t>
            </a:r>
          </a:p>
          <a:p>
            <a:r>
              <a:rPr lang="en-US" dirty="0"/>
              <a:t>Prints a message.</a:t>
            </a:r>
          </a:p>
          <a:p>
            <a:r>
              <a:rPr lang="en-US" dirty="0"/>
              <a:t>Sleeps for 4 seconds to simulate doing some work.</a:t>
            </a:r>
          </a:p>
          <a:p>
            <a:r>
              <a:rPr lang="en-US" dirty="0"/>
              <a:t>Sends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SIGALRM</a:t>
            </a:r>
            <a:r>
              <a:rPr lang="en-US" dirty="0"/>
              <a:t> to the child process using: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kill(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SIGALRM);</a:t>
            </a:r>
          </a:p>
          <a:p>
            <a:r>
              <a:rPr lang="en-US" dirty="0"/>
              <a:t>This triggers the child’s signal handler.</a:t>
            </a:r>
          </a:p>
          <a:p>
            <a:r>
              <a:rPr lang="en-US" dirty="0"/>
              <a:t>Prints that it’s exiting.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🧱 Step 3 — Child Branch 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0</a:t>
            </a:r>
            <a:r>
              <a:rPr lang="en-US" b="1" dirty="0"/>
              <a:t>)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("I have to wait for my parent\n");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signal(SIGALRM,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myAlarmHandler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pause();</a:t>
            </a:r>
          </a:p>
          <a:p>
            <a:r>
              <a:rPr lang="en-US" dirty="0"/>
              <a:t>Prints that it must wait.</a:t>
            </a:r>
          </a:p>
          <a:p>
            <a:r>
              <a:rPr lang="en-US" dirty="0"/>
              <a:t>Installs the signal handler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SIGALRM</a:t>
            </a:r>
            <a:r>
              <a:rPr lang="en-US" dirty="0"/>
              <a:t> so it won’t quit when it receives the signal.</a:t>
            </a:r>
          </a:p>
          <a:p>
            <a:r>
              <a:rPr lang="en-US" dirty="0"/>
              <a:t>Calls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</a:t>
            </a:r>
            <a:r>
              <a:rPr lang="en-US" dirty="0"/>
              <a:t> — this makes the child </a:t>
            </a:r>
            <a:r>
              <a:rPr lang="en-US" b="1" dirty="0"/>
              <a:t>sleep</a:t>
            </a:r>
            <a:r>
              <a:rPr lang="en-US" dirty="0"/>
              <a:t> until any signal arrives.</a:t>
            </a:r>
          </a:p>
          <a:p>
            <a:r>
              <a:rPr lang="en-US" dirty="0"/>
              <a:t>When the parent sends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SIGALRM</a:t>
            </a:r>
            <a:r>
              <a:rPr lang="en-US" dirty="0"/>
              <a:t>, the handler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myAlarmHandler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runs (doing nothing),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</a:t>
            </a:r>
            <a:r>
              <a:rPr lang="en-US" dirty="0"/>
              <a:t> returns.</a:t>
            </a:r>
          </a:p>
          <a:p>
            <a:r>
              <a:rPr lang="en-US" dirty="0"/>
              <a:t>Then the child continues: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("OK, now I can do my job\n");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sleep(2);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("Child Exiting\n");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🧭 Execution Flow</a:t>
            </a:r>
          </a:p>
          <a:p>
            <a:r>
              <a:rPr lang="en-US" dirty="0"/>
              <a:t>Here’s what happens chronologically: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Parent: My child should wait until I am done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Child:  I have to wait for my parent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--- 4 seconds pass ---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Parent: Child, now you can do your job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Child:  OK, now I can do my job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Parent: Parent Exiting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--- 2 seconds pass ---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Child:  Child Exiting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⚙️ Concepts Demonstrated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→ creates a child process.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signal()</a:t>
            </a:r>
            <a:r>
              <a:rPr lang="en-US" dirty="0"/>
              <a:t> → installs a custom signal handler.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</a:t>
            </a:r>
            <a:r>
              <a:rPr lang="en-US" dirty="0"/>
              <a:t> → suspends execution until a signal is received.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kill(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SIGALRM)</a:t>
            </a:r>
            <a:r>
              <a:rPr lang="en-US" dirty="0"/>
              <a:t> → sends a signal from parent to child.</a:t>
            </a:r>
          </a:p>
          <a:p>
            <a:r>
              <a:rPr lang="en-US" dirty="0"/>
              <a:t>Basic </a:t>
            </a:r>
            <a:r>
              <a:rPr lang="en-US" b="1" dirty="0"/>
              <a:t>inter-process synchronization</a:t>
            </a:r>
            <a:r>
              <a:rPr lang="en-US" dirty="0"/>
              <a:t> using signals instead of pipes or semaphores.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269739-F0CB-4B6A-8C14-8D0A836D251D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8197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Excellent — this version is a great evolution of the previous signal example.</a:t>
            </a:r>
            <a:br>
              <a:rPr lang="en-US" dirty="0"/>
            </a:br>
            <a:r>
              <a:rPr lang="en-US" dirty="0"/>
              <a:t>It demonstrates </a:t>
            </a:r>
            <a:r>
              <a:rPr lang="en-US" b="1" dirty="0"/>
              <a:t>two-way synchronization between parent and child</a:t>
            </a:r>
            <a:r>
              <a:rPr lang="en-US" dirty="0"/>
              <a:t> using signals — so instead of just the parent waking the child, both take turns running.</a:t>
            </a:r>
          </a:p>
          <a:p>
            <a:r>
              <a:rPr lang="en-US" dirty="0"/>
              <a:t>Let’s unpack it carefully.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🧠 Purpose of the Program</a:t>
            </a:r>
          </a:p>
          <a:p>
            <a:r>
              <a:rPr lang="en-US" dirty="0"/>
              <a:t>This program shows </a:t>
            </a:r>
            <a:r>
              <a:rPr lang="en-US" b="1" dirty="0"/>
              <a:t>process alternation</a:t>
            </a:r>
            <a:r>
              <a:rPr lang="en-US" dirty="0"/>
              <a:t> — the parent and child take turns printing messages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is running</a:t>
            </a:r>
            <a:r>
              <a:rPr lang="en-US" dirty="0"/>
              <a:t> /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is running</a:t>
            </a:r>
            <a:r>
              <a:rPr lang="en-US" dirty="0"/>
              <a:t>) by signaling each other with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SIGUSR1</a:t>
            </a:r>
            <a:r>
              <a:rPr lang="en-US" dirty="0"/>
              <a:t>.</a:t>
            </a:r>
          </a:p>
          <a:p>
            <a:r>
              <a:rPr lang="en-US" dirty="0"/>
              <a:t>Each process “pauses” itself and waits for the signal from the other before continuing — kind of like a relay race.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🧩 Code Breakdown</a:t>
            </a:r>
          </a:p>
          <a:p>
            <a:r>
              <a:rPr lang="en-US" b="1" dirty="0"/>
              <a:t>1. Includes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stdlib.h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unistd.h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dirty="0"/>
              <a:t>These are needed for: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sleep()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</a:t>
            </a:r>
            <a:r>
              <a:rPr lang="en-US" dirty="0"/>
              <a:t>,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kill()</a:t>
            </a:r>
            <a:r>
              <a:rPr lang="en-US" dirty="0"/>
              <a:t> — process control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signal()</a:t>
            </a:r>
            <a:r>
              <a:rPr lang="en-US" dirty="0"/>
              <a:t> — handling signals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exit()</a:t>
            </a:r>
            <a:r>
              <a:rPr lang="en-US" dirty="0"/>
              <a:t> — basic I/O and termination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Signal Handler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action(int);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action(int dummy)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sleep(1);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("Switching\n");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/>
              <a:t>This is the </a:t>
            </a:r>
            <a:r>
              <a:rPr lang="en-US" b="1" dirty="0"/>
              <a:t>signal handler</a:t>
            </a:r>
            <a:r>
              <a:rPr lang="en-US" dirty="0"/>
              <a:t>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SIGUSR1</a:t>
            </a:r>
            <a:r>
              <a:rPr lang="en-US" dirty="0"/>
              <a:t>.</a:t>
            </a:r>
          </a:p>
          <a:p>
            <a:r>
              <a:rPr lang="en-US" dirty="0"/>
              <a:t>It does a short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sleep(1)</a:t>
            </a:r>
            <a:r>
              <a:rPr lang="en-US" dirty="0"/>
              <a:t> (a delay to make output readable) and prints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"Switching"</a:t>
            </a:r>
            <a:r>
              <a:rPr lang="en-US" dirty="0"/>
              <a:t>.</a:t>
            </a:r>
          </a:p>
          <a:p>
            <a:r>
              <a:rPr lang="en-US" dirty="0"/>
              <a:t>Importantly, the handler’s presence lets the process wake up from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</a:t>
            </a:r>
            <a:r>
              <a:rPr lang="en-US" dirty="0"/>
              <a:t> whenever it receives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SIGUSR1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b="1" dirty="0"/>
              <a:t> function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main(int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char 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if ((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fork()) &gt; 0) {  // Parent process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sleep(1);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while (1)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("Parent is running\n");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kill(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SIGUSR1);       // Signal the child to run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signal(SIGUSR1, action);  // Set handler for when child replies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pause();                  // Wait for child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 else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while (1) {  // Child process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signal(SIGUSR1, action);  // Set handler for when parent signals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pause();                  // Wait for parent's signal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("Child is running\n");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kill(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(), SIGUSR1); // Notify parent to continue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🔁 Step-by-Step Execution</a:t>
            </a:r>
          </a:p>
          <a:p>
            <a:r>
              <a:rPr lang="en-US" b="1" dirty="0"/>
              <a:t>1. Process Creation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creates a child.</a:t>
            </a:r>
          </a:p>
          <a:p>
            <a:r>
              <a:rPr lang="en-US" dirty="0"/>
              <a:t>The parent gets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 0</a:t>
            </a:r>
            <a:r>
              <a:rPr lang="en-US" dirty="0"/>
              <a:t>; the child gets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0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Parent Starts First</a:t>
            </a:r>
          </a:p>
          <a:p>
            <a:r>
              <a:rPr lang="en-US" dirty="0"/>
              <a:t>The parent sleeps for 1 second (to ensure the child is ready).</a:t>
            </a:r>
          </a:p>
          <a:p>
            <a:r>
              <a:rPr lang="en-US" dirty="0"/>
              <a:t>Then it enters an infinite loop: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("Parent is running\n");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kill(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SIGUSR1);       // Wakes the child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signal(SIGUSR1, action);  // Prepares for child’s signal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pause();                  // Waits for child’s signal back</a:t>
            </a:r>
          </a:p>
          <a:p>
            <a:r>
              <a:rPr lang="en-US" dirty="0"/>
              <a:t>So, it prints, signals the child, and then </a:t>
            </a:r>
            <a:r>
              <a:rPr lang="en-US" b="1" dirty="0"/>
              <a:t>pauses</a:t>
            </a:r>
            <a:r>
              <a:rPr lang="en-US" dirty="0"/>
              <a:t> waiting for a signal from the child.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Child Waits Initially</a:t>
            </a:r>
          </a:p>
          <a:p>
            <a:r>
              <a:rPr lang="en-US" dirty="0"/>
              <a:t>The child starts and immediately runs: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signal(SIGUSR1, action);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pause();</a:t>
            </a:r>
          </a:p>
          <a:p>
            <a:r>
              <a:rPr lang="en-US" dirty="0"/>
              <a:t>It installs the same handler and waits.</a:t>
            </a:r>
          </a:p>
          <a:p>
            <a:r>
              <a:rPr lang="en-US" dirty="0"/>
              <a:t>When the parent sends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SIGUSR1</a:t>
            </a:r>
            <a:r>
              <a:rPr lang="en-US" dirty="0"/>
              <a:t>, the child’s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action()</a:t>
            </a:r>
            <a:r>
              <a:rPr lang="en-US" dirty="0"/>
              <a:t> handler executes — printing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"Switching"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After that,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</a:t>
            </a:r>
            <a:r>
              <a:rPr lang="en-US" dirty="0"/>
              <a:t> returns and the child prints: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("Child is running\n");</a:t>
            </a:r>
          </a:p>
          <a:p>
            <a:r>
              <a:rPr lang="en-US" dirty="0"/>
              <a:t>Then the child signals the parent to wake up: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kill(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(), SIGUSR1);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Alternating Loop</a:t>
            </a:r>
          </a:p>
          <a:p>
            <a:r>
              <a:rPr lang="en-US" dirty="0"/>
              <a:t>This creates a continuous alternation: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is running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Switching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is running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Switching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is running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Switching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is running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Switching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dirty="0"/>
              <a:t>Each process runs once, then signals the other to continue.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🧭 Summary of Roles</a:t>
            </a:r>
          </a:p>
          <a:p>
            <a:r>
              <a:rPr lang="en-US" dirty="0" err="1"/>
              <a:t>ProcessActionSignal</a:t>
            </a:r>
            <a:r>
              <a:rPr lang="en-US" dirty="0"/>
              <a:t> </a:t>
            </a:r>
            <a:r>
              <a:rPr lang="en-US" dirty="0" err="1"/>
              <a:t>SentSignal</a:t>
            </a:r>
            <a:r>
              <a:rPr lang="en-US" dirty="0"/>
              <a:t> </a:t>
            </a:r>
            <a:r>
              <a:rPr lang="en-US" dirty="0" err="1"/>
              <a:t>WaitedParentPrints</a:t>
            </a:r>
            <a:r>
              <a:rPr lang="en-US" dirty="0"/>
              <a:t> “Parent is running”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SIGUSR1</a:t>
            </a:r>
            <a:r>
              <a:rPr lang="en-US" dirty="0"/>
              <a:t> to </a:t>
            </a:r>
            <a:r>
              <a:rPr lang="en-US" dirty="0" err="1"/>
              <a:t>childWaits</a:t>
            </a:r>
            <a:r>
              <a:rPr lang="en-US" dirty="0"/>
              <a:t>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SIGUSR1</a:t>
            </a:r>
            <a:r>
              <a:rPr lang="en-US" dirty="0"/>
              <a:t> from </a:t>
            </a:r>
            <a:r>
              <a:rPr lang="en-US" dirty="0" err="1"/>
              <a:t>childChildPrints</a:t>
            </a:r>
            <a:r>
              <a:rPr lang="en-US" dirty="0"/>
              <a:t> “Child is running”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SIGUSR1</a:t>
            </a:r>
            <a:r>
              <a:rPr lang="en-US" dirty="0"/>
              <a:t> to </a:t>
            </a:r>
            <a:r>
              <a:rPr lang="en-US" dirty="0" err="1"/>
              <a:t>parentWaits</a:t>
            </a:r>
            <a:r>
              <a:rPr lang="en-US" dirty="0"/>
              <a:t>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SIGUSR1</a:t>
            </a:r>
            <a:r>
              <a:rPr lang="en-US" dirty="0"/>
              <a:t> from parent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⚙️ Concepts Demonstrated</a:t>
            </a:r>
          </a:p>
          <a:p>
            <a:r>
              <a:rPr lang="en-US" b="1" dirty="0"/>
              <a:t>Bidirectional signaling</a:t>
            </a:r>
            <a:r>
              <a:rPr lang="en-US" dirty="0"/>
              <a:t> using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SIGUSR1</a:t>
            </a:r>
            <a:endParaRPr lang="en-US" dirty="0"/>
          </a:p>
          <a:p>
            <a:r>
              <a:rPr lang="en-US" b="1" dirty="0"/>
              <a:t>Process synchronization</a:t>
            </a:r>
            <a:r>
              <a:rPr lang="en-US" dirty="0"/>
              <a:t> — only one process runs at a time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signal()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</a:t>
            </a:r>
            <a:r>
              <a:rPr lang="en-US" dirty="0"/>
              <a:t> coordination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kill()</a:t>
            </a:r>
            <a:r>
              <a:rPr lang="en-US" dirty="0"/>
              <a:t> to communicate between parent and child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⚠️ Potential Improvement</a:t>
            </a:r>
          </a:p>
          <a:p>
            <a:r>
              <a:rPr lang="en-US" dirty="0"/>
              <a:t>The code works but can be improved slightly:</a:t>
            </a:r>
          </a:p>
          <a:p>
            <a:r>
              <a:rPr lang="en-US" dirty="0"/>
              <a:t>Move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signal(SIGUSR1, action);</a:t>
            </a:r>
            <a:r>
              <a:rPr lang="en-US" dirty="0"/>
              <a:t> </a:t>
            </a:r>
            <a:r>
              <a:rPr lang="en-US" i="1" dirty="0"/>
              <a:t>outside</a:t>
            </a:r>
            <a:r>
              <a:rPr lang="en-US" dirty="0"/>
              <a:t> the while loop — no need to reinstall the handler every time.</a:t>
            </a:r>
          </a:p>
          <a:p>
            <a:r>
              <a:rPr lang="en-US" dirty="0"/>
              <a:t>Add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fflush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stdout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  <a:r>
              <a:rPr lang="en-US" dirty="0"/>
              <a:t> after each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to ensure immediate output (especially when using buffered output in terminals).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269739-F0CB-4B6A-8C14-8D0A836D251D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3412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Excellent — this is a great example that demonstrates </a:t>
            </a:r>
            <a:r>
              <a:rPr lang="en-US" b="1" dirty="0"/>
              <a:t>signal handling for child process termination</a:t>
            </a:r>
            <a:r>
              <a:rPr lang="en-US" dirty="0"/>
              <a:t>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SIGCHLD</a:t>
            </a:r>
            <a:r>
              <a:rPr lang="en-US" dirty="0"/>
              <a:t>) in C.</a:t>
            </a:r>
            <a:br>
              <a:rPr lang="en-US" dirty="0"/>
            </a:br>
            <a:r>
              <a:rPr lang="en-US" dirty="0"/>
              <a:t>Let’s go through it carefully — it teaches one of the most important topics in Unix process management: </a:t>
            </a:r>
            <a:r>
              <a:rPr lang="en-US" b="1" dirty="0"/>
              <a:t>how to clean up zombie processes</a:t>
            </a:r>
            <a:r>
              <a:rPr lang="en-US" dirty="0"/>
              <a:t> automatically.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🧠 Purpose of the Program</a:t>
            </a:r>
          </a:p>
          <a:p>
            <a:r>
              <a:rPr lang="en-US" dirty="0"/>
              <a:t>This program creates </a:t>
            </a:r>
            <a:r>
              <a:rPr lang="en-US" b="1" dirty="0"/>
              <a:t>child processes repeatedly</a:t>
            </a:r>
            <a:r>
              <a:rPr lang="en-US" dirty="0"/>
              <a:t> and uses a </a:t>
            </a:r>
            <a:r>
              <a:rPr lang="en-US" b="1" dirty="0"/>
              <a:t>signal handler</a:t>
            </a:r>
            <a:r>
              <a:rPr lang="en-US" dirty="0"/>
              <a:t> to detect when a child terminates.</a:t>
            </a:r>
            <a:br>
              <a:rPr lang="en-US" dirty="0"/>
            </a:br>
            <a:r>
              <a:rPr lang="en-US" dirty="0"/>
              <a:t>When a child exits, the parent receives the signal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SIGCHLD</a:t>
            </a:r>
            <a:r>
              <a:rPr lang="en-US" dirty="0"/>
              <a:t> and calls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US" dirty="0"/>
              <a:t> to collect the child’s exit status — preventing “zombie” processes.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🧩 Code Breakdown</a:t>
            </a:r>
          </a:p>
          <a:p>
            <a:r>
              <a:rPr lang="en-US" b="1" dirty="0"/>
              <a:t>1. Header Files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stdlib.h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unistd.h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&lt;sys/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dirty="0"/>
              <a:t>These provide: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b="1" dirty="0"/>
              <a:t>,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sleep()</a:t>
            </a:r>
            <a:r>
              <a:rPr lang="en-US" dirty="0"/>
              <a:t> → process creation and timing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signal()</a:t>
            </a:r>
            <a:r>
              <a:rPr lang="en-US" dirty="0"/>
              <a:t> → signal management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US" dirty="0"/>
              <a:t> → child process cleanup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b="1" dirty="0"/>
              <a:t> /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exit()</a:t>
            </a:r>
            <a:r>
              <a:rPr lang="en-US" dirty="0"/>
              <a:t> → standard I/O and termination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Signal Handler Function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childDeath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dummy)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status;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wait(&amp;status);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("Child %d has terminated\n",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This function runs </a:t>
            </a:r>
            <a:r>
              <a:rPr lang="en-US" b="1" dirty="0"/>
              <a:t>automatically</a:t>
            </a:r>
            <a:r>
              <a:rPr lang="en-US" dirty="0"/>
              <a:t> when the parent receives the signal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SIGCHLD</a:t>
            </a:r>
            <a:r>
              <a:rPr lang="en-US" dirty="0"/>
              <a:t>, meaning a child has ended.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wait(&amp;status)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Returns the PID of the terminated child.</a:t>
            </a:r>
          </a:p>
          <a:p>
            <a:pPr lvl="1"/>
            <a:r>
              <a:rPr lang="en-US" dirty="0"/>
              <a:t>Removes that child from the system’s process table (so it’s not a zombie).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  <a:r>
              <a:rPr lang="en-US" dirty="0"/>
              <a:t> shows which child ended.</a:t>
            </a:r>
          </a:p>
          <a:p>
            <a:r>
              <a:rPr lang="en-US" dirty="0"/>
              <a:t>If multiple children exit nearly at once, this handler might run several times — once for each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SIGCHLD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b="1" dirty="0"/>
              <a:t> Function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main(int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char *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while(1)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signal(SIGCHLD,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childDeath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if ((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fork()) == 0)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sleep(random() % 20);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exit(0);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("Created a child,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=%d\n",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sleep(2);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🔁 Step-by-Step Execution</a:t>
            </a:r>
          </a:p>
          <a:p>
            <a:r>
              <a:rPr lang="en-US" dirty="0"/>
              <a:t>The parent enters an </a:t>
            </a:r>
            <a:r>
              <a:rPr lang="en-US" b="1" dirty="0"/>
              <a:t>infinite loop</a:t>
            </a:r>
            <a:r>
              <a:rPr lang="en-US" dirty="0"/>
              <a:t>.</a:t>
            </a:r>
          </a:p>
          <a:p>
            <a:r>
              <a:rPr lang="en-US" dirty="0"/>
              <a:t>Installs the signal handler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SIGCHLD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signal(SIGCHLD,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childDeath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dirty="0"/>
              <a:t>Calls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 the </a:t>
            </a:r>
            <a:r>
              <a:rPr lang="en-US" b="1" dirty="0"/>
              <a:t>child</a:t>
            </a:r>
            <a:r>
              <a:rPr lang="en-US" dirty="0"/>
              <a:t>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0</a:t>
            </a:r>
            <a:r>
              <a:rPr lang="en-US" dirty="0"/>
              <a:t>):</a:t>
            </a:r>
          </a:p>
          <a:p>
            <a:pPr lvl="2"/>
            <a:r>
              <a:rPr lang="en-US" dirty="0"/>
              <a:t>Sleeps for a </a:t>
            </a:r>
            <a:r>
              <a:rPr lang="en-US" b="1" dirty="0"/>
              <a:t>random duration</a:t>
            </a:r>
            <a:r>
              <a:rPr lang="en-US" dirty="0"/>
              <a:t> (0–19 seconds).</a:t>
            </a:r>
          </a:p>
          <a:p>
            <a:pPr lvl="2"/>
            <a:r>
              <a:rPr lang="en-US" dirty="0"/>
              <a:t>Then calls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exit(0)</a:t>
            </a:r>
            <a:r>
              <a:rPr lang="en-US" dirty="0"/>
              <a:t> → sends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SIGCHLD</a:t>
            </a:r>
            <a:r>
              <a:rPr lang="en-US" dirty="0"/>
              <a:t> to the parent.</a:t>
            </a:r>
          </a:p>
          <a:p>
            <a:pPr lvl="1"/>
            <a:r>
              <a:rPr lang="en-US" dirty="0"/>
              <a:t>In the </a:t>
            </a:r>
            <a:r>
              <a:rPr lang="en-US" b="1" dirty="0"/>
              <a:t>parent</a:t>
            </a:r>
            <a:r>
              <a:rPr lang="en-US" dirty="0"/>
              <a:t>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&gt; 0</a:t>
            </a:r>
            <a:r>
              <a:rPr lang="en-US" dirty="0"/>
              <a:t>):</a:t>
            </a:r>
          </a:p>
          <a:p>
            <a:pPr lvl="2"/>
            <a:r>
              <a:rPr lang="en-US" dirty="0"/>
              <a:t>Prints that a new child has been created.</a:t>
            </a:r>
          </a:p>
          <a:p>
            <a:pPr lvl="2"/>
            <a:r>
              <a:rPr lang="en-US" dirty="0"/>
              <a:t>Sleeps for 2 seconds before looping again.</a:t>
            </a:r>
          </a:p>
          <a:p>
            <a:r>
              <a:rPr lang="en-US" dirty="0"/>
              <a:t>Each time a child ends, the parent’s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childDeath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function is triggered: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12345 has terminated</a:t>
            </a:r>
          </a:p>
          <a:p>
            <a:r>
              <a:rPr lang="en-US" dirty="0"/>
              <a:t>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wait()</a:t>
            </a:r>
            <a:r>
              <a:rPr lang="en-US" dirty="0"/>
              <a:t> reaps the child, preventing a zombie.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🧭 Example Output</a:t>
            </a:r>
          </a:p>
          <a:p>
            <a:r>
              <a:rPr lang="en-US" dirty="0"/>
              <a:t>A possible output might look like this: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 a child,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=2432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 a child,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=2433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2432 has terminated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 a child,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=2434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 a child,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=2435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2433 has terminated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2434 has terminated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dirty="0"/>
              <a:t>The program keeps creating new child processes every 2 seconds, while others finish randomly between 0–19 seconds later. The signal handler logs their termination as they complete.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⚙️ Concepts Demonstrated</a:t>
            </a:r>
          </a:p>
          <a:p>
            <a:r>
              <a:rPr lang="en-US" dirty="0" err="1"/>
              <a:t>ConceptDescription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Creates new child </a:t>
            </a:r>
            <a:r>
              <a:rPr lang="en-US" dirty="0" err="1"/>
              <a:t>processes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sleep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Simulates work and creates timing </a:t>
            </a:r>
            <a:r>
              <a:rPr lang="en-US" dirty="0" err="1"/>
              <a:t>differences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Terminates child process </a:t>
            </a:r>
            <a:r>
              <a:rPr lang="en-US" dirty="0" err="1"/>
              <a:t>cleanly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SIGCHLD</a:t>
            </a:r>
            <a:r>
              <a:rPr lang="en-US" dirty="0" err="1"/>
              <a:t>Signal</a:t>
            </a:r>
            <a:r>
              <a:rPr lang="en-US" dirty="0"/>
              <a:t> sent to parent when a child </a:t>
            </a:r>
            <a:r>
              <a:rPr lang="en-US" dirty="0" err="1"/>
              <a:t>terminates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Installs handler for </a:t>
            </a:r>
            <a:r>
              <a:rPr lang="en-US" dirty="0" err="1"/>
              <a:t>SIGCHLD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Collects child status and prevents zombies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⚠️ Improvements</a:t>
            </a:r>
          </a:p>
          <a:p>
            <a:r>
              <a:rPr lang="en-US" dirty="0"/>
              <a:t>Although this works fine, a few tweaks make it safer:</a:t>
            </a:r>
          </a:p>
          <a:p>
            <a:r>
              <a:rPr lang="en-US" dirty="0"/>
              <a:t>Use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signal(SIGCHLD,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childDeath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b="1" dirty="0"/>
              <a:t> once</a:t>
            </a:r>
            <a:r>
              <a:rPr lang="en-US" dirty="0"/>
              <a:t> outside the loop (no need to reinstall every time).</a:t>
            </a:r>
          </a:p>
          <a:p>
            <a:r>
              <a:rPr lang="en-US" dirty="0"/>
              <a:t>Replace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signal()</a:t>
            </a:r>
            <a:r>
              <a:rPr lang="en-US" dirty="0"/>
              <a:t> with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sigaction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for better reliability and portability.</a:t>
            </a:r>
          </a:p>
          <a:p>
            <a:r>
              <a:rPr lang="en-US" dirty="0"/>
              <a:t>Use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(-1, &amp;status, WNOHANG) &gt; 0)</a:t>
            </a:r>
            <a:r>
              <a:rPr lang="en-US" dirty="0"/>
              <a:t> in the handler if multiple children can terminate at once.</a:t>
            </a:r>
          </a:p>
          <a:p>
            <a:r>
              <a:rPr lang="en-US" dirty="0"/>
              <a:t>Example of a more robust handler: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childDeath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dummy) 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pid_t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status;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while ((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(-1, &amp;status, WNOHANG)) &gt; 0)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("Child %d has terminated\n",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🧩 Summary</a:t>
            </a:r>
          </a:p>
          <a:p>
            <a:r>
              <a:rPr lang="en-US" dirty="0"/>
              <a:t>This program shows how to:</a:t>
            </a:r>
          </a:p>
          <a:p>
            <a:r>
              <a:rPr lang="en-US" dirty="0"/>
              <a:t>Continuously spawn background child processes.</a:t>
            </a:r>
          </a:p>
          <a:p>
            <a:r>
              <a:rPr lang="en-US" dirty="0"/>
              <a:t>Use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SIGCHLD</a:t>
            </a:r>
            <a:r>
              <a:rPr lang="en-US" dirty="0"/>
              <a:t> and a handler to track and clean up finished children.</a:t>
            </a:r>
          </a:p>
          <a:p>
            <a:r>
              <a:rPr lang="en-US" dirty="0"/>
              <a:t>Avoid zombie processes through proper synchronization.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269739-F0CB-4B6A-8C14-8D0A836D251D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0199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8413" y="433388"/>
            <a:ext cx="2073275" cy="11668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Sure! Let's break down and explain your program step by step. This is a C program demonstrating </a:t>
            </a:r>
            <a:r>
              <a:rPr lang="en-US" b="1" dirty="0"/>
              <a:t>signal handling</a:t>
            </a:r>
            <a:r>
              <a:rPr lang="en-US" dirty="0"/>
              <a:t> and </a:t>
            </a:r>
            <a:r>
              <a:rPr lang="en-US" b="1" dirty="0"/>
              <a:t>forking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1. Header Files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stdlib.h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unistd.h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signal.h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stdio.h</a:t>
            </a:r>
            <a:r>
              <a:rPr lang="en-US" dirty="0"/>
              <a:t>: for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stdlib.h</a:t>
            </a:r>
            <a:r>
              <a:rPr lang="en-US" dirty="0"/>
              <a:t>: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exit()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unistd.h</a:t>
            </a:r>
            <a:r>
              <a:rPr lang="en-US" dirty="0"/>
              <a:t>: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signal.h</a:t>
            </a:r>
            <a:r>
              <a:rPr lang="en-US" dirty="0"/>
              <a:t>: for handling signals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SIGINT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Signal Handler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dummy){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("Process %d got a CTRL-C, exit\n",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exit(2);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/>
              <a:t>This function is called when the program receives </a:t>
            </a:r>
            <a:r>
              <a:rPr lang="en-US" b="1" dirty="0"/>
              <a:t>CTRL-C</a:t>
            </a:r>
            <a:r>
              <a:rPr lang="en-US" dirty="0"/>
              <a:t>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SIGINT</a:t>
            </a:r>
            <a:r>
              <a:rPr lang="en-US" dirty="0"/>
              <a:t>).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returns the current process ID.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exit(2)</a:t>
            </a:r>
            <a:r>
              <a:rPr lang="en-US" dirty="0"/>
              <a:t> terminates the process with status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Main Function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("First process, PID=%d, PPID=%d, PGID=%d\n",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(0));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signal(SIGINT,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dirty="0"/>
              <a:t>Prints the first process’s </a:t>
            </a:r>
            <a:r>
              <a:rPr lang="en-US" b="1" dirty="0"/>
              <a:t>PID</a:t>
            </a:r>
            <a:r>
              <a:rPr lang="en-US" dirty="0"/>
              <a:t>, </a:t>
            </a:r>
            <a:r>
              <a:rPr lang="en-US" b="1" dirty="0"/>
              <a:t>parent PID</a:t>
            </a:r>
            <a:r>
              <a:rPr lang="en-US" dirty="0"/>
              <a:t>, and </a:t>
            </a:r>
            <a:r>
              <a:rPr lang="en-US" b="1" dirty="0"/>
              <a:t>process group ID</a:t>
            </a:r>
            <a:r>
              <a:rPr lang="en-US" dirty="0"/>
              <a:t>.</a:t>
            </a:r>
          </a:p>
          <a:p>
            <a:r>
              <a:rPr lang="en-US" dirty="0"/>
              <a:t>Registers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dirty="0"/>
              <a:t> to handle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SIGINT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Forking Loop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&lt;=3;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fork();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creates a new process (child).</a:t>
            </a:r>
          </a:p>
          <a:p>
            <a:r>
              <a:rPr lang="en-US" dirty="0"/>
              <a:t>This loop runs </a:t>
            </a:r>
            <a:r>
              <a:rPr lang="en-US" b="1" dirty="0"/>
              <a:t>3 times</a:t>
            </a:r>
            <a:r>
              <a:rPr lang="en-US" dirty="0"/>
              <a:t>.</a:t>
            </a:r>
          </a:p>
          <a:p>
            <a:r>
              <a:rPr lang="en-US" b="1" dirty="0"/>
              <a:t>Number of processes created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Each fork doubles the number of processes:</a:t>
            </a:r>
          </a:p>
          <a:p>
            <a:r>
              <a:rPr lang="en-US" dirty="0"/>
              <a:t>After 1st fork → 2 processes</a:t>
            </a:r>
          </a:p>
          <a:p>
            <a:r>
              <a:rPr lang="en-US" dirty="0"/>
              <a:t>After 2nd fork → 4 processes</a:t>
            </a:r>
          </a:p>
          <a:p>
            <a:r>
              <a:rPr lang="en-US" dirty="0"/>
              <a:t>After 3rd fork → 8 processes</a:t>
            </a:r>
          </a:p>
          <a:p>
            <a:r>
              <a:rPr lang="en-US" dirty="0"/>
              <a:t>So you end up with </a:t>
            </a:r>
            <a:r>
              <a:rPr lang="en-US" b="1" dirty="0"/>
              <a:t>8 processes in total</a:t>
            </a:r>
            <a:r>
              <a:rPr lang="en-US" dirty="0"/>
              <a:t> (including the original).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After Fork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("PID=%d PGID=%d\n",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(0));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pause();</a:t>
            </a:r>
          </a:p>
          <a:p>
            <a:r>
              <a:rPr lang="en-US" dirty="0"/>
              <a:t>Each process prints its PID and process group ID.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pause()</a:t>
            </a:r>
            <a:r>
              <a:rPr lang="en-US" dirty="0"/>
              <a:t> makes the process </a:t>
            </a:r>
            <a:r>
              <a:rPr lang="en-US" b="1" dirty="0"/>
              <a:t>wait indefinitely</a:t>
            </a:r>
            <a:r>
              <a:rPr lang="en-US" dirty="0"/>
              <a:t> until it receives a signal.</a:t>
            </a:r>
          </a:p>
          <a:p>
            <a:r>
              <a:rPr lang="en-US" dirty="0"/>
              <a:t>When you press </a:t>
            </a:r>
            <a:r>
              <a:rPr lang="en-US" b="1" dirty="0"/>
              <a:t>CTRL-C</a:t>
            </a:r>
            <a:r>
              <a:rPr lang="en-US" dirty="0"/>
              <a:t>, all processes that are in the </a:t>
            </a:r>
            <a:r>
              <a:rPr lang="en-US" b="1" dirty="0"/>
              <a:t>foreground process group</a:t>
            </a:r>
            <a:r>
              <a:rPr lang="en-US" dirty="0"/>
              <a:t> will execute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and exit.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 Behavior Example</a:t>
            </a:r>
          </a:p>
          <a:p>
            <a:r>
              <a:rPr lang="en-US" dirty="0"/>
              <a:t>If you run the program:</a:t>
            </a:r>
          </a:p>
          <a:p>
            <a:r>
              <a:rPr lang="en-US" dirty="0"/>
              <a:t>It prints something like: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 process, PID=1234, PPID=1000, PGID=1234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PID=1234 PGID=1234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PID=1235 PGID=1234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PID=1236 PGID=1234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dirty="0"/>
              <a:t>Pressing CTRL-C will trigger the handler in each process: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1234 got a CTRL-C, exit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1235 got a CTRL-C, exit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Important Notes</a:t>
            </a:r>
          </a:p>
          <a:p>
            <a:r>
              <a:rPr lang="en-US" b="1" dirty="0"/>
              <a:t>Signal Handling:</a:t>
            </a:r>
            <a:r>
              <a:rPr lang="en-US" dirty="0"/>
              <a:t> Each child inherits the signal handler from the parent.</a:t>
            </a:r>
          </a:p>
          <a:p>
            <a:r>
              <a:rPr lang="en-US" b="1" dirty="0"/>
              <a:t>Multiple Outputs:</a:t>
            </a:r>
            <a:r>
              <a:rPr lang="en-US" dirty="0"/>
              <a:t> Because all 8 processes are running,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dirty="0"/>
              <a:t> outputs may interleave.</a:t>
            </a:r>
          </a:p>
          <a:p>
            <a:r>
              <a:rPr lang="en-US" b="1" dirty="0"/>
              <a:t>Process Groups:</a:t>
            </a:r>
            <a:r>
              <a:rPr lang="en-US" dirty="0"/>
              <a:t> All processes have the same PGID as the first process. This is why pressing CTRL-C affects all of them.</a:t>
            </a:r>
          </a:p>
          <a:p>
            <a:endParaRPr lang="en-US" dirty="0"/>
          </a:p>
          <a:p>
            <a:r>
              <a:rPr lang="en-US" dirty="0"/>
              <a:t>Let’s visualize how your program creates processes with the 3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calls.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Forking Diagram</a:t>
            </a:r>
          </a:p>
          <a:p>
            <a:r>
              <a:rPr lang="en-US" dirty="0"/>
              <a:t>We'll represent processes as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en-US" dirty="0"/>
              <a:t> with their PID number just for clarity (the actual PIDs will differ when you run it).</a:t>
            </a:r>
          </a:p>
          <a:p>
            <a:r>
              <a:rPr lang="en-US" b="1" dirty="0"/>
              <a:t>Step 0: Before any fork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P0 (original process)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1: First fork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fork();</a:t>
            </a:r>
          </a:p>
          <a:p>
            <a:r>
              <a:rPr lang="en-US" dirty="0"/>
              <a:t>Original process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P0</a:t>
            </a:r>
            <a:r>
              <a:rPr lang="en-US" dirty="0"/>
              <a:t> creates child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</a:t>
            </a:r>
            <a:r>
              <a:rPr lang="en-US" dirty="0"/>
              <a:t>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2: Second fork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fork();</a:t>
            </a:r>
          </a:p>
          <a:p>
            <a:r>
              <a:rPr lang="en-US" dirty="0"/>
              <a:t>Both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P0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</a:t>
            </a:r>
            <a:r>
              <a:rPr lang="en-US" dirty="0"/>
              <a:t> execute this fork.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P0</a:t>
            </a:r>
            <a:r>
              <a:rPr lang="en-US" dirty="0"/>
              <a:t> creates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P2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</a:t>
            </a:r>
            <a:r>
              <a:rPr lang="en-US" dirty="0"/>
              <a:t> creates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P3</a:t>
            </a:r>
            <a:r>
              <a:rPr lang="en-US" dirty="0"/>
              <a:t>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P2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P3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Step 3: Third fork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fork();</a:t>
            </a:r>
          </a:p>
          <a:p>
            <a:r>
              <a:rPr lang="en-US" dirty="0"/>
              <a:t>All four processes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P0, P1, P2, P3</a:t>
            </a:r>
            <a:r>
              <a:rPr lang="en-US" dirty="0"/>
              <a:t>) execute this fork.</a:t>
            </a:r>
          </a:p>
          <a:p>
            <a:r>
              <a:rPr lang="en-US" dirty="0"/>
              <a:t>Each creates a new child: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P0 -&gt; P4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P1 -&gt; P5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P2 -&gt; P6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P3 -&gt; P7</a:t>
            </a:r>
          </a:p>
          <a:p>
            <a:r>
              <a:rPr lang="en-US" dirty="0"/>
              <a:t>So total processes: </a:t>
            </a:r>
            <a:r>
              <a:rPr lang="en-US" b="1" dirty="0"/>
              <a:t>8</a:t>
            </a:r>
            <a:endParaRPr lang="en-US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P0, P1, P2, P3, P4, P5, P6, P7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Process Hierarchy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├── P1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│   ├── P3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│   │   └── P7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│   └── P5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├── P2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│   └── P6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└── P4</a:t>
            </a:r>
          </a:p>
          <a:p>
            <a:r>
              <a:rPr lang="en-US" dirty="0"/>
              <a:t>Each “├──” represents the child created by fork.</a:t>
            </a:r>
          </a:p>
          <a:p>
            <a:r>
              <a:rPr lang="en-US" dirty="0"/>
              <a:t>All processes share the same </a:t>
            </a:r>
            <a:r>
              <a:rPr lang="en-US" b="1" dirty="0"/>
              <a:t>PGID</a:t>
            </a:r>
            <a:r>
              <a:rPr lang="en-US" dirty="0"/>
              <a:t>, so sending CTRL-C from the terminal affects all 8.</a:t>
            </a:r>
          </a:p>
          <a:p>
            <a:endParaRPr lang="en-US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269739-F0CB-4B6A-8C14-8D0A836D251D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0461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Great! Let’s carefully break down this new program. This one demonstrates </a:t>
            </a:r>
            <a:r>
              <a:rPr lang="en-US" b="1" dirty="0"/>
              <a:t>forking, process groups, and signal handling</a:t>
            </a:r>
            <a:r>
              <a:rPr lang="en-US" dirty="0"/>
              <a:t>, with a few differences from your previous example.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1. Signal Handler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dummy){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Process%d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got CTRL-C, exiting\n",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exit(0);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/>
              <a:t>This function is executed when the process receives </a:t>
            </a:r>
            <a:r>
              <a:rPr lang="en-US" b="1" dirty="0"/>
              <a:t>SIGINT (CTRL-C)</a:t>
            </a:r>
            <a:r>
              <a:rPr lang="en-US" dirty="0"/>
              <a:t>.</a:t>
            </a:r>
          </a:p>
          <a:p>
            <a:r>
              <a:rPr lang="en-US" dirty="0"/>
              <a:t>Prints the PID of the process that received the signal.</a:t>
            </a:r>
          </a:p>
          <a:p>
            <a:r>
              <a:rPr lang="en-US" dirty="0"/>
              <a:t>Exits the process with status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Main Function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signal(2,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dirty="0"/>
              <a:t>Registers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dirty="0"/>
              <a:t> for signal </a:t>
            </a:r>
            <a:r>
              <a:rPr lang="en-US" b="1" dirty="0"/>
              <a:t>2</a:t>
            </a:r>
            <a:r>
              <a:rPr lang="en-US" dirty="0"/>
              <a:t>, which is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SIGINT</a:t>
            </a:r>
            <a:r>
              <a:rPr lang="en-US" dirty="0"/>
              <a:t>.</a:t>
            </a:r>
          </a:p>
          <a:p>
            <a:r>
              <a:rPr lang="en-US" dirty="0"/>
              <a:t>Equivalent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signal(SIGINT,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Forking and Process Group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if((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=fork()) == 0){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       //child is in its own group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("PID=%d, PGID=%d\n",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(),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(0));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}else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("PID=%d, PGID=%d\n",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(0));</a:t>
            </a:r>
          </a:p>
          <a:p>
            <a:r>
              <a:rPr lang="en-US" b="1" dirty="0"/>
              <a:t>Explanation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creates a child process.</a:t>
            </a:r>
          </a:p>
          <a:p>
            <a:r>
              <a:rPr lang="en-US" dirty="0"/>
              <a:t>If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0</a:t>
            </a:r>
            <a:r>
              <a:rPr lang="en-US" dirty="0"/>
              <a:t>, this is the </a:t>
            </a:r>
            <a:r>
              <a:rPr lang="en-US" b="1" dirty="0"/>
              <a:t>child process</a:t>
            </a:r>
            <a:r>
              <a:rPr lang="en-US" dirty="0"/>
              <a:t>: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</a:t>
            </a:r>
            <a:r>
              <a:rPr lang="en-US" dirty="0"/>
              <a:t> → moves the child to </a:t>
            </a:r>
            <a:r>
              <a:rPr lang="en-US" b="1" dirty="0"/>
              <a:t>its own process group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This means CTRL-C sent to the terminal </a:t>
            </a:r>
            <a:r>
              <a:rPr lang="en-US" b="1" dirty="0"/>
              <a:t>will not affect the child</a:t>
            </a:r>
            <a:r>
              <a:rPr lang="en-US" dirty="0"/>
              <a:t>, because only processes in the </a:t>
            </a:r>
            <a:r>
              <a:rPr lang="en-US" b="1" dirty="0"/>
              <a:t>foreground process group</a:t>
            </a:r>
            <a:r>
              <a:rPr lang="en-US" dirty="0"/>
              <a:t> get the signal.</a:t>
            </a:r>
          </a:p>
          <a:p>
            <a:r>
              <a:rPr lang="en-US" dirty="0"/>
              <a:t>Each process prints its </a:t>
            </a:r>
            <a:r>
              <a:rPr lang="en-US" b="1" dirty="0"/>
              <a:t>PID</a:t>
            </a:r>
            <a:r>
              <a:rPr lang="en-US" dirty="0"/>
              <a:t> and </a:t>
            </a:r>
            <a:r>
              <a:rPr lang="en-US" b="1" dirty="0"/>
              <a:t>PGID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Parent</a:t>
            </a:r>
            <a:r>
              <a:rPr lang="en-US" dirty="0"/>
              <a:t>: stays in the original process group.</a:t>
            </a:r>
          </a:p>
          <a:p>
            <a:pPr lvl="1"/>
            <a:r>
              <a:rPr lang="en-US" b="1" dirty="0"/>
              <a:t>Child</a:t>
            </a:r>
            <a:r>
              <a:rPr lang="en-US" dirty="0"/>
              <a:t>: has its own PGID.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Loop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&lt;=10;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++){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("Process %d is still alive\n",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sleep(2);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/>
              <a:t>Both parent and child execute this loop.</a:t>
            </a:r>
          </a:p>
          <a:p>
            <a:r>
              <a:rPr lang="en-US" dirty="0"/>
              <a:t>Each prints every 2 seconds: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"Process &lt;PID&gt; is still alive"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child’s loop</a:t>
            </a:r>
            <a:r>
              <a:rPr lang="en-US" dirty="0"/>
              <a:t> will continue even if you press CTRL-C in the terminal, because it’s in its </a:t>
            </a:r>
            <a:r>
              <a:rPr lang="en-US" b="1" dirty="0"/>
              <a:t>own process group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parent</a:t>
            </a:r>
            <a:r>
              <a:rPr lang="en-US" dirty="0"/>
              <a:t> will exit immediately on CTRL-C.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Behavior Summary</a:t>
            </a:r>
          </a:p>
          <a:p>
            <a:r>
              <a:rPr lang="en-US" dirty="0" err="1"/>
              <a:t>ProcessPGIDResponse</a:t>
            </a:r>
            <a:r>
              <a:rPr lang="en-US" dirty="0"/>
              <a:t> to CTRL-</a:t>
            </a:r>
            <a:r>
              <a:rPr lang="en-US" dirty="0" err="1"/>
              <a:t>COutput</a:t>
            </a:r>
            <a:r>
              <a:rPr lang="en-US" dirty="0"/>
              <a:t> </a:t>
            </a:r>
            <a:r>
              <a:rPr lang="en-US" dirty="0" err="1"/>
              <a:t>ExampleParentoriginalExits"Process</a:t>
            </a:r>
            <a:r>
              <a:rPr lang="en-US" dirty="0"/>
              <a:t> &lt;PID&gt; got CTRL-C, </a:t>
            </a:r>
            <a:r>
              <a:rPr lang="en-US" dirty="0" err="1"/>
              <a:t>exiting"Childown</a:t>
            </a:r>
            <a:r>
              <a:rPr lang="en-US" dirty="0"/>
              <a:t> </a:t>
            </a:r>
            <a:r>
              <a:rPr lang="en-US" dirty="0" err="1"/>
              <a:t>PGIDIgnores</a:t>
            </a:r>
            <a:r>
              <a:rPr lang="en-US" dirty="0"/>
              <a:t> CTRL-</a:t>
            </a:r>
            <a:r>
              <a:rPr lang="en-US" dirty="0" err="1"/>
              <a:t>CKeeps</a:t>
            </a:r>
            <a:r>
              <a:rPr lang="en-US" dirty="0"/>
              <a:t> printing "Process &lt;PID&gt; is still alive"</a:t>
            </a:r>
          </a:p>
          <a:p>
            <a:r>
              <a:rPr lang="en-US" dirty="0"/>
              <a:t>This program demonstrates </a:t>
            </a:r>
            <a:r>
              <a:rPr lang="en-US" b="1" dirty="0"/>
              <a:t>how to isolate a process from terminal signals</a:t>
            </a:r>
            <a:r>
              <a:rPr lang="en-US" dirty="0"/>
              <a:t> by changing its process group.</a:t>
            </a:r>
          </a:p>
          <a:p>
            <a:r>
              <a:rPr lang="en-US" dirty="0"/>
              <a:t>Useful in </a:t>
            </a:r>
            <a:r>
              <a:rPr lang="en-US" b="1" dirty="0"/>
              <a:t>daemon creation</a:t>
            </a:r>
            <a:r>
              <a:rPr lang="en-US" dirty="0"/>
              <a:t> or </a:t>
            </a:r>
            <a:r>
              <a:rPr lang="en-US" b="1" dirty="0"/>
              <a:t>background jobs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 Example Output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prints: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PID=1000, PGID=1000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1000 is still alive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^C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Process1000 got CTRL-C, exiting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prints: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PID=1001, PGID=1001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1001 is still alive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1001 is still alive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dirty="0"/>
              <a:t>The child continues even though you pressed CTRL-C.</a:t>
            </a:r>
          </a:p>
          <a:p>
            <a:endParaRPr lang="en-US" dirty="0"/>
          </a:p>
          <a:p>
            <a:r>
              <a:rPr lang="en-US" dirty="0"/>
              <a:t>Let’s visualize your program, showing </a:t>
            </a:r>
            <a:r>
              <a:rPr lang="en-US" b="1" dirty="0"/>
              <a:t>parent and child processes, their PGIDs, and how CTRL-C affects them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1. Process Creation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fork();</a:t>
            </a:r>
          </a:p>
          <a:p>
            <a:r>
              <a:rPr lang="en-US" dirty="0"/>
              <a:t>Creates a </a:t>
            </a:r>
            <a:r>
              <a:rPr lang="en-US" b="1" dirty="0"/>
              <a:t>child process</a:t>
            </a:r>
            <a:r>
              <a:rPr lang="en-US" dirty="0"/>
              <a:t>.</a:t>
            </a:r>
          </a:p>
          <a:p>
            <a:r>
              <a:rPr lang="en-US" b="1" dirty="0"/>
              <a:t>Before fork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(PID=1000, PGID=1000)</a:t>
            </a:r>
          </a:p>
          <a:p>
            <a:r>
              <a:rPr lang="en-US" b="1" dirty="0"/>
              <a:t>After fork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(PID=1000, PGID=1000)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(PID=1001, PGID=1000)  &lt;-- initially inherits PGID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Change Child Process Group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  // Child sets PGID = its own PID</a:t>
            </a:r>
          </a:p>
          <a:p>
            <a:r>
              <a:rPr lang="en-US" b="1" dirty="0"/>
              <a:t>Resulting PGIDs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Parent: PID=1000, PGID=1000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Child:  PID=1001, PGID=1001</a:t>
            </a:r>
          </a:p>
          <a:p>
            <a:r>
              <a:rPr lang="en-US" b="1" dirty="0"/>
              <a:t>Parent</a:t>
            </a:r>
            <a:r>
              <a:rPr lang="en-US" dirty="0"/>
              <a:t>: stays in the </a:t>
            </a:r>
            <a:r>
              <a:rPr lang="en-US" b="1" dirty="0"/>
              <a:t>original process group</a:t>
            </a:r>
            <a:r>
              <a:rPr lang="en-US" dirty="0"/>
              <a:t>.</a:t>
            </a:r>
          </a:p>
          <a:p>
            <a:r>
              <a:rPr lang="en-US" b="1" dirty="0"/>
              <a:t>Child</a:t>
            </a:r>
            <a:r>
              <a:rPr lang="en-US" dirty="0"/>
              <a:t>: moves to its </a:t>
            </a:r>
            <a:r>
              <a:rPr lang="en-US" b="1" dirty="0"/>
              <a:t>own process group</a:t>
            </a:r>
            <a:r>
              <a:rPr lang="en-US" dirty="0"/>
              <a:t>.</a:t>
            </a:r>
          </a:p>
          <a:p>
            <a:r>
              <a:rPr lang="en-US" dirty="0"/>
              <a:t>This isolates the child from signals sent to the parent’s group (like CTRL-C from the terminal).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CTRL-C Behavior</a:t>
            </a:r>
          </a:p>
          <a:p>
            <a:r>
              <a:rPr lang="en-US" b="1" dirty="0"/>
              <a:t>Parent</a:t>
            </a:r>
            <a:r>
              <a:rPr lang="en-US" dirty="0"/>
              <a:t>: belongs to foreground group → receives CTRL-C → runs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→ exits.</a:t>
            </a:r>
          </a:p>
          <a:p>
            <a:r>
              <a:rPr lang="en-US" b="1" dirty="0"/>
              <a:t>Child</a:t>
            </a:r>
            <a:r>
              <a:rPr lang="en-US" dirty="0"/>
              <a:t>: in its own group → </a:t>
            </a:r>
            <a:r>
              <a:rPr lang="en-US" b="1" dirty="0"/>
              <a:t>does not receive CTRL-C</a:t>
            </a:r>
            <a:r>
              <a:rPr lang="en-US" dirty="0"/>
              <a:t> → continues printing every 2 seconds.</a:t>
            </a:r>
          </a:p>
          <a:p>
            <a:r>
              <a:rPr lang="en-US" b="1" dirty="0"/>
              <a:t>Illustration:</a:t>
            </a:r>
            <a:endParaRPr lang="en-US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Terminal sends SIGINT (CTRL-C) → affects only PGID=1000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+---------------------+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 Parent (PGID=1000)  | ← receives SIGINT → prints handler message → exits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+---------------------+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 Child  (PGID=1001)  | ← ignores SIGINT → continues loop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+---------------------+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Output Timeline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0s: Parent prints "PID=1000, PGID=1000"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Child prints  "PID=1001, PGID=1001"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2s: Parent prints "Process 1000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Child prints 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3s: User presses CTRL-C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Parent: "Process1000 got CTRL-C, exiting" → exits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Child: continues printing every 2s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Key Takeaways</a:t>
            </a:r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allows a process to </a:t>
            </a:r>
            <a:r>
              <a:rPr lang="en-US" b="1" dirty="0"/>
              <a:t>ignore terminal signals</a:t>
            </a:r>
            <a:r>
              <a:rPr lang="en-US" dirty="0"/>
              <a:t>.</a:t>
            </a:r>
          </a:p>
          <a:p>
            <a:r>
              <a:rPr lang="en-US" dirty="0"/>
              <a:t>Parent reacts to CTRL-C, child does not.</a:t>
            </a:r>
          </a:p>
          <a:p>
            <a:r>
              <a:rPr lang="en-US" dirty="0"/>
              <a:t>Both processes run their loops independently.</a:t>
            </a:r>
          </a:p>
          <a:p>
            <a:endParaRPr lang="en-US" dirty="0"/>
          </a:p>
          <a:p>
            <a:r>
              <a:rPr lang="en-CA" dirty="0"/>
              <a:t>Perfect! Let’s make a </a:t>
            </a:r>
            <a:r>
              <a:rPr lang="en-CA" b="1" dirty="0"/>
              <a:t>flowchart-style visualization</a:t>
            </a:r>
            <a:r>
              <a:rPr lang="en-CA" dirty="0"/>
              <a:t> of your program, showing </a:t>
            </a:r>
            <a:r>
              <a:rPr lang="en-CA" b="1" dirty="0"/>
              <a:t>parent and child, their PGIDs, loops, and CTRL-C behavior</a:t>
            </a:r>
            <a:r>
              <a:rPr lang="en-CA" dirty="0"/>
              <a:t>.</a:t>
            </a:r>
          </a:p>
          <a:p>
            <a:br>
              <a:rPr lang="en-CA" dirty="0"/>
            </a:br>
            <a:endParaRPr lang="en-CA" dirty="0"/>
          </a:p>
          <a:p>
            <a:r>
              <a:rPr lang="en-CA" b="1" dirty="0"/>
              <a:t>Flowchart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process (PID=1000, PGID=1000)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 → creates Child (PID=1001, PGID=1000)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(0,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 → Child PGID=1001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("PID=1001, PGID=1001")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for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=1..10: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print "Process 1001 is still alive"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sleep(2)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prints "PID=1000, PGID=1000"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=1..10: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print "Process 1000 is still alive"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sleep(2)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+-- If CTRL-C pressed → SIGINT →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print "Process1000 got CTRL-C, exiting"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exit(0)</a:t>
            </a:r>
          </a:p>
          <a:p>
            <a:br>
              <a:rPr lang="en-CA" dirty="0"/>
            </a:br>
            <a:endParaRPr lang="en-CA" dirty="0"/>
          </a:p>
          <a:p>
            <a:r>
              <a:rPr lang="en-CA" b="1" dirty="0"/>
              <a:t>Behavior Notes</a:t>
            </a:r>
          </a:p>
          <a:p>
            <a:r>
              <a:rPr lang="en-CA" b="1" dirty="0"/>
              <a:t>Parent</a:t>
            </a:r>
            <a:r>
              <a:rPr lang="en-CA" dirty="0"/>
              <a:t> reacts to CTRL-C and exits immediately.</a:t>
            </a:r>
          </a:p>
          <a:p>
            <a:r>
              <a:rPr lang="en-CA" b="1" dirty="0"/>
              <a:t>Child</a:t>
            </a:r>
            <a:r>
              <a:rPr lang="en-CA" dirty="0"/>
              <a:t> continues its loop unaffected because it is in a </a:t>
            </a:r>
            <a:r>
              <a:rPr lang="en-CA" b="1" dirty="0"/>
              <a:t>different process group</a:t>
            </a:r>
            <a:r>
              <a:rPr lang="en-CA" dirty="0"/>
              <a:t>.</a:t>
            </a:r>
          </a:p>
          <a:p>
            <a:r>
              <a:rPr lang="en-CA" dirty="0"/>
              <a:t>Both parent and child print independently; output may interleave if printed simultaneously.</a:t>
            </a:r>
          </a:p>
          <a:p>
            <a:endParaRPr lang="en-US" dirty="0"/>
          </a:p>
          <a:p>
            <a:r>
              <a:rPr lang="en-US" dirty="0"/>
              <a:t>Let’s visualize a </a:t>
            </a:r>
            <a:r>
              <a:rPr lang="en-US" b="1" dirty="0"/>
              <a:t>timeline of outputs</a:t>
            </a:r>
            <a:r>
              <a:rPr lang="en-US" dirty="0"/>
              <a:t> for both parent and child processes in your program. This will show exactly how the prints happen and how CTRL-C affects each process.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Timeline of Prints (Parent vs Child)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0s: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→ PID=1000, PGID=1000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PID=1001, PGID=1001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2s: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→ "Process 1000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4s: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→ "Process 1000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6s: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→ "Process 1000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7s: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presses CTRL-C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triggers → "Process1000 got CTRL-C, exiting" → exits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does NOT receive CTRL-C → continues loop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8s: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10s: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12s: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14s: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16s: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18s: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20s: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Observations</a:t>
            </a:r>
          </a:p>
          <a:p>
            <a:r>
              <a:rPr lang="en-US" b="1" dirty="0"/>
              <a:t>Parent stops printing immediately</a:t>
            </a:r>
            <a:r>
              <a:rPr lang="en-US" dirty="0"/>
              <a:t> after CTRL-C because it’s in the foreground process group and executes the signal handler.</a:t>
            </a:r>
          </a:p>
          <a:p>
            <a:r>
              <a:rPr lang="en-US" b="1" dirty="0"/>
              <a:t>Child continues unaffected</a:t>
            </a:r>
            <a:r>
              <a:rPr lang="en-US" dirty="0"/>
              <a:t> because it has its own process group.</a:t>
            </a:r>
          </a:p>
          <a:p>
            <a:r>
              <a:rPr lang="en-US" b="1" dirty="0"/>
              <a:t>Both processes run independent loops</a:t>
            </a:r>
            <a:r>
              <a:rPr lang="en-US" dirty="0"/>
              <a:t>; outputs may interleave if they print at the same time.</a:t>
            </a:r>
          </a:p>
          <a:p>
            <a:endParaRPr lang="en-US" dirty="0"/>
          </a:p>
          <a:p>
            <a:r>
              <a:rPr lang="en-US" dirty="0"/>
              <a:t>Let’s make a </a:t>
            </a:r>
            <a:r>
              <a:rPr lang="en-US" b="1" dirty="0"/>
              <a:t>sequence diagram / lane diagram</a:t>
            </a:r>
            <a:r>
              <a:rPr lang="en-US" dirty="0"/>
              <a:t> showing </a:t>
            </a:r>
            <a:r>
              <a:rPr lang="en-US" b="1" dirty="0"/>
              <a:t>Parent vs Child</a:t>
            </a:r>
            <a:r>
              <a:rPr lang="en-US" dirty="0"/>
              <a:t>, their prints, loops, and the effect of CTRL-C.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Parent vs Child Sequence Diagram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→ 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(PID=1000, PGID=1000) | Child (PID=1001, PGID=1001)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-------------------------------------------------------------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0s  | PID=1000, PGID=1000        | PID=1001, PGID=1001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2s  | "Process 1000 is still alive"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4s  | "Process 1000 is still alive"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6s  | "Process 1000 is still alive"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7s  | CTRL-C pressed → "Process1000 got CTRL-C, exiting" → exits | (ignores CTRL-C)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8s 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10s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12s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14s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16s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18s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20s | (parent exited)             | "Process 1001 is still alive"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How to Read It</a:t>
            </a:r>
          </a:p>
          <a:p>
            <a:r>
              <a:rPr lang="en-US" b="1" dirty="0"/>
              <a:t>Left column</a:t>
            </a:r>
            <a:r>
              <a:rPr lang="en-US" dirty="0"/>
              <a:t>: Parent process (foreground group).</a:t>
            </a:r>
          </a:p>
          <a:p>
            <a:r>
              <a:rPr lang="en-US" b="1" dirty="0"/>
              <a:t>Right column</a:t>
            </a:r>
            <a:r>
              <a:rPr lang="en-US" dirty="0"/>
              <a:t>: Child process (its own group).</a:t>
            </a:r>
          </a:p>
          <a:p>
            <a:r>
              <a:rPr lang="en-US" b="1" dirty="0"/>
              <a:t>CTRL-C</a:t>
            </a:r>
            <a:r>
              <a:rPr lang="en-US" dirty="0"/>
              <a:t> affects only the parent, not the child.</a:t>
            </a:r>
          </a:p>
          <a:p>
            <a:r>
              <a:rPr lang="en-US" b="1" dirty="0"/>
              <a:t>Child keeps looping and printing</a:t>
            </a:r>
            <a:r>
              <a:rPr lang="en-US" dirty="0"/>
              <a:t> while the parent exits immediately.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Teaching Insight</a:t>
            </a:r>
            <a:br>
              <a:rPr lang="en-US" dirty="0"/>
            </a:br>
            <a:r>
              <a:rPr lang="en-US" dirty="0"/>
              <a:t>This is a clear example of using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to </a:t>
            </a:r>
            <a:r>
              <a:rPr lang="en-US" b="1" dirty="0"/>
              <a:t>isolate a child from terminal signals</a:t>
            </a:r>
            <a:r>
              <a:rPr lang="en-US" dirty="0"/>
              <a:t>, which is often used for:</a:t>
            </a:r>
          </a:p>
          <a:p>
            <a:r>
              <a:rPr lang="en-US" dirty="0"/>
              <a:t>Creating </a:t>
            </a:r>
            <a:r>
              <a:rPr lang="en-US" b="1" dirty="0"/>
              <a:t>daemons</a:t>
            </a:r>
            <a:endParaRPr lang="en-US" dirty="0"/>
          </a:p>
          <a:p>
            <a:r>
              <a:rPr lang="en-US" dirty="0"/>
              <a:t>Running background tasks without accidental termination</a:t>
            </a:r>
          </a:p>
          <a:p>
            <a:r>
              <a:rPr lang="en-US" dirty="0"/>
              <a:t>Process group management in shells</a:t>
            </a:r>
          </a:p>
          <a:p>
            <a:endParaRPr lang="en-US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269739-F0CB-4B6A-8C14-8D0A836D251D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1756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35159-9D3F-819C-3C15-5BF95ABDE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63EC5-A6CA-EAFE-D928-16EC057BA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9F446-B685-034E-21BE-41BAF181A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Great! Let’s carefully break down this new program. This one demonstrates </a:t>
            </a:r>
            <a:r>
              <a:rPr lang="en-US" b="1" dirty="0"/>
              <a:t>forking, process groups, and signal handling</a:t>
            </a:r>
            <a:r>
              <a:rPr lang="en-US" dirty="0"/>
              <a:t>, with a few differences from your previous example.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1. Signal Handler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dummy){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Process%d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got CTRL-C, exiting\n",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exit(0);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/>
              <a:t>This function is executed when the process receives </a:t>
            </a:r>
            <a:r>
              <a:rPr lang="en-US" b="1" dirty="0"/>
              <a:t>SIGINT (CTRL-C)</a:t>
            </a:r>
            <a:r>
              <a:rPr lang="en-US" dirty="0"/>
              <a:t>.</a:t>
            </a:r>
          </a:p>
          <a:p>
            <a:r>
              <a:rPr lang="en-US" dirty="0"/>
              <a:t>Prints the PID of the process that received the signal.</a:t>
            </a:r>
          </a:p>
          <a:p>
            <a:r>
              <a:rPr lang="en-US" dirty="0"/>
              <a:t>Exits the process with status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Main Function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signal(2,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dirty="0"/>
              <a:t>Registers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dirty="0"/>
              <a:t> for signal </a:t>
            </a:r>
            <a:r>
              <a:rPr lang="en-US" b="1" dirty="0"/>
              <a:t>2</a:t>
            </a:r>
            <a:r>
              <a:rPr lang="en-US" dirty="0"/>
              <a:t>, which is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SIGINT</a:t>
            </a:r>
            <a:r>
              <a:rPr lang="en-US" dirty="0"/>
              <a:t>.</a:t>
            </a:r>
          </a:p>
          <a:p>
            <a:r>
              <a:rPr lang="en-US" dirty="0"/>
              <a:t>Equivalent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signal(SIGINT,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Forking and Process Group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if((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=fork()) == 0){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       //child is in its own group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("PID=%d, PGID=%d\n",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(),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(0));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}else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("PID=%d, PGID=%d\n",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(0));</a:t>
            </a:r>
          </a:p>
          <a:p>
            <a:r>
              <a:rPr lang="en-US" b="1" dirty="0"/>
              <a:t>Explanation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creates a child process.</a:t>
            </a:r>
          </a:p>
          <a:p>
            <a:r>
              <a:rPr lang="en-US" dirty="0"/>
              <a:t>If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0</a:t>
            </a:r>
            <a:r>
              <a:rPr lang="en-US" dirty="0"/>
              <a:t>, this is the </a:t>
            </a:r>
            <a:r>
              <a:rPr lang="en-US" b="1" dirty="0"/>
              <a:t>child process</a:t>
            </a:r>
            <a:r>
              <a:rPr lang="en-US" dirty="0"/>
              <a:t>:</a:t>
            </a:r>
          </a:p>
          <a:p>
            <a:pPr lvl="1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</a:t>
            </a:r>
            <a:r>
              <a:rPr lang="en-US" dirty="0"/>
              <a:t> → moves the child to </a:t>
            </a:r>
            <a:r>
              <a:rPr lang="en-US" b="1" dirty="0"/>
              <a:t>its own process group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This means CTRL-C sent to the terminal </a:t>
            </a:r>
            <a:r>
              <a:rPr lang="en-US" b="1" dirty="0"/>
              <a:t>will not affect the child</a:t>
            </a:r>
            <a:r>
              <a:rPr lang="en-US" dirty="0"/>
              <a:t>, because only processes in the </a:t>
            </a:r>
            <a:r>
              <a:rPr lang="en-US" b="1" dirty="0"/>
              <a:t>foreground process group</a:t>
            </a:r>
            <a:r>
              <a:rPr lang="en-US" dirty="0"/>
              <a:t> get the signal.</a:t>
            </a:r>
          </a:p>
          <a:p>
            <a:r>
              <a:rPr lang="en-US" dirty="0"/>
              <a:t>Each process prints its </a:t>
            </a:r>
            <a:r>
              <a:rPr lang="en-US" b="1" dirty="0"/>
              <a:t>PID</a:t>
            </a:r>
            <a:r>
              <a:rPr lang="en-US" dirty="0"/>
              <a:t> and </a:t>
            </a:r>
            <a:r>
              <a:rPr lang="en-US" b="1" dirty="0"/>
              <a:t>PGID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Parent</a:t>
            </a:r>
            <a:r>
              <a:rPr lang="en-US" dirty="0"/>
              <a:t>: stays in the original process group.</a:t>
            </a:r>
          </a:p>
          <a:p>
            <a:pPr lvl="1"/>
            <a:r>
              <a:rPr lang="en-US" b="1" dirty="0"/>
              <a:t>Child</a:t>
            </a:r>
            <a:r>
              <a:rPr lang="en-US" dirty="0"/>
              <a:t>: has its own PGID.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Loop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&lt;=10;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++){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("Process %d is still alive\n",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sleep(2);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dirty="0"/>
              <a:t>Both parent and child execute this loop.</a:t>
            </a:r>
          </a:p>
          <a:p>
            <a:r>
              <a:rPr lang="en-US" dirty="0"/>
              <a:t>Each prints every 2 seconds: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"Process &lt;PID&gt; is still alive"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child’s loop</a:t>
            </a:r>
            <a:r>
              <a:rPr lang="en-US" dirty="0"/>
              <a:t> will continue even if you press CTRL-C in the terminal, because it’s in its </a:t>
            </a:r>
            <a:r>
              <a:rPr lang="en-US" b="1" dirty="0"/>
              <a:t>own process group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parent</a:t>
            </a:r>
            <a:r>
              <a:rPr lang="en-US" dirty="0"/>
              <a:t> will exit immediately on CTRL-C.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Behavior Summary</a:t>
            </a:r>
          </a:p>
          <a:p>
            <a:r>
              <a:rPr lang="en-US" dirty="0" err="1"/>
              <a:t>ProcessPGIDResponse</a:t>
            </a:r>
            <a:r>
              <a:rPr lang="en-US" dirty="0"/>
              <a:t> to CTRL-</a:t>
            </a:r>
            <a:r>
              <a:rPr lang="en-US" dirty="0" err="1"/>
              <a:t>COutput</a:t>
            </a:r>
            <a:r>
              <a:rPr lang="en-US" dirty="0"/>
              <a:t> </a:t>
            </a:r>
            <a:r>
              <a:rPr lang="en-US" dirty="0" err="1"/>
              <a:t>ExampleParentoriginalExits"Process</a:t>
            </a:r>
            <a:r>
              <a:rPr lang="en-US" dirty="0"/>
              <a:t> &lt;PID&gt; got CTRL-C, </a:t>
            </a:r>
            <a:r>
              <a:rPr lang="en-US" dirty="0" err="1"/>
              <a:t>exiting"Childown</a:t>
            </a:r>
            <a:r>
              <a:rPr lang="en-US" dirty="0"/>
              <a:t> </a:t>
            </a:r>
            <a:r>
              <a:rPr lang="en-US" dirty="0" err="1"/>
              <a:t>PGIDIgnores</a:t>
            </a:r>
            <a:r>
              <a:rPr lang="en-US" dirty="0"/>
              <a:t> CTRL-</a:t>
            </a:r>
            <a:r>
              <a:rPr lang="en-US" dirty="0" err="1"/>
              <a:t>CKeeps</a:t>
            </a:r>
            <a:r>
              <a:rPr lang="en-US" dirty="0"/>
              <a:t> printing "Process &lt;PID&gt; is still alive"</a:t>
            </a:r>
          </a:p>
          <a:p>
            <a:r>
              <a:rPr lang="en-US" dirty="0"/>
              <a:t>This program demonstrates </a:t>
            </a:r>
            <a:r>
              <a:rPr lang="en-US" b="1" dirty="0"/>
              <a:t>how to isolate a process from terminal signals</a:t>
            </a:r>
            <a:r>
              <a:rPr lang="en-US" dirty="0"/>
              <a:t> by changing its process group.</a:t>
            </a:r>
          </a:p>
          <a:p>
            <a:r>
              <a:rPr lang="en-US" dirty="0"/>
              <a:t>Useful in </a:t>
            </a:r>
            <a:r>
              <a:rPr lang="en-US" b="1" dirty="0"/>
              <a:t>daemon creation</a:t>
            </a:r>
            <a:r>
              <a:rPr lang="en-US" dirty="0"/>
              <a:t> or </a:t>
            </a:r>
            <a:r>
              <a:rPr lang="en-US" b="1" dirty="0"/>
              <a:t>background jobs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 Example Output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prints: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PID=1000, PGID=1000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1000 is still alive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^C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Process1000 got CTRL-C, exiting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prints: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PID=1001, PGID=1001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1001 is still alive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1001 is still alive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r>
              <a:rPr lang="en-US" dirty="0"/>
              <a:t>The child continues even though you pressed CTRL-C.</a:t>
            </a:r>
          </a:p>
          <a:p>
            <a:endParaRPr lang="en-US" dirty="0"/>
          </a:p>
          <a:p>
            <a:r>
              <a:rPr lang="en-US" dirty="0"/>
              <a:t>Let’s visualize your program, showing </a:t>
            </a:r>
            <a:r>
              <a:rPr lang="en-US" b="1" dirty="0"/>
              <a:t>parent and child processes, their PGIDs, and how CTRL-C affects them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1. Process Creation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fork();</a:t>
            </a:r>
          </a:p>
          <a:p>
            <a:r>
              <a:rPr lang="en-US" dirty="0"/>
              <a:t>Creates a </a:t>
            </a:r>
            <a:r>
              <a:rPr lang="en-US" b="1" dirty="0"/>
              <a:t>child process</a:t>
            </a:r>
            <a:r>
              <a:rPr lang="en-US" dirty="0"/>
              <a:t>.</a:t>
            </a:r>
          </a:p>
          <a:p>
            <a:r>
              <a:rPr lang="en-US" b="1" dirty="0"/>
              <a:t>Before fork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(PID=1000, PGID=1000)</a:t>
            </a:r>
          </a:p>
          <a:p>
            <a:r>
              <a:rPr lang="en-US" b="1" dirty="0"/>
              <a:t>After fork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(PID=1000, PGID=1000)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(PID=1001, PGID=1000)  &lt;-- initially inherits PGID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Change Child Process Group</a:t>
            </a:r>
          </a:p>
          <a:p>
            <a:pPr rtl="0"/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());  // Child sets PGID = its own PID</a:t>
            </a:r>
          </a:p>
          <a:p>
            <a:r>
              <a:rPr lang="en-US" b="1" dirty="0"/>
              <a:t>Resulting PGIDs</a:t>
            </a:r>
            <a:r>
              <a:rPr lang="en-US" dirty="0"/>
              <a:t>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Parent: PID=1000, PGID=1000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Child:  PID=1001, PGID=1001</a:t>
            </a:r>
          </a:p>
          <a:p>
            <a:r>
              <a:rPr lang="en-US" b="1" dirty="0"/>
              <a:t>Parent</a:t>
            </a:r>
            <a:r>
              <a:rPr lang="en-US" dirty="0"/>
              <a:t>: stays in the </a:t>
            </a:r>
            <a:r>
              <a:rPr lang="en-US" b="1" dirty="0"/>
              <a:t>original process group</a:t>
            </a:r>
            <a:r>
              <a:rPr lang="en-US" dirty="0"/>
              <a:t>.</a:t>
            </a:r>
          </a:p>
          <a:p>
            <a:r>
              <a:rPr lang="en-US" b="1" dirty="0"/>
              <a:t>Child</a:t>
            </a:r>
            <a:r>
              <a:rPr lang="en-US" dirty="0"/>
              <a:t>: moves to its </a:t>
            </a:r>
            <a:r>
              <a:rPr lang="en-US" b="1" dirty="0"/>
              <a:t>own process group</a:t>
            </a:r>
            <a:r>
              <a:rPr lang="en-US" dirty="0"/>
              <a:t>.</a:t>
            </a:r>
          </a:p>
          <a:p>
            <a:r>
              <a:rPr lang="en-US" dirty="0"/>
              <a:t>This isolates the child from signals sent to the parent’s group (like CTRL-C from the terminal).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CTRL-C Behavior</a:t>
            </a:r>
          </a:p>
          <a:p>
            <a:r>
              <a:rPr lang="en-US" b="1" dirty="0"/>
              <a:t>Parent</a:t>
            </a:r>
            <a:r>
              <a:rPr lang="en-US" dirty="0"/>
              <a:t>: belongs to foreground group → receives CTRL-C → runs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→ exits.</a:t>
            </a:r>
          </a:p>
          <a:p>
            <a:r>
              <a:rPr lang="en-US" b="1" dirty="0"/>
              <a:t>Child</a:t>
            </a:r>
            <a:r>
              <a:rPr lang="en-US" dirty="0"/>
              <a:t>: in its own group → </a:t>
            </a:r>
            <a:r>
              <a:rPr lang="en-US" b="1" dirty="0"/>
              <a:t>does not receive CTRL-C</a:t>
            </a:r>
            <a:r>
              <a:rPr lang="en-US" dirty="0"/>
              <a:t> → continues printing every 2 seconds.</a:t>
            </a:r>
          </a:p>
          <a:p>
            <a:r>
              <a:rPr lang="en-US" b="1" dirty="0"/>
              <a:t>Illustration:</a:t>
            </a:r>
            <a:endParaRPr lang="en-US" dirty="0"/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Terminal sends SIGINT (CTRL-C) → affects only PGID=1000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+---------------------+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 Parent (PGID=1000)  | ← receives SIGINT → prints handler message → exits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+---------------------+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 Child  (PGID=1001)  | ← ignores SIGINT → continues loop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+---------------------+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Output Timeline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0s: Parent prints "PID=1000, PGID=1000"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Child prints  "PID=1001, PGID=1001"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2s: Parent prints "Process 1000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Child prints 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3s: User presses CTRL-C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Parent: "Process1000 got CTRL-C, exiting" → exits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Child: continues printing every 2s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Key Takeaways</a:t>
            </a:r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allows a process to </a:t>
            </a:r>
            <a:r>
              <a:rPr lang="en-US" b="1" dirty="0"/>
              <a:t>ignore terminal signals</a:t>
            </a:r>
            <a:r>
              <a:rPr lang="en-US" dirty="0"/>
              <a:t>.</a:t>
            </a:r>
          </a:p>
          <a:p>
            <a:r>
              <a:rPr lang="en-US" dirty="0"/>
              <a:t>Parent reacts to CTRL-C, child does not.</a:t>
            </a:r>
          </a:p>
          <a:p>
            <a:r>
              <a:rPr lang="en-US" dirty="0"/>
              <a:t>Both processes run their loops independently.</a:t>
            </a:r>
          </a:p>
          <a:p>
            <a:endParaRPr lang="en-US" dirty="0"/>
          </a:p>
          <a:p>
            <a:r>
              <a:rPr lang="en-CA" dirty="0"/>
              <a:t>Perfect! Let’s make a </a:t>
            </a:r>
            <a:r>
              <a:rPr lang="en-CA" b="1" dirty="0"/>
              <a:t>flowchart-style visualization</a:t>
            </a:r>
            <a:r>
              <a:rPr lang="en-CA" dirty="0"/>
              <a:t> of your program, showing </a:t>
            </a:r>
            <a:r>
              <a:rPr lang="en-CA" b="1" dirty="0"/>
              <a:t>parent and child, their PGIDs, loops, and CTRL-C behavior</a:t>
            </a:r>
            <a:r>
              <a:rPr lang="en-CA" dirty="0"/>
              <a:t>.</a:t>
            </a:r>
          </a:p>
          <a:p>
            <a:br>
              <a:rPr lang="en-CA" dirty="0"/>
            </a:br>
            <a:endParaRPr lang="en-CA" dirty="0"/>
          </a:p>
          <a:p>
            <a:r>
              <a:rPr lang="en-CA" b="1" dirty="0"/>
              <a:t>Flowchart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process (PID=1000, PGID=1000)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 → creates Child (PID=1001, PGID=1000)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(0,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getpid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 → Child PGID=1001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printf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("PID=1001, PGID=1001")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for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=1..10: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print "Process 1001 is still alive"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sleep(2)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                   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prints "PID=1000, PGID=1000"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v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=1..10: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print "Process 1000 is still alive"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sleep(2)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|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+-- If CTRL-C pressed → SIGINT → </a:t>
            </a:r>
            <a:r>
              <a:rPr lang="en-CA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print "Process1000 got CTRL-C, exiting"</a:t>
            </a:r>
          </a:p>
          <a:p>
            <a:pPr rtl="0"/>
            <a:r>
              <a:rPr lang="en-CA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exit(0)</a:t>
            </a:r>
          </a:p>
          <a:p>
            <a:br>
              <a:rPr lang="en-CA" dirty="0"/>
            </a:br>
            <a:endParaRPr lang="en-CA" dirty="0"/>
          </a:p>
          <a:p>
            <a:r>
              <a:rPr lang="en-CA" b="1" dirty="0"/>
              <a:t>Behavior Notes</a:t>
            </a:r>
          </a:p>
          <a:p>
            <a:r>
              <a:rPr lang="en-CA" b="1" dirty="0"/>
              <a:t>Parent</a:t>
            </a:r>
            <a:r>
              <a:rPr lang="en-CA" dirty="0"/>
              <a:t> reacts to CTRL-C and exits immediately.</a:t>
            </a:r>
          </a:p>
          <a:p>
            <a:r>
              <a:rPr lang="en-CA" b="1" dirty="0"/>
              <a:t>Child</a:t>
            </a:r>
            <a:r>
              <a:rPr lang="en-CA" dirty="0"/>
              <a:t> continues its loop unaffected because it is in a </a:t>
            </a:r>
            <a:r>
              <a:rPr lang="en-CA" b="1" dirty="0"/>
              <a:t>different process group</a:t>
            </a:r>
            <a:r>
              <a:rPr lang="en-CA" dirty="0"/>
              <a:t>.</a:t>
            </a:r>
          </a:p>
          <a:p>
            <a:r>
              <a:rPr lang="en-CA" dirty="0"/>
              <a:t>Both parent and child print independently; output may interleave if printed simultaneously.</a:t>
            </a:r>
          </a:p>
          <a:p>
            <a:endParaRPr lang="en-US" dirty="0"/>
          </a:p>
          <a:p>
            <a:r>
              <a:rPr lang="en-US" dirty="0"/>
              <a:t>Let’s visualize a </a:t>
            </a:r>
            <a:r>
              <a:rPr lang="en-US" b="1" dirty="0"/>
              <a:t>timeline of outputs</a:t>
            </a:r>
            <a:r>
              <a:rPr lang="en-US" dirty="0"/>
              <a:t> for both parent and child processes in your program. This will show exactly how the prints happen and how CTRL-C affects each process.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Timeline of Prints (Parent vs Child)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0s: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→ PID=1000, PGID=1000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PID=1001, PGID=1001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2s: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→ "Process 1000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4s: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→ "Process 1000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6s: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→ "Process 1000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7s: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presses CTRL-C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CTRL_handler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triggers → "Process1000 got CTRL-C, exiting" → exits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does NOT receive CTRL-C → continues loop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8s: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10s: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12s: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14s: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16s: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18s: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20s: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Child  → "Process 1001 is still alive"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Observations</a:t>
            </a:r>
          </a:p>
          <a:p>
            <a:r>
              <a:rPr lang="en-US" b="1" dirty="0"/>
              <a:t>Parent stops printing immediately</a:t>
            </a:r>
            <a:r>
              <a:rPr lang="en-US" dirty="0"/>
              <a:t> after CTRL-C because it’s in the foreground process group and executes the signal handler.</a:t>
            </a:r>
          </a:p>
          <a:p>
            <a:r>
              <a:rPr lang="en-US" b="1" dirty="0"/>
              <a:t>Child continues unaffected</a:t>
            </a:r>
            <a:r>
              <a:rPr lang="en-US" dirty="0"/>
              <a:t> because it has its own process group.</a:t>
            </a:r>
          </a:p>
          <a:p>
            <a:r>
              <a:rPr lang="en-US" b="1" dirty="0"/>
              <a:t>Both processes run independent loops</a:t>
            </a:r>
            <a:r>
              <a:rPr lang="en-US" dirty="0"/>
              <a:t>; outputs may interleave if they print at the same time.</a:t>
            </a:r>
          </a:p>
          <a:p>
            <a:endParaRPr lang="en-US" dirty="0"/>
          </a:p>
          <a:p>
            <a:r>
              <a:rPr lang="en-US" dirty="0"/>
              <a:t>Let’s make a </a:t>
            </a:r>
            <a:r>
              <a:rPr lang="en-US" b="1" dirty="0"/>
              <a:t>sequence diagram / lane diagram</a:t>
            </a:r>
            <a:r>
              <a:rPr lang="en-US" dirty="0"/>
              <a:t> showing </a:t>
            </a:r>
            <a:r>
              <a:rPr lang="en-US" b="1" dirty="0"/>
              <a:t>Parent vs Child</a:t>
            </a:r>
            <a:r>
              <a:rPr lang="en-US" dirty="0"/>
              <a:t>, their prints, loops, and the effect of CTRL-C.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Parent vs Child Sequence Diagram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→ 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Parent (PID=1000, PGID=1000) | Child (PID=1001, PGID=1001)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-------------------------------------------------------------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0s  | PID=1000, PGID=1000        | PID=1001, PGID=1001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2s  | "Process 1000 is still alive"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4s  | "Process 1000 is still alive"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6s  | "Process 1000 is still alive"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7s  | CTRL-C pressed → "Process1000 got CTRL-C, exiting" → exits | (ignores CTRL-C)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8s 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10s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12s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14s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16s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18s | (parent exited)             | "Process 1001 is still alive"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20s | (parent exited)             | "Process 1001 is still alive"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How to Read It</a:t>
            </a:r>
          </a:p>
          <a:p>
            <a:r>
              <a:rPr lang="en-US" b="1" dirty="0"/>
              <a:t>Left column</a:t>
            </a:r>
            <a:r>
              <a:rPr lang="en-US" dirty="0"/>
              <a:t>: Parent process (foreground group).</a:t>
            </a:r>
          </a:p>
          <a:p>
            <a:r>
              <a:rPr lang="en-US" b="1" dirty="0"/>
              <a:t>Right column</a:t>
            </a:r>
            <a:r>
              <a:rPr lang="en-US" dirty="0"/>
              <a:t>: Child process (its own group).</a:t>
            </a:r>
          </a:p>
          <a:p>
            <a:r>
              <a:rPr lang="en-US" b="1" dirty="0"/>
              <a:t>CTRL-C</a:t>
            </a:r>
            <a:r>
              <a:rPr lang="en-US" dirty="0"/>
              <a:t> affects only the parent, not the child.</a:t>
            </a:r>
          </a:p>
          <a:p>
            <a:r>
              <a:rPr lang="en-US" b="1" dirty="0"/>
              <a:t>Child keeps looping and printing</a:t>
            </a:r>
            <a:r>
              <a:rPr lang="en-US" dirty="0"/>
              <a:t> while the parent exits immediately.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Teaching Insight</a:t>
            </a:r>
            <a:br>
              <a:rPr lang="en-US" dirty="0"/>
            </a:br>
            <a:r>
              <a:rPr lang="en-US" dirty="0"/>
              <a:t>This is a clear example of using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setpgid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to </a:t>
            </a:r>
            <a:r>
              <a:rPr lang="en-US" b="1" dirty="0"/>
              <a:t>isolate a child from terminal signals</a:t>
            </a:r>
            <a:r>
              <a:rPr lang="en-US" dirty="0"/>
              <a:t>, which is often used for:</a:t>
            </a:r>
          </a:p>
          <a:p>
            <a:r>
              <a:rPr lang="en-US" dirty="0"/>
              <a:t>Creating </a:t>
            </a:r>
            <a:r>
              <a:rPr lang="en-US" b="1" dirty="0"/>
              <a:t>daemons</a:t>
            </a:r>
            <a:endParaRPr lang="en-US" dirty="0"/>
          </a:p>
          <a:p>
            <a:r>
              <a:rPr lang="en-US" dirty="0"/>
              <a:t>Running background tasks without accidental termination</a:t>
            </a:r>
          </a:p>
          <a:p>
            <a:r>
              <a:rPr lang="en-US" dirty="0"/>
              <a:t>Process group management in shells</a:t>
            </a:r>
          </a:p>
          <a:p>
            <a:endParaRPr lang="en-US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FA3E8-44DA-0FCF-1401-1701A90FC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269739-F0CB-4B6A-8C14-8D0A836D251D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2457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72653e25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72653e25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073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1486" y="1072833"/>
            <a:ext cx="5230178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22973" y="1938021"/>
            <a:ext cx="430720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CA" spc="-5"/>
              <a:t>COMP-2560 System</a:t>
            </a:r>
            <a:r>
              <a:rPr lang="en-CA" spc="-35"/>
              <a:t> </a:t>
            </a:r>
            <a:r>
              <a:rPr lang="en-CA" spc="-5"/>
              <a:t>Programming</a:t>
            </a:r>
            <a:endParaRPr lang="en-CA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lang="en-U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6F15528-21DE-4FAA-801E-634DDDAF4B2B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9CBF6-A2AB-4D67-BA17-4F1BF7569989}"/>
              </a:ext>
            </a:extLst>
          </p:cNvPr>
          <p:cNvSpPr txBox="1"/>
          <p:nvPr userDrawn="1"/>
        </p:nvSpPr>
        <p:spPr>
          <a:xfrm rot="16200000">
            <a:off x="4679887" y="1582593"/>
            <a:ext cx="2641058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Copyright @ 2019, 2020,</a:t>
            </a:r>
            <a:endParaRPr lang="en-CA" sz="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CA" spc="-5"/>
              <a:t>COMP-2560 System</a:t>
            </a:r>
            <a:r>
              <a:rPr lang="en-CA" spc="-35"/>
              <a:t> </a:t>
            </a:r>
            <a:r>
              <a:rPr lang="en-CA" spc="-5"/>
              <a:t>Programming</a:t>
            </a:r>
            <a:endParaRPr lang="en-CA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lang="en-U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6F15528-21DE-4FAA-801E-634DDDAF4B2B}" type="slidenum">
              <a:rPr lang="en-CA" smtClean="0"/>
              <a:pPr/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7658" y="795973"/>
            <a:ext cx="26766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68872" y="795973"/>
            <a:ext cx="26766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CA" spc="-5"/>
              <a:t>COMP-2560 System</a:t>
            </a:r>
            <a:r>
              <a:rPr lang="en-CA" spc="-35"/>
              <a:t> </a:t>
            </a:r>
            <a:r>
              <a:rPr lang="en-CA" spc="-5"/>
              <a:t>Programming</a:t>
            </a:r>
            <a:endParaRPr lang="en-CA"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lang="en-US"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6F15528-21DE-4FAA-801E-634DDDAF4B2B}" type="slidenum">
              <a:rPr lang="en-CA" smtClean="0"/>
              <a:pPr/>
              <a:t>‹#›</a:t>
            </a:fld>
            <a:endParaRPr lang="en-CA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CA" spc="-5"/>
              <a:t>COMP-2560 System</a:t>
            </a:r>
            <a:r>
              <a:rPr lang="en-CA" spc="-35"/>
              <a:t> </a:t>
            </a:r>
            <a:r>
              <a:rPr lang="en-CA" spc="-5"/>
              <a:t>Programming</a:t>
            </a:r>
            <a:endParaRPr lang="en-CA"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lang="en-US"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CA" spc="-5"/>
              <a:t>COMP-2560 System</a:t>
            </a:r>
            <a:r>
              <a:rPr lang="en-CA" spc="-35"/>
              <a:t> </a:t>
            </a:r>
            <a:r>
              <a:rPr lang="en-CA" spc="-5"/>
              <a:t>Programming</a:t>
            </a:r>
            <a:endParaRPr lang="en-CA"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lang="en-US" spc="-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7E94-BE02-9A45-9062-1449FB0E45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144" y="566377"/>
            <a:ext cx="4614863" cy="1204854"/>
          </a:xfrm>
        </p:spPr>
        <p:txBody>
          <a:bodyPr anchor="b"/>
          <a:lstStyle>
            <a:lvl1pPr algn="ctr">
              <a:defRPr sz="302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50E84-FCA6-BF46-947F-0E37FDBD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144" y="1817695"/>
            <a:ext cx="4614863" cy="835547"/>
          </a:xfrm>
        </p:spPr>
        <p:txBody>
          <a:bodyPr/>
          <a:lstStyle>
            <a:lvl1pPr marL="0" indent="0" algn="ctr">
              <a:buNone/>
              <a:defRPr sz="1211"/>
            </a:lvl1pPr>
            <a:lvl2pPr marL="230703" indent="0" algn="ctr">
              <a:buNone/>
              <a:defRPr sz="1009"/>
            </a:lvl2pPr>
            <a:lvl3pPr marL="461406" indent="0" algn="ctr">
              <a:buNone/>
              <a:defRPr sz="908"/>
            </a:lvl3pPr>
            <a:lvl4pPr marL="692109" indent="0" algn="ctr">
              <a:buNone/>
              <a:defRPr sz="807"/>
            </a:lvl4pPr>
            <a:lvl5pPr marL="922812" indent="0" algn="ctr">
              <a:buNone/>
              <a:defRPr sz="807"/>
            </a:lvl5pPr>
            <a:lvl6pPr marL="1153516" indent="0" algn="ctr">
              <a:buNone/>
              <a:defRPr sz="807"/>
            </a:lvl6pPr>
            <a:lvl7pPr marL="1384219" indent="0" algn="ctr">
              <a:buNone/>
              <a:defRPr sz="807"/>
            </a:lvl7pPr>
            <a:lvl8pPr marL="1614922" indent="0" algn="ctr">
              <a:buNone/>
              <a:defRPr sz="807"/>
            </a:lvl8pPr>
            <a:lvl9pPr marL="1845625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436B4-1720-2548-BCE3-CC2568995F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888FA1EE-A4F6-CB48-8E0A-9173DF6BA0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8079D-0BF4-CD44-B92A-489A2C41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7B34F-B4A6-AC47-A86D-866C0E23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2DEBF6B5-A8B6-5742-91AE-8DC29EBB8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27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9D7BE-8467-FA47-BC87-BEEAECA3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0FF2-3FE8-1248-A4BA-F5AE9648A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397C0-5CA5-F14C-AA7D-A1EE12F440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888FA1EE-A4F6-CB48-8E0A-9173DF6BA0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C006F-A7FD-6846-A942-B3569196C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61AC-F887-AE4C-BD7C-AC1FDE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2DEBF6B5-A8B6-5742-91AE-8DC29EBB8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9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7D49B-FD14-D446-91B5-0CC55D140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824" y="862785"/>
            <a:ext cx="5307092" cy="1439576"/>
          </a:xfrm>
        </p:spPr>
        <p:txBody>
          <a:bodyPr anchor="b"/>
          <a:lstStyle>
            <a:lvl1pPr>
              <a:defRPr sz="302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E7AB3-B6DD-9E47-BE1A-4E24B6AA5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824" y="2315979"/>
            <a:ext cx="5307092" cy="757039"/>
          </a:xfrm>
        </p:spPr>
        <p:txBody>
          <a:bodyPr/>
          <a:lstStyle>
            <a:lvl1pPr marL="0" indent="0">
              <a:buNone/>
              <a:defRPr sz="1211">
                <a:solidFill>
                  <a:schemeClr val="tx1">
                    <a:tint val="75000"/>
                  </a:schemeClr>
                </a:solidFill>
              </a:defRPr>
            </a:lvl1pPr>
            <a:lvl2pPr marL="230703" indent="0">
              <a:buNone/>
              <a:defRPr sz="1009">
                <a:solidFill>
                  <a:schemeClr val="tx1">
                    <a:tint val="75000"/>
                  </a:schemeClr>
                </a:solidFill>
              </a:defRPr>
            </a:lvl2pPr>
            <a:lvl3pPr marL="461406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3pPr>
            <a:lvl4pPr marL="692109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4pPr>
            <a:lvl5pPr marL="92281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5pPr>
            <a:lvl6pPr marL="1153516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6pPr>
            <a:lvl7pPr marL="1384219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7pPr>
            <a:lvl8pPr marL="161492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8pPr>
            <a:lvl9pPr marL="1845625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64115-4182-7A4B-A588-4C67C230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888FA1EE-A4F6-CB48-8E0A-9173DF6BA0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42A63-2CB1-A24E-954D-7D7D9379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8B48E-845C-4840-95A9-377C3D3B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2DEBF6B5-A8B6-5742-91AE-8DC29EBB8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5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C3E4-95D0-D041-BD41-2F9A8ED5E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25F08-48C2-644B-ADE9-A7FD0DFF5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3029" y="921265"/>
            <a:ext cx="2615089" cy="21958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1F2CF-1A8D-D440-A80C-A89DA67A6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15032" y="921265"/>
            <a:ext cx="2615089" cy="21958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2C35B-5647-C74B-B437-00CFE688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888FA1EE-A4F6-CB48-8E0A-9173DF6BA0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78282-95C5-2749-9540-97EF5B659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0FAAF-9653-E04F-94F2-4224F38BC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2DEBF6B5-A8B6-5742-91AE-8DC29EBB8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6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B7240-9A7C-CF46-A50F-913546492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30" y="184253"/>
            <a:ext cx="5307092" cy="6689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DA3D2-A89B-9342-A622-CF0D36725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31" y="848365"/>
            <a:ext cx="2603071" cy="415770"/>
          </a:xfrm>
        </p:spPr>
        <p:txBody>
          <a:bodyPr anchor="b"/>
          <a:lstStyle>
            <a:lvl1pPr marL="0" indent="0">
              <a:buNone/>
              <a:defRPr sz="1211" b="1"/>
            </a:lvl1pPr>
            <a:lvl2pPr marL="230703" indent="0">
              <a:buNone/>
              <a:defRPr sz="1009" b="1"/>
            </a:lvl2pPr>
            <a:lvl3pPr marL="461406" indent="0">
              <a:buNone/>
              <a:defRPr sz="908" b="1"/>
            </a:lvl3pPr>
            <a:lvl4pPr marL="692109" indent="0">
              <a:buNone/>
              <a:defRPr sz="807" b="1"/>
            </a:lvl4pPr>
            <a:lvl5pPr marL="922812" indent="0">
              <a:buNone/>
              <a:defRPr sz="807" b="1"/>
            </a:lvl5pPr>
            <a:lvl6pPr marL="1153516" indent="0">
              <a:buNone/>
              <a:defRPr sz="807" b="1"/>
            </a:lvl6pPr>
            <a:lvl7pPr marL="1384219" indent="0">
              <a:buNone/>
              <a:defRPr sz="807" b="1"/>
            </a:lvl7pPr>
            <a:lvl8pPr marL="1614922" indent="0">
              <a:buNone/>
              <a:defRPr sz="807" b="1"/>
            </a:lvl8pPr>
            <a:lvl9pPr marL="1845625" indent="0">
              <a:buNone/>
              <a:defRPr sz="80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E86EF-5EF1-F74B-97C2-CDA3362ED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831" y="1264135"/>
            <a:ext cx="2603071" cy="18593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AD070-654E-214E-B651-0E16996FF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115032" y="848365"/>
            <a:ext cx="2615890" cy="415770"/>
          </a:xfrm>
        </p:spPr>
        <p:txBody>
          <a:bodyPr anchor="b"/>
          <a:lstStyle>
            <a:lvl1pPr marL="0" indent="0">
              <a:buNone/>
              <a:defRPr sz="1211" b="1"/>
            </a:lvl1pPr>
            <a:lvl2pPr marL="230703" indent="0">
              <a:buNone/>
              <a:defRPr sz="1009" b="1"/>
            </a:lvl2pPr>
            <a:lvl3pPr marL="461406" indent="0">
              <a:buNone/>
              <a:defRPr sz="908" b="1"/>
            </a:lvl3pPr>
            <a:lvl4pPr marL="692109" indent="0">
              <a:buNone/>
              <a:defRPr sz="807" b="1"/>
            </a:lvl4pPr>
            <a:lvl5pPr marL="922812" indent="0">
              <a:buNone/>
              <a:defRPr sz="807" b="1"/>
            </a:lvl5pPr>
            <a:lvl6pPr marL="1153516" indent="0">
              <a:buNone/>
              <a:defRPr sz="807" b="1"/>
            </a:lvl6pPr>
            <a:lvl7pPr marL="1384219" indent="0">
              <a:buNone/>
              <a:defRPr sz="807" b="1"/>
            </a:lvl7pPr>
            <a:lvl8pPr marL="1614922" indent="0">
              <a:buNone/>
              <a:defRPr sz="807" b="1"/>
            </a:lvl8pPr>
            <a:lvl9pPr marL="1845625" indent="0">
              <a:buNone/>
              <a:defRPr sz="807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15334D-7F3A-EA40-866D-AB3C425FE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15032" y="1264135"/>
            <a:ext cx="2615890" cy="18593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91819-88AD-1E47-A20A-21A14DF1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888FA1EE-A4F6-CB48-8E0A-9173DF6BA0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E5BACE-5675-9D40-9F4F-E9921987F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0F5B13-59D2-5A41-B943-5F2460810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2DEBF6B5-A8B6-5742-91AE-8DC29EBB8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E827-A917-7549-A733-3976261C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CA6C4-E35C-224C-9307-A887F1DC41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888FA1EE-A4F6-CB48-8E0A-9173DF6BA0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571E2-C2E8-4E42-8B5C-F20315D1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ED733-939E-2148-A95E-47077E5D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2DEBF6B5-A8B6-5742-91AE-8DC29EBB8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41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2AAF3A-3FEB-F143-A7B5-3828A352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888FA1EE-A4F6-CB48-8E0A-9173DF6BA0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BA8D13-6D31-624A-BA24-CD6B8FF1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B2883-BD7C-D844-ADA8-0B3BFA6B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2DEBF6B5-A8B6-5742-91AE-8DC29EBB8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44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6B88B-E4B2-8F4F-B312-99069E934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31" y="230717"/>
            <a:ext cx="1984551" cy="807508"/>
          </a:xfrm>
        </p:spPr>
        <p:txBody>
          <a:bodyPr anchor="b"/>
          <a:lstStyle>
            <a:lvl1pPr>
              <a:defRPr sz="161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8816F-7C9A-6941-AB5E-F714B7BB1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890" y="498284"/>
            <a:ext cx="3115032" cy="2459376"/>
          </a:xfrm>
        </p:spPr>
        <p:txBody>
          <a:bodyPr/>
          <a:lstStyle>
            <a:lvl1pPr>
              <a:defRPr sz="1615"/>
            </a:lvl1pPr>
            <a:lvl2pPr>
              <a:defRPr sz="1413"/>
            </a:lvl2pPr>
            <a:lvl3pPr>
              <a:defRPr sz="1211"/>
            </a:lvl3pPr>
            <a:lvl4pPr>
              <a:defRPr sz="1009"/>
            </a:lvl4pPr>
            <a:lvl5pPr>
              <a:defRPr sz="1009"/>
            </a:lvl5pPr>
            <a:lvl6pPr>
              <a:defRPr sz="1009"/>
            </a:lvl6pPr>
            <a:lvl7pPr>
              <a:defRPr sz="1009"/>
            </a:lvl7pPr>
            <a:lvl8pPr>
              <a:defRPr sz="1009"/>
            </a:lvl8pPr>
            <a:lvl9pPr>
              <a:defRPr sz="100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52E3B-1E34-C048-AC30-905D39D4E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31" y="1038225"/>
            <a:ext cx="1984551" cy="1923440"/>
          </a:xfrm>
        </p:spPr>
        <p:txBody>
          <a:bodyPr/>
          <a:lstStyle>
            <a:lvl1pPr marL="0" indent="0">
              <a:buNone/>
              <a:defRPr sz="807"/>
            </a:lvl1pPr>
            <a:lvl2pPr marL="230703" indent="0">
              <a:buNone/>
              <a:defRPr sz="706"/>
            </a:lvl2pPr>
            <a:lvl3pPr marL="461406" indent="0">
              <a:buNone/>
              <a:defRPr sz="606"/>
            </a:lvl3pPr>
            <a:lvl4pPr marL="692109" indent="0">
              <a:buNone/>
              <a:defRPr sz="505"/>
            </a:lvl4pPr>
            <a:lvl5pPr marL="922812" indent="0">
              <a:buNone/>
              <a:defRPr sz="505"/>
            </a:lvl5pPr>
            <a:lvl6pPr marL="1153516" indent="0">
              <a:buNone/>
              <a:defRPr sz="505"/>
            </a:lvl6pPr>
            <a:lvl7pPr marL="1384219" indent="0">
              <a:buNone/>
              <a:defRPr sz="505"/>
            </a:lvl7pPr>
            <a:lvl8pPr marL="1614922" indent="0">
              <a:buNone/>
              <a:defRPr sz="505"/>
            </a:lvl8pPr>
            <a:lvl9pPr marL="1845625" indent="0">
              <a:buNone/>
              <a:defRPr sz="50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352D6-8B20-1E43-BD8E-08A64177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888FA1EE-A4F6-CB48-8E0A-9173DF6BA0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37D3C-9157-6A4D-B3FC-7B226ED29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B182A-4BF9-5F41-A908-DFC23E647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2DEBF6B5-A8B6-5742-91AE-8DC29EBB8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22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A1F0-B270-7049-988F-77C6A532A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31" y="230717"/>
            <a:ext cx="1984551" cy="807508"/>
          </a:xfrm>
        </p:spPr>
        <p:txBody>
          <a:bodyPr anchor="b"/>
          <a:lstStyle>
            <a:lvl1pPr>
              <a:defRPr sz="161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030449-C0AC-0F4D-8B00-58157086C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15890" y="498284"/>
            <a:ext cx="3115032" cy="2459376"/>
          </a:xfrm>
        </p:spPr>
        <p:txBody>
          <a:bodyPr/>
          <a:lstStyle>
            <a:lvl1pPr marL="0" indent="0">
              <a:buNone/>
              <a:defRPr sz="1615"/>
            </a:lvl1pPr>
            <a:lvl2pPr marL="230703" indent="0">
              <a:buNone/>
              <a:defRPr sz="1413"/>
            </a:lvl2pPr>
            <a:lvl3pPr marL="461406" indent="0">
              <a:buNone/>
              <a:defRPr sz="1211"/>
            </a:lvl3pPr>
            <a:lvl4pPr marL="692109" indent="0">
              <a:buNone/>
              <a:defRPr sz="1009"/>
            </a:lvl4pPr>
            <a:lvl5pPr marL="922812" indent="0">
              <a:buNone/>
              <a:defRPr sz="1009"/>
            </a:lvl5pPr>
            <a:lvl6pPr marL="1153516" indent="0">
              <a:buNone/>
              <a:defRPr sz="1009"/>
            </a:lvl6pPr>
            <a:lvl7pPr marL="1384219" indent="0">
              <a:buNone/>
              <a:defRPr sz="1009"/>
            </a:lvl7pPr>
            <a:lvl8pPr marL="1614922" indent="0">
              <a:buNone/>
              <a:defRPr sz="1009"/>
            </a:lvl8pPr>
            <a:lvl9pPr marL="1845625" indent="0">
              <a:buNone/>
              <a:defRPr sz="100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89FE3-E19C-3343-8DBD-230EB8ACF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31" y="1038225"/>
            <a:ext cx="1984551" cy="1923440"/>
          </a:xfrm>
        </p:spPr>
        <p:txBody>
          <a:bodyPr/>
          <a:lstStyle>
            <a:lvl1pPr marL="0" indent="0">
              <a:buNone/>
              <a:defRPr sz="807"/>
            </a:lvl1pPr>
            <a:lvl2pPr marL="230703" indent="0">
              <a:buNone/>
              <a:defRPr sz="706"/>
            </a:lvl2pPr>
            <a:lvl3pPr marL="461406" indent="0">
              <a:buNone/>
              <a:defRPr sz="606"/>
            </a:lvl3pPr>
            <a:lvl4pPr marL="692109" indent="0">
              <a:buNone/>
              <a:defRPr sz="505"/>
            </a:lvl4pPr>
            <a:lvl5pPr marL="922812" indent="0">
              <a:buNone/>
              <a:defRPr sz="505"/>
            </a:lvl5pPr>
            <a:lvl6pPr marL="1153516" indent="0">
              <a:buNone/>
              <a:defRPr sz="505"/>
            </a:lvl6pPr>
            <a:lvl7pPr marL="1384219" indent="0">
              <a:buNone/>
              <a:defRPr sz="505"/>
            </a:lvl7pPr>
            <a:lvl8pPr marL="1614922" indent="0">
              <a:buNone/>
              <a:defRPr sz="505"/>
            </a:lvl8pPr>
            <a:lvl9pPr marL="1845625" indent="0">
              <a:buNone/>
              <a:defRPr sz="50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31E9A-72CE-7744-90AD-CBA84005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888FA1EE-A4F6-CB48-8E0A-9173DF6BA0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8B379-1EF7-534A-B2FF-EA8F1954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1B19C-BEAD-AC49-8528-67569E0DF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2DEBF6B5-A8B6-5742-91AE-8DC29EBB8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21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03D7-DD00-0748-8FFA-B2BC03BCA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2826A-88C3-5743-B64C-B07D2BE58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3BF11-5B50-CC4B-AA5F-9AF20D6D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888FA1EE-A4F6-CB48-8E0A-9173DF6BA0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CF8D4-EC88-134C-BC2D-702B64D3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15D8A-E2CA-8E43-8878-75649038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2DEBF6B5-A8B6-5742-91AE-8DC29EBB8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13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2ECA9-11B4-0F45-94F9-0FC941CF1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403348" y="184253"/>
            <a:ext cx="1326773" cy="29328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255D7-028B-5D4B-89B0-B5AD9EEF0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029" y="184253"/>
            <a:ext cx="3903405" cy="293282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0844-2774-6245-8C90-47C68BEA8B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888FA1EE-A4F6-CB48-8E0A-9173DF6BA0D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5D80-3CA0-DF4E-B0D2-D7B25328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32B8-447B-714B-8A40-62A67162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/>
          <a:lstStyle/>
          <a:p>
            <a:fld id="{2DEBF6B5-A8B6-5742-91AE-8DC29EBB8E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33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hape 23"/>
          <p:cNvCxnSpPr/>
          <p:nvPr/>
        </p:nvCxnSpPr>
        <p:spPr>
          <a:xfrm>
            <a:off x="351990" y="-1436"/>
            <a:ext cx="0" cy="3464838"/>
          </a:xfrm>
          <a:prstGeom prst="straightConnector1">
            <a:avLst/>
          </a:prstGeom>
          <a:noFill/>
          <a:ln w="12700" cap="flat" cmpd="sng">
            <a:solidFill>
              <a:srgbClr val="660033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4" name="Shape 24"/>
          <p:cNvSpPr/>
          <p:nvPr/>
        </p:nvSpPr>
        <p:spPr>
          <a:xfrm>
            <a:off x="288545" y="379911"/>
            <a:ext cx="127989" cy="127167"/>
          </a:xfrm>
          <a:prstGeom prst="ellipse">
            <a:avLst/>
          </a:prstGeom>
          <a:solidFill>
            <a:srgbClr val="FF9933"/>
          </a:solidFill>
          <a:ln w="28575" cap="flat" cmpd="sng">
            <a:solidFill>
              <a:srgbClr val="66003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46136" tIns="46136" rIns="46136" bIns="46136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706"/>
          </a:p>
        </p:txBody>
      </p:sp>
      <p:sp>
        <p:nvSpPr>
          <p:cNvPr id="25" name="Shape 25"/>
          <p:cNvSpPr/>
          <p:nvPr/>
        </p:nvSpPr>
        <p:spPr>
          <a:xfrm>
            <a:off x="269539" y="850266"/>
            <a:ext cx="163519" cy="163500"/>
          </a:xfrm>
          <a:prstGeom prst="ellipse">
            <a:avLst/>
          </a:prstGeom>
          <a:solidFill>
            <a:srgbClr val="FF9933"/>
          </a:solidFill>
          <a:ln w="12700" cap="flat" cmpd="sng">
            <a:solidFill>
              <a:srgbClr val="66003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46136" tIns="46136" rIns="46136" bIns="46136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sz="706"/>
          </a:p>
        </p:txBody>
      </p:sp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586484" y="356783"/>
            <a:ext cx="4559070" cy="1998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1615">
                <a:solidFill>
                  <a:srgbClr val="660033"/>
                </a:solidFill>
                <a:latin typeface="+mj-lt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 dirty="0"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586499" y="840691"/>
            <a:ext cx="4559071" cy="2270833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marL="144186" lvl="0" indent="-144186" rtl="0">
              <a:spcBef>
                <a:spcPts val="303"/>
              </a:spcBef>
              <a:buClr>
                <a:schemeClr val="tx1">
                  <a:lumMod val="65000"/>
                  <a:lumOff val="35000"/>
                </a:schemeClr>
              </a:buClr>
              <a:buSzPct val="100000"/>
              <a:buFont typeface="Arial" panose="020B0604020202020204" pitchFamily="34" charset="0"/>
              <a:buChar char="•"/>
              <a:defRPr sz="1211">
                <a:solidFill>
                  <a:srgbClr val="660033"/>
                </a:solidFill>
                <a:latin typeface="+mn-lt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242"/>
              </a:spcBef>
              <a:buClr>
                <a:srgbClr val="F3F3F3"/>
              </a:buClr>
              <a:buSzPct val="100000"/>
              <a:buFont typeface="Quicksand"/>
              <a:buChar char="▫"/>
              <a:defRPr sz="1211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242"/>
              </a:spcBef>
              <a:buClr>
                <a:srgbClr val="F3F3F3"/>
              </a:buClr>
              <a:buSzPct val="100000"/>
              <a:buFont typeface="Quicksand"/>
              <a:defRPr sz="1211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182"/>
              </a:spcBef>
              <a:buClr>
                <a:srgbClr val="F3F3F3"/>
              </a:buClr>
              <a:buSzPct val="100000"/>
              <a:buFont typeface="Quicksand"/>
              <a:defRPr sz="908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182"/>
              </a:spcBef>
              <a:buClr>
                <a:srgbClr val="F3F3F3"/>
              </a:buClr>
              <a:buSzPct val="100000"/>
              <a:buFont typeface="Quicksand"/>
              <a:defRPr sz="908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182"/>
              </a:spcBef>
              <a:buClr>
                <a:srgbClr val="F3F3F3"/>
              </a:buClr>
              <a:buSzPct val="100000"/>
              <a:buFont typeface="Quicksand"/>
              <a:defRPr sz="908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182"/>
              </a:spcBef>
              <a:buClr>
                <a:srgbClr val="F3F3F3"/>
              </a:buClr>
              <a:buSzPct val="100000"/>
              <a:buFont typeface="Quicksand"/>
              <a:defRPr sz="908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182"/>
              </a:spcBef>
              <a:buClr>
                <a:srgbClr val="F3F3F3"/>
              </a:buClr>
              <a:buSzPct val="100000"/>
              <a:buFont typeface="Quicksand"/>
              <a:defRPr sz="908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182"/>
              </a:spcBef>
              <a:buClr>
                <a:srgbClr val="F3F3F3"/>
              </a:buClr>
              <a:buSzPct val="100000"/>
              <a:buFont typeface="Quicksand"/>
              <a:defRPr sz="908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 dirty="0"/>
          </a:p>
        </p:txBody>
      </p:sp>
      <p:pic>
        <p:nvPicPr>
          <p:cNvPr id="2" name="Picture 1" descr="green-bar.eps">
            <a:extLst>
              <a:ext uri="{FF2B5EF4-FFF2-40B4-BE49-F238E27FC236}">
                <a16:creationId xmlns:a16="http://schemas.microsoft.com/office/drawing/2014/main" id="{A8A24C60-748E-37E1-E9D6-E8D2977424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53129"/>
            <a:ext cx="6152549" cy="3100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0E5F5D-F7F6-9D03-4A83-F59BD19237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11649" y="3234814"/>
            <a:ext cx="239114" cy="146727"/>
          </a:xfrm>
          <a:prstGeom prst="rect">
            <a:avLst/>
          </a:prstGeom>
        </p:spPr>
      </p:pic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335FF834-5238-8877-FF77-B5FD6797E49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01186" y="3216051"/>
            <a:ext cx="200265" cy="184253"/>
          </a:xfrm>
        </p:spPr>
        <p:txBody>
          <a:bodyPr/>
          <a:lstStyle>
            <a:lvl1pPr>
              <a:defRPr>
                <a:solidFill>
                  <a:srgbClr val="FF993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3381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hape 23"/>
          <p:cNvCxnSpPr/>
          <p:nvPr userDrawn="1"/>
        </p:nvCxnSpPr>
        <p:spPr>
          <a:xfrm>
            <a:off x="351990" y="-3999"/>
            <a:ext cx="0" cy="3464838"/>
          </a:xfrm>
          <a:prstGeom prst="straightConnector1">
            <a:avLst/>
          </a:prstGeom>
          <a:noFill/>
          <a:ln w="12700" cap="flat" cmpd="sng">
            <a:solidFill>
              <a:srgbClr val="2D2878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Shape 24"/>
          <p:cNvSpPr/>
          <p:nvPr userDrawn="1"/>
        </p:nvSpPr>
        <p:spPr>
          <a:xfrm>
            <a:off x="288545" y="387602"/>
            <a:ext cx="127989" cy="127167"/>
          </a:xfrm>
          <a:prstGeom prst="ellipse">
            <a:avLst/>
          </a:prstGeom>
          <a:solidFill>
            <a:srgbClr val="148CDC"/>
          </a:solidFill>
          <a:ln w="28575" cap="flat" cmpd="sng">
            <a:solidFill>
              <a:srgbClr val="148CDC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46136" tIns="46136" rIns="46136" bIns="46136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25"/>
          <p:cNvSpPr/>
          <p:nvPr userDrawn="1"/>
        </p:nvSpPr>
        <p:spPr>
          <a:xfrm>
            <a:off x="269539" y="850266"/>
            <a:ext cx="163519" cy="163500"/>
          </a:xfrm>
          <a:prstGeom prst="ellipse">
            <a:avLst/>
          </a:prstGeom>
          <a:solidFill>
            <a:schemeClr val="bg1"/>
          </a:solidFill>
          <a:ln w="12700" cap="flat" cmpd="sng">
            <a:solidFill>
              <a:srgbClr val="2D287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46136" tIns="46136" rIns="46136" bIns="46136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26"/>
          <p:cNvSpPr txBox="1">
            <a:spLocks noGrp="1"/>
          </p:cNvSpPr>
          <p:nvPr>
            <p:ph type="title"/>
          </p:nvPr>
        </p:nvSpPr>
        <p:spPr>
          <a:xfrm>
            <a:off x="586484" y="356783"/>
            <a:ext cx="4832888" cy="199833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1615">
                <a:solidFill>
                  <a:srgbClr val="0070C0"/>
                </a:solidFill>
                <a:latin typeface="+mj-lt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buClr>
                <a:srgbClr val="39C0BA"/>
              </a:buClr>
              <a:buSzPct val="100000"/>
              <a:buFont typeface="Quicksand"/>
              <a:buNone/>
              <a:defRPr sz="908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322CE-273B-5361-47A9-F61CE03B6A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6472" y="849967"/>
            <a:ext cx="4832787" cy="2190206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  <a:lvl2pPr marL="346055" indent="-115352">
              <a:buFont typeface="Courier New" panose="02070309020205020404" pitchFamily="49" charset="0"/>
              <a:buChar char="o"/>
              <a:defRPr>
                <a:solidFill>
                  <a:srgbClr val="0070C0"/>
                </a:solidFill>
              </a:defRPr>
            </a:lvl2pPr>
            <a:lvl3pPr marL="576758" indent="-115352">
              <a:buFont typeface="Wingdings" panose="05000000000000000000" pitchFamily="2" charset="2"/>
              <a:buChar char="§"/>
              <a:defRPr>
                <a:solidFill>
                  <a:srgbClr val="0070C0"/>
                </a:solidFill>
              </a:defRPr>
            </a:lvl3pPr>
            <a:lvl4pPr marL="807461" indent="-115352">
              <a:buFont typeface="Calibri" panose="020F0502020204030204" pitchFamily="34" charset="0"/>
              <a:buChar char="‐"/>
              <a:defRPr>
                <a:solidFill>
                  <a:srgbClr val="0070C0"/>
                </a:solidFill>
              </a:defRPr>
            </a:lvl4pPr>
            <a:lvl5pPr>
              <a:buClr>
                <a:srgbClr val="4472C4"/>
              </a:buClr>
              <a:defRPr>
                <a:solidFill>
                  <a:srgbClr val="0070C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15804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6150352" cy="3456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k object 17"/>
          <p:cNvSpPr/>
          <p:nvPr/>
        </p:nvSpPr>
        <p:spPr>
          <a:xfrm>
            <a:off x="4122067" y="3224821"/>
            <a:ext cx="57633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5"/>
                </a:moveTo>
                <a:lnTo>
                  <a:pt x="43018" y="30365"/>
                </a:lnTo>
                <a:lnTo>
                  <a:pt x="43018" y="0"/>
                </a:lnTo>
                <a:lnTo>
                  <a:pt x="0" y="0"/>
                </a:lnTo>
                <a:lnTo>
                  <a:pt x="0" y="30365"/>
                </a:lnTo>
                <a:close/>
              </a:path>
            </a:pathLst>
          </a:custGeom>
          <a:ln w="5060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k object 18"/>
          <p:cNvSpPr/>
          <p:nvPr/>
        </p:nvSpPr>
        <p:spPr>
          <a:xfrm>
            <a:off x="4015803" y="3220859"/>
            <a:ext cx="33902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1E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k object 19"/>
          <p:cNvSpPr/>
          <p:nvPr/>
        </p:nvSpPr>
        <p:spPr>
          <a:xfrm>
            <a:off x="4253114" y="3220859"/>
            <a:ext cx="33902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1E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k object 20"/>
          <p:cNvSpPr/>
          <p:nvPr/>
        </p:nvSpPr>
        <p:spPr>
          <a:xfrm>
            <a:off x="4456640" y="3234943"/>
            <a:ext cx="57633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30365"/>
                </a:moveTo>
                <a:lnTo>
                  <a:pt x="43018" y="30365"/>
                </a:lnTo>
                <a:lnTo>
                  <a:pt x="43018" y="0"/>
                </a:lnTo>
                <a:lnTo>
                  <a:pt x="0" y="0"/>
                </a:lnTo>
                <a:lnTo>
                  <a:pt x="0" y="30365"/>
                </a:lnTo>
                <a:close/>
              </a:path>
            </a:pathLst>
          </a:custGeom>
          <a:ln w="5060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1" name="bk object 21"/>
          <p:cNvSpPr/>
          <p:nvPr/>
        </p:nvSpPr>
        <p:spPr>
          <a:xfrm>
            <a:off x="4470644" y="3224669"/>
            <a:ext cx="57633" cy="30480"/>
          </a:xfrm>
          <a:custGeom>
            <a:avLst/>
            <a:gdLst/>
            <a:ahLst/>
            <a:cxnLst/>
            <a:rect l="l" t="t" r="r" b="b"/>
            <a:pathLst>
              <a:path w="43179" h="30479">
                <a:moveTo>
                  <a:pt x="0" y="10159"/>
                </a:moveTo>
                <a:lnTo>
                  <a:pt x="0" y="0"/>
                </a:lnTo>
                <a:lnTo>
                  <a:pt x="43179" y="0"/>
                </a:lnTo>
                <a:lnTo>
                  <a:pt x="43179" y="30479"/>
                </a:lnTo>
                <a:lnTo>
                  <a:pt x="33019" y="30479"/>
                </a:lnTo>
              </a:path>
            </a:pathLst>
          </a:custGeom>
          <a:ln w="5060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2" name="bk object 22"/>
          <p:cNvSpPr/>
          <p:nvPr/>
        </p:nvSpPr>
        <p:spPr>
          <a:xfrm>
            <a:off x="4484205" y="3214509"/>
            <a:ext cx="57633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10159"/>
                </a:moveTo>
                <a:lnTo>
                  <a:pt x="0" y="0"/>
                </a:lnTo>
                <a:lnTo>
                  <a:pt x="43179" y="0"/>
                </a:lnTo>
                <a:lnTo>
                  <a:pt x="43179" y="30480"/>
                </a:lnTo>
                <a:lnTo>
                  <a:pt x="33019" y="30480"/>
                </a:lnTo>
              </a:path>
            </a:pathLst>
          </a:custGeom>
          <a:ln w="5060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3" name="bk object 23"/>
          <p:cNvSpPr/>
          <p:nvPr/>
        </p:nvSpPr>
        <p:spPr>
          <a:xfrm>
            <a:off x="4372329" y="3220859"/>
            <a:ext cx="33902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1E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bk object 24"/>
          <p:cNvSpPr/>
          <p:nvPr/>
        </p:nvSpPr>
        <p:spPr>
          <a:xfrm>
            <a:off x="4609641" y="3220859"/>
            <a:ext cx="33902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1E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5" name="bk object 25"/>
          <p:cNvSpPr/>
          <p:nvPr/>
        </p:nvSpPr>
        <p:spPr>
          <a:xfrm>
            <a:off x="4847512" y="32272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6" name="bk object 26"/>
          <p:cNvSpPr/>
          <p:nvPr/>
        </p:nvSpPr>
        <p:spPr>
          <a:xfrm>
            <a:off x="4728856" y="3220859"/>
            <a:ext cx="33902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1E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7" name="bk object 27"/>
          <p:cNvSpPr/>
          <p:nvPr/>
        </p:nvSpPr>
        <p:spPr>
          <a:xfrm>
            <a:off x="4966168" y="3220859"/>
            <a:ext cx="33902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1E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8" name="bk object 28"/>
          <p:cNvSpPr/>
          <p:nvPr/>
        </p:nvSpPr>
        <p:spPr>
          <a:xfrm>
            <a:off x="4830561" y="32145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CCC1E5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9" name="bk object 29"/>
          <p:cNvSpPr/>
          <p:nvPr/>
        </p:nvSpPr>
        <p:spPr>
          <a:xfrm>
            <a:off x="4847512" y="32399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CCC1E5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0" name="bk object 30"/>
          <p:cNvSpPr/>
          <p:nvPr/>
        </p:nvSpPr>
        <p:spPr>
          <a:xfrm>
            <a:off x="4830561" y="32526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CCC1E5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1" name="bk object 31"/>
          <p:cNvSpPr/>
          <p:nvPr/>
        </p:nvSpPr>
        <p:spPr>
          <a:xfrm>
            <a:off x="4847512" y="32653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CCC1E5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2" name="bk object 32"/>
          <p:cNvSpPr/>
          <p:nvPr/>
        </p:nvSpPr>
        <p:spPr>
          <a:xfrm>
            <a:off x="5187105" y="32145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3" name="bk object 33"/>
          <p:cNvSpPr/>
          <p:nvPr/>
        </p:nvSpPr>
        <p:spPr>
          <a:xfrm>
            <a:off x="5204056" y="32272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4" name="bk object 34"/>
          <p:cNvSpPr/>
          <p:nvPr/>
        </p:nvSpPr>
        <p:spPr>
          <a:xfrm>
            <a:off x="5204056" y="32399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5" name="bk object 35"/>
          <p:cNvSpPr/>
          <p:nvPr/>
        </p:nvSpPr>
        <p:spPr>
          <a:xfrm>
            <a:off x="5085400" y="3220859"/>
            <a:ext cx="33902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1E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6" name="bk object 36"/>
          <p:cNvSpPr/>
          <p:nvPr/>
        </p:nvSpPr>
        <p:spPr>
          <a:xfrm>
            <a:off x="5322711" y="3220859"/>
            <a:ext cx="33902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1E5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7" name="bk object 37"/>
          <p:cNvSpPr/>
          <p:nvPr/>
        </p:nvSpPr>
        <p:spPr>
          <a:xfrm>
            <a:off x="5187105" y="32526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CCC1E5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8" name="bk object 38"/>
          <p:cNvSpPr/>
          <p:nvPr/>
        </p:nvSpPr>
        <p:spPr>
          <a:xfrm>
            <a:off x="5204056" y="32653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CCC1E5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9" name="bk object 39"/>
          <p:cNvSpPr/>
          <p:nvPr/>
        </p:nvSpPr>
        <p:spPr>
          <a:xfrm>
            <a:off x="5543632" y="32145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0" name="bk object 40"/>
          <p:cNvSpPr/>
          <p:nvPr/>
        </p:nvSpPr>
        <p:spPr>
          <a:xfrm>
            <a:off x="5560583" y="32272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1" name="bk object 41"/>
          <p:cNvSpPr/>
          <p:nvPr/>
        </p:nvSpPr>
        <p:spPr>
          <a:xfrm>
            <a:off x="5560583" y="32399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2" name="bk object 42"/>
          <p:cNvSpPr/>
          <p:nvPr/>
        </p:nvSpPr>
        <p:spPr>
          <a:xfrm>
            <a:off x="5526681" y="3252609"/>
            <a:ext cx="67803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7591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3" name="bk object 43"/>
          <p:cNvSpPr/>
          <p:nvPr/>
        </p:nvSpPr>
        <p:spPr>
          <a:xfrm>
            <a:off x="5560583" y="3265309"/>
            <a:ext cx="50852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4" name="bk object 44"/>
          <p:cNvSpPr/>
          <p:nvPr/>
        </p:nvSpPr>
        <p:spPr>
          <a:xfrm>
            <a:off x="5940840" y="3244989"/>
            <a:ext cx="27121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1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5" name="bk object 45"/>
          <p:cNvSpPr/>
          <p:nvPr/>
        </p:nvSpPr>
        <p:spPr>
          <a:xfrm>
            <a:off x="5904718" y="3218495"/>
            <a:ext cx="40682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15182" y="0"/>
                </a:moveTo>
                <a:lnTo>
                  <a:pt x="23609" y="0"/>
                </a:lnTo>
                <a:lnTo>
                  <a:pt x="30365" y="6756"/>
                </a:lnTo>
                <a:lnTo>
                  <a:pt x="30365" y="15182"/>
                </a:lnTo>
                <a:lnTo>
                  <a:pt x="30365" y="23609"/>
                </a:lnTo>
                <a:lnTo>
                  <a:pt x="23609" y="30365"/>
                </a:lnTo>
                <a:lnTo>
                  <a:pt x="15182" y="30365"/>
                </a:lnTo>
                <a:lnTo>
                  <a:pt x="6756" y="30365"/>
                </a:lnTo>
                <a:lnTo>
                  <a:pt x="0" y="23609"/>
                </a:lnTo>
                <a:lnTo>
                  <a:pt x="0" y="15182"/>
                </a:lnTo>
                <a:lnTo>
                  <a:pt x="0" y="6756"/>
                </a:lnTo>
                <a:lnTo>
                  <a:pt x="6756" y="0"/>
                </a:lnTo>
                <a:lnTo>
                  <a:pt x="15182" y="0"/>
                </a:lnTo>
                <a:close/>
              </a:path>
            </a:pathLst>
          </a:custGeom>
          <a:ln w="5060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6" name="bk object 46"/>
          <p:cNvSpPr/>
          <p:nvPr/>
        </p:nvSpPr>
        <p:spPr>
          <a:xfrm>
            <a:off x="5798453" y="3214509"/>
            <a:ext cx="67803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35262" y="48795"/>
                </a:lnTo>
                <a:lnTo>
                  <a:pt x="43338" y="43338"/>
                </a:lnTo>
                <a:lnTo>
                  <a:pt x="48795" y="35262"/>
                </a:lnTo>
                <a:lnTo>
                  <a:pt x="50800" y="25400"/>
                </a:lnTo>
                <a:lnTo>
                  <a:pt x="48795" y="15537"/>
                </a:lnTo>
                <a:lnTo>
                  <a:pt x="43338" y="7461"/>
                </a:lnTo>
                <a:lnTo>
                  <a:pt x="35262" y="2004"/>
                </a:lnTo>
                <a:lnTo>
                  <a:pt x="25400" y="0"/>
                </a:lnTo>
                <a:lnTo>
                  <a:pt x="15537" y="2004"/>
                </a:lnTo>
                <a:lnTo>
                  <a:pt x="7461" y="7461"/>
                </a:lnTo>
                <a:lnTo>
                  <a:pt x="2004" y="15537"/>
                </a:lnTo>
                <a:lnTo>
                  <a:pt x="0" y="25400"/>
                </a:lnTo>
              </a:path>
            </a:pathLst>
          </a:custGeom>
          <a:ln w="5060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7" name="bk object 47"/>
          <p:cNvSpPr/>
          <p:nvPr/>
        </p:nvSpPr>
        <p:spPr>
          <a:xfrm>
            <a:off x="5778112" y="3232289"/>
            <a:ext cx="40682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79" y="0"/>
                </a:moveTo>
                <a:lnTo>
                  <a:pt x="15239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8" name="bk object 48"/>
          <p:cNvSpPr/>
          <p:nvPr/>
        </p:nvSpPr>
        <p:spPr>
          <a:xfrm>
            <a:off x="6001863" y="3214509"/>
            <a:ext cx="67803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15537" y="48795"/>
                </a:lnTo>
                <a:lnTo>
                  <a:pt x="7461" y="43338"/>
                </a:lnTo>
                <a:lnTo>
                  <a:pt x="2004" y="35262"/>
                </a:lnTo>
                <a:lnTo>
                  <a:pt x="0" y="25400"/>
                </a:lnTo>
                <a:lnTo>
                  <a:pt x="2004" y="15537"/>
                </a:lnTo>
                <a:lnTo>
                  <a:pt x="7461" y="7461"/>
                </a:lnTo>
                <a:lnTo>
                  <a:pt x="15537" y="2004"/>
                </a:lnTo>
                <a:lnTo>
                  <a:pt x="25400" y="0"/>
                </a:lnTo>
                <a:lnTo>
                  <a:pt x="35262" y="2004"/>
                </a:lnTo>
                <a:lnTo>
                  <a:pt x="43338" y="7461"/>
                </a:lnTo>
                <a:lnTo>
                  <a:pt x="48795" y="15537"/>
                </a:lnTo>
                <a:lnTo>
                  <a:pt x="50800" y="25400"/>
                </a:lnTo>
              </a:path>
            </a:pathLst>
          </a:custGeom>
          <a:ln w="5060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9" name="bk object 49"/>
          <p:cNvSpPr/>
          <p:nvPr/>
        </p:nvSpPr>
        <p:spPr>
          <a:xfrm>
            <a:off x="6049326" y="3232289"/>
            <a:ext cx="40682" cy="12700"/>
          </a:xfrm>
          <a:custGeom>
            <a:avLst/>
            <a:gdLst/>
            <a:ahLst/>
            <a:cxnLst/>
            <a:rect l="l" t="t" r="r" b="b"/>
            <a:pathLst>
              <a:path w="30479" h="12700">
                <a:moveTo>
                  <a:pt x="30479" y="0"/>
                </a:moveTo>
                <a:lnTo>
                  <a:pt x="15239" y="12699"/>
                </a:lnTo>
                <a:lnTo>
                  <a:pt x="0" y="0"/>
                </a:lnTo>
              </a:path>
            </a:pathLst>
          </a:custGeom>
          <a:ln w="5060">
            <a:solidFill>
              <a:srgbClr val="A59ED8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0" name="bk object 50"/>
          <p:cNvSpPr/>
          <p:nvPr/>
        </p:nvSpPr>
        <p:spPr>
          <a:xfrm>
            <a:off x="1" y="0"/>
            <a:ext cx="3075727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45720" y="857395"/>
            <a:ext cx="3261711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83851" y="1643176"/>
            <a:ext cx="298544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02366" y="3325810"/>
            <a:ext cx="1423021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CA" spc="-5"/>
              <a:t>COMP-2560 System</a:t>
            </a:r>
            <a:r>
              <a:rPr lang="en-CA" spc="-35"/>
              <a:t> </a:t>
            </a:r>
            <a:r>
              <a:rPr lang="en-CA" spc="-5"/>
              <a:t>Programming</a:t>
            </a:r>
            <a:endParaRPr lang="en-CA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469159" y="3325824"/>
            <a:ext cx="478861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lang="en-U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728856" y="3322655"/>
            <a:ext cx="1415225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6F15528-21DE-4FAA-801E-634DDDAF4B2B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9470CF-EED7-4B1C-8B9A-E27B37E97BF6}"/>
              </a:ext>
            </a:extLst>
          </p:cNvPr>
          <p:cNvSpPr txBox="1"/>
          <p:nvPr userDrawn="1"/>
        </p:nvSpPr>
        <p:spPr>
          <a:xfrm rot="16200000">
            <a:off x="4679887" y="1582593"/>
            <a:ext cx="2641058" cy="2154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Copyright @   all rights reserved</a:t>
            </a:r>
            <a:endParaRPr lang="en-CA" sz="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7AD727-180C-6C41-8560-04A952E25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29" y="184253"/>
            <a:ext cx="5307092" cy="668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E65D2-9D75-0548-91A2-FE37A13DC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029" y="921265"/>
            <a:ext cx="5307092" cy="2195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CCBD64-8A40-874E-A16E-3EDC3D92A62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2999317"/>
            <a:ext cx="6153150" cy="46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8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461406" rtl="0" eaLnBrk="1" latinLnBrk="0" hangingPunct="1">
        <a:lnSpc>
          <a:spcPct val="90000"/>
        </a:lnSpc>
        <a:spcBef>
          <a:spcPct val="0"/>
        </a:spcBef>
        <a:buNone/>
        <a:defRPr sz="22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352" indent="-115352" algn="l" defTabSz="461406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413" kern="1200">
          <a:solidFill>
            <a:schemeClr val="tx1"/>
          </a:solidFill>
          <a:latin typeface="+mn-lt"/>
          <a:ea typeface="+mn-ea"/>
          <a:cs typeface="+mn-cs"/>
        </a:defRPr>
      </a:lvl1pPr>
      <a:lvl2pPr marL="346055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1211" kern="1200">
          <a:solidFill>
            <a:schemeClr val="tx1"/>
          </a:solidFill>
          <a:latin typeface="+mn-lt"/>
          <a:ea typeface="+mn-ea"/>
          <a:cs typeface="+mn-cs"/>
        </a:defRPr>
      </a:lvl2pPr>
      <a:lvl3pPr marL="576758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1009" kern="1200">
          <a:solidFill>
            <a:schemeClr val="tx1"/>
          </a:solidFill>
          <a:latin typeface="+mn-lt"/>
          <a:ea typeface="+mn-ea"/>
          <a:cs typeface="+mn-cs"/>
        </a:defRPr>
      </a:lvl3pPr>
      <a:lvl4pPr marL="807461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1038164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268867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499570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730273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960977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703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406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2109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812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3516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4219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4922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5625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5.png"/><Relationship Id="rId5" Type="http://schemas.openxmlformats.org/officeDocument/2006/relationships/image" Target="../media/image16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33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5.png"/><Relationship Id="rId5" Type="http://schemas.openxmlformats.org/officeDocument/2006/relationships/image" Target="../media/image16.png"/><Relationship Id="rId10" Type="http://schemas.openxmlformats.org/officeDocument/2006/relationships/image" Target="../media/image34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4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1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13.png"/><Relationship Id="rId10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2.png"/><Relationship Id="rId7" Type="http://schemas.openxmlformats.org/officeDocument/2006/relationships/image" Target="../media/image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5.png"/><Relationship Id="rId5" Type="http://schemas.openxmlformats.org/officeDocument/2006/relationships/image" Target="../media/image16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Andreas.Maniatis@UWindsor.ca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://www.linkedin.com/in/andreasmaniat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  <a:duotone>
              <a:schemeClr val="bg2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7B385-2DCA-364C-8CE4-790847292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408" y="566377"/>
            <a:ext cx="5355922" cy="120485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</a:rPr>
              <a:t>Week 9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2. UNIX Signals (II)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E4783-2DCE-C244-9D3A-0F56A2B3C7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Dr. Andreas S. Maniatis</a:t>
            </a:r>
          </a:p>
          <a:p>
            <a:pPr algn="l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Assistant Professor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8D30596-0456-F4C9-108F-24AD95A78B36}"/>
              </a:ext>
            </a:extLst>
          </p:cNvPr>
          <p:cNvSpPr txBox="1">
            <a:spLocks/>
          </p:cNvSpPr>
          <p:nvPr/>
        </p:nvSpPr>
        <p:spPr>
          <a:xfrm>
            <a:off x="769408" y="2532295"/>
            <a:ext cx="3834291" cy="362077"/>
          </a:xfrm>
          <a:prstGeom prst="rect">
            <a:avLst/>
          </a:prstGeom>
        </p:spPr>
        <p:txBody>
          <a:bodyPr vert="horz" lIns="46143" tIns="23072" rIns="46143" bIns="23072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61406" rtl="0" eaLnBrk="1" fontAlgn="auto" latinLnBrk="0" hangingPunct="1">
              <a:lnSpc>
                <a:spcPct val="9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11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Computer Science</a:t>
            </a:r>
          </a:p>
          <a:p>
            <a:pPr marL="0" marR="0" lvl="0" indent="0" algn="l" defTabSz="461406" rtl="0" eaLnBrk="1" fontAlgn="auto" latinLnBrk="0" hangingPunct="1">
              <a:lnSpc>
                <a:spcPct val="9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11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COMP.2560 – System Programming [2025F]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1BD25D5-9F95-0FA6-6C9E-DD50038C5FCE}"/>
              </a:ext>
            </a:extLst>
          </p:cNvPr>
          <p:cNvSpPr txBox="1">
            <a:spLocks/>
          </p:cNvSpPr>
          <p:nvPr/>
        </p:nvSpPr>
        <p:spPr>
          <a:xfrm>
            <a:off x="714376" y="2857081"/>
            <a:ext cx="2443912" cy="1498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61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7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Wednesday, October 29</a:t>
            </a:r>
            <a:r>
              <a:rPr kumimoji="0" lang="en-US" sz="807" b="0" i="0" u="none" strike="noStrike" kern="1200" cap="none" spc="0" normalizeH="0" baseline="3000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</a:t>
            </a:r>
            <a:r>
              <a:rPr kumimoji="0" lang="en-US" sz="807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653416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8092" y="162332"/>
            <a:ext cx="312420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Content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5" y="436677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0719" y="795070"/>
            <a:ext cx="3989704" cy="82550"/>
          </a:xfrm>
          <a:custGeom>
            <a:avLst/>
            <a:gdLst/>
            <a:ahLst/>
            <a:cxnLst/>
            <a:rect l="l" t="t" r="r" b="b"/>
            <a:pathLst>
              <a:path w="3989704" h="82550">
                <a:moveTo>
                  <a:pt x="50799" y="0"/>
                </a:moveTo>
                <a:lnTo>
                  <a:pt x="31074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799"/>
                </a:lnTo>
                <a:lnTo>
                  <a:pt x="0" y="82383"/>
                </a:lnTo>
                <a:lnTo>
                  <a:pt x="3989591" y="82383"/>
                </a:lnTo>
                <a:lnTo>
                  <a:pt x="3989591" y="50799"/>
                </a:lnTo>
                <a:lnTo>
                  <a:pt x="3974668" y="14922"/>
                </a:lnTo>
                <a:lnTo>
                  <a:pt x="3938791" y="0"/>
                </a:lnTo>
                <a:lnTo>
                  <a:pt x="5079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31518" y="1361820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06812" y="1349122"/>
            <a:ext cx="114299" cy="1142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2319" y="1399922"/>
            <a:ext cx="3837191" cy="634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70312" y="845623"/>
            <a:ext cx="50799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70312" y="896424"/>
            <a:ext cx="50799" cy="4653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80719" y="839488"/>
            <a:ext cx="3989704" cy="573405"/>
          </a:xfrm>
          <a:custGeom>
            <a:avLst/>
            <a:gdLst/>
            <a:ahLst/>
            <a:cxnLst/>
            <a:rect l="l" t="t" r="r" b="b"/>
            <a:pathLst>
              <a:path w="3989704" h="573405">
                <a:moveTo>
                  <a:pt x="3989591" y="0"/>
                </a:moveTo>
                <a:lnTo>
                  <a:pt x="0" y="0"/>
                </a:lnTo>
                <a:lnTo>
                  <a:pt x="0" y="522334"/>
                </a:lnTo>
                <a:lnTo>
                  <a:pt x="4008" y="542058"/>
                </a:lnTo>
                <a:lnTo>
                  <a:pt x="14922" y="558211"/>
                </a:lnTo>
                <a:lnTo>
                  <a:pt x="31075" y="569125"/>
                </a:lnTo>
                <a:lnTo>
                  <a:pt x="50799" y="573133"/>
                </a:lnTo>
                <a:lnTo>
                  <a:pt x="3938791" y="573133"/>
                </a:lnTo>
                <a:lnTo>
                  <a:pt x="3958516" y="569125"/>
                </a:lnTo>
                <a:lnTo>
                  <a:pt x="3974669" y="558211"/>
                </a:lnTo>
                <a:lnTo>
                  <a:pt x="3985583" y="542058"/>
                </a:lnTo>
                <a:lnTo>
                  <a:pt x="3989591" y="522334"/>
                </a:lnTo>
                <a:lnTo>
                  <a:pt x="3989591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70311" y="883724"/>
            <a:ext cx="0" cy="497205"/>
          </a:xfrm>
          <a:custGeom>
            <a:avLst/>
            <a:gdLst/>
            <a:ahLst/>
            <a:cxnLst/>
            <a:rect l="l" t="t" r="r" b="b"/>
            <a:pathLst>
              <a:path h="497205">
                <a:moveTo>
                  <a:pt x="0" y="497147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70311" y="8710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70311" y="8583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70311" y="8456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70311" y="826574"/>
            <a:ext cx="0" cy="19050"/>
          </a:xfrm>
          <a:custGeom>
            <a:avLst/>
            <a:gdLst/>
            <a:ahLst/>
            <a:cxnLst/>
            <a:rect l="l" t="t" r="r" b="b"/>
            <a:pathLst>
              <a:path h="19050">
                <a:moveTo>
                  <a:pt x="0" y="19049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247776" y="857395"/>
            <a:ext cx="3822425" cy="444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5819" marR="5080" indent="-833755" algn="l">
              <a:lnSpc>
                <a:spcPct val="106700"/>
              </a:lnSpc>
            </a:pPr>
            <a:r>
              <a:rPr lang="en-CA" spc="15" dirty="0"/>
              <a:t>COMP-2560  System</a:t>
            </a:r>
            <a:r>
              <a:rPr lang="en-CA" spc="-55" dirty="0"/>
              <a:t> </a:t>
            </a:r>
            <a:r>
              <a:rPr lang="en-CA" spc="15" dirty="0"/>
              <a:t>Programming:      </a:t>
            </a:r>
            <a:br>
              <a:rPr lang="en-CA" spc="15" dirty="0"/>
            </a:br>
            <a:r>
              <a:rPr lang="en-CA" spc="15" dirty="0"/>
              <a:t>            Signals</a:t>
            </a:r>
            <a:r>
              <a:rPr lang="en-CA" spc="-85" dirty="0"/>
              <a:t> </a:t>
            </a:r>
            <a:r>
              <a:rPr lang="en-CA" spc="5" dirty="0"/>
              <a:t>II</a:t>
            </a:r>
          </a:p>
        </p:txBody>
      </p:sp>
      <p:sp>
        <p:nvSpPr>
          <p:cNvPr id="19" name="object 19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75520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4BBAE02-8F44-4486-B4D6-6161736615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2</a:t>
            </a:fld>
            <a:endParaRPr lang="en-CA"/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C5E628E8-9B3C-CC1B-B08A-B04FCD31C110}"/>
              </a:ext>
            </a:extLst>
          </p:cNvPr>
          <p:cNvSpPr txBox="1"/>
          <p:nvPr/>
        </p:nvSpPr>
        <p:spPr>
          <a:xfrm>
            <a:off x="1958187" y="1641754"/>
            <a:ext cx="2235200" cy="498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5615" marR="467995" algn="ctr">
              <a:lnSpc>
                <a:spcPts val="950"/>
              </a:lnSpc>
              <a:spcBef>
                <a:spcPts val="5"/>
              </a:spcBef>
            </a:pPr>
            <a:r>
              <a:rPr sz="800" spc="-5" dirty="0">
                <a:latin typeface="Arial"/>
                <a:cs typeface="Arial"/>
              </a:rPr>
              <a:t>School of Computer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Science  University of</a:t>
            </a:r>
            <a:r>
              <a:rPr sz="800" spc="-6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Windsor</a:t>
            </a:r>
            <a:endParaRPr sz="800" dirty="0">
              <a:latin typeface="Arial"/>
              <a:cs typeface="Arial"/>
            </a:endParaRPr>
          </a:p>
          <a:p>
            <a:pPr algn="ctr">
              <a:lnSpc>
                <a:spcPts val="910"/>
              </a:lnSpc>
            </a:pPr>
            <a:endParaRPr sz="800" dirty="0">
              <a:latin typeface="Arial"/>
              <a:cs typeface="Arial"/>
            </a:endParaRPr>
          </a:p>
          <a:p>
            <a:pPr marL="12065" marR="5080" algn="ctr">
              <a:lnSpc>
                <a:spcPts val="950"/>
              </a:lnSpc>
              <a:spcBef>
                <a:spcPts val="30"/>
              </a:spcBef>
            </a:pPr>
            <a:r>
              <a:rPr sz="800" dirty="0">
                <a:latin typeface="Arial"/>
                <a:cs typeface="Arial"/>
              </a:rPr>
              <a:t>Instructor: </a:t>
            </a:r>
            <a:r>
              <a:rPr sz="800" spc="-15" dirty="0">
                <a:latin typeface="Arial"/>
                <a:cs typeface="Arial"/>
              </a:rPr>
              <a:t>Dr. </a:t>
            </a:r>
            <a:r>
              <a:rPr lang="en-US" sz="800" spc="-5" dirty="0">
                <a:latin typeface="Arial"/>
                <a:cs typeface="Arial"/>
              </a:rPr>
              <a:t>Andreas Maniatis</a:t>
            </a:r>
            <a:endParaRPr sz="8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8092" y="162332"/>
            <a:ext cx="312420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7474" y="440448"/>
            <a:ext cx="66357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15" dirty="0"/>
              <a:t>Content</a:t>
            </a:r>
          </a:p>
        </p:txBody>
      </p:sp>
      <p:sp>
        <p:nvSpPr>
          <p:cNvPr id="7" name="object 7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3557" y="1115086"/>
            <a:ext cx="188391" cy="188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6910" y="1143915"/>
            <a:ext cx="8191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800" b="1" spc="-5" dirty="0">
                <a:solidFill>
                  <a:srgbClr val="EAEAF7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8083" y="1120306"/>
            <a:ext cx="139636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050" spc="-5" dirty="0">
                <a:solidFill>
                  <a:srgbClr val="3333B2"/>
                </a:solidFill>
                <a:latin typeface="Arial"/>
                <a:cs typeface="Arial"/>
              </a:rPr>
              <a:t>Suspending a</a:t>
            </a:r>
            <a:r>
              <a:rPr sz="1050" spc="-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50" spc="-5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r>
              <a:rPr lang="en-US" sz="105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73557" y="1493762"/>
            <a:ext cx="188391" cy="188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6910" y="1522604"/>
            <a:ext cx="8191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800" b="1" spc="-5" dirty="0">
                <a:solidFill>
                  <a:srgbClr val="EAEAF7"/>
                </a:solidFill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8083" y="1498982"/>
            <a:ext cx="1843405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050" spc="-5" dirty="0">
                <a:solidFill>
                  <a:srgbClr val="3333B2"/>
                </a:solidFill>
                <a:latin typeface="Arial"/>
                <a:cs typeface="Arial"/>
              </a:rPr>
              <a:t>Sending a signal to a</a:t>
            </a:r>
            <a:r>
              <a:rPr sz="105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50" spc="-5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73557" y="1872451"/>
            <a:ext cx="188391" cy="188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6910" y="1900340"/>
            <a:ext cx="8191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800" b="1" spc="-5" dirty="0">
                <a:solidFill>
                  <a:srgbClr val="EAEAF7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8082" y="1877658"/>
            <a:ext cx="633730" cy="1615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050" spc="-5" dirty="0">
                <a:solidFill>
                  <a:srgbClr val="3333B2"/>
                </a:solidFill>
                <a:latin typeface="Arial"/>
                <a:cs typeface="Arial"/>
              </a:rPr>
              <a:t>Examples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73557" y="2251126"/>
            <a:ext cx="188391" cy="188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6910" y="2279956"/>
            <a:ext cx="8191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800" b="1" spc="-5" dirty="0">
                <a:solidFill>
                  <a:srgbClr val="EAEAF7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344549" y="2484057"/>
            <a:ext cx="76809" cy="768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44549" y="2656142"/>
            <a:ext cx="76809" cy="768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16360" y="2236318"/>
            <a:ext cx="2245360" cy="4944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5260" marR="5080" indent="-163195">
              <a:lnSpc>
                <a:spcPct val="102600"/>
              </a:lnSpc>
            </a:pPr>
            <a:r>
              <a:rPr sz="1050" spc="-5" dirty="0">
                <a:solidFill>
                  <a:srgbClr val="3333B2"/>
                </a:solidFill>
                <a:latin typeface="Arial"/>
                <a:cs typeface="Arial"/>
              </a:rPr>
              <a:t>Process </a:t>
            </a:r>
            <a:r>
              <a:rPr sz="1050" spc="-10" dirty="0">
                <a:solidFill>
                  <a:srgbClr val="3333B2"/>
                </a:solidFill>
                <a:latin typeface="Arial"/>
                <a:cs typeface="Arial"/>
              </a:rPr>
              <a:t>groups </a:t>
            </a:r>
            <a:r>
              <a:rPr sz="1050" spc="-5" dirty="0">
                <a:solidFill>
                  <a:srgbClr val="3333B2"/>
                </a:solidFill>
                <a:latin typeface="Arial"/>
                <a:cs typeface="Arial"/>
              </a:rPr>
              <a:t>and control terminal  </a:t>
            </a:r>
            <a:r>
              <a:rPr sz="1050" spc="-5" dirty="0">
                <a:latin typeface="Arial"/>
                <a:cs typeface="Arial"/>
              </a:rPr>
              <a:t>Process </a:t>
            </a:r>
            <a:r>
              <a:rPr sz="1050" spc="-10" dirty="0">
                <a:latin typeface="Arial"/>
                <a:cs typeface="Arial"/>
              </a:rPr>
              <a:t>groups:</a:t>
            </a:r>
            <a:r>
              <a:rPr sz="1050" spc="25" dirty="0">
                <a:latin typeface="Arial"/>
                <a:cs typeface="Arial"/>
              </a:rPr>
              <a:t> </a:t>
            </a:r>
            <a:r>
              <a:rPr sz="1050" spc="-15" dirty="0">
                <a:latin typeface="Arial"/>
                <a:cs typeface="Arial"/>
              </a:rPr>
              <a:t>review</a:t>
            </a:r>
            <a:endParaRPr sz="1050" dirty="0">
              <a:latin typeface="Arial"/>
              <a:cs typeface="Arial"/>
            </a:endParaRPr>
          </a:p>
          <a:p>
            <a:pPr marL="175260">
              <a:spcBef>
                <a:spcPts val="35"/>
              </a:spcBef>
            </a:pPr>
            <a:r>
              <a:rPr sz="1050" spc="-5" dirty="0">
                <a:latin typeface="Arial"/>
                <a:cs typeface="Arial"/>
              </a:rPr>
              <a:t>Control</a:t>
            </a:r>
            <a:r>
              <a:rPr sz="1050" spc="-5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terminal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A0863E5D-CE87-43F8-9009-27906492AD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3</a:t>
            </a:fld>
            <a:endParaRPr lang="en-CA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31A47-24D4-1867-2276-F57E1B21E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FF989-54FD-7081-3B5E-79967465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17" dirty="0">
                <a:solidFill>
                  <a:srgbClr val="0070C0"/>
                </a:solidFill>
              </a:rPr>
              <a:t>Part I</a:t>
            </a:r>
            <a:br>
              <a:rPr lang="en-US" sz="1817" dirty="0">
                <a:solidFill>
                  <a:srgbClr val="0070C0"/>
                </a:solidFill>
              </a:rPr>
            </a:br>
            <a:r>
              <a:rPr lang="en-US" sz="1817" dirty="0">
                <a:solidFill>
                  <a:srgbClr val="0070C0"/>
                </a:solidFill>
                <a:cs typeface="Courier New" panose="02070309020205020404" pitchFamily="49" charset="0"/>
              </a:rPr>
              <a:t>Suspending a process</a:t>
            </a:r>
            <a:endParaRPr lang="en-US" sz="1817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720BE-3757-7720-603C-C0CBC0EFC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0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 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Examples  Process groups and control</a:t>
            </a:r>
            <a:r>
              <a:rPr sz="600" b="1" spc="-4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7473" y="440448"/>
            <a:ext cx="1828164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Suspending a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0719" y="845262"/>
            <a:ext cx="3989704" cy="170815"/>
          </a:xfrm>
          <a:custGeom>
            <a:avLst/>
            <a:gdLst/>
            <a:ahLst/>
            <a:cxnLst/>
            <a:rect l="l" t="t" r="r" b="b"/>
            <a:pathLst>
              <a:path w="3989704" h="170815">
                <a:moveTo>
                  <a:pt x="50799" y="0"/>
                </a:moveTo>
                <a:lnTo>
                  <a:pt x="31074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799"/>
                </a:lnTo>
                <a:lnTo>
                  <a:pt x="0" y="170221"/>
                </a:lnTo>
                <a:lnTo>
                  <a:pt x="3989591" y="170221"/>
                </a:lnTo>
                <a:lnTo>
                  <a:pt x="3989591" y="50799"/>
                </a:lnTo>
                <a:lnTo>
                  <a:pt x="3974668" y="14922"/>
                </a:lnTo>
                <a:lnTo>
                  <a:pt x="3938791" y="0"/>
                </a:lnTo>
                <a:lnTo>
                  <a:pt x="5079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80720" y="1002831"/>
            <a:ext cx="398959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31518" y="2269388"/>
            <a:ext cx="101600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06812" y="2256689"/>
            <a:ext cx="114299" cy="1142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82319" y="2307489"/>
            <a:ext cx="3837191" cy="634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70312" y="889503"/>
            <a:ext cx="50799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70312" y="940304"/>
            <a:ext cx="50799" cy="13290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80719" y="1047120"/>
            <a:ext cx="3989704" cy="1273175"/>
          </a:xfrm>
          <a:custGeom>
            <a:avLst/>
            <a:gdLst/>
            <a:ahLst/>
            <a:cxnLst/>
            <a:rect l="l" t="t" r="r" b="b"/>
            <a:pathLst>
              <a:path w="3989704" h="1273175">
                <a:moveTo>
                  <a:pt x="3989591" y="0"/>
                </a:moveTo>
                <a:lnTo>
                  <a:pt x="0" y="0"/>
                </a:lnTo>
                <a:lnTo>
                  <a:pt x="0" y="1222268"/>
                </a:lnTo>
                <a:lnTo>
                  <a:pt x="4008" y="1241993"/>
                </a:lnTo>
                <a:lnTo>
                  <a:pt x="14922" y="1258146"/>
                </a:lnTo>
                <a:lnTo>
                  <a:pt x="31075" y="1269060"/>
                </a:lnTo>
                <a:lnTo>
                  <a:pt x="50799" y="1273068"/>
                </a:lnTo>
                <a:lnTo>
                  <a:pt x="3938791" y="1273068"/>
                </a:lnTo>
                <a:lnTo>
                  <a:pt x="3958516" y="1269059"/>
                </a:lnTo>
                <a:lnTo>
                  <a:pt x="3974669" y="1258145"/>
                </a:lnTo>
                <a:lnTo>
                  <a:pt x="3985583" y="1241993"/>
                </a:lnTo>
                <a:lnTo>
                  <a:pt x="3989591" y="1222268"/>
                </a:lnTo>
                <a:lnTo>
                  <a:pt x="3989591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70311" y="927603"/>
            <a:ext cx="0" cy="1361440"/>
          </a:xfrm>
          <a:custGeom>
            <a:avLst/>
            <a:gdLst/>
            <a:ahLst/>
            <a:cxnLst/>
            <a:rect l="l" t="t" r="r" b="b"/>
            <a:pathLst>
              <a:path h="1361439">
                <a:moveTo>
                  <a:pt x="0" y="1360834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70311" y="91490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70311" y="90220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70311" y="88950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70311" y="870454"/>
            <a:ext cx="0" cy="19050"/>
          </a:xfrm>
          <a:custGeom>
            <a:avLst/>
            <a:gdLst/>
            <a:ahLst/>
            <a:cxnLst/>
            <a:rect l="l" t="t" r="r" b="b"/>
            <a:pathLst>
              <a:path h="19050">
                <a:moveTo>
                  <a:pt x="0" y="19049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62533" y="1305218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62533" y="1649362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62533" y="1821447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62533" y="2165592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18819" y="828726"/>
            <a:ext cx="3545840" cy="1393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050" spc="-10" dirty="0">
                <a:solidFill>
                  <a:srgbClr val="FFFFFF"/>
                </a:solidFill>
                <a:latin typeface="Courier New"/>
                <a:cs typeface="Courier New"/>
              </a:rPr>
              <a:t>pause()</a:t>
            </a:r>
            <a:endParaRPr sz="1050" dirty="0"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1050" spc="-5" dirty="0">
                <a:latin typeface="Arial"/>
                <a:cs typeface="Arial"/>
              </a:rPr>
              <a:t>Synopsis: </a:t>
            </a:r>
            <a:r>
              <a:rPr sz="1050" spc="-10" dirty="0">
                <a:latin typeface="Courier New"/>
                <a:cs typeface="Courier New"/>
              </a:rPr>
              <a:t>int</a:t>
            </a:r>
            <a:r>
              <a:rPr sz="1050" spc="80" dirty="0">
                <a:latin typeface="Courier New"/>
                <a:cs typeface="Courier New"/>
              </a:rPr>
              <a:t> </a:t>
            </a:r>
            <a:r>
              <a:rPr sz="1050" spc="-10" dirty="0">
                <a:latin typeface="Courier New"/>
                <a:cs typeface="Courier New"/>
              </a:rPr>
              <a:t>pause(void);</a:t>
            </a:r>
            <a:endParaRPr sz="1050" dirty="0">
              <a:latin typeface="Courier New"/>
              <a:cs typeface="Courier New"/>
            </a:endParaRPr>
          </a:p>
          <a:p>
            <a:pPr marL="289560" marR="171450">
              <a:lnSpc>
                <a:spcPct val="102600"/>
              </a:lnSpc>
              <a:spcBef>
                <a:spcPts val="295"/>
              </a:spcBef>
            </a:pPr>
            <a:r>
              <a:rPr sz="1050" spc="-5" dirty="0">
                <a:latin typeface="Arial"/>
                <a:cs typeface="Arial"/>
              </a:rPr>
              <a:t>The </a:t>
            </a:r>
            <a:r>
              <a:rPr sz="1050" spc="-10" dirty="0">
                <a:latin typeface="Courier New"/>
                <a:cs typeface="Courier New"/>
              </a:rPr>
              <a:t>pause() </a:t>
            </a:r>
            <a:r>
              <a:rPr lang="en-CA" sz="1050" spc="-5" dirty="0">
                <a:latin typeface="Arial"/>
                <a:cs typeface="Arial"/>
              </a:rPr>
              <a:t>call s</a:t>
            </a:r>
            <a:r>
              <a:rPr sz="1050" spc="-5" dirty="0" err="1">
                <a:latin typeface="Arial"/>
                <a:cs typeface="Arial"/>
              </a:rPr>
              <a:t>uspends</a:t>
            </a:r>
            <a:r>
              <a:rPr sz="1050" spc="-5" dirty="0">
                <a:latin typeface="Arial"/>
                <a:cs typeface="Arial"/>
              </a:rPr>
              <a:t> the calling process until it  </a:t>
            </a:r>
            <a:r>
              <a:rPr sz="1050" spc="-10" dirty="0">
                <a:latin typeface="Arial"/>
                <a:cs typeface="Arial"/>
              </a:rPr>
              <a:t>receives </a:t>
            </a:r>
            <a:r>
              <a:rPr sz="1050" spc="-5" dirty="0">
                <a:latin typeface="Arial"/>
                <a:cs typeface="Arial"/>
              </a:rPr>
              <a:t>a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signal.</a:t>
            </a:r>
            <a:endParaRPr sz="1050" dirty="0">
              <a:latin typeface="Arial"/>
              <a:cs typeface="Arial"/>
            </a:endParaRPr>
          </a:p>
          <a:p>
            <a:pPr marL="289560" marR="30480">
              <a:lnSpc>
                <a:spcPct val="102600"/>
              </a:lnSpc>
            </a:pPr>
            <a:r>
              <a:rPr sz="1050" spc="-10" dirty="0">
                <a:latin typeface="Arial"/>
                <a:cs typeface="Arial"/>
              </a:rPr>
              <a:t>A </a:t>
            </a:r>
            <a:r>
              <a:rPr sz="1050" spc="-5" dirty="0">
                <a:latin typeface="Arial"/>
                <a:cs typeface="Arial"/>
              </a:rPr>
              <a:t>call to </a:t>
            </a:r>
            <a:r>
              <a:rPr sz="1050" spc="-10" dirty="0">
                <a:latin typeface="Courier New"/>
                <a:cs typeface="Courier New"/>
              </a:rPr>
              <a:t>pause() </a:t>
            </a:r>
            <a:r>
              <a:rPr sz="1050" spc="-5" dirty="0">
                <a:latin typeface="Arial"/>
                <a:cs typeface="Arial"/>
              </a:rPr>
              <a:t>does not </a:t>
            </a:r>
            <a:r>
              <a:rPr sz="1050" dirty="0">
                <a:latin typeface="Arial"/>
                <a:cs typeface="Arial"/>
              </a:rPr>
              <a:t>return </a:t>
            </a:r>
            <a:r>
              <a:rPr sz="1050" spc="-10" dirty="0">
                <a:latin typeface="Arial"/>
                <a:cs typeface="Arial"/>
              </a:rPr>
              <a:t>anything </a:t>
            </a:r>
            <a:r>
              <a:rPr sz="1050" spc="-5" dirty="0">
                <a:latin typeface="Arial"/>
                <a:cs typeface="Arial"/>
              </a:rPr>
              <a:t>useful.  The signal </a:t>
            </a:r>
            <a:r>
              <a:rPr sz="1050" spc="-10" dirty="0">
                <a:latin typeface="Arial"/>
                <a:cs typeface="Arial"/>
              </a:rPr>
              <a:t>must </a:t>
            </a:r>
            <a:r>
              <a:rPr sz="1050" spc="-5" dirty="0">
                <a:latin typeface="Arial"/>
                <a:cs typeface="Arial"/>
              </a:rPr>
              <a:t>be one that is not currently set to be  ignored </a:t>
            </a:r>
            <a:r>
              <a:rPr sz="1050" spc="-20" dirty="0">
                <a:latin typeface="Arial"/>
                <a:cs typeface="Arial"/>
              </a:rPr>
              <a:t>by </a:t>
            </a:r>
            <a:r>
              <a:rPr sz="1050" spc="-5" dirty="0">
                <a:latin typeface="Arial"/>
                <a:cs typeface="Arial"/>
              </a:rPr>
              <a:t>the calling</a:t>
            </a:r>
            <a:r>
              <a:rPr sz="1050" spc="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process.</a:t>
            </a:r>
            <a:endParaRPr sz="1050" dirty="0">
              <a:latin typeface="Arial"/>
              <a:cs typeface="Arial"/>
            </a:endParaRPr>
          </a:p>
          <a:p>
            <a:pPr marL="289560">
              <a:spcBef>
                <a:spcPts val="35"/>
              </a:spcBef>
            </a:pPr>
            <a:r>
              <a:rPr sz="1050" spc="-10" dirty="0">
                <a:latin typeface="Courier New"/>
                <a:cs typeface="Courier New"/>
              </a:rPr>
              <a:t>pause()</a:t>
            </a:r>
            <a:r>
              <a:rPr sz="1050" spc="-235" dirty="0">
                <a:latin typeface="Courier New"/>
                <a:cs typeface="Courier New"/>
              </a:rPr>
              <a:t> </a:t>
            </a:r>
            <a:r>
              <a:rPr sz="1050" spc="-5" dirty="0">
                <a:latin typeface="Arial"/>
                <a:cs typeface="Arial"/>
              </a:rPr>
              <a:t>is </a:t>
            </a:r>
            <a:r>
              <a:rPr lang="en-CA" sz="1050" spc="-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typically used to </a:t>
            </a:r>
            <a:r>
              <a:rPr sz="1050" spc="-10" dirty="0">
                <a:latin typeface="Arial"/>
                <a:cs typeface="Arial"/>
              </a:rPr>
              <a:t>wait </a:t>
            </a:r>
            <a:r>
              <a:rPr sz="1050" spc="-15" dirty="0">
                <a:latin typeface="Arial"/>
                <a:cs typeface="Arial"/>
              </a:rPr>
              <a:t>for </a:t>
            </a:r>
            <a:r>
              <a:rPr sz="1050" spc="-5" dirty="0">
                <a:latin typeface="Arial"/>
                <a:cs typeface="Arial"/>
              </a:rPr>
              <a:t>a signal.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D16D96EA-167C-4DA3-A8B7-84B966E4E2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5</a:t>
            </a:fld>
            <a:endParaRPr lang="en-CA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7069B7-2152-4BCF-A784-77E400B419AA}"/>
              </a:ext>
            </a:extLst>
          </p:cNvPr>
          <p:cNvSpPr txBox="1"/>
          <p:nvPr/>
        </p:nvSpPr>
        <p:spPr>
          <a:xfrm>
            <a:off x="1339341" y="2574873"/>
            <a:ext cx="341363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man pause  </a:t>
            </a:r>
            <a:r>
              <a:rPr lang="en-CA" sz="700" dirty="0">
                <a:latin typeface="Courier New" panose="02070309020205020404" pitchFamily="49" charset="0"/>
                <a:cs typeface="Courier New" panose="02070309020205020404" pitchFamily="49" charset="0"/>
              </a:rPr>
              <a:t>(man wait)</a:t>
            </a:r>
          </a:p>
          <a:p>
            <a:endParaRPr lang="en-CA" sz="700" dirty="0"/>
          </a:p>
          <a:p>
            <a:r>
              <a:rPr lang="en-CA" sz="700" dirty="0"/>
              <a:t>See slide 5 in 6.1. Process Control (II) slide deck, also see page 12 in the same slide deck </a:t>
            </a:r>
            <a:r>
              <a:rPr lang="en-CA" sz="400" dirty="0"/>
              <a:t>(page no. are approx.)</a:t>
            </a:r>
            <a:endParaRPr lang="en-CA" sz="110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 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Examples  Process groups and control</a:t>
            </a:r>
            <a:r>
              <a:rPr sz="600" b="1" spc="-4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7473" y="440448"/>
            <a:ext cx="2921102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Example: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Courier New"/>
                <a:cs typeface="Courier New"/>
              </a:rPr>
              <a:t>pause()</a:t>
            </a:r>
            <a:r>
              <a:rPr lang="en-US" sz="1400" spc="20" dirty="0">
                <a:solidFill>
                  <a:srgbClr val="FFFFFF"/>
                </a:solidFill>
                <a:latin typeface="Courier New"/>
                <a:cs typeface="Courier New"/>
              </a:rPr>
              <a:t> [</a:t>
            </a:r>
            <a:r>
              <a:rPr lang="en-US" sz="1400" spc="20" dirty="0" err="1">
                <a:solidFill>
                  <a:srgbClr val="FFFFFF"/>
                </a:solidFill>
                <a:latin typeface="Courier New"/>
                <a:cs typeface="Courier New"/>
              </a:rPr>
              <a:t>pause.c</a:t>
            </a:r>
            <a:r>
              <a:rPr lang="en-US" sz="1400" spc="20" dirty="0">
                <a:solidFill>
                  <a:srgbClr val="FFFFFF"/>
                </a:solidFill>
                <a:latin typeface="Courier New"/>
                <a:cs typeface="Courier New"/>
              </a:rPr>
              <a:t>]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665" y="701058"/>
            <a:ext cx="4237909" cy="2623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800" spc="-5" dirty="0">
                <a:latin typeface="Courier New"/>
                <a:cs typeface="Courier New"/>
              </a:rPr>
              <a:t>#include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spc="-5" dirty="0">
                <a:latin typeface="Courier New"/>
                <a:cs typeface="Courier New"/>
              </a:rPr>
              <a:t>&lt;stdio.h&gt;</a:t>
            </a:r>
            <a:endParaRPr sz="800" dirty="0"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800" spc="-5" dirty="0">
                <a:latin typeface="Courier New"/>
                <a:cs typeface="Courier New"/>
              </a:rPr>
              <a:t>#include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spc="-5" dirty="0">
                <a:latin typeface="Courier New"/>
                <a:cs typeface="Courier New"/>
              </a:rPr>
              <a:t>&lt;stdlib.h&gt;</a:t>
            </a:r>
            <a:endParaRPr sz="800" dirty="0"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800" spc="-5" dirty="0">
                <a:latin typeface="Courier New"/>
                <a:cs typeface="Courier New"/>
              </a:rPr>
              <a:t>#include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spc="-5" dirty="0">
                <a:latin typeface="Courier New"/>
                <a:cs typeface="Courier New"/>
              </a:rPr>
              <a:t>&lt;unistd.h&gt;</a:t>
            </a:r>
            <a:endParaRPr sz="800" dirty="0"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800" spc="-5" dirty="0">
                <a:latin typeface="Courier New"/>
                <a:cs typeface="Courier New"/>
              </a:rPr>
              <a:t>#include</a:t>
            </a:r>
            <a:r>
              <a:rPr sz="800" spc="-65" dirty="0">
                <a:latin typeface="Courier New"/>
                <a:cs typeface="Courier New"/>
              </a:rPr>
              <a:t> </a:t>
            </a:r>
            <a:r>
              <a:rPr sz="800" spc="-5" dirty="0">
                <a:latin typeface="Courier New"/>
                <a:cs typeface="Courier New"/>
              </a:rPr>
              <a:t>&lt;signal.h&gt;</a:t>
            </a:r>
            <a:endParaRPr sz="800" dirty="0">
              <a:latin typeface="Courier New"/>
              <a:cs typeface="Courier New"/>
            </a:endParaRPr>
          </a:p>
          <a:p>
            <a:pPr>
              <a:spcBef>
                <a:spcPts val="10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102870" marR="912494" indent="-90805">
              <a:lnSpc>
                <a:spcPct val="102800"/>
              </a:lnSpc>
            </a:pPr>
            <a:r>
              <a:rPr sz="800" spc="-5" dirty="0">
                <a:latin typeface="Courier New"/>
                <a:cs typeface="Courier New"/>
              </a:rPr>
              <a:t>void AlarmHandler(int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800" spc="-5" dirty="0">
                <a:latin typeface="Courier New"/>
                <a:cs typeface="Courier New"/>
              </a:rPr>
              <a:t>dummy){  static int n =</a:t>
            </a:r>
            <a:r>
              <a:rPr sz="800" spc="-75" dirty="0">
                <a:latin typeface="Courier New"/>
                <a:cs typeface="Courier New"/>
              </a:rPr>
              <a:t> </a:t>
            </a:r>
            <a:r>
              <a:rPr sz="800" spc="-5" dirty="0">
                <a:latin typeface="Courier New"/>
                <a:cs typeface="Courier New"/>
              </a:rPr>
              <a:t>0;</a:t>
            </a:r>
            <a:endParaRPr sz="800" dirty="0">
              <a:latin typeface="Courier New"/>
              <a:cs typeface="Courier New"/>
            </a:endParaRPr>
          </a:p>
          <a:p>
            <a:pPr marL="193675" marR="458470" indent="-90805">
              <a:lnSpc>
                <a:spcPct val="102800"/>
              </a:lnSpc>
            </a:pPr>
            <a:r>
              <a:rPr sz="800" spc="-5" dirty="0">
                <a:latin typeface="Courier New"/>
                <a:cs typeface="Courier New"/>
              </a:rPr>
              <a:t>if(n++ &lt; 6 ){  </a:t>
            </a:r>
            <a:endParaRPr lang="en-CA" sz="800" spc="-5" dirty="0">
              <a:latin typeface="Courier New"/>
              <a:cs typeface="Courier New"/>
            </a:endParaRPr>
          </a:p>
          <a:p>
            <a:pPr marL="193675" marR="458470" indent="-90805">
              <a:lnSpc>
                <a:spcPct val="102800"/>
              </a:lnSpc>
            </a:pPr>
            <a:r>
              <a:rPr lang="en-US" sz="800" spc="-5" dirty="0">
                <a:latin typeface="Courier New"/>
                <a:cs typeface="Courier New"/>
              </a:rPr>
              <a:t>   </a:t>
            </a:r>
            <a:r>
              <a:rPr sz="800" spc="-5" dirty="0" err="1">
                <a:latin typeface="Courier New"/>
                <a:cs typeface="Courier New"/>
              </a:rPr>
              <a:t>printf</a:t>
            </a:r>
            <a:r>
              <a:rPr sz="800" spc="-5" dirty="0">
                <a:latin typeface="Courier New"/>
                <a:cs typeface="Courier New"/>
              </a:rPr>
              <a:t>("</a:t>
            </a:r>
            <a:r>
              <a:rPr lang="en-US" sz="800" spc="-5" dirty="0">
                <a:latin typeface="Courier New"/>
                <a:cs typeface="Courier New"/>
              </a:rPr>
              <a:t>Ding </a:t>
            </a:r>
            <a:r>
              <a:rPr lang="en-US" sz="800" spc="-5" dirty="0" err="1">
                <a:latin typeface="Courier New"/>
                <a:cs typeface="Courier New"/>
              </a:rPr>
              <a:t>Ding</a:t>
            </a:r>
            <a:r>
              <a:rPr lang="en-US" sz="800" spc="-5" dirty="0">
                <a:latin typeface="Courier New"/>
                <a:cs typeface="Courier New"/>
              </a:rPr>
              <a:t> </a:t>
            </a:r>
            <a:r>
              <a:rPr lang="en-US" sz="800" spc="-5" dirty="0" err="1">
                <a:latin typeface="Courier New"/>
                <a:cs typeface="Courier New"/>
              </a:rPr>
              <a:t>Ding</a:t>
            </a:r>
            <a:r>
              <a:rPr lang="en-CA" sz="800" spc="-5" dirty="0">
                <a:latin typeface="Courier New"/>
                <a:cs typeface="Courier New"/>
              </a:rPr>
              <a:t>!</a:t>
            </a:r>
            <a:r>
              <a:rPr sz="800" spc="-5" dirty="0">
                <a:latin typeface="Courier New"/>
                <a:cs typeface="Courier New"/>
              </a:rPr>
              <a:t>\n");</a:t>
            </a:r>
            <a:endParaRPr sz="800" dirty="0">
              <a:latin typeface="Courier New"/>
              <a:cs typeface="Courier New"/>
            </a:endParaRPr>
          </a:p>
          <a:p>
            <a:pPr marL="193675" marR="5080">
              <a:lnSpc>
                <a:spcPct val="102800"/>
              </a:lnSpc>
            </a:pPr>
            <a:r>
              <a:rPr lang="en-CA" sz="800" spc="-5" dirty="0">
                <a:latin typeface="Courier New"/>
                <a:cs typeface="Courier New"/>
              </a:rPr>
              <a:t> </a:t>
            </a:r>
            <a:r>
              <a:rPr sz="800" spc="-5" dirty="0">
                <a:latin typeface="Courier New"/>
                <a:cs typeface="Courier New"/>
              </a:rPr>
              <a:t>alarm(</a:t>
            </a:r>
            <a:r>
              <a:rPr lang="en-CA" sz="800" spc="-5" dirty="0">
                <a:latin typeface="Courier New"/>
                <a:cs typeface="Courier New"/>
              </a:rPr>
              <a:t>5</a:t>
            </a:r>
            <a:r>
              <a:rPr sz="800" spc="-5" dirty="0">
                <a:latin typeface="Courier New"/>
                <a:cs typeface="Courier New"/>
              </a:rPr>
              <a:t>);</a:t>
            </a:r>
            <a:endParaRPr sz="800" dirty="0">
              <a:latin typeface="Courier New"/>
              <a:cs typeface="Courier New"/>
            </a:endParaRPr>
          </a:p>
          <a:p>
            <a:pPr marL="102870">
              <a:spcBef>
                <a:spcPts val="15"/>
              </a:spcBef>
            </a:pPr>
            <a:r>
              <a:rPr sz="800" spc="-5" dirty="0">
                <a:latin typeface="Courier New"/>
                <a:cs typeface="Courier New"/>
              </a:rPr>
              <a:t>}else</a:t>
            </a:r>
            <a:endParaRPr sz="800" dirty="0">
              <a:latin typeface="Courier New"/>
              <a:cs typeface="Courier New"/>
            </a:endParaRPr>
          </a:p>
          <a:p>
            <a:pPr marL="193675">
              <a:spcBef>
                <a:spcPts val="15"/>
              </a:spcBef>
            </a:pPr>
            <a:r>
              <a:rPr sz="800" spc="-5" dirty="0">
                <a:latin typeface="Courier New"/>
                <a:cs typeface="Courier New"/>
              </a:rPr>
              <a:t>exit(0);</a:t>
            </a:r>
            <a:endParaRPr sz="800" dirty="0">
              <a:latin typeface="Courier New"/>
              <a:cs typeface="Courier New"/>
            </a:endParaRPr>
          </a:p>
          <a:p>
            <a:pPr marL="12700">
              <a:spcBef>
                <a:spcPts val="15"/>
              </a:spcBef>
            </a:pPr>
            <a:r>
              <a:rPr sz="800" spc="-5" dirty="0">
                <a:latin typeface="Courier New"/>
                <a:cs typeface="Courier New"/>
              </a:rPr>
              <a:t>}</a:t>
            </a:r>
            <a:endParaRPr sz="800" dirty="0">
              <a:latin typeface="Courier New"/>
              <a:cs typeface="Courier New"/>
            </a:endParaRPr>
          </a:p>
          <a:p>
            <a:pPr>
              <a:spcBef>
                <a:spcPts val="45"/>
              </a:spcBef>
            </a:pPr>
            <a:endParaRPr sz="800" dirty="0">
              <a:latin typeface="Times New Roman"/>
              <a:cs typeface="Times New Roman"/>
            </a:endParaRPr>
          </a:p>
          <a:p>
            <a:pPr marL="102870" marR="730885" indent="-90805">
              <a:lnSpc>
                <a:spcPct val="102800"/>
              </a:lnSpc>
            </a:pPr>
            <a:r>
              <a:rPr sz="800" spc="-5" dirty="0">
                <a:latin typeface="Courier New"/>
                <a:cs typeface="Courier New"/>
              </a:rPr>
              <a:t>int main(int argc, char</a:t>
            </a:r>
            <a:r>
              <a:rPr sz="800" spc="-40" dirty="0">
                <a:latin typeface="Courier New"/>
                <a:cs typeface="Courier New"/>
              </a:rPr>
              <a:t> </a:t>
            </a:r>
            <a:r>
              <a:rPr sz="1050" spc="-7" baseline="-9259" dirty="0">
                <a:latin typeface="Courier New"/>
                <a:cs typeface="Courier New"/>
              </a:rPr>
              <a:t>*</a:t>
            </a:r>
            <a:r>
              <a:rPr sz="800" spc="-5" dirty="0" err="1">
                <a:latin typeface="Courier New"/>
                <a:cs typeface="Courier New"/>
              </a:rPr>
              <a:t>argv</a:t>
            </a:r>
            <a:r>
              <a:rPr sz="800" spc="-5" dirty="0">
                <a:latin typeface="Courier New"/>
                <a:cs typeface="Courier New"/>
              </a:rPr>
              <a:t>[]){</a:t>
            </a:r>
            <a:endParaRPr lang="en-US" sz="800" spc="-5" dirty="0">
              <a:latin typeface="Courier New"/>
              <a:cs typeface="Courier New"/>
            </a:endParaRPr>
          </a:p>
          <a:p>
            <a:pPr marL="102870" marR="730885" indent="-90805">
              <a:lnSpc>
                <a:spcPct val="102800"/>
              </a:lnSpc>
            </a:pPr>
            <a:r>
              <a:rPr lang="en-US" sz="800" spc="-5" dirty="0">
                <a:latin typeface="Courier New"/>
                <a:cs typeface="Courier New"/>
              </a:rPr>
              <a:t>	</a:t>
            </a:r>
            <a:r>
              <a:rPr sz="800" spc="-5" dirty="0">
                <a:latin typeface="Courier New"/>
                <a:cs typeface="Courier New"/>
              </a:rPr>
              <a:t>alarm(</a:t>
            </a:r>
            <a:r>
              <a:rPr lang="en-CA" sz="800" spc="-5" dirty="0">
                <a:latin typeface="Courier New"/>
                <a:cs typeface="Courier New"/>
              </a:rPr>
              <a:t>5</a:t>
            </a:r>
            <a:r>
              <a:rPr sz="800" spc="-5" dirty="0">
                <a:latin typeface="Courier New"/>
                <a:cs typeface="Courier New"/>
              </a:rPr>
              <a:t>);</a:t>
            </a:r>
            <a:endParaRPr sz="800" dirty="0">
              <a:latin typeface="Courier New"/>
              <a:cs typeface="Courier New"/>
            </a:endParaRPr>
          </a:p>
          <a:p>
            <a:pPr marL="102870">
              <a:spcBef>
                <a:spcPts val="15"/>
              </a:spcBef>
            </a:pPr>
            <a:r>
              <a:rPr lang="en-US" sz="800" spc="-5" dirty="0">
                <a:latin typeface="Courier New"/>
                <a:cs typeface="Courier New"/>
              </a:rPr>
              <a:t>signal(14, </a:t>
            </a:r>
            <a:r>
              <a:rPr lang="en-US" sz="800" spc="-5" dirty="0" err="1">
                <a:latin typeface="Courier New"/>
                <a:cs typeface="Courier New"/>
              </a:rPr>
              <a:t>AlarmHandler</a:t>
            </a:r>
            <a:r>
              <a:rPr lang="en-US" sz="800" spc="-5" dirty="0">
                <a:latin typeface="Courier New"/>
                <a:cs typeface="Courier New"/>
              </a:rPr>
              <a:t>); //What's the signal no constant for 14?</a:t>
            </a:r>
            <a:endParaRPr sz="800" dirty="0">
              <a:latin typeface="Courier New"/>
              <a:cs typeface="Courier New"/>
            </a:endParaRPr>
          </a:p>
          <a:p>
            <a:pPr marL="102870">
              <a:spcBef>
                <a:spcPts val="5"/>
              </a:spcBef>
            </a:pPr>
            <a:r>
              <a:rPr sz="800" spc="-5" dirty="0">
                <a:latin typeface="Courier New"/>
                <a:cs typeface="Courier New"/>
              </a:rPr>
              <a:t>while(1)</a:t>
            </a:r>
            <a:endParaRPr lang="en-US" sz="800" spc="-5" dirty="0">
              <a:latin typeface="Courier New"/>
              <a:cs typeface="Courier New"/>
            </a:endParaRPr>
          </a:p>
          <a:p>
            <a:pPr marL="102870">
              <a:spcBef>
                <a:spcPts val="5"/>
              </a:spcBef>
            </a:pPr>
            <a:r>
              <a:rPr lang="en-US" sz="800" spc="-5" dirty="0">
                <a:latin typeface="Courier New"/>
                <a:cs typeface="Courier New"/>
              </a:rPr>
              <a:t>   int rt;</a:t>
            </a:r>
          </a:p>
          <a:p>
            <a:pPr marL="102870">
              <a:spcBef>
                <a:spcPts val="5"/>
              </a:spcBef>
            </a:pPr>
            <a:r>
              <a:rPr lang="en-US" sz="800" spc="-5" dirty="0">
                <a:latin typeface="Courier New"/>
                <a:cs typeface="Courier New"/>
              </a:rPr>
              <a:t>   rt=pause();</a:t>
            </a:r>
          </a:p>
          <a:p>
            <a:pPr marL="102870">
              <a:spcBef>
                <a:spcPts val="5"/>
              </a:spcBef>
            </a:pPr>
            <a:r>
              <a:rPr lang="en-US" sz="800" spc="-5" dirty="0">
                <a:latin typeface="Courier New"/>
                <a:cs typeface="Courier New"/>
              </a:rPr>
              <a:t>   </a:t>
            </a:r>
            <a:r>
              <a:rPr lang="en-US" sz="800" spc="-5" dirty="0" err="1">
                <a:latin typeface="Courier New"/>
                <a:cs typeface="Courier New"/>
              </a:rPr>
              <a:t>printf</a:t>
            </a:r>
            <a:r>
              <a:rPr lang="en-US" sz="800" spc="-5" dirty="0">
                <a:latin typeface="Courier New"/>
                <a:cs typeface="Courier New"/>
              </a:rPr>
              <a:t>(“Pause just returned , return value = %d \n", rt);</a:t>
            </a:r>
            <a:endParaRPr sz="800" dirty="0"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800" spc="-5" dirty="0">
                <a:latin typeface="Courier New"/>
                <a:cs typeface="Courier New"/>
              </a:rPr>
              <a:t>}</a:t>
            </a:r>
            <a:endParaRPr sz="8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0BB4094-681E-464B-9BF8-B0FC962CA7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6</a:t>
            </a:fld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0014C6C-6816-4200-AAEC-5405C15E1D1D}"/>
                  </a:ext>
                </a:extLst>
              </p14:cNvPr>
              <p14:cNvContentPartPr/>
              <p14:nvPr/>
            </p14:nvContentPartPr>
            <p14:xfrm>
              <a:off x="912985" y="1314190"/>
              <a:ext cx="211680" cy="1916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0014C6C-6816-4200-AAEC-5405C15E1D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3625" y="1304830"/>
                <a:ext cx="230400" cy="193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FDE24-BA5B-3A98-4CFE-C64537E9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136E5-9ADF-12A3-466F-E9FCB393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17" dirty="0">
                <a:solidFill>
                  <a:srgbClr val="0070C0"/>
                </a:solidFill>
              </a:rPr>
              <a:t>Part II</a:t>
            </a:r>
            <a:br>
              <a:rPr lang="en-US" sz="1817" dirty="0">
                <a:solidFill>
                  <a:srgbClr val="0070C0"/>
                </a:solidFill>
              </a:rPr>
            </a:br>
            <a:r>
              <a:rPr lang="en-US" sz="1817" dirty="0">
                <a:solidFill>
                  <a:srgbClr val="0070C0"/>
                </a:solidFill>
                <a:cs typeface="Courier New" panose="02070309020205020404" pitchFamily="49" charset="0"/>
              </a:rPr>
              <a:t>Sending a signal to a process</a:t>
            </a:r>
            <a:endParaRPr lang="en-US" sz="1817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CFFBF-6A8C-79A9-BB4D-B26B0CD0D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19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Sending a signal to a</a:t>
            </a:r>
            <a:r>
              <a:rPr sz="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Examples  Process groups and control</a:t>
            </a:r>
            <a:r>
              <a:rPr sz="600" b="1" spc="-4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5" y="436677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7473" y="440448"/>
            <a:ext cx="241554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Sending a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signal to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8367" y="830016"/>
            <a:ext cx="3388995" cy="148590"/>
          </a:xfrm>
          <a:custGeom>
            <a:avLst/>
            <a:gdLst/>
            <a:ahLst/>
            <a:cxnLst/>
            <a:rect l="l" t="t" r="r" b="b"/>
            <a:pathLst>
              <a:path w="3388995" h="148590">
                <a:moveTo>
                  <a:pt x="43152" y="0"/>
                </a:moveTo>
                <a:lnTo>
                  <a:pt x="26396" y="3405"/>
                </a:lnTo>
                <a:lnTo>
                  <a:pt x="12675" y="12676"/>
                </a:lnTo>
                <a:lnTo>
                  <a:pt x="3404" y="26397"/>
                </a:lnTo>
                <a:lnTo>
                  <a:pt x="0" y="43152"/>
                </a:lnTo>
                <a:lnTo>
                  <a:pt x="0" y="148008"/>
                </a:lnTo>
                <a:lnTo>
                  <a:pt x="3388998" y="148008"/>
                </a:lnTo>
                <a:lnTo>
                  <a:pt x="3388998" y="43152"/>
                </a:lnTo>
                <a:lnTo>
                  <a:pt x="3362600" y="3405"/>
                </a:lnTo>
                <a:lnTo>
                  <a:pt x="431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88366" y="967273"/>
            <a:ext cx="3388998" cy="429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31519" y="1595770"/>
            <a:ext cx="86305" cy="86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23424" y="1584981"/>
            <a:ext cx="97092" cy="970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74672" y="1628133"/>
            <a:ext cx="3259541" cy="539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77365" y="867597"/>
            <a:ext cx="43152" cy="86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77365" y="910748"/>
            <a:ext cx="43152" cy="6850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88367" y="1004898"/>
            <a:ext cx="3388995" cy="634365"/>
          </a:xfrm>
          <a:custGeom>
            <a:avLst/>
            <a:gdLst/>
            <a:ahLst/>
            <a:cxnLst/>
            <a:rect l="l" t="t" r="r" b="b"/>
            <a:pathLst>
              <a:path w="3388995" h="634364">
                <a:moveTo>
                  <a:pt x="3388998" y="0"/>
                </a:moveTo>
                <a:lnTo>
                  <a:pt x="0" y="0"/>
                </a:lnTo>
                <a:lnTo>
                  <a:pt x="0" y="590872"/>
                </a:lnTo>
                <a:lnTo>
                  <a:pt x="3404" y="607627"/>
                </a:lnTo>
                <a:lnTo>
                  <a:pt x="12676" y="621348"/>
                </a:lnTo>
                <a:lnTo>
                  <a:pt x="26397" y="630619"/>
                </a:lnTo>
                <a:lnTo>
                  <a:pt x="43152" y="634024"/>
                </a:lnTo>
                <a:lnTo>
                  <a:pt x="3345845" y="634024"/>
                </a:lnTo>
                <a:lnTo>
                  <a:pt x="3362601" y="630619"/>
                </a:lnTo>
                <a:lnTo>
                  <a:pt x="3376322" y="621348"/>
                </a:lnTo>
                <a:lnTo>
                  <a:pt x="3385593" y="607627"/>
                </a:lnTo>
                <a:lnTo>
                  <a:pt x="3388998" y="590872"/>
                </a:lnTo>
                <a:lnTo>
                  <a:pt x="3388998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77365" y="899960"/>
            <a:ext cx="0" cy="712470"/>
          </a:xfrm>
          <a:custGeom>
            <a:avLst/>
            <a:gdLst/>
            <a:ahLst/>
            <a:cxnLst/>
            <a:rect l="l" t="t" r="r" b="b"/>
            <a:pathLst>
              <a:path h="712469">
                <a:moveTo>
                  <a:pt x="0" y="711990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77365" y="889173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788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77365" y="878385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788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77365" y="867597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787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77365" y="851414"/>
            <a:ext cx="0" cy="16510"/>
          </a:xfrm>
          <a:custGeom>
            <a:avLst/>
            <a:gdLst/>
            <a:ahLst/>
            <a:cxnLst/>
            <a:rect l="l" t="t" r="r" b="b"/>
            <a:pathLst>
              <a:path h="16509">
                <a:moveTo>
                  <a:pt x="0" y="16182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36599" y="1110971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309" y="0"/>
                </a:lnTo>
              </a:path>
            </a:pathLst>
          </a:custGeom>
          <a:ln w="4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42809" y="1224139"/>
            <a:ext cx="65246" cy="6524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42809" y="1516487"/>
            <a:ext cx="65246" cy="6524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88367" y="1767970"/>
            <a:ext cx="3388995" cy="70485"/>
          </a:xfrm>
          <a:custGeom>
            <a:avLst/>
            <a:gdLst/>
            <a:ahLst/>
            <a:cxnLst/>
            <a:rect l="l" t="t" r="r" b="b"/>
            <a:pathLst>
              <a:path w="3388995" h="70485">
                <a:moveTo>
                  <a:pt x="43152" y="0"/>
                </a:moveTo>
                <a:lnTo>
                  <a:pt x="26396" y="3405"/>
                </a:lnTo>
                <a:lnTo>
                  <a:pt x="12675" y="12676"/>
                </a:lnTo>
                <a:lnTo>
                  <a:pt x="3404" y="26397"/>
                </a:lnTo>
                <a:lnTo>
                  <a:pt x="0" y="43152"/>
                </a:lnTo>
                <a:lnTo>
                  <a:pt x="0" y="69981"/>
                </a:lnTo>
                <a:lnTo>
                  <a:pt x="3388998" y="69981"/>
                </a:lnTo>
                <a:lnTo>
                  <a:pt x="3388998" y="43152"/>
                </a:lnTo>
                <a:lnTo>
                  <a:pt x="3362600" y="3405"/>
                </a:lnTo>
                <a:lnTo>
                  <a:pt x="43152" y="0"/>
                </a:lnTo>
                <a:close/>
              </a:path>
            </a:pathLst>
          </a:custGeom>
          <a:solidFill>
            <a:srgbClr val="EDCE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31519" y="2550876"/>
            <a:ext cx="86305" cy="86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423424" y="2540087"/>
            <a:ext cx="97092" cy="970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74672" y="2583240"/>
            <a:ext cx="3259541" cy="5394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477365" y="1810927"/>
            <a:ext cx="43152" cy="86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477365" y="1854079"/>
            <a:ext cx="43152" cy="6967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88367" y="1805714"/>
            <a:ext cx="3388995" cy="788670"/>
          </a:xfrm>
          <a:custGeom>
            <a:avLst/>
            <a:gdLst/>
            <a:ahLst/>
            <a:cxnLst/>
            <a:rect l="l" t="t" r="r" b="b"/>
            <a:pathLst>
              <a:path w="3388995" h="788669">
                <a:moveTo>
                  <a:pt x="3388998" y="0"/>
                </a:moveTo>
                <a:lnTo>
                  <a:pt x="0" y="0"/>
                </a:lnTo>
                <a:lnTo>
                  <a:pt x="0" y="745162"/>
                </a:lnTo>
                <a:lnTo>
                  <a:pt x="3404" y="761917"/>
                </a:lnTo>
                <a:lnTo>
                  <a:pt x="12676" y="775638"/>
                </a:lnTo>
                <a:lnTo>
                  <a:pt x="26397" y="784909"/>
                </a:lnTo>
                <a:lnTo>
                  <a:pt x="43152" y="788314"/>
                </a:lnTo>
                <a:lnTo>
                  <a:pt x="3345845" y="788314"/>
                </a:lnTo>
                <a:lnTo>
                  <a:pt x="3362601" y="784909"/>
                </a:lnTo>
                <a:lnTo>
                  <a:pt x="3376322" y="775638"/>
                </a:lnTo>
                <a:lnTo>
                  <a:pt x="3385593" y="761917"/>
                </a:lnTo>
                <a:lnTo>
                  <a:pt x="3388998" y="745162"/>
                </a:lnTo>
                <a:lnTo>
                  <a:pt x="3388998" y="0"/>
                </a:lnTo>
                <a:close/>
              </a:path>
            </a:pathLst>
          </a:custGeom>
          <a:solidFill>
            <a:srgbClr val="EDCE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77365" y="1843291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723766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77365" y="1832504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788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77365" y="1821716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787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77365" y="1810928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788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477365" y="1794745"/>
            <a:ext cx="0" cy="16510"/>
          </a:xfrm>
          <a:custGeom>
            <a:avLst/>
            <a:gdLst/>
            <a:ahLst/>
            <a:cxnLst/>
            <a:rect l="l" t="t" r="r" b="b"/>
            <a:pathLst>
              <a:path h="16510">
                <a:moveTo>
                  <a:pt x="0" y="16181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42809" y="2170367"/>
            <a:ext cx="65246" cy="6524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42809" y="2462704"/>
            <a:ext cx="65246" cy="6524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88367" y="2723076"/>
            <a:ext cx="3388995" cy="163830"/>
          </a:xfrm>
          <a:custGeom>
            <a:avLst/>
            <a:gdLst/>
            <a:ahLst/>
            <a:cxnLst/>
            <a:rect l="l" t="t" r="r" b="b"/>
            <a:pathLst>
              <a:path w="3388995" h="163830">
                <a:moveTo>
                  <a:pt x="43152" y="0"/>
                </a:moveTo>
                <a:lnTo>
                  <a:pt x="26396" y="3405"/>
                </a:lnTo>
                <a:lnTo>
                  <a:pt x="12675" y="12676"/>
                </a:lnTo>
                <a:lnTo>
                  <a:pt x="3404" y="26397"/>
                </a:lnTo>
                <a:lnTo>
                  <a:pt x="0" y="43152"/>
                </a:lnTo>
                <a:lnTo>
                  <a:pt x="0" y="163426"/>
                </a:lnTo>
                <a:lnTo>
                  <a:pt x="3388998" y="163426"/>
                </a:lnTo>
                <a:lnTo>
                  <a:pt x="3388998" y="43152"/>
                </a:lnTo>
                <a:lnTo>
                  <a:pt x="3362600" y="3405"/>
                </a:lnTo>
                <a:lnTo>
                  <a:pt x="431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088366" y="2875760"/>
            <a:ext cx="3388998" cy="4299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131519" y="3178196"/>
            <a:ext cx="86305" cy="863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423424" y="3167407"/>
            <a:ext cx="97092" cy="970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174672" y="3210559"/>
            <a:ext cx="3259541" cy="539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477365" y="2760661"/>
            <a:ext cx="43152" cy="863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477365" y="2803813"/>
            <a:ext cx="43152" cy="37438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88367" y="2913380"/>
            <a:ext cx="3388995" cy="307975"/>
          </a:xfrm>
          <a:custGeom>
            <a:avLst/>
            <a:gdLst/>
            <a:ahLst/>
            <a:cxnLst/>
            <a:rect l="l" t="t" r="r" b="b"/>
            <a:pathLst>
              <a:path w="3388995" h="307975">
                <a:moveTo>
                  <a:pt x="3388998" y="0"/>
                </a:moveTo>
                <a:lnTo>
                  <a:pt x="0" y="0"/>
                </a:lnTo>
                <a:lnTo>
                  <a:pt x="0" y="264816"/>
                </a:lnTo>
                <a:lnTo>
                  <a:pt x="3404" y="281571"/>
                </a:lnTo>
                <a:lnTo>
                  <a:pt x="12676" y="295292"/>
                </a:lnTo>
                <a:lnTo>
                  <a:pt x="26397" y="304563"/>
                </a:lnTo>
                <a:lnTo>
                  <a:pt x="43152" y="307968"/>
                </a:lnTo>
                <a:lnTo>
                  <a:pt x="3345845" y="307968"/>
                </a:lnTo>
                <a:lnTo>
                  <a:pt x="3362601" y="304563"/>
                </a:lnTo>
                <a:lnTo>
                  <a:pt x="3376322" y="295292"/>
                </a:lnTo>
                <a:lnTo>
                  <a:pt x="3385593" y="281571"/>
                </a:lnTo>
                <a:lnTo>
                  <a:pt x="3388998" y="264816"/>
                </a:lnTo>
                <a:lnTo>
                  <a:pt x="3388998" y="0"/>
                </a:lnTo>
                <a:close/>
              </a:path>
            </a:pathLst>
          </a:custGeom>
          <a:solidFill>
            <a:srgbClr val="DAD8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477365" y="2793026"/>
            <a:ext cx="0" cy="401955"/>
          </a:xfrm>
          <a:custGeom>
            <a:avLst/>
            <a:gdLst/>
            <a:ahLst/>
            <a:cxnLst/>
            <a:rect l="l" t="t" r="r" b="b"/>
            <a:pathLst>
              <a:path h="401955">
                <a:moveTo>
                  <a:pt x="0" y="401352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477365" y="2782238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788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477365" y="2771450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787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477365" y="2760662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787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477365" y="2744479"/>
            <a:ext cx="0" cy="16510"/>
          </a:xfrm>
          <a:custGeom>
            <a:avLst/>
            <a:gdLst/>
            <a:ahLst/>
            <a:cxnLst/>
            <a:rect l="l" t="t" r="r" b="b"/>
            <a:pathLst>
              <a:path h="16510">
                <a:moveTo>
                  <a:pt x="0" y="16182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118819" y="826100"/>
            <a:ext cx="3009900" cy="24202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900" spc="15" dirty="0">
                <a:solidFill>
                  <a:srgbClr val="FFFFFF"/>
                </a:solidFill>
                <a:highlight>
                  <a:srgbClr val="000080"/>
                </a:highlight>
                <a:latin typeface="Courier New"/>
                <a:cs typeface="Courier New"/>
              </a:rPr>
              <a:t>kill()</a:t>
            </a:r>
            <a:endParaRPr sz="900" dirty="0">
              <a:highlight>
                <a:srgbClr val="000080"/>
              </a:highlight>
              <a:latin typeface="Courier New"/>
              <a:cs typeface="Courier New"/>
            </a:endParaRPr>
          </a:p>
          <a:p>
            <a:pPr marL="12700">
              <a:spcBef>
                <a:spcPts val="280"/>
              </a:spcBef>
            </a:pPr>
            <a:r>
              <a:rPr sz="900" spc="10" dirty="0">
                <a:latin typeface="Arial"/>
                <a:cs typeface="Arial"/>
              </a:rPr>
              <a:t>Synopsis: </a:t>
            </a:r>
            <a:r>
              <a:rPr sz="900" spc="15" dirty="0">
                <a:latin typeface="Courier New"/>
                <a:cs typeface="Courier New"/>
              </a:rPr>
              <a:t>int kill(pid t pid, int</a:t>
            </a:r>
            <a:r>
              <a:rPr sz="900" spc="-210" dirty="0">
                <a:latin typeface="Courier New"/>
                <a:cs typeface="Courier New"/>
              </a:rPr>
              <a:t> </a:t>
            </a:r>
            <a:r>
              <a:rPr sz="900" spc="15" dirty="0">
                <a:latin typeface="Courier New"/>
                <a:cs typeface="Courier New"/>
              </a:rPr>
              <a:t>signo);</a:t>
            </a:r>
            <a:endParaRPr sz="900" dirty="0">
              <a:latin typeface="Courier New"/>
              <a:cs typeface="Courier New"/>
            </a:endParaRPr>
          </a:p>
          <a:p>
            <a:pPr marL="419100" marR="144780" indent="-171450">
              <a:lnSpc>
                <a:spcPct val="106600"/>
              </a:lnSpc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sz="900" spc="10" dirty="0">
                <a:latin typeface="Arial"/>
                <a:cs typeface="Arial"/>
              </a:rPr>
              <a:t>sends the signal </a:t>
            </a:r>
            <a:r>
              <a:rPr sz="900" spc="15" dirty="0">
                <a:latin typeface="Courier New"/>
                <a:cs typeface="Courier New"/>
              </a:rPr>
              <a:t>signo</a:t>
            </a:r>
            <a:r>
              <a:rPr sz="900" spc="-345" dirty="0">
                <a:latin typeface="Courier New"/>
                <a:cs typeface="Courier New"/>
              </a:rPr>
              <a:t> </a:t>
            </a:r>
            <a:r>
              <a:rPr sz="900" spc="10" dirty="0">
                <a:latin typeface="Arial"/>
                <a:cs typeface="Arial"/>
              </a:rPr>
              <a:t>to a process or a group of  processes, defined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10" dirty="0">
                <a:latin typeface="Courier New"/>
                <a:cs typeface="Courier New"/>
              </a:rPr>
              <a:t>pid</a:t>
            </a:r>
            <a:r>
              <a:rPr sz="900" spc="1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419100" indent="-171450">
              <a:spcBef>
                <a:spcPts val="65"/>
              </a:spcBef>
              <a:buFont typeface="Arial" panose="020B0604020202020204" pitchFamily="34" charset="0"/>
              <a:buChar char="•"/>
            </a:pPr>
            <a:r>
              <a:rPr sz="900" spc="10" dirty="0">
                <a:latin typeface="Arial"/>
                <a:cs typeface="Arial"/>
              </a:rPr>
              <a:t>returns 0 on success, -1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otherwise.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 dirty="0">
              <a:latin typeface="Times New Roman"/>
              <a:cs typeface="Times New Roman"/>
            </a:endParaRPr>
          </a:p>
          <a:p>
            <a:pPr marL="12700" marR="57150">
              <a:lnSpc>
                <a:spcPct val="106600"/>
              </a:lnSpc>
            </a:pPr>
            <a:r>
              <a:rPr sz="900" spc="15" dirty="0">
                <a:latin typeface="Arial"/>
                <a:cs typeface="Arial"/>
              </a:rPr>
              <a:t>The </a:t>
            </a:r>
            <a:r>
              <a:rPr sz="900" spc="10" dirty="0">
                <a:latin typeface="Arial"/>
                <a:cs typeface="Arial"/>
              </a:rPr>
              <a:t>signal </a:t>
            </a:r>
            <a:r>
              <a:rPr sz="900" spc="5" dirty="0">
                <a:latin typeface="Arial"/>
                <a:cs typeface="Arial"/>
              </a:rPr>
              <a:t>is </a:t>
            </a:r>
            <a:r>
              <a:rPr sz="900" spc="10" dirty="0">
                <a:latin typeface="Arial"/>
                <a:cs typeface="Arial"/>
              </a:rPr>
              <a:t>sent only </a:t>
            </a:r>
            <a:r>
              <a:rPr sz="900" spc="15" dirty="0">
                <a:latin typeface="Arial"/>
                <a:cs typeface="Arial"/>
              </a:rPr>
              <a:t>when </a:t>
            </a:r>
            <a:r>
              <a:rPr sz="900" spc="10" dirty="0">
                <a:latin typeface="Arial"/>
                <a:cs typeface="Arial"/>
              </a:rPr>
              <a:t>at least one of the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following  </a:t>
            </a:r>
            <a:r>
              <a:rPr sz="900" spc="10" dirty="0">
                <a:latin typeface="Arial"/>
                <a:cs typeface="Arial"/>
              </a:rPr>
              <a:t>conditions </a:t>
            </a:r>
            <a:r>
              <a:rPr sz="900" spc="5" dirty="0">
                <a:latin typeface="Arial"/>
                <a:cs typeface="Arial"/>
              </a:rPr>
              <a:t>is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satisfied:</a:t>
            </a:r>
            <a:endParaRPr sz="900" dirty="0">
              <a:latin typeface="Arial"/>
              <a:cs typeface="Arial"/>
            </a:endParaRPr>
          </a:p>
          <a:p>
            <a:pPr marL="419100" marR="5080" indent="-171450">
              <a:lnSpc>
                <a:spcPct val="106600"/>
              </a:lnSpc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sz="900" spc="15" dirty="0">
                <a:latin typeface="Arial"/>
                <a:cs typeface="Arial"/>
              </a:rPr>
              <a:t>The </a:t>
            </a:r>
            <a:r>
              <a:rPr sz="900" spc="10" dirty="0">
                <a:latin typeface="Arial"/>
                <a:cs typeface="Arial"/>
              </a:rPr>
              <a:t>sending and receiving processes </a:t>
            </a:r>
            <a:r>
              <a:rPr sz="900" dirty="0">
                <a:latin typeface="Arial"/>
                <a:cs typeface="Arial"/>
              </a:rPr>
              <a:t>have </a:t>
            </a:r>
            <a:r>
              <a:rPr sz="900" spc="10" dirty="0">
                <a:latin typeface="Arial"/>
                <a:cs typeface="Arial"/>
              </a:rPr>
              <a:t>the </a:t>
            </a:r>
            <a:r>
              <a:rPr sz="900" spc="15" dirty="0">
                <a:latin typeface="Arial"/>
                <a:cs typeface="Arial"/>
              </a:rPr>
              <a:t>same  </a:t>
            </a:r>
            <a:r>
              <a:rPr sz="900" dirty="0">
                <a:latin typeface="Arial"/>
                <a:cs typeface="Arial"/>
              </a:rPr>
              <a:t>owner.</a:t>
            </a:r>
          </a:p>
          <a:p>
            <a:pPr marL="419100" indent="-171450">
              <a:spcBef>
                <a:spcPts val="70"/>
              </a:spcBef>
              <a:buFont typeface="Arial" panose="020B0604020202020204" pitchFamily="34" charset="0"/>
              <a:buChar char="•"/>
            </a:pPr>
            <a:r>
              <a:rPr sz="900" spc="15" dirty="0">
                <a:latin typeface="Arial"/>
                <a:cs typeface="Arial"/>
              </a:rPr>
              <a:t>The </a:t>
            </a:r>
            <a:r>
              <a:rPr sz="900" spc="10" dirty="0">
                <a:latin typeface="Arial"/>
                <a:cs typeface="Arial"/>
              </a:rPr>
              <a:t>sending process </a:t>
            </a:r>
            <a:r>
              <a:rPr sz="900" spc="5" dirty="0">
                <a:latin typeface="Arial"/>
                <a:cs typeface="Arial"/>
              </a:rPr>
              <a:t>is </a:t>
            </a:r>
            <a:r>
              <a:rPr sz="900" spc="10" dirty="0">
                <a:latin typeface="Arial"/>
                <a:cs typeface="Arial"/>
              </a:rPr>
              <a:t>owned </a:t>
            </a:r>
            <a:r>
              <a:rPr sz="900" dirty="0">
                <a:latin typeface="Arial"/>
                <a:cs typeface="Arial"/>
              </a:rPr>
              <a:t>by </a:t>
            </a:r>
            <a:r>
              <a:rPr sz="900" spc="1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super-user.</a:t>
            </a:r>
            <a:endParaRPr sz="900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12700"/>
            <a:r>
              <a:rPr sz="900" spc="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900" dirty="0">
              <a:latin typeface="Arial"/>
              <a:cs typeface="Arial"/>
            </a:endParaRPr>
          </a:p>
          <a:p>
            <a:pPr marL="12700">
              <a:spcBef>
                <a:spcPts val="275"/>
              </a:spcBef>
            </a:pPr>
            <a:r>
              <a:rPr sz="900" spc="15" dirty="0">
                <a:latin typeface="Courier New"/>
                <a:cs typeface="Courier New"/>
              </a:rPr>
              <a:t>kill(2344,</a:t>
            </a:r>
            <a:r>
              <a:rPr sz="900" spc="-70" dirty="0">
                <a:latin typeface="Courier New"/>
                <a:cs typeface="Courier New"/>
              </a:rPr>
              <a:t> </a:t>
            </a:r>
            <a:r>
              <a:rPr sz="900" spc="15" dirty="0">
                <a:latin typeface="Courier New"/>
                <a:cs typeface="Courier New"/>
              </a:rPr>
              <a:t>SIGTERM);</a:t>
            </a:r>
            <a:endParaRPr sz="900" dirty="0">
              <a:latin typeface="Courier New"/>
              <a:cs typeface="Courier New"/>
            </a:endParaRPr>
          </a:p>
          <a:p>
            <a:pPr marL="12700">
              <a:spcBef>
                <a:spcPts val="70"/>
              </a:spcBef>
            </a:pPr>
            <a:r>
              <a:rPr sz="900" spc="-45" dirty="0">
                <a:latin typeface="Arial"/>
                <a:cs typeface="Arial"/>
              </a:rPr>
              <a:t>To </a:t>
            </a:r>
            <a:r>
              <a:rPr sz="900" spc="10" dirty="0">
                <a:latin typeface="Arial"/>
                <a:cs typeface="Arial"/>
              </a:rPr>
              <a:t>terminate process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2344.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D78C162E-ADC3-4F8B-B9A4-9A4D372BC9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8</a:t>
            </a:fld>
            <a:endParaRPr lang="en-CA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Sending a signal to a</a:t>
            </a:r>
            <a:r>
              <a:rPr sz="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Examples  Process groups and control</a:t>
            </a:r>
            <a:r>
              <a:rPr sz="600" b="1" spc="-4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5" y="436677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0719" y="563245"/>
            <a:ext cx="3989704" cy="82550"/>
          </a:xfrm>
          <a:custGeom>
            <a:avLst/>
            <a:gdLst/>
            <a:ahLst/>
            <a:cxnLst/>
            <a:rect l="l" t="t" r="r" b="b"/>
            <a:pathLst>
              <a:path w="3989704" h="82550">
                <a:moveTo>
                  <a:pt x="50799" y="0"/>
                </a:moveTo>
                <a:lnTo>
                  <a:pt x="31074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799"/>
                </a:lnTo>
                <a:lnTo>
                  <a:pt x="0" y="82383"/>
                </a:lnTo>
                <a:lnTo>
                  <a:pt x="3989591" y="82383"/>
                </a:lnTo>
                <a:lnTo>
                  <a:pt x="3989591" y="50799"/>
                </a:lnTo>
                <a:lnTo>
                  <a:pt x="3974668" y="14922"/>
                </a:lnTo>
                <a:lnTo>
                  <a:pt x="3938791" y="0"/>
                </a:lnTo>
                <a:lnTo>
                  <a:pt x="50799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31518" y="2637688"/>
            <a:ext cx="101600" cy="10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06812" y="2624989"/>
            <a:ext cx="114299" cy="1142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2319" y="2675789"/>
            <a:ext cx="3837191" cy="634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70312" y="613805"/>
            <a:ext cx="50799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70312" y="664606"/>
            <a:ext cx="50799" cy="19730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80719" y="607669"/>
            <a:ext cx="3989704" cy="2080895"/>
          </a:xfrm>
          <a:custGeom>
            <a:avLst/>
            <a:gdLst/>
            <a:ahLst/>
            <a:cxnLst/>
            <a:rect l="l" t="t" r="r" b="b"/>
            <a:pathLst>
              <a:path w="3989704" h="2080895">
                <a:moveTo>
                  <a:pt x="3989591" y="0"/>
                </a:moveTo>
                <a:lnTo>
                  <a:pt x="0" y="0"/>
                </a:lnTo>
                <a:lnTo>
                  <a:pt x="0" y="2030020"/>
                </a:lnTo>
                <a:lnTo>
                  <a:pt x="4008" y="2049744"/>
                </a:lnTo>
                <a:lnTo>
                  <a:pt x="14922" y="2065897"/>
                </a:lnTo>
                <a:lnTo>
                  <a:pt x="31075" y="2076811"/>
                </a:lnTo>
                <a:lnTo>
                  <a:pt x="50799" y="2080819"/>
                </a:lnTo>
                <a:lnTo>
                  <a:pt x="3938791" y="2080819"/>
                </a:lnTo>
                <a:lnTo>
                  <a:pt x="3958516" y="2076811"/>
                </a:lnTo>
                <a:lnTo>
                  <a:pt x="3974669" y="2065897"/>
                </a:lnTo>
                <a:lnTo>
                  <a:pt x="3985583" y="2049744"/>
                </a:lnTo>
                <a:lnTo>
                  <a:pt x="3989591" y="2030020"/>
                </a:lnTo>
                <a:lnTo>
                  <a:pt x="3989591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70311" y="651905"/>
            <a:ext cx="0" cy="2005330"/>
          </a:xfrm>
          <a:custGeom>
            <a:avLst/>
            <a:gdLst/>
            <a:ahLst/>
            <a:cxnLst/>
            <a:rect l="l" t="t" r="r" b="b"/>
            <a:pathLst>
              <a:path h="2005330">
                <a:moveTo>
                  <a:pt x="0" y="2004833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70311" y="63920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70311" y="62650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70311" y="61380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70311" y="594755"/>
            <a:ext cx="0" cy="19050"/>
          </a:xfrm>
          <a:custGeom>
            <a:avLst/>
            <a:gdLst/>
            <a:ahLst/>
            <a:cxnLst/>
            <a:rect l="l" t="t" r="r" b="b"/>
            <a:pathLst>
              <a:path h="19050">
                <a:moveTo>
                  <a:pt x="0" y="19049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62533" y="1035838"/>
            <a:ext cx="76809" cy="768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62533" y="1207910"/>
            <a:ext cx="76809" cy="768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62533" y="1531824"/>
            <a:ext cx="76809" cy="768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54556" y="1723885"/>
            <a:ext cx="61874" cy="6187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54556" y="2027555"/>
            <a:ext cx="61874" cy="6187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62533" y="2361832"/>
            <a:ext cx="76809" cy="768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18819" y="589010"/>
            <a:ext cx="3867150" cy="2076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12090">
              <a:lnSpc>
                <a:spcPct val="102600"/>
              </a:lnSpc>
            </a:pPr>
            <a:r>
              <a:rPr sz="1050" spc="-5" dirty="0">
                <a:latin typeface="Arial"/>
                <a:cs typeface="Arial"/>
              </a:rPr>
              <a:t>The </a:t>
            </a:r>
            <a:r>
              <a:rPr sz="1050" spc="-10" dirty="0">
                <a:latin typeface="Courier New"/>
                <a:cs typeface="Courier New"/>
              </a:rPr>
              <a:t>pid </a:t>
            </a:r>
            <a:r>
              <a:rPr sz="1050" spc="-10" dirty="0">
                <a:latin typeface="Arial"/>
                <a:cs typeface="Arial"/>
              </a:rPr>
              <a:t>parameter </a:t>
            </a:r>
            <a:r>
              <a:rPr sz="1050" spc="-5" dirty="0">
                <a:latin typeface="Arial"/>
                <a:cs typeface="Arial"/>
              </a:rPr>
              <a:t>in </a:t>
            </a:r>
            <a:r>
              <a:rPr sz="1050" spc="-10" dirty="0">
                <a:latin typeface="Courier New"/>
                <a:cs typeface="Courier New"/>
              </a:rPr>
              <a:t>kill()</a:t>
            </a:r>
            <a:r>
              <a:rPr lang="en-CA" sz="1050" spc="-6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can </a:t>
            </a:r>
            <a:r>
              <a:rPr sz="1050" spc="-15" dirty="0">
                <a:latin typeface="Arial"/>
                <a:cs typeface="Arial"/>
              </a:rPr>
              <a:t>take </a:t>
            </a:r>
            <a:r>
              <a:rPr sz="1050" spc="-20" dirty="0">
                <a:latin typeface="Arial"/>
                <a:cs typeface="Arial"/>
              </a:rPr>
              <a:t>several </a:t>
            </a:r>
            <a:r>
              <a:rPr sz="1050" spc="-10" dirty="0">
                <a:latin typeface="Arial"/>
                <a:cs typeface="Arial"/>
              </a:rPr>
              <a:t>values </a:t>
            </a:r>
            <a:r>
              <a:rPr sz="1050" spc="-5" dirty="0">
                <a:latin typeface="Arial"/>
                <a:cs typeface="Arial"/>
              </a:rPr>
              <a:t>with  </a:t>
            </a:r>
            <a:r>
              <a:rPr sz="1050" spc="-10" dirty="0">
                <a:latin typeface="Arial"/>
                <a:cs typeface="Arial"/>
              </a:rPr>
              <a:t>different</a:t>
            </a:r>
            <a:r>
              <a:rPr sz="1050" spc="-6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meanings:</a:t>
            </a:r>
            <a:endParaRPr sz="1050" dirty="0">
              <a:latin typeface="Arial"/>
              <a:cs typeface="Arial"/>
            </a:endParaRPr>
          </a:p>
          <a:p>
            <a:pPr marL="461010" marR="96520" indent="-171450">
              <a:lnSpc>
                <a:spcPct val="1026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50" spc="-5" dirty="0">
                <a:latin typeface="Arial"/>
                <a:cs typeface="Arial"/>
              </a:rPr>
              <a:t>If </a:t>
            </a:r>
            <a:r>
              <a:rPr sz="1050" spc="-10" dirty="0">
                <a:latin typeface="Courier New"/>
                <a:cs typeface="Courier New"/>
              </a:rPr>
              <a:t>pid &gt; </a:t>
            </a:r>
            <a:r>
              <a:rPr sz="1050" spc="-5" dirty="0">
                <a:latin typeface="Courier New"/>
                <a:cs typeface="Courier New"/>
              </a:rPr>
              <a:t>1</a:t>
            </a:r>
            <a:r>
              <a:rPr sz="1050" spc="-5" dirty="0">
                <a:latin typeface="Arial"/>
                <a:cs typeface="Arial"/>
              </a:rPr>
              <a:t>, the signal is sent to the process with id </a:t>
            </a:r>
            <a:r>
              <a:rPr sz="1050" spc="-5" dirty="0">
                <a:latin typeface="Courier New"/>
                <a:cs typeface="Courier New"/>
              </a:rPr>
              <a:t>pid</a:t>
            </a:r>
            <a:r>
              <a:rPr sz="1050" spc="-5" dirty="0">
                <a:latin typeface="Arial"/>
                <a:cs typeface="Arial"/>
              </a:rPr>
              <a:t>.  If </a:t>
            </a:r>
            <a:r>
              <a:rPr sz="1050" spc="-10" dirty="0" err="1">
                <a:latin typeface="Courier New"/>
                <a:cs typeface="Courier New"/>
              </a:rPr>
              <a:t>pid</a:t>
            </a:r>
            <a:r>
              <a:rPr lang="en-CA" sz="1050" spc="-6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is 0, the signal is sent to all processes in the  </a:t>
            </a:r>
            <a:r>
              <a:rPr sz="1050" spc="-15" dirty="0">
                <a:latin typeface="Arial"/>
                <a:cs typeface="Arial"/>
              </a:rPr>
              <a:t>sender’s </a:t>
            </a:r>
            <a:r>
              <a:rPr sz="1050" spc="-5" dirty="0">
                <a:latin typeface="Arial"/>
                <a:cs typeface="Arial"/>
              </a:rPr>
              <a:t>process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5" dirty="0">
                <a:latin typeface="Arial"/>
                <a:cs typeface="Arial"/>
              </a:rPr>
              <a:t>group.</a:t>
            </a:r>
            <a:endParaRPr sz="1050" dirty="0">
              <a:latin typeface="Arial"/>
              <a:cs typeface="Arial"/>
            </a:endParaRPr>
          </a:p>
          <a:p>
            <a:pPr marL="461010" indent="-171450">
              <a:lnSpc>
                <a:spcPts val="1195"/>
              </a:lnSpc>
              <a:buFont typeface="Arial" panose="020B0604020202020204" pitchFamily="34" charset="0"/>
              <a:buChar char="•"/>
            </a:pPr>
            <a:r>
              <a:rPr sz="1050" spc="-5" dirty="0">
                <a:latin typeface="Arial"/>
                <a:cs typeface="Arial"/>
              </a:rPr>
              <a:t>If </a:t>
            </a:r>
            <a:r>
              <a:rPr sz="1050" spc="-10" dirty="0">
                <a:latin typeface="Courier New"/>
                <a:cs typeface="Courier New"/>
              </a:rPr>
              <a:t>pid</a:t>
            </a:r>
            <a:r>
              <a:rPr sz="1050" spc="-360" dirty="0">
                <a:latin typeface="Courier New"/>
                <a:cs typeface="Courier New"/>
              </a:rPr>
              <a:t> </a:t>
            </a:r>
            <a:r>
              <a:rPr sz="1050" spc="-5" dirty="0">
                <a:latin typeface="Arial"/>
                <a:cs typeface="Arial"/>
              </a:rPr>
              <a:t>is </a:t>
            </a:r>
            <a:r>
              <a:rPr sz="105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sz="1050" spc="-5" dirty="0">
                <a:latin typeface="Arial"/>
                <a:cs typeface="Arial"/>
              </a:rPr>
              <a:t> then</a:t>
            </a:r>
            <a:endParaRPr sz="1050" dirty="0">
              <a:latin typeface="Arial"/>
              <a:cs typeface="Arial"/>
            </a:endParaRPr>
          </a:p>
          <a:p>
            <a:pPr marL="737870" marR="5080" indent="-171450">
              <a:spcBef>
                <a:spcPts val="175"/>
              </a:spcBef>
              <a:buFont typeface="Courier New" panose="02070309020205020404" pitchFamily="49" charset="0"/>
              <a:buChar char="o"/>
            </a:pPr>
            <a:r>
              <a:rPr sz="1000" spc="-5" dirty="0">
                <a:latin typeface="Arial"/>
                <a:cs typeface="Arial"/>
              </a:rPr>
              <a:t>if the sender is </a:t>
            </a:r>
            <a:r>
              <a:rPr sz="1000" spc="-10" dirty="0">
                <a:latin typeface="Arial"/>
                <a:cs typeface="Arial"/>
              </a:rPr>
              <a:t>owned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5" dirty="0">
                <a:latin typeface="Arial"/>
                <a:cs typeface="Arial"/>
              </a:rPr>
              <a:t>a </a:t>
            </a:r>
            <a:r>
              <a:rPr sz="1000" spc="-10" dirty="0">
                <a:latin typeface="Arial"/>
                <a:cs typeface="Arial"/>
              </a:rPr>
              <a:t>super-user, </a:t>
            </a:r>
            <a:r>
              <a:rPr sz="1000" spc="-5" dirty="0">
                <a:latin typeface="Arial"/>
                <a:cs typeface="Arial"/>
              </a:rPr>
              <a:t>the signal is sent to  all processes, including the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sender.</a:t>
            </a:r>
            <a:endParaRPr sz="1000" dirty="0">
              <a:latin typeface="Arial"/>
              <a:cs typeface="Arial"/>
            </a:endParaRPr>
          </a:p>
          <a:p>
            <a:pPr marL="737870" marR="42545" indent="-171450">
              <a:lnSpc>
                <a:spcPts val="1200"/>
              </a:lnSpc>
              <a:spcBef>
                <a:spcPts val="35"/>
              </a:spcBef>
              <a:buFont typeface="Courier New" panose="02070309020205020404" pitchFamily="49" charset="0"/>
              <a:buChar char="o"/>
            </a:pPr>
            <a:r>
              <a:rPr sz="1000" spc="-5" dirty="0">
                <a:latin typeface="Arial"/>
                <a:cs typeface="Arial"/>
              </a:rPr>
              <a:t>otherwise, the signal is sent to all processes </a:t>
            </a:r>
            <a:r>
              <a:rPr sz="1000" spc="-10" dirty="0">
                <a:latin typeface="Arial"/>
                <a:cs typeface="Arial"/>
              </a:rPr>
              <a:t>owned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5" dirty="0">
                <a:latin typeface="Arial"/>
                <a:cs typeface="Arial"/>
              </a:rPr>
              <a:t>the  same </a:t>
            </a:r>
            <a:r>
              <a:rPr sz="1000" spc="-10" dirty="0">
                <a:latin typeface="Arial"/>
                <a:cs typeface="Arial"/>
              </a:rPr>
              <a:t>owner </a:t>
            </a:r>
            <a:r>
              <a:rPr sz="1000" spc="-5" dirty="0">
                <a:latin typeface="Arial"/>
                <a:cs typeface="Arial"/>
              </a:rPr>
              <a:t>as the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sender.</a:t>
            </a:r>
            <a:endParaRPr sz="1000" dirty="0">
              <a:latin typeface="Arial"/>
              <a:cs typeface="Arial"/>
            </a:endParaRPr>
          </a:p>
          <a:p>
            <a:pPr marL="461010" marR="112395" indent="-171450">
              <a:lnSpc>
                <a:spcPct val="102600"/>
              </a:lnSpc>
              <a:spcBef>
                <a:spcPts val="175"/>
              </a:spcBef>
              <a:buFont typeface="Arial" panose="020B0604020202020204" pitchFamily="34" charset="0"/>
              <a:buChar char="•"/>
            </a:pPr>
            <a:r>
              <a:rPr sz="1050" spc="-5" dirty="0">
                <a:latin typeface="Arial"/>
                <a:cs typeface="Arial"/>
              </a:rPr>
              <a:t>If </a:t>
            </a:r>
            <a:r>
              <a:rPr sz="1050" spc="-10" dirty="0" err="1">
                <a:latin typeface="Courier New"/>
                <a:cs typeface="Courier New"/>
              </a:rPr>
              <a:t>pid</a:t>
            </a:r>
            <a:r>
              <a:rPr lang="en-CA" sz="1050" spc="-6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is equal to </a:t>
            </a:r>
            <a:r>
              <a:rPr sz="1050" spc="-5" dirty="0">
                <a:latin typeface="Courier New"/>
                <a:cs typeface="Courier New"/>
              </a:rPr>
              <a:t>-n</a:t>
            </a:r>
            <a:r>
              <a:rPr sz="1050" spc="-5" dirty="0">
                <a:latin typeface="Arial"/>
                <a:cs typeface="Arial"/>
              </a:rPr>
              <a:t>, with </a:t>
            </a:r>
            <a:r>
              <a:rPr sz="1050" spc="-10" dirty="0">
                <a:latin typeface="Courier New"/>
                <a:cs typeface="Courier New"/>
              </a:rPr>
              <a:t>n &gt; </a:t>
            </a:r>
            <a:r>
              <a:rPr sz="1050" spc="-5" dirty="0">
                <a:latin typeface="Courier New"/>
                <a:cs typeface="Courier New"/>
              </a:rPr>
              <a:t>1</a:t>
            </a:r>
            <a:r>
              <a:rPr sz="1050" spc="-5" dirty="0">
                <a:latin typeface="Arial"/>
                <a:cs typeface="Arial"/>
              </a:rPr>
              <a:t>, the signal is sent to all  processes with a process </a:t>
            </a:r>
            <a:r>
              <a:rPr sz="1050" spc="-10" dirty="0">
                <a:latin typeface="Arial"/>
                <a:cs typeface="Arial"/>
              </a:rPr>
              <a:t>group-id </a:t>
            </a:r>
            <a:r>
              <a:rPr sz="1050" spc="-5" dirty="0">
                <a:latin typeface="Arial"/>
                <a:cs typeface="Arial"/>
              </a:rPr>
              <a:t>equal to</a:t>
            </a:r>
            <a:r>
              <a:rPr sz="1050" spc="55" dirty="0">
                <a:latin typeface="Arial"/>
                <a:cs typeface="Arial"/>
              </a:rPr>
              <a:t> </a:t>
            </a:r>
            <a:r>
              <a:rPr sz="1050" spc="-5" dirty="0">
                <a:latin typeface="Courier New"/>
                <a:cs typeface="Courier New"/>
              </a:rPr>
              <a:t>n</a:t>
            </a:r>
            <a:r>
              <a:rPr sz="1050" spc="-5" dirty="0">
                <a:latin typeface="Arial"/>
                <a:cs typeface="Arial"/>
              </a:rPr>
              <a:t>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75521" y="3309595"/>
            <a:ext cx="3068560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416BA845-68AF-44BE-A263-EFF1EA4A15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9</a:t>
            </a:fld>
            <a:endParaRPr lang="en-C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F98159-57BB-4E7A-8BEB-0FCF34CB1275}"/>
              </a:ext>
            </a:extLst>
          </p:cNvPr>
          <p:cNvSpPr txBox="1"/>
          <p:nvPr/>
        </p:nvSpPr>
        <p:spPr>
          <a:xfrm>
            <a:off x="1182319" y="2873375"/>
            <a:ext cx="29610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00" dirty="0"/>
              <a:t>man kill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3DB9B-3A13-D739-605C-D9A953E68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1EA67-D7CE-1A54-BF73-EFD43914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17" dirty="0">
                <a:solidFill>
                  <a:srgbClr val="0070C0"/>
                </a:solidFill>
              </a:rPr>
              <a:t>Part III</a:t>
            </a:r>
            <a:br>
              <a:rPr lang="en-US" sz="1817" dirty="0">
                <a:solidFill>
                  <a:srgbClr val="0070C0"/>
                </a:solidFill>
              </a:rPr>
            </a:br>
            <a:r>
              <a:rPr lang="en-US" sz="1817" dirty="0">
                <a:solidFill>
                  <a:srgbClr val="0070C0"/>
                </a:solidFill>
                <a:cs typeface="Courier New" panose="02070309020205020404" pitchFamily="49" charset="0"/>
              </a:rPr>
              <a:t>Examples</a:t>
            </a:r>
            <a:endParaRPr lang="en-US" sz="1817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CF7DB-2D43-B6B0-E69D-30CE9FCE1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75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7473" y="440448"/>
            <a:ext cx="4749902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Example: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Parent-Child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1400" spc="5" dirty="0">
                <a:solidFill>
                  <a:srgbClr val="FFFFFF"/>
                </a:solidFill>
                <a:latin typeface="Arial"/>
                <a:cs typeface="Arial"/>
              </a:rPr>
              <a:t> (</a:t>
            </a:r>
            <a:r>
              <a:rPr lang="en-US" sz="1400" spc="5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pcs1.c</a:t>
            </a:r>
            <a:r>
              <a:rPr lang="en-US" sz="1400" spc="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8819" y="834151"/>
            <a:ext cx="2155190" cy="2378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500" spc="10" dirty="0">
                <a:latin typeface="Courier New"/>
                <a:cs typeface="Courier New"/>
              </a:rPr>
              <a:t>#include</a:t>
            </a:r>
            <a:r>
              <a:rPr sz="500" spc="-85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&lt;stdio.h&gt;</a:t>
            </a:r>
            <a:endParaRPr sz="500" dirty="0">
              <a:latin typeface="Courier New"/>
              <a:cs typeface="Courier New"/>
            </a:endParaRPr>
          </a:p>
          <a:p>
            <a:pPr marL="12700">
              <a:spcBef>
                <a:spcPts val="40"/>
              </a:spcBef>
            </a:pPr>
            <a:r>
              <a:rPr sz="500" spc="10" dirty="0">
                <a:latin typeface="Courier New"/>
                <a:cs typeface="Courier New"/>
              </a:rPr>
              <a:t>#include</a:t>
            </a:r>
            <a:r>
              <a:rPr sz="500" spc="-85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&lt;stdlib.h&gt;</a:t>
            </a:r>
            <a:endParaRPr sz="500" dirty="0">
              <a:latin typeface="Courier New"/>
              <a:cs typeface="Courier New"/>
            </a:endParaRPr>
          </a:p>
          <a:p>
            <a:pPr marL="12700">
              <a:spcBef>
                <a:spcPts val="40"/>
              </a:spcBef>
            </a:pPr>
            <a:r>
              <a:rPr sz="500" spc="10" dirty="0">
                <a:latin typeface="Courier New"/>
                <a:cs typeface="Courier New"/>
              </a:rPr>
              <a:t>#include</a:t>
            </a:r>
            <a:r>
              <a:rPr sz="500" spc="-85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&lt;unistd.h&gt;</a:t>
            </a:r>
            <a:endParaRPr sz="500" dirty="0">
              <a:latin typeface="Courier New"/>
              <a:cs typeface="Courier New"/>
            </a:endParaRPr>
          </a:p>
          <a:p>
            <a:pPr marL="12700">
              <a:spcBef>
                <a:spcPts val="40"/>
              </a:spcBef>
            </a:pPr>
            <a:r>
              <a:rPr sz="500" spc="10" dirty="0">
                <a:latin typeface="Courier New"/>
                <a:cs typeface="Courier New"/>
              </a:rPr>
              <a:t>#include</a:t>
            </a:r>
            <a:r>
              <a:rPr sz="500" spc="-85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&lt;signal.h&gt;</a:t>
            </a:r>
            <a:endParaRPr sz="500" dirty="0">
              <a:latin typeface="Courier New"/>
              <a:cs typeface="Courier New"/>
            </a:endParaRPr>
          </a:p>
          <a:p>
            <a:pPr>
              <a:spcBef>
                <a:spcPts val="50"/>
              </a:spcBef>
            </a:pPr>
            <a:endParaRPr sz="550" dirty="0">
              <a:latin typeface="Times New Roman"/>
              <a:cs typeface="Times New Roman"/>
            </a:endParaRPr>
          </a:p>
          <a:p>
            <a:pPr marL="12700"/>
            <a:r>
              <a:rPr sz="500" spc="10" dirty="0">
                <a:latin typeface="Courier New"/>
                <a:cs typeface="Courier New"/>
              </a:rPr>
              <a:t>void</a:t>
            </a:r>
            <a:r>
              <a:rPr sz="500" spc="-80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myAlarmHandler(int);</a:t>
            </a:r>
            <a:endParaRPr sz="500" dirty="0">
              <a:latin typeface="Courier New"/>
              <a:cs typeface="Courier New"/>
            </a:endParaRPr>
          </a:p>
          <a:p>
            <a:pPr marL="12700" marR="5080">
              <a:lnSpc>
                <a:spcPts val="1380"/>
              </a:lnSpc>
              <a:spcBef>
                <a:spcPts val="80"/>
              </a:spcBef>
            </a:pPr>
            <a:r>
              <a:rPr sz="500" spc="10" dirty="0">
                <a:latin typeface="Courier New"/>
                <a:cs typeface="Courier New"/>
              </a:rPr>
              <a:t>void myAlarmHandler(int dummy){}; // to avoid</a:t>
            </a:r>
            <a:r>
              <a:rPr sz="500" spc="-70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quitting  </a:t>
            </a:r>
            <a:r>
              <a:rPr sz="750" spc="15" baseline="11111" dirty="0">
                <a:latin typeface="Courier New"/>
                <a:cs typeface="Courier New"/>
              </a:rPr>
              <a:t>int main(int argc, char</a:t>
            </a:r>
            <a:r>
              <a:rPr sz="750" spc="-120" baseline="11111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*</a:t>
            </a:r>
            <a:r>
              <a:rPr sz="750" spc="15" baseline="11111" dirty="0">
                <a:latin typeface="Courier New"/>
                <a:cs typeface="Courier New"/>
              </a:rPr>
              <a:t>argv[]){</a:t>
            </a:r>
            <a:endParaRPr sz="750" baseline="11111" dirty="0">
              <a:latin typeface="Courier New"/>
              <a:cs typeface="Courier New"/>
            </a:endParaRPr>
          </a:p>
          <a:p>
            <a:pPr marL="91440">
              <a:lnSpc>
                <a:spcPts val="375"/>
              </a:lnSpc>
            </a:pPr>
            <a:r>
              <a:rPr sz="500" spc="10" dirty="0">
                <a:latin typeface="Courier New"/>
                <a:cs typeface="Courier New"/>
              </a:rPr>
              <a:t>pid_t</a:t>
            </a:r>
            <a:r>
              <a:rPr sz="500" spc="-90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pid;</a:t>
            </a:r>
            <a:endParaRPr sz="500" dirty="0">
              <a:latin typeface="Courier New"/>
              <a:cs typeface="Courier New"/>
            </a:endParaRPr>
          </a:p>
          <a:p>
            <a:pPr>
              <a:spcBef>
                <a:spcPts val="50"/>
              </a:spcBef>
            </a:pPr>
            <a:endParaRPr sz="550" dirty="0">
              <a:latin typeface="Times New Roman"/>
              <a:cs typeface="Times New Roman"/>
            </a:endParaRPr>
          </a:p>
          <a:p>
            <a:pPr marL="91440">
              <a:spcBef>
                <a:spcPts val="5"/>
              </a:spcBef>
            </a:pPr>
            <a:r>
              <a:rPr sz="500" spc="10" dirty="0">
                <a:latin typeface="Courier New"/>
                <a:cs typeface="Courier New"/>
              </a:rPr>
              <a:t>if((pid=fork()) &gt;</a:t>
            </a:r>
            <a:r>
              <a:rPr sz="500" spc="-85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0){</a:t>
            </a:r>
            <a:endParaRPr sz="500" dirty="0">
              <a:latin typeface="Courier New"/>
              <a:cs typeface="Courier New"/>
            </a:endParaRPr>
          </a:p>
          <a:p>
            <a:pPr marL="170180" marR="44450">
              <a:lnSpc>
                <a:spcPct val="107100"/>
              </a:lnSpc>
            </a:pPr>
            <a:r>
              <a:rPr sz="500" spc="10" dirty="0">
                <a:latin typeface="Courier New"/>
                <a:cs typeface="Courier New"/>
              </a:rPr>
              <a:t>printf("My child should wait until I am</a:t>
            </a:r>
            <a:r>
              <a:rPr sz="500" spc="-75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done\n");  sleep(4);</a:t>
            </a:r>
            <a:endParaRPr sz="500" dirty="0">
              <a:latin typeface="Courier New"/>
              <a:cs typeface="Courier New"/>
            </a:endParaRPr>
          </a:p>
          <a:p>
            <a:pPr marL="170180" marR="201930">
              <a:lnSpc>
                <a:spcPct val="107100"/>
              </a:lnSpc>
            </a:pPr>
            <a:r>
              <a:rPr sz="500" spc="10" dirty="0">
                <a:latin typeface="Courier New"/>
                <a:cs typeface="Courier New"/>
              </a:rPr>
              <a:t>printf("Child, now you can do your job\n");  kill(pid, SIGALRM); // let the child wake up  printf("Parent</a:t>
            </a:r>
            <a:r>
              <a:rPr sz="500" spc="-80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Exiting\n");</a:t>
            </a:r>
            <a:endParaRPr sz="500" dirty="0">
              <a:latin typeface="Courier New"/>
              <a:cs typeface="Courier New"/>
            </a:endParaRPr>
          </a:p>
          <a:p>
            <a:pPr marL="91440">
              <a:spcBef>
                <a:spcPts val="40"/>
              </a:spcBef>
            </a:pPr>
            <a:r>
              <a:rPr sz="500" spc="10" dirty="0">
                <a:latin typeface="Courier New"/>
                <a:cs typeface="Courier New"/>
              </a:rPr>
              <a:t>}</a:t>
            </a:r>
            <a:endParaRPr sz="500" dirty="0">
              <a:latin typeface="Courier New"/>
              <a:cs typeface="Courier New"/>
            </a:endParaRPr>
          </a:p>
          <a:p>
            <a:pPr marL="91440">
              <a:spcBef>
                <a:spcPts val="40"/>
              </a:spcBef>
            </a:pPr>
            <a:r>
              <a:rPr sz="500" spc="10" dirty="0">
                <a:latin typeface="Courier New"/>
                <a:cs typeface="Courier New"/>
              </a:rPr>
              <a:t>else{</a:t>
            </a:r>
            <a:endParaRPr sz="500" dirty="0">
              <a:latin typeface="Courier New"/>
              <a:cs typeface="Courier New"/>
            </a:endParaRPr>
          </a:p>
          <a:p>
            <a:pPr marL="170180" marR="359410">
              <a:lnSpc>
                <a:spcPct val="107100"/>
              </a:lnSpc>
            </a:pPr>
            <a:r>
              <a:rPr sz="500" spc="10" dirty="0">
                <a:latin typeface="Courier New"/>
                <a:cs typeface="Courier New"/>
              </a:rPr>
              <a:t>printf("I have to wait for my</a:t>
            </a:r>
            <a:r>
              <a:rPr sz="500" spc="-75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parent\n");  signal(SIGALRM, myAlarmHandler);  pause();</a:t>
            </a:r>
            <a:endParaRPr sz="500" dirty="0">
              <a:latin typeface="Courier New"/>
              <a:cs typeface="Courier New"/>
            </a:endParaRPr>
          </a:p>
          <a:p>
            <a:pPr marL="170180" marR="556895">
              <a:lnSpc>
                <a:spcPct val="107100"/>
              </a:lnSpc>
            </a:pPr>
            <a:r>
              <a:rPr sz="500" spc="10" dirty="0">
                <a:latin typeface="Courier New"/>
                <a:cs typeface="Courier New"/>
              </a:rPr>
              <a:t>printf("OK, now I can do my</a:t>
            </a:r>
            <a:r>
              <a:rPr sz="500" spc="-80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job\n");  sleep(2);</a:t>
            </a:r>
            <a:endParaRPr sz="500" dirty="0">
              <a:latin typeface="Courier New"/>
              <a:cs typeface="Courier New"/>
            </a:endParaRPr>
          </a:p>
          <a:p>
            <a:pPr marL="170180">
              <a:spcBef>
                <a:spcPts val="40"/>
              </a:spcBef>
            </a:pPr>
            <a:r>
              <a:rPr sz="500" spc="10" dirty="0">
                <a:latin typeface="Courier New"/>
                <a:cs typeface="Courier New"/>
              </a:rPr>
              <a:t>printf("Child</a:t>
            </a:r>
            <a:r>
              <a:rPr sz="500" spc="-80" dirty="0">
                <a:latin typeface="Courier New"/>
                <a:cs typeface="Courier New"/>
              </a:rPr>
              <a:t> </a:t>
            </a:r>
            <a:r>
              <a:rPr sz="500" spc="10" dirty="0">
                <a:latin typeface="Courier New"/>
                <a:cs typeface="Courier New"/>
              </a:rPr>
              <a:t>Exiting\n");</a:t>
            </a:r>
            <a:endParaRPr sz="500" dirty="0">
              <a:latin typeface="Courier New"/>
              <a:cs typeface="Courier New"/>
            </a:endParaRPr>
          </a:p>
          <a:p>
            <a:pPr marL="91440">
              <a:spcBef>
                <a:spcPts val="40"/>
              </a:spcBef>
            </a:pPr>
            <a:r>
              <a:rPr sz="500" spc="10" dirty="0">
                <a:latin typeface="Courier New"/>
                <a:cs typeface="Courier New"/>
              </a:rPr>
              <a:t>}</a:t>
            </a:r>
            <a:endParaRPr sz="500" dirty="0">
              <a:latin typeface="Courier New"/>
              <a:cs typeface="Courier New"/>
            </a:endParaRPr>
          </a:p>
          <a:p>
            <a:pPr marL="91440">
              <a:spcBef>
                <a:spcPts val="40"/>
              </a:spcBef>
            </a:pPr>
            <a:r>
              <a:rPr sz="500" spc="10" dirty="0">
                <a:latin typeface="Courier New"/>
                <a:cs typeface="Courier New"/>
              </a:rPr>
              <a:t>exit(0);</a:t>
            </a:r>
            <a:endParaRPr sz="500" dirty="0">
              <a:latin typeface="Courier New"/>
              <a:cs typeface="Courier New"/>
            </a:endParaRPr>
          </a:p>
          <a:p>
            <a:pPr marL="12700">
              <a:spcBef>
                <a:spcPts val="40"/>
              </a:spcBef>
            </a:pPr>
            <a:r>
              <a:rPr sz="500" spc="10" dirty="0">
                <a:latin typeface="Courier New"/>
                <a:cs typeface="Courier New"/>
              </a:rPr>
              <a:t>}</a:t>
            </a:r>
            <a:endParaRPr sz="5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FDFDD-AF34-4435-A2E7-877468A45B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11</a:t>
            </a:fld>
            <a:endParaRPr lang="en-CA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80719" y="845261"/>
            <a:ext cx="3989704" cy="196850"/>
          </a:xfrm>
          <a:custGeom>
            <a:avLst/>
            <a:gdLst/>
            <a:ahLst/>
            <a:cxnLst/>
            <a:rect l="l" t="t" r="r" b="b"/>
            <a:pathLst>
              <a:path w="3989704" h="196850">
                <a:moveTo>
                  <a:pt x="50799" y="0"/>
                </a:moveTo>
                <a:lnTo>
                  <a:pt x="31074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799"/>
                </a:lnTo>
                <a:lnTo>
                  <a:pt x="0" y="196338"/>
                </a:lnTo>
                <a:lnTo>
                  <a:pt x="3989591" y="196338"/>
                </a:lnTo>
                <a:lnTo>
                  <a:pt x="3989591" y="50799"/>
                </a:lnTo>
                <a:lnTo>
                  <a:pt x="3974668" y="14922"/>
                </a:lnTo>
                <a:lnTo>
                  <a:pt x="3938791" y="0"/>
                </a:lnTo>
                <a:lnTo>
                  <a:pt x="5079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0720" y="1028942"/>
            <a:ext cx="398959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31518" y="2066137"/>
            <a:ext cx="101600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06812" y="2053439"/>
            <a:ext cx="114299" cy="1142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82319" y="2104238"/>
            <a:ext cx="3837191" cy="634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70312" y="889495"/>
            <a:ext cx="50799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70312" y="940295"/>
            <a:ext cx="50799" cy="112584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80719" y="1073229"/>
            <a:ext cx="3989704" cy="1043940"/>
          </a:xfrm>
          <a:custGeom>
            <a:avLst/>
            <a:gdLst/>
            <a:ahLst/>
            <a:cxnLst/>
            <a:rect l="l" t="t" r="r" b="b"/>
            <a:pathLst>
              <a:path w="3989704" h="1043939">
                <a:moveTo>
                  <a:pt x="3989591" y="0"/>
                </a:moveTo>
                <a:lnTo>
                  <a:pt x="0" y="0"/>
                </a:lnTo>
                <a:lnTo>
                  <a:pt x="0" y="992908"/>
                </a:lnTo>
                <a:lnTo>
                  <a:pt x="4008" y="1012633"/>
                </a:lnTo>
                <a:lnTo>
                  <a:pt x="14922" y="1028785"/>
                </a:lnTo>
                <a:lnTo>
                  <a:pt x="31075" y="1039699"/>
                </a:lnTo>
                <a:lnTo>
                  <a:pt x="50799" y="1043708"/>
                </a:lnTo>
                <a:lnTo>
                  <a:pt x="3938791" y="1043708"/>
                </a:lnTo>
                <a:lnTo>
                  <a:pt x="3958516" y="1039699"/>
                </a:lnTo>
                <a:lnTo>
                  <a:pt x="3974669" y="1028785"/>
                </a:lnTo>
                <a:lnTo>
                  <a:pt x="3985583" y="1012632"/>
                </a:lnTo>
                <a:lnTo>
                  <a:pt x="3989591" y="992908"/>
                </a:lnTo>
                <a:lnTo>
                  <a:pt x="3989591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70311" y="927596"/>
            <a:ext cx="0" cy="1157605"/>
          </a:xfrm>
          <a:custGeom>
            <a:avLst/>
            <a:gdLst/>
            <a:ahLst/>
            <a:cxnLst/>
            <a:rect l="l" t="t" r="r" b="b"/>
            <a:pathLst>
              <a:path h="1157605">
                <a:moveTo>
                  <a:pt x="0" y="1157591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70311" y="91489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70311" y="90219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70311" y="88949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70311" y="870446"/>
            <a:ext cx="0" cy="19050"/>
          </a:xfrm>
          <a:custGeom>
            <a:avLst/>
            <a:gdLst/>
            <a:ahLst/>
            <a:cxnLst/>
            <a:rect l="l" t="t" r="r" b="b"/>
            <a:pathLst>
              <a:path h="19050">
                <a:moveTo>
                  <a:pt x="0" y="19050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7474" y="440448"/>
            <a:ext cx="3270885" cy="1656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Example: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Parent-Child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1400" dirty="0">
              <a:latin typeface="Arial"/>
              <a:cs typeface="Arial"/>
            </a:endParaRPr>
          </a:p>
          <a:p>
            <a:pPr marL="213995">
              <a:spcBef>
                <a:spcPts val="1510"/>
              </a:spcBef>
            </a:pPr>
            <a:r>
              <a:rPr sz="1050" spc="-5" dirty="0">
                <a:solidFill>
                  <a:srgbClr val="FFFFFF"/>
                </a:solidFill>
                <a:latin typeface="Arial"/>
                <a:cs typeface="Arial"/>
              </a:rPr>
              <a:t>Output of the </a:t>
            </a:r>
            <a:r>
              <a:rPr sz="1050" spc="-10" dirty="0">
                <a:solidFill>
                  <a:srgbClr val="FFFFFF"/>
                </a:solidFill>
                <a:latin typeface="Arial"/>
                <a:cs typeface="Arial"/>
              </a:rPr>
              <a:t>previous</a:t>
            </a:r>
            <a:r>
              <a:rPr sz="10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endParaRPr sz="1050" dirty="0">
              <a:latin typeface="Arial"/>
              <a:cs typeface="Arial"/>
            </a:endParaRPr>
          </a:p>
          <a:p>
            <a:pPr marL="213995" marR="55880">
              <a:lnSpc>
                <a:spcPct val="102600"/>
              </a:lnSpc>
              <a:spcBef>
                <a:spcPts val="254"/>
              </a:spcBef>
            </a:pPr>
            <a:r>
              <a:rPr sz="1050" spc="-10" dirty="0">
                <a:latin typeface="Courier New"/>
                <a:cs typeface="Courier New"/>
              </a:rPr>
              <a:t>My child should wait until I am done  I have to wait for my</a:t>
            </a:r>
            <a:r>
              <a:rPr sz="1050" spc="170" dirty="0">
                <a:latin typeface="Courier New"/>
                <a:cs typeface="Courier New"/>
              </a:rPr>
              <a:t> </a:t>
            </a:r>
            <a:r>
              <a:rPr sz="1050" spc="-10" dirty="0">
                <a:latin typeface="Courier New"/>
                <a:cs typeface="Courier New"/>
              </a:rPr>
              <a:t>parent</a:t>
            </a:r>
            <a:endParaRPr sz="1050" dirty="0">
              <a:latin typeface="Courier New"/>
              <a:cs typeface="Courier New"/>
            </a:endParaRPr>
          </a:p>
          <a:p>
            <a:pPr marL="213995" marR="554355">
              <a:lnSpc>
                <a:spcPct val="102600"/>
              </a:lnSpc>
            </a:pPr>
            <a:r>
              <a:rPr sz="1050" spc="-10" dirty="0">
                <a:latin typeface="Courier New"/>
                <a:cs typeface="Courier New"/>
              </a:rPr>
              <a:t>Child, now you can do your job  Parent</a:t>
            </a:r>
            <a:r>
              <a:rPr sz="1050" spc="-20" dirty="0">
                <a:latin typeface="Courier New"/>
                <a:cs typeface="Courier New"/>
              </a:rPr>
              <a:t> </a:t>
            </a:r>
            <a:r>
              <a:rPr sz="1050" spc="-10" dirty="0">
                <a:latin typeface="Courier New"/>
                <a:cs typeface="Courier New"/>
              </a:rPr>
              <a:t>Exiting</a:t>
            </a:r>
            <a:endParaRPr sz="1050" dirty="0">
              <a:latin typeface="Courier New"/>
              <a:cs typeface="Courier New"/>
            </a:endParaRPr>
          </a:p>
          <a:p>
            <a:pPr marL="213995" marR="1136650">
              <a:lnSpc>
                <a:spcPct val="102600"/>
              </a:lnSpc>
            </a:pPr>
            <a:r>
              <a:rPr sz="1050" spc="-10" dirty="0">
                <a:latin typeface="Courier New"/>
                <a:cs typeface="Courier New"/>
              </a:rPr>
              <a:t>OK, now I can do my job  Child</a:t>
            </a:r>
            <a:r>
              <a:rPr sz="1050" spc="-25" dirty="0">
                <a:latin typeface="Courier New"/>
                <a:cs typeface="Courier New"/>
              </a:rPr>
              <a:t> </a:t>
            </a:r>
            <a:r>
              <a:rPr sz="1050" spc="-10" dirty="0">
                <a:latin typeface="Courier New"/>
                <a:cs typeface="Courier New"/>
              </a:rPr>
              <a:t>Exiting</a:t>
            </a:r>
            <a:endParaRPr sz="1050" dirty="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9527988-5659-4239-BE96-9682CAF754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12</a:t>
            </a:fld>
            <a:endParaRPr lang="en-CA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7473" y="440448"/>
            <a:ext cx="4462041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Example: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Parent-Child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II</a:t>
            </a:r>
            <a:r>
              <a:rPr lang="en-US" sz="1400" spc="5" dirty="0">
                <a:solidFill>
                  <a:srgbClr val="FFFFFF"/>
                </a:solidFill>
                <a:latin typeface="Arial"/>
                <a:cs typeface="Arial"/>
              </a:rPr>
              <a:t> (</a:t>
            </a:r>
            <a:r>
              <a:rPr lang="en-US" sz="1400" spc="5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pcs2.c</a:t>
            </a:r>
            <a:r>
              <a:rPr lang="en-US" sz="1400" spc="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8820" y="826803"/>
            <a:ext cx="1354455" cy="2389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50" spc="10" dirty="0">
                <a:latin typeface="Courier New"/>
                <a:cs typeface="Courier New"/>
              </a:rPr>
              <a:t>#include</a:t>
            </a:r>
            <a:r>
              <a:rPr sz="450" spc="-45" dirty="0">
                <a:latin typeface="Courier New"/>
                <a:cs typeface="Courier New"/>
              </a:rPr>
              <a:t> </a:t>
            </a:r>
            <a:r>
              <a:rPr sz="450" spc="10" dirty="0">
                <a:latin typeface="Courier New"/>
                <a:cs typeface="Courier New"/>
              </a:rPr>
              <a:t>&lt;stdio.h&gt;</a:t>
            </a:r>
            <a:endParaRPr sz="450" dirty="0"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450" spc="10" dirty="0">
                <a:latin typeface="Courier New"/>
                <a:cs typeface="Courier New"/>
              </a:rPr>
              <a:t>#include</a:t>
            </a:r>
            <a:r>
              <a:rPr sz="450" spc="-40" dirty="0">
                <a:latin typeface="Courier New"/>
                <a:cs typeface="Courier New"/>
              </a:rPr>
              <a:t> </a:t>
            </a:r>
            <a:r>
              <a:rPr sz="450" spc="10" dirty="0">
                <a:latin typeface="Courier New"/>
                <a:cs typeface="Courier New"/>
              </a:rPr>
              <a:t>&lt;stdlib.h&gt;</a:t>
            </a:r>
            <a:endParaRPr sz="450" dirty="0"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450" spc="10" dirty="0">
                <a:latin typeface="Courier New"/>
                <a:cs typeface="Courier New"/>
              </a:rPr>
              <a:t>#include</a:t>
            </a:r>
            <a:r>
              <a:rPr sz="450" spc="-40" dirty="0">
                <a:latin typeface="Courier New"/>
                <a:cs typeface="Courier New"/>
              </a:rPr>
              <a:t> </a:t>
            </a:r>
            <a:r>
              <a:rPr sz="450" spc="10" dirty="0">
                <a:latin typeface="Courier New"/>
                <a:cs typeface="Courier New"/>
              </a:rPr>
              <a:t>&lt;unistd.h&gt;</a:t>
            </a:r>
            <a:endParaRPr sz="450" dirty="0"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450" spc="10" dirty="0">
                <a:latin typeface="Courier New"/>
                <a:cs typeface="Courier New"/>
              </a:rPr>
              <a:t>#include</a:t>
            </a:r>
            <a:r>
              <a:rPr sz="450" spc="-40" dirty="0">
                <a:latin typeface="Courier New"/>
                <a:cs typeface="Courier New"/>
              </a:rPr>
              <a:t> </a:t>
            </a:r>
            <a:r>
              <a:rPr sz="450" spc="10" dirty="0">
                <a:latin typeface="Courier New"/>
                <a:cs typeface="Courier New"/>
              </a:rPr>
              <a:t>&lt;signal.h&gt;</a:t>
            </a:r>
            <a:endParaRPr sz="450" dirty="0">
              <a:latin typeface="Courier New"/>
              <a:cs typeface="Courier New"/>
            </a:endParaRPr>
          </a:p>
          <a:p>
            <a:pPr>
              <a:spcBef>
                <a:spcPts val="55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12700"/>
            <a:r>
              <a:rPr sz="450" spc="10" dirty="0">
                <a:latin typeface="Courier New"/>
                <a:cs typeface="Courier New"/>
              </a:rPr>
              <a:t>void</a:t>
            </a:r>
            <a:r>
              <a:rPr sz="450" spc="-50" dirty="0">
                <a:latin typeface="Courier New"/>
                <a:cs typeface="Courier New"/>
              </a:rPr>
              <a:t> </a:t>
            </a:r>
            <a:r>
              <a:rPr sz="450" spc="10" dirty="0">
                <a:latin typeface="Courier New"/>
                <a:cs typeface="Courier New"/>
              </a:rPr>
              <a:t>action(int);</a:t>
            </a:r>
            <a:endParaRPr sz="450" dirty="0">
              <a:latin typeface="Courier New"/>
              <a:cs typeface="Courier New"/>
            </a:endParaRPr>
          </a:p>
          <a:p>
            <a:pPr>
              <a:spcBef>
                <a:spcPts val="10"/>
              </a:spcBef>
            </a:pPr>
            <a:endParaRPr sz="500" dirty="0">
              <a:latin typeface="Times New Roman"/>
              <a:cs typeface="Times New Roman"/>
            </a:endParaRPr>
          </a:p>
          <a:p>
            <a:pPr marL="84455" marR="471805" indent="-72390">
              <a:lnSpc>
                <a:spcPct val="108400"/>
              </a:lnSpc>
            </a:pPr>
            <a:r>
              <a:rPr sz="450" spc="10" dirty="0">
                <a:latin typeface="Courier New"/>
                <a:cs typeface="Courier New"/>
              </a:rPr>
              <a:t>void action(int dummy){  sleep(1);  printf("Switching\n");</a:t>
            </a:r>
            <a:endParaRPr sz="450" dirty="0"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450" spc="10" dirty="0">
                <a:latin typeface="Courier New"/>
                <a:cs typeface="Courier New"/>
              </a:rPr>
              <a:t>}</a:t>
            </a:r>
            <a:endParaRPr sz="450" dirty="0">
              <a:latin typeface="Courier New"/>
              <a:cs typeface="Courier New"/>
            </a:endParaRPr>
          </a:p>
          <a:p>
            <a:pPr>
              <a:spcBef>
                <a:spcPts val="15"/>
              </a:spcBef>
            </a:pPr>
            <a:endParaRPr sz="650" dirty="0">
              <a:latin typeface="Times New Roman"/>
              <a:cs typeface="Times New Roman"/>
            </a:endParaRPr>
          </a:p>
          <a:p>
            <a:pPr marL="84455" marR="148590" indent="-72390">
              <a:lnSpc>
                <a:spcPts val="500"/>
              </a:lnSpc>
            </a:pPr>
            <a:r>
              <a:rPr sz="675" spc="15" baseline="12345" dirty="0">
                <a:latin typeface="Courier New"/>
                <a:cs typeface="Courier New"/>
              </a:rPr>
              <a:t>int main(int argc, char</a:t>
            </a:r>
            <a:r>
              <a:rPr sz="675" spc="-15" baseline="12345" dirty="0">
                <a:latin typeface="Courier New"/>
                <a:cs typeface="Courier New"/>
              </a:rPr>
              <a:t> </a:t>
            </a:r>
            <a:r>
              <a:rPr sz="450" spc="10" dirty="0">
                <a:latin typeface="Courier New"/>
                <a:cs typeface="Courier New"/>
              </a:rPr>
              <a:t>*</a:t>
            </a:r>
            <a:r>
              <a:rPr sz="675" spc="15" baseline="12345" dirty="0">
                <a:latin typeface="Courier New"/>
                <a:cs typeface="Courier New"/>
              </a:rPr>
              <a:t>argv[]){  </a:t>
            </a:r>
            <a:r>
              <a:rPr sz="450" spc="10" dirty="0">
                <a:latin typeface="Courier New"/>
                <a:cs typeface="Courier New"/>
              </a:rPr>
              <a:t>pid_t</a:t>
            </a:r>
            <a:r>
              <a:rPr sz="450" spc="-65" dirty="0">
                <a:latin typeface="Courier New"/>
                <a:cs typeface="Courier New"/>
              </a:rPr>
              <a:t> </a:t>
            </a:r>
            <a:r>
              <a:rPr sz="450" spc="10" dirty="0">
                <a:latin typeface="Courier New"/>
                <a:cs typeface="Courier New"/>
              </a:rPr>
              <a:t>pid;</a:t>
            </a:r>
            <a:endParaRPr sz="450" dirty="0">
              <a:latin typeface="Courier New"/>
              <a:cs typeface="Courier New"/>
            </a:endParaRPr>
          </a:p>
          <a:p>
            <a:pPr>
              <a:spcBef>
                <a:spcPts val="55"/>
              </a:spcBef>
            </a:pPr>
            <a:endParaRPr sz="450" dirty="0">
              <a:latin typeface="Times New Roman"/>
              <a:cs typeface="Times New Roman"/>
            </a:endParaRPr>
          </a:p>
          <a:p>
            <a:pPr marL="156210" marR="292100" indent="-72390">
              <a:lnSpc>
                <a:spcPct val="108400"/>
              </a:lnSpc>
            </a:pPr>
            <a:r>
              <a:rPr sz="450" spc="10" dirty="0">
                <a:latin typeface="Courier New"/>
                <a:cs typeface="Courier New"/>
              </a:rPr>
              <a:t>if((pid=fork())&gt;0){//parent  sleep(1);</a:t>
            </a:r>
            <a:endParaRPr sz="450" dirty="0">
              <a:latin typeface="Courier New"/>
              <a:cs typeface="Courier New"/>
            </a:endParaRPr>
          </a:p>
          <a:p>
            <a:pPr marR="710565" algn="ctr">
              <a:spcBef>
                <a:spcPts val="40"/>
              </a:spcBef>
            </a:pPr>
            <a:r>
              <a:rPr sz="450" spc="10" dirty="0">
                <a:latin typeface="Courier New"/>
                <a:cs typeface="Courier New"/>
              </a:rPr>
              <a:t>while(1){</a:t>
            </a:r>
            <a:endParaRPr sz="450" dirty="0">
              <a:latin typeface="Courier New"/>
              <a:cs typeface="Courier New"/>
            </a:endParaRPr>
          </a:p>
          <a:p>
            <a:pPr marL="227965" marR="40640">
              <a:lnSpc>
                <a:spcPct val="108400"/>
              </a:lnSpc>
            </a:pPr>
            <a:r>
              <a:rPr sz="450" spc="10" dirty="0">
                <a:latin typeface="Courier New"/>
                <a:cs typeface="Courier New"/>
              </a:rPr>
              <a:t>printf("Parent is</a:t>
            </a:r>
            <a:r>
              <a:rPr sz="450" spc="-15" dirty="0">
                <a:latin typeface="Courier New"/>
                <a:cs typeface="Courier New"/>
              </a:rPr>
              <a:t> </a:t>
            </a:r>
            <a:r>
              <a:rPr sz="450" spc="10" dirty="0">
                <a:latin typeface="Courier New"/>
                <a:cs typeface="Courier New"/>
              </a:rPr>
              <a:t>running\n");  kill(pid, SIGUSR1);  signal(SIGUSR1, action);  pause();</a:t>
            </a:r>
            <a:endParaRPr sz="450" dirty="0">
              <a:latin typeface="Courier New"/>
              <a:cs typeface="Courier New"/>
            </a:endParaRPr>
          </a:p>
          <a:p>
            <a:pPr marL="156210">
              <a:spcBef>
                <a:spcPts val="45"/>
              </a:spcBef>
            </a:pPr>
            <a:r>
              <a:rPr sz="450" spc="10" dirty="0">
                <a:latin typeface="Courier New"/>
                <a:cs typeface="Courier New"/>
              </a:rPr>
              <a:t>}</a:t>
            </a:r>
            <a:endParaRPr sz="450" dirty="0">
              <a:latin typeface="Courier New"/>
              <a:cs typeface="Courier New"/>
            </a:endParaRPr>
          </a:p>
          <a:p>
            <a:pPr marL="84455">
              <a:spcBef>
                <a:spcPts val="40"/>
              </a:spcBef>
            </a:pPr>
            <a:r>
              <a:rPr sz="450" spc="10" dirty="0">
                <a:latin typeface="Courier New"/>
                <a:cs typeface="Courier New"/>
              </a:rPr>
              <a:t>}</a:t>
            </a:r>
            <a:endParaRPr sz="450" dirty="0">
              <a:latin typeface="Courier New"/>
              <a:cs typeface="Courier New"/>
            </a:endParaRPr>
          </a:p>
          <a:p>
            <a:pPr marL="84455">
              <a:spcBef>
                <a:spcPts val="40"/>
              </a:spcBef>
            </a:pPr>
            <a:r>
              <a:rPr sz="450" spc="10" dirty="0">
                <a:latin typeface="Courier New"/>
                <a:cs typeface="Courier New"/>
              </a:rPr>
              <a:t>else</a:t>
            </a:r>
            <a:endParaRPr sz="450" dirty="0">
              <a:latin typeface="Courier New"/>
              <a:cs typeface="Courier New"/>
            </a:endParaRPr>
          </a:p>
          <a:p>
            <a:pPr marL="299720" marR="184150" indent="-72390">
              <a:lnSpc>
                <a:spcPct val="108400"/>
              </a:lnSpc>
            </a:pPr>
            <a:r>
              <a:rPr sz="450" spc="10" dirty="0">
                <a:latin typeface="Courier New"/>
                <a:cs typeface="Courier New"/>
              </a:rPr>
              <a:t>while(1){//child  signal(SIGUSR1,</a:t>
            </a:r>
            <a:r>
              <a:rPr sz="450" spc="-25" dirty="0">
                <a:latin typeface="Courier New"/>
                <a:cs typeface="Courier New"/>
              </a:rPr>
              <a:t> </a:t>
            </a:r>
            <a:r>
              <a:rPr sz="450" spc="10" dirty="0">
                <a:latin typeface="Courier New"/>
                <a:cs typeface="Courier New"/>
              </a:rPr>
              <a:t>action);  pause();</a:t>
            </a:r>
            <a:endParaRPr sz="450" dirty="0">
              <a:latin typeface="Courier New"/>
              <a:cs typeface="Courier New"/>
            </a:endParaRPr>
          </a:p>
          <a:p>
            <a:pPr marL="299720" marR="5080">
              <a:lnSpc>
                <a:spcPct val="108400"/>
              </a:lnSpc>
            </a:pPr>
            <a:r>
              <a:rPr sz="450" spc="10" dirty="0">
                <a:latin typeface="Courier New"/>
                <a:cs typeface="Courier New"/>
              </a:rPr>
              <a:t>printf("Child is</a:t>
            </a:r>
            <a:r>
              <a:rPr sz="450" spc="-15" dirty="0">
                <a:latin typeface="Courier New"/>
                <a:cs typeface="Courier New"/>
              </a:rPr>
              <a:t> </a:t>
            </a:r>
            <a:r>
              <a:rPr sz="450" spc="10" dirty="0">
                <a:latin typeface="Courier New"/>
                <a:cs typeface="Courier New"/>
              </a:rPr>
              <a:t>running\n");  kill(getppid(),</a:t>
            </a:r>
            <a:r>
              <a:rPr sz="450" spc="-25" dirty="0">
                <a:latin typeface="Courier New"/>
                <a:cs typeface="Courier New"/>
              </a:rPr>
              <a:t> </a:t>
            </a:r>
            <a:r>
              <a:rPr sz="450" spc="10" dirty="0">
                <a:latin typeface="Courier New"/>
                <a:cs typeface="Courier New"/>
              </a:rPr>
              <a:t>SIGUSR1);</a:t>
            </a:r>
            <a:endParaRPr sz="450" dirty="0">
              <a:latin typeface="Courier New"/>
              <a:cs typeface="Courier New"/>
            </a:endParaRPr>
          </a:p>
          <a:p>
            <a:pPr marL="227965">
              <a:spcBef>
                <a:spcPts val="40"/>
              </a:spcBef>
            </a:pPr>
            <a:r>
              <a:rPr sz="450" spc="10" dirty="0">
                <a:latin typeface="Courier New"/>
                <a:cs typeface="Courier New"/>
              </a:rPr>
              <a:t>}</a:t>
            </a:r>
            <a:endParaRPr sz="450" dirty="0">
              <a:latin typeface="Courier New"/>
              <a:cs typeface="Courier New"/>
            </a:endParaRPr>
          </a:p>
          <a:p>
            <a:pPr marL="12700">
              <a:spcBef>
                <a:spcPts val="40"/>
              </a:spcBef>
            </a:pPr>
            <a:r>
              <a:rPr sz="450" spc="10" dirty="0">
                <a:latin typeface="Courier New"/>
                <a:cs typeface="Courier New"/>
              </a:rPr>
              <a:t>}</a:t>
            </a:r>
            <a:endParaRPr sz="45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712D718-4930-4D44-8087-2727E19DAB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13</a:t>
            </a:fld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29F259-AD0A-4944-8A07-46ADBE567849}"/>
              </a:ext>
            </a:extLst>
          </p:cNvPr>
          <p:cNvSpPr txBox="1"/>
          <p:nvPr/>
        </p:nvSpPr>
        <p:spPr>
          <a:xfrm>
            <a:off x="3305175" y="1425576"/>
            <a:ext cx="16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SIGUSR1</a:t>
            </a:r>
          </a:p>
          <a:p>
            <a:r>
              <a:rPr lang="en-CA" sz="1200" dirty="0"/>
              <a:t>SIGUSR2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80719" y="845261"/>
            <a:ext cx="3989704" cy="196850"/>
          </a:xfrm>
          <a:custGeom>
            <a:avLst/>
            <a:gdLst/>
            <a:ahLst/>
            <a:cxnLst/>
            <a:rect l="l" t="t" r="r" b="b"/>
            <a:pathLst>
              <a:path w="3989704" h="196850">
                <a:moveTo>
                  <a:pt x="50799" y="0"/>
                </a:moveTo>
                <a:lnTo>
                  <a:pt x="31074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799"/>
                </a:lnTo>
                <a:lnTo>
                  <a:pt x="0" y="196338"/>
                </a:lnTo>
                <a:lnTo>
                  <a:pt x="3989591" y="196338"/>
                </a:lnTo>
                <a:lnTo>
                  <a:pt x="3989591" y="50799"/>
                </a:lnTo>
                <a:lnTo>
                  <a:pt x="3974668" y="14922"/>
                </a:lnTo>
                <a:lnTo>
                  <a:pt x="3938791" y="0"/>
                </a:lnTo>
                <a:lnTo>
                  <a:pt x="5079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0720" y="1028942"/>
            <a:ext cx="398959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31518" y="3078568"/>
            <a:ext cx="101600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06812" y="3065870"/>
            <a:ext cx="114299" cy="1142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82319" y="3116670"/>
            <a:ext cx="3837191" cy="634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70312" y="889500"/>
            <a:ext cx="50799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70312" y="940300"/>
            <a:ext cx="50799" cy="213826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80719" y="1073234"/>
            <a:ext cx="3989704" cy="2056130"/>
          </a:xfrm>
          <a:custGeom>
            <a:avLst/>
            <a:gdLst/>
            <a:ahLst/>
            <a:cxnLst/>
            <a:rect l="l" t="t" r="r" b="b"/>
            <a:pathLst>
              <a:path w="3989704" h="2056130">
                <a:moveTo>
                  <a:pt x="3989591" y="0"/>
                </a:moveTo>
                <a:lnTo>
                  <a:pt x="0" y="0"/>
                </a:lnTo>
                <a:lnTo>
                  <a:pt x="0" y="2005335"/>
                </a:lnTo>
                <a:lnTo>
                  <a:pt x="4008" y="2025059"/>
                </a:lnTo>
                <a:lnTo>
                  <a:pt x="14922" y="2041212"/>
                </a:lnTo>
                <a:lnTo>
                  <a:pt x="31075" y="2052126"/>
                </a:lnTo>
                <a:lnTo>
                  <a:pt x="50799" y="2056134"/>
                </a:lnTo>
                <a:lnTo>
                  <a:pt x="3938791" y="2056134"/>
                </a:lnTo>
                <a:lnTo>
                  <a:pt x="3958516" y="2052126"/>
                </a:lnTo>
                <a:lnTo>
                  <a:pt x="3974669" y="2041212"/>
                </a:lnTo>
                <a:lnTo>
                  <a:pt x="3985583" y="2025059"/>
                </a:lnTo>
                <a:lnTo>
                  <a:pt x="3989591" y="2005335"/>
                </a:lnTo>
                <a:lnTo>
                  <a:pt x="3989591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70311" y="927600"/>
            <a:ext cx="0" cy="2170430"/>
          </a:xfrm>
          <a:custGeom>
            <a:avLst/>
            <a:gdLst/>
            <a:ahLst/>
            <a:cxnLst/>
            <a:rect l="l" t="t" r="r" b="b"/>
            <a:pathLst>
              <a:path h="2170430">
                <a:moveTo>
                  <a:pt x="0" y="2170017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70311" y="91490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70311" y="90220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70311" y="88950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70311" y="870451"/>
            <a:ext cx="0" cy="19050"/>
          </a:xfrm>
          <a:custGeom>
            <a:avLst/>
            <a:gdLst/>
            <a:ahLst/>
            <a:cxnLst/>
            <a:rect l="l" t="t" r="r" b="b"/>
            <a:pathLst>
              <a:path h="19050">
                <a:moveTo>
                  <a:pt x="0" y="19049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7473" y="440449"/>
            <a:ext cx="3321050" cy="2579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Example: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Parent-Child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II</a:t>
            </a:r>
            <a:endParaRPr sz="1400">
              <a:latin typeface="Arial"/>
              <a:cs typeface="Arial"/>
            </a:endParaRPr>
          </a:p>
          <a:p>
            <a:pPr marL="213995" marR="1188720">
              <a:lnSpc>
                <a:spcPct val="112400"/>
              </a:lnSpc>
              <a:spcBef>
                <a:spcPts val="1345"/>
              </a:spcBef>
            </a:pPr>
            <a:r>
              <a:rPr sz="1050" spc="-5" dirty="0">
                <a:solidFill>
                  <a:srgbClr val="FFFFFF"/>
                </a:solidFill>
                <a:latin typeface="Arial"/>
                <a:cs typeface="Arial"/>
              </a:rPr>
              <a:t>Output of the </a:t>
            </a:r>
            <a:r>
              <a:rPr sz="1050" spc="-10" dirty="0">
                <a:solidFill>
                  <a:srgbClr val="FFFFFF"/>
                </a:solidFill>
                <a:latin typeface="Arial"/>
                <a:cs typeface="Arial"/>
              </a:rPr>
              <a:t>previous program  </a:t>
            </a:r>
            <a:r>
              <a:rPr sz="1050" spc="-10" dirty="0">
                <a:latin typeface="Courier New"/>
                <a:cs typeface="Courier New"/>
              </a:rPr>
              <a:t>Parent is running  Switching</a:t>
            </a:r>
            <a:endParaRPr sz="1050">
              <a:latin typeface="Courier New"/>
              <a:cs typeface="Courier New"/>
            </a:endParaRPr>
          </a:p>
          <a:p>
            <a:pPr marL="213995" marR="1769110">
              <a:lnSpc>
                <a:spcPct val="102600"/>
              </a:lnSpc>
            </a:pPr>
            <a:r>
              <a:rPr sz="1050" spc="-10" dirty="0">
                <a:latin typeface="Courier New"/>
                <a:cs typeface="Courier New"/>
              </a:rPr>
              <a:t>Child is running  Switching</a:t>
            </a:r>
            <a:endParaRPr sz="1050">
              <a:latin typeface="Courier New"/>
              <a:cs typeface="Courier New"/>
            </a:endParaRPr>
          </a:p>
          <a:p>
            <a:pPr marL="213995" marR="1685925">
              <a:lnSpc>
                <a:spcPct val="102600"/>
              </a:lnSpc>
            </a:pPr>
            <a:r>
              <a:rPr sz="1050" spc="-10" dirty="0">
                <a:latin typeface="Courier New"/>
                <a:cs typeface="Courier New"/>
              </a:rPr>
              <a:t>Parent is running  Switching</a:t>
            </a:r>
            <a:endParaRPr sz="1050">
              <a:latin typeface="Courier New"/>
              <a:cs typeface="Courier New"/>
            </a:endParaRPr>
          </a:p>
          <a:p>
            <a:pPr marL="213995" marR="1769110">
              <a:lnSpc>
                <a:spcPct val="102699"/>
              </a:lnSpc>
            </a:pPr>
            <a:r>
              <a:rPr sz="1050" spc="-10" dirty="0">
                <a:latin typeface="Courier New"/>
                <a:cs typeface="Courier New"/>
              </a:rPr>
              <a:t>Child is running  Switching</a:t>
            </a:r>
            <a:endParaRPr sz="1050">
              <a:latin typeface="Courier New"/>
              <a:cs typeface="Courier New"/>
            </a:endParaRPr>
          </a:p>
          <a:p>
            <a:pPr marL="213995" marR="1685925">
              <a:lnSpc>
                <a:spcPct val="102600"/>
              </a:lnSpc>
              <a:spcBef>
                <a:spcPts val="5"/>
              </a:spcBef>
            </a:pPr>
            <a:r>
              <a:rPr sz="1050" spc="-10" dirty="0">
                <a:latin typeface="Courier New"/>
                <a:cs typeface="Courier New"/>
              </a:rPr>
              <a:t>Parent is running  Switching</a:t>
            </a:r>
            <a:endParaRPr sz="1050">
              <a:latin typeface="Courier New"/>
              <a:cs typeface="Courier New"/>
            </a:endParaRPr>
          </a:p>
          <a:p>
            <a:pPr marL="213995">
              <a:spcBef>
                <a:spcPts val="35"/>
              </a:spcBef>
            </a:pPr>
            <a:r>
              <a:rPr sz="1050" spc="-10" dirty="0">
                <a:latin typeface="Courier New"/>
                <a:cs typeface="Courier New"/>
              </a:rPr>
              <a:t>Child is</a:t>
            </a:r>
            <a:r>
              <a:rPr sz="1050" spc="15" dirty="0">
                <a:latin typeface="Courier New"/>
                <a:cs typeface="Courier New"/>
              </a:rPr>
              <a:t> </a:t>
            </a:r>
            <a:r>
              <a:rPr sz="1050" spc="-10" dirty="0">
                <a:latin typeface="Courier New"/>
                <a:cs typeface="Courier New"/>
              </a:rPr>
              <a:t>running</a:t>
            </a:r>
            <a:endParaRPr sz="1050">
              <a:latin typeface="Courier New"/>
              <a:cs typeface="Courier New"/>
            </a:endParaRPr>
          </a:p>
          <a:p>
            <a:pPr marL="213995">
              <a:spcBef>
                <a:spcPts val="35"/>
              </a:spcBef>
            </a:pPr>
            <a:r>
              <a:rPr sz="1050" spc="-10" dirty="0">
                <a:latin typeface="Courier New"/>
                <a:cs typeface="Courier New"/>
              </a:rPr>
              <a:t>...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A4B36935-8C77-464A-96C2-817C99C44D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14</a:t>
            </a:fld>
            <a:endParaRPr lang="en-CA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7473" y="440448"/>
            <a:ext cx="411685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Example: </a:t>
            </a:r>
            <a:r>
              <a:rPr lang="en-CA" sz="1400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non-blocking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Courier New"/>
                <a:cs typeface="Courier New"/>
              </a:rPr>
              <a:t>wait()</a:t>
            </a:r>
            <a:r>
              <a:rPr lang="en-US" sz="1400" spc="20" dirty="0">
                <a:solidFill>
                  <a:srgbClr val="FFFFFF"/>
                </a:solidFill>
                <a:cs typeface="Courier New"/>
              </a:rPr>
              <a:t> </a:t>
            </a:r>
            <a:r>
              <a:rPr lang="en-US" sz="1400" spc="20" dirty="0">
                <a:solidFill>
                  <a:srgbClr val="FFFFFF"/>
                </a:solidFill>
                <a:latin typeface="Courier New"/>
                <a:cs typeface="Courier New"/>
              </a:rPr>
              <a:t>(</a:t>
            </a:r>
            <a:r>
              <a:rPr lang="en-US" sz="1400" spc="20" dirty="0" err="1">
                <a:solidFill>
                  <a:srgbClr val="FFFFFF"/>
                </a:solidFill>
                <a:latin typeface="Courier New"/>
                <a:cs typeface="Courier New"/>
              </a:rPr>
              <a:t>nbwait.c</a:t>
            </a:r>
            <a:r>
              <a:rPr lang="en-US" sz="1400" spc="20" dirty="0">
                <a:solidFill>
                  <a:srgbClr val="FFFFFF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8819" y="838378"/>
            <a:ext cx="2052002" cy="2440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550" dirty="0">
                <a:latin typeface="Courier New"/>
                <a:cs typeface="Courier New"/>
              </a:rPr>
              <a:t>#include</a:t>
            </a:r>
            <a:r>
              <a:rPr sz="550" spc="-70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&lt;stdio.h&gt;</a:t>
            </a:r>
          </a:p>
          <a:p>
            <a:pPr marL="12700">
              <a:spcBef>
                <a:spcPts val="25"/>
              </a:spcBef>
            </a:pPr>
            <a:r>
              <a:rPr sz="550" dirty="0">
                <a:latin typeface="Courier New"/>
                <a:cs typeface="Courier New"/>
              </a:rPr>
              <a:t>#include</a:t>
            </a:r>
            <a:r>
              <a:rPr sz="550" spc="-70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&lt;stdlib.h&gt;</a:t>
            </a:r>
          </a:p>
          <a:p>
            <a:pPr marL="12700">
              <a:spcBef>
                <a:spcPts val="25"/>
              </a:spcBef>
            </a:pPr>
            <a:r>
              <a:rPr sz="550" dirty="0">
                <a:latin typeface="Courier New"/>
                <a:cs typeface="Courier New"/>
              </a:rPr>
              <a:t>#include</a:t>
            </a:r>
            <a:r>
              <a:rPr sz="550" spc="-70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&lt;unistd.h&gt;</a:t>
            </a:r>
          </a:p>
          <a:p>
            <a:pPr marL="12700">
              <a:spcBef>
                <a:spcPts val="25"/>
              </a:spcBef>
            </a:pPr>
            <a:r>
              <a:rPr sz="550" dirty="0">
                <a:latin typeface="Courier New"/>
                <a:cs typeface="Courier New"/>
              </a:rPr>
              <a:t>#include</a:t>
            </a:r>
            <a:r>
              <a:rPr sz="550" spc="-70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&lt;signal.h&gt;</a:t>
            </a:r>
          </a:p>
          <a:p>
            <a:pPr marL="12700">
              <a:spcBef>
                <a:spcPts val="25"/>
              </a:spcBef>
            </a:pPr>
            <a:r>
              <a:rPr sz="550" dirty="0">
                <a:latin typeface="Courier New"/>
                <a:cs typeface="Courier New"/>
              </a:rPr>
              <a:t>#include</a:t>
            </a:r>
            <a:r>
              <a:rPr sz="550" spc="-65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&lt;sys/wait.h&gt;</a:t>
            </a:r>
          </a:p>
          <a:p>
            <a:pPr>
              <a:spcBef>
                <a:spcPts val="50"/>
              </a:spcBef>
            </a:pPr>
            <a:endParaRPr sz="550" dirty="0">
              <a:latin typeface="Times New Roman"/>
              <a:cs typeface="Times New Roman"/>
            </a:endParaRPr>
          </a:p>
          <a:p>
            <a:pPr marL="96520" marR="763270" indent="-84455">
              <a:lnSpc>
                <a:spcPct val="104099"/>
              </a:lnSpc>
              <a:spcBef>
                <a:spcPts val="5"/>
              </a:spcBef>
            </a:pPr>
            <a:r>
              <a:rPr sz="550" dirty="0">
                <a:latin typeface="Courier New"/>
                <a:cs typeface="Courier New"/>
              </a:rPr>
              <a:t>void childDeath(int</a:t>
            </a:r>
            <a:r>
              <a:rPr sz="550" spc="-55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dummy){  pid_t</a:t>
            </a:r>
            <a:r>
              <a:rPr sz="550" spc="-85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pid;</a:t>
            </a:r>
          </a:p>
          <a:p>
            <a:pPr marL="96520">
              <a:spcBef>
                <a:spcPts val="25"/>
              </a:spcBef>
            </a:pPr>
            <a:r>
              <a:rPr sz="550" dirty="0">
                <a:latin typeface="Courier New"/>
                <a:cs typeface="Courier New"/>
              </a:rPr>
              <a:t>int</a:t>
            </a:r>
            <a:r>
              <a:rPr sz="550" spc="-85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status;</a:t>
            </a:r>
          </a:p>
          <a:p>
            <a:pPr>
              <a:spcBef>
                <a:spcPts val="20"/>
              </a:spcBef>
            </a:pPr>
            <a:endParaRPr sz="600" dirty="0">
              <a:latin typeface="Times New Roman"/>
              <a:cs typeface="Times New Roman"/>
            </a:endParaRPr>
          </a:p>
          <a:p>
            <a:pPr marL="96520"/>
            <a:r>
              <a:rPr sz="550" dirty="0">
                <a:latin typeface="Courier New"/>
                <a:cs typeface="Courier New"/>
              </a:rPr>
              <a:t>pid =</a:t>
            </a:r>
            <a:r>
              <a:rPr sz="550" spc="-70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wait(&amp;status);</a:t>
            </a:r>
          </a:p>
          <a:p>
            <a:pPr marL="96520">
              <a:spcBef>
                <a:spcPts val="25"/>
              </a:spcBef>
            </a:pPr>
            <a:r>
              <a:rPr sz="550" dirty="0">
                <a:latin typeface="Courier New"/>
                <a:cs typeface="Courier New"/>
              </a:rPr>
              <a:t>printf("Child %d has terminated\n",</a:t>
            </a:r>
            <a:r>
              <a:rPr sz="550" spc="-35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pid);</a:t>
            </a:r>
          </a:p>
          <a:p>
            <a:pPr marL="12700">
              <a:spcBef>
                <a:spcPts val="25"/>
              </a:spcBef>
            </a:pPr>
            <a:r>
              <a:rPr sz="550" dirty="0">
                <a:latin typeface="Courier New"/>
                <a:cs typeface="Courier New"/>
              </a:rPr>
              <a:t>}</a:t>
            </a:r>
          </a:p>
          <a:p>
            <a:pPr>
              <a:spcBef>
                <a:spcPts val="20"/>
              </a:spcBef>
            </a:pPr>
            <a:endParaRPr sz="750" dirty="0">
              <a:latin typeface="Times New Roman"/>
              <a:cs typeface="Times New Roman"/>
            </a:endParaRPr>
          </a:p>
          <a:p>
            <a:pPr marL="96520" marR="510540" indent="-84455">
              <a:lnSpc>
                <a:spcPts val="590"/>
              </a:lnSpc>
              <a:spcBef>
                <a:spcPts val="5"/>
              </a:spcBef>
            </a:pPr>
            <a:r>
              <a:rPr sz="825" baseline="10101" dirty="0">
                <a:latin typeface="Courier New"/>
                <a:cs typeface="Courier New"/>
              </a:rPr>
              <a:t>int main(int argc, char</a:t>
            </a:r>
            <a:r>
              <a:rPr sz="825" spc="-75" baseline="10101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*</a:t>
            </a:r>
            <a:r>
              <a:rPr sz="825" baseline="10101" dirty="0">
                <a:latin typeface="Courier New"/>
                <a:cs typeface="Courier New"/>
              </a:rPr>
              <a:t>argv[]){  </a:t>
            </a:r>
            <a:r>
              <a:rPr sz="550" dirty="0">
                <a:latin typeface="Courier New"/>
                <a:cs typeface="Courier New"/>
              </a:rPr>
              <a:t>pid_t</a:t>
            </a:r>
            <a:r>
              <a:rPr sz="550" spc="-85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pid;</a:t>
            </a:r>
          </a:p>
          <a:p>
            <a:pPr>
              <a:spcBef>
                <a:spcPts val="15"/>
              </a:spcBef>
            </a:pPr>
            <a:endParaRPr sz="600" dirty="0">
              <a:latin typeface="Times New Roman"/>
              <a:cs typeface="Times New Roman"/>
            </a:endParaRPr>
          </a:p>
          <a:p>
            <a:pPr marL="96520"/>
            <a:r>
              <a:rPr sz="550" dirty="0">
                <a:latin typeface="Courier New"/>
                <a:cs typeface="Courier New"/>
              </a:rPr>
              <a:t>while(1){</a:t>
            </a:r>
          </a:p>
          <a:p>
            <a:pPr marL="180975" marR="552450">
              <a:lnSpc>
                <a:spcPct val="104099"/>
              </a:lnSpc>
            </a:pPr>
            <a:r>
              <a:rPr sz="550" dirty="0">
                <a:latin typeface="Courier New"/>
                <a:cs typeface="Courier New"/>
              </a:rPr>
              <a:t>signal(SIGCHLD,</a:t>
            </a:r>
            <a:r>
              <a:rPr sz="550" spc="-50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childDeath);  if((pid=fork())==0){</a:t>
            </a:r>
          </a:p>
          <a:p>
            <a:pPr marL="265430" marR="847725">
              <a:lnSpc>
                <a:spcPct val="104099"/>
              </a:lnSpc>
            </a:pPr>
            <a:r>
              <a:rPr sz="550" dirty="0">
                <a:latin typeface="Courier New"/>
                <a:cs typeface="Courier New"/>
              </a:rPr>
              <a:t>sleep(random()%20);  exit(0);</a:t>
            </a:r>
          </a:p>
          <a:p>
            <a:pPr marL="180975">
              <a:spcBef>
                <a:spcPts val="25"/>
              </a:spcBef>
            </a:pPr>
            <a:r>
              <a:rPr sz="550" dirty="0">
                <a:latin typeface="Courier New"/>
                <a:cs typeface="Courier New"/>
              </a:rPr>
              <a:t>}</a:t>
            </a:r>
            <a:endParaRPr lang="en-US" sz="550" dirty="0">
              <a:latin typeface="Courier New"/>
              <a:cs typeface="Courier New"/>
            </a:endParaRPr>
          </a:p>
          <a:p>
            <a:pPr marL="180975" marR="5080">
              <a:lnSpc>
                <a:spcPct val="104099"/>
              </a:lnSpc>
            </a:pPr>
            <a:r>
              <a:rPr sz="550" dirty="0" err="1">
                <a:latin typeface="Courier New"/>
                <a:cs typeface="Courier New"/>
              </a:rPr>
              <a:t>printf</a:t>
            </a:r>
            <a:r>
              <a:rPr sz="550" dirty="0">
                <a:latin typeface="Courier New"/>
                <a:cs typeface="Courier New"/>
              </a:rPr>
              <a:t>("Created a child, pid=%d\n",</a:t>
            </a:r>
            <a:r>
              <a:rPr sz="550" spc="-35" dirty="0">
                <a:latin typeface="Courier New"/>
                <a:cs typeface="Courier New"/>
              </a:rPr>
              <a:t> </a:t>
            </a:r>
            <a:r>
              <a:rPr sz="550" dirty="0">
                <a:latin typeface="Courier New"/>
                <a:cs typeface="Courier New"/>
              </a:rPr>
              <a:t>pid);  sleep(2);</a:t>
            </a:r>
          </a:p>
          <a:p>
            <a:pPr marL="96520">
              <a:spcBef>
                <a:spcPts val="25"/>
              </a:spcBef>
            </a:pPr>
            <a:r>
              <a:rPr sz="550" dirty="0">
                <a:latin typeface="Courier New"/>
                <a:cs typeface="Courier New"/>
              </a:rPr>
              <a:t>}</a:t>
            </a:r>
          </a:p>
          <a:p>
            <a:pPr marL="12700">
              <a:spcBef>
                <a:spcPts val="25"/>
              </a:spcBef>
            </a:pPr>
            <a:r>
              <a:rPr sz="550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9" name="object 9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44770CA-4430-441B-841F-2D2C6AF1A7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15</a:t>
            </a:fld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03934C-2ADB-424D-9401-24FFD1AF2624}"/>
              </a:ext>
            </a:extLst>
          </p:cNvPr>
          <p:cNvSpPr txBox="1"/>
          <p:nvPr/>
        </p:nvSpPr>
        <p:spPr>
          <a:xfrm>
            <a:off x="3457575" y="1425576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SIGCHLD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D0B8-96C5-E667-0CBE-EBF6B7539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7DDF-BBB4-A7FC-1689-1B3E01F2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17" dirty="0">
                <a:solidFill>
                  <a:srgbClr val="0070C0"/>
                </a:solidFill>
              </a:rPr>
              <a:t>Part IV</a:t>
            </a:r>
            <a:br>
              <a:rPr lang="en-US" sz="1817" dirty="0">
                <a:solidFill>
                  <a:srgbClr val="0070C0"/>
                </a:solidFill>
              </a:rPr>
            </a:br>
            <a:r>
              <a:rPr lang="en-US" sz="1817" dirty="0">
                <a:solidFill>
                  <a:srgbClr val="0070C0"/>
                </a:solidFill>
                <a:cs typeface="Courier New" panose="02070309020205020404" pitchFamily="49" charset="0"/>
              </a:rPr>
              <a:t>Process Groups and Control Terminal</a:t>
            </a:r>
            <a:endParaRPr lang="en-US" sz="1817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F4DFF-77AB-B578-64D3-67E6E5711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64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70822" y="106065"/>
            <a:ext cx="882015" cy="192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7700"/>
              </a:lnSpc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 groups:</a:t>
            </a: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review  </a:t>
            </a: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Control</a:t>
            </a:r>
            <a:r>
              <a:rPr sz="600" b="1" spc="-70" dirty="0">
                <a:solidFill>
                  <a:srgbClr val="9898D8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0719" y="845262"/>
            <a:ext cx="3989704" cy="194945"/>
          </a:xfrm>
          <a:custGeom>
            <a:avLst/>
            <a:gdLst/>
            <a:ahLst/>
            <a:cxnLst/>
            <a:rect l="l" t="t" r="r" b="b"/>
            <a:pathLst>
              <a:path w="3989704" h="194944">
                <a:moveTo>
                  <a:pt x="50799" y="0"/>
                </a:moveTo>
                <a:lnTo>
                  <a:pt x="31074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799"/>
                </a:lnTo>
                <a:lnTo>
                  <a:pt x="0" y="194328"/>
                </a:lnTo>
                <a:lnTo>
                  <a:pt x="3989591" y="194328"/>
                </a:lnTo>
                <a:lnTo>
                  <a:pt x="3989591" y="50799"/>
                </a:lnTo>
                <a:lnTo>
                  <a:pt x="3974668" y="14922"/>
                </a:lnTo>
                <a:lnTo>
                  <a:pt x="3938791" y="0"/>
                </a:lnTo>
                <a:lnTo>
                  <a:pt x="5079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80720" y="1026935"/>
            <a:ext cx="398959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31518" y="2436126"/>
            <a:ext cx="101600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06812" y="2423428"/>
            <a:ext cx="114299" cy="1142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82319" y="2474227"/>
            <a:ext cx="3837191" cy="634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70312" y="889503"/>
            <a:ext cx="50799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70312" y="940304"/>
            <a:ext cx="50799" cy="14958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80719" y="1071226"/>
            <a:ext cx="3989704" cy="1952858"/>
          </a:xfrm>
          <a:custGeom>
            <a:avLst/>
            <a:gdLst/>
            <a:ahLst/>
            <a:cxnLst/>
            <a:rect l="l" t="t" r="r" b="b"/>
            <a:pathLst>
              <a:path w="3989704" h="1416050">
                <a:moveTo>
                  <a:pt x="3989591" y="0"/>
                </a:moveTo>
                <a:lnTo>
                  <a:pt x="0" y="0"/>
                </a:lnTo>
                <a:lnTo>
                  <a:pt x="0" y="1364900"/>
                </a:lnTo>
                <a:lnTo>
                  <a:pt x="4008" y="1384624"/>
                </a:lnTo>
                <a:lnTo>
                  <a:pt x="14922" y="1400777"/>
                </a:lnTo>
                <a:lnTo>
                  <a:pt x="31075" y="1411691"/>
                </a:lnTo>
                <a:lnTo>
                  <a:pt x="50799" y="1415700"/>
                </a:lnTo>
                <a:lnTo>
                  <a:pt x="3938791" y="1415699"/>
                </a:lnTo>
                <a:lnTo>
                  <a:pt x="3958516" y="1411691"/>
                </a:lnTo>
                <a:lnTo>
                  <a:pt x="3974669" y="1400777"/>
                </a:lnTo>
                <a:lnTo>
                  <a:pt x="3985583" y="1384624"/>
                </a:lnTo>
                <a:lnTo>
                  <a:pt x="3989591" y="1364900"/>
                </a:lnTo>
                <a:lnTo>
                  <a:pt x="3989591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70311" y="927603"/>
            <a:ext cx="0" cy="1527810"/>
          </a:xfrm>
          <a:custGeom>
            <a:avLst/>
            <a:gdLst/>
            <a:ahLst/>
            <a:cxnLst/>
            <a:rect l="l" t="t" r="r" b="b"/>
            <a:pathLst>
              <a:path h="1527810">
                <a:moveTo>
                  <a:pt x="0" y="1527573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70311" y="91490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70311" y="90220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70311" y="88950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70311" y="870454"/>
            <a:ext cx="0" cy="19050"/>
          </a:xfrm>
          <a:custGeom>
            <a:avLst/>
            <a:gdLst/>
            <a:ahLst/>
            <a:cxnLst/>
            <a:rect l="l" t="t" r="r" b="b"/>
            <a:pathLst>
              <a:path h="19050">
                <a:moveTo>
                  <a:pt x="0" y="19049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62533" y="1328421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62533" y="1500493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62533" y="1672578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62533" y="2016723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79006" y="847702"/>
            <a:ext cx="4040504" cy="18698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112010" algn="ctr" defTabSz="896938"/>
            <a:r>
              <a:rPr lang="en-US" sz="1050" dirty="0">
                <a:solidFill>
                  <a:schemeClr val="bg1"/>
                </a:solidFill>
                <a:latin typeface="Arial"/>
                <a:cs typeface="Arial"/>
              </a:rPr>
              <a:t>Process Groups: Review</a:t>
            </a:r>
          </a:p>
          <a:p>
            <a:pPr marL="213995">
              <a:spcBef>
                <a:spcPts val="365"/>
              </a:spcBef>
            </a:pPr>
            <a:endParaRPr lang="en-CA" sz="1050" spc="-5" dirty="0">
              <a:latin typeface="Arial"/>
              <a:cs typeface="Arial"/>
            </a:endParaRPr>
          </a:p>
          <a:p>
            <a:pPr marL="213995">
              <a:spcBef>
                <a:spcPts val="365"/>
              </a:spcBef>
            </a:pPr>
            <a:r>
              <a:rPr sz="1050" spc="-5" dirty="0">
                <a:latin typeface="Arial"/>
                <a:cs typeface="Arial"/>
              </a:rPr>
              <a:t>Unix </a:t>
            </a:r>
            <a:r>
              <a:rPr sz="1050" spc="-10" dirty="0">
                <a:latin typeface="Arial"/>
                <a:cs typeface="Arial"/>
              </a:rPr>
              <a:t>organizes </a:t>
            </a:r>
            <a:r>
              <a:rPr sz="1050" spc="-5" dirty="0">
                <a:latin typeface="Arial"/>
                <a:cs typeface="Arial"/>
              </a:rPr>
              <a:t>processes as</a:t>
            </a:r>
            <a:r>
              <a:rPr sz="1050" spc="30" dirty="0">
                <a:latin typeface="Arial"/>
                <a:cs typeface="Arial"/>
              </a:rPr>
              <a:t> </a:t>
            </a:r>
            <a:r>
              <a:rPr sz="1050" spc="-15" dirty="0">
                <a:latin typeface="Arial"/>
                <a:cs typeface="Arial"/>
              </a:rPr>
              <a:t>f</a:t>
            </a:r>
            <a:r>
              <a:rPr lang="en-CA" sz="1050" spc="-15" dirty="0">
                <a:latin typeface="Arial"/>
                <a:cs typeface="Arial"/>
              </a:rPr>
              <a:t>o</a:t>
            </a:r>
            <a:r>
              <a:rPr sz="1050" spc="-15" dirty="0" err="1">
                <a:latin typeface="Arial"/>
                <a:cs typeface="Arial"/>
              </a:rPr>
              <a:t>llows</a:t>
            </a:r>
            <a:r>
              <a:rPr sz="1050" spc="-15" dirty="0">
                <a:latin typeface="Arial"/>
                <a:cs typeface="Arial"/>
              </a:rPr>
              <a:t>:</a:t>
            </a:r>
            <a:endParaRPr sz="1050" dirty="0">
              <a:latin typeface="Arial"/>
              <a:cs typeface="Arial"/>
            </a:endParaRPr>
          </a:p>
          <a:p>
            <a:pPr marL="662305" marR="379095" indent="-171450">
              <a:lnSpc>
                <a:spcPct val="102699"/>
              </a:lnSpc>
              <a:spcBef>
                <a:spcPts val="295"/>
              </a:spcBef>
              <a:buFont typeface="Arial" panose="020B0604020202020204" pitchFamily="34" charset="0"/>
              <a:buChar char="•"/>
            </a:pPr>
            <a:r>
              <a:rPr sz="1050" spc="-5" dirty="0">
                <a:latin typeface="Arial"/>
                <a:cs typeface="Arial"/>
              </a:rPr>
              <a:t>Every process is a </a:t>
            </a:r>
            <a:r>
              <a:rPr sz="1050" spc="-10" dirty="0">
                <a:latin typeface="Arial"/>
                <a:cs typeface="Arial"/>
              </a:rPr>
              <a:t>member </a:t>
            </a:r>
            <a:r>
              <a:rPr sz="1050" spc="-5" dirty="0">
                <a:latin typeface="Arial"/>
                <a:cs typeface="Arial"/>
              </a:rPr>
              <a:t>of a </a:t>
            </a:r>
            <a:r>
              <a:rPr sz="1050" spc="-10" dirty="0">
                <a:latin typeface="Courier New"/>
                <a:cs typeface="Courier New"/>
              </a:rPr>
              <a:t>process </a:t>
            </a:r>
            <a:r>
              <a:rPr sz="1050" spc="-5" dirty="0">
                <a:latin typeface="Courier New"/>
                <a:cs typeface="Courier New"/>
              </a:rPr>
              <a:t>group</a:t>
            </a:r>
            <a:r>
              <a:rPr sz="1050" spc="-5" dirty="0">
                <a:latin typeface="Arial"/>
                <a:cs typeface="Arial"/>
              </a:rPr>
              <a:t>.  </a:t>
            </a:r>
            <a:r>
              <a:rPr sz="1050" spc="-10" dirty="0">
                <a:latin typeface="Arial"/>
                <a:cs typeface="Arial"/>
              </a:rPr>
              <a:t>A </a:t>
            </a:r>
            <a:r>
              <a:rPr sz="1050" spc="-5" dirty="0">
                <a:latin typeface="Arial"/>
                <a:cs typeface="Arial"/>
              </a:rPr>
              <a:t>child inherits its </a:t>
            </a:r>
            <a:r>
              <a:rPr sz="1050" spc="-10" dirty="0">
                <a:latin typeface="Courier New"/>
                <a:cs typeface="Courier New"/>
              </a:rPr>
              <a:t>process group</a:t>
            </a:r>
            <a:r>
              <a:rPr sz="1050" spc="-10" dirty="0">
                <a:cs typeface="Courier New"/>
              </a:rPr>
              <a:t> </a:t>
            </a:r>
            <a:r>
              <a:rPr sz="1050" spc="-5" dirty="0">
                <a:latin typeface="Arial"/>
                <a:cs typeface="Arial"/>
              </a:rPr>
              <a:t>from its</a:t>
            </a:r>
            <a:r>
              <a:rPr sz="1050" spc="-185" dirty="0">
                <a:latin typeface="Arial"/>
                <a:cs typeface="Arial"/>
              </a:rPr>
              <a:t> </a:t>
            </a:r>
            <a:r>
              <a:rPr lang="en-CA" sz="1050" spc="-18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parent.</a:t>
            </a:r>
            <a:endParaRPr sz="1050" dirty="0">
              <a:latin typeface="Arial"/>
              <a:cs typeface="Arial"/>
            </a:endParaRPr>
          </a:p>
          <a:p>
            <a:pPr marL="662305" marR="5080" indent="-171450">
              <a:lnSpc>
                <a:spcPct val="102600"/>
              </a:lnSpc>
              <a:buFont typeface="Arial" panose="020B0604020202020204" pitchFamily="34" charset="0"/>
              <a:buChar char="•"/>
            </a:pPr>
            <a:r>
              <a:rPr sz="1050" spc="-10" dirty="0">
                <a:latin typeface="Arial"/>
                <a:cs typeface="Arial"/>
              </a:rPr>
              <a:t>When </a:t>
            </a:r>
            <a:r>
              <a:rPr sz="1050" spc="-5" dirty="0">
                <a:latin typeface="Arial"/>
                <a:cs typeface="Arial"/>
              </a:rPr>
              <a:t>a process </a:t>
            </a:r>
            <a:r>
              <a:rPr sz="1050" spc="-10" dirty="0">
                <a:latin typeface="Courier New"/>
                <a:cs typeface="Courier New"/>
              </a:rPr>
              <a:t>exec</a:t>
            </a:r>
            <a:r>
              <a:rPr sz="1050" spc="-10" dirty="0">
                <a:latin typeface="Arial"/>
                <a:cs typeface="Arial"/>
              </a:rPr>
              <a:t>s, </a:t>
            </a:r>
            <a:r>
              <a:rPr sz="1050" spc="-5" dirty="0">
                <a:latin typeface="Arial"/>
                <a:cs typeface="Arial"/>
              </a:rPr>
              <a:t>its </a:t>
            </a:r>
            <a:r>
              <a:rPr sz="1050" spc="-10" dirty="0">
                <a:latin typeface="Courier New"/>
                <a:cs typeface="Courier New"/>
              </a:rPr>
              <a:t>process group </a:t>
            </a:r>
            <a:r>
              <a:rPr sz="1050" spc="-5" dirty="0">
                <a:latin typeface="Arial"/>
                <a:cs typeface="Arial"/>
              </a:rPr>
              <a:t>remains the</a:t>
            </a:r>
            <a:r>
              <a:rPr sz="1050" spc="-5" dirty="0">
                <a:cs typeface="Arial"/>
              </a:rPr>
              <a:t>  </a:t>
            </a:r>
            <a:r>
              <a:rPr sz="1050" spc="-10" dirty="0">
                <a:latin typeface="Arial"/>
                <a:cs typeface="Arial"/>
              </a:rPr>
              <a:t>same.</a:t>
            </a:r>
            <a:endParaRPr sz="1050" dirty="0">
              <a:latin typeface="Arial"/>
              <a:cs typeface="Arial"/>
            </a:endParaRPr>
          </a:p>
          <a:p>
            <a:pPr marL="662305" marR="53340" indent="-171450">
              <a:lnSpc>
                <a:spcPct val="102600"/>
              </a:lnSpc>
              <a:buFont typeface="Arial" panose="020B0604020202020204" pitchFamily="34" charset="0"/>
              <a:buChar char="•"/>
            </a:pPr>
            <a:r>
              <a:rPr sz="1050" spc="-10" dirty="0">
                <a:latin typeface="Arial"/>
                <a:cs typeface="Arial"/>
              </a:rPr>
              <a:t>A </a:t>
            </a:r>
            <a:r>
              <a:rPr sz="1050" spc="-5" dirty="0">
                <a:latin typeface="Arial"/>
                <a:cs typeface="Arial"/>
              </a:rPr>
              <a:t>process </a:t>
            </a:r>
            <a:r>
              <a:rPr sz="1050" spc="-20" dirty="0">
                <a:latin typeface="Arial"/>
                <a:cs typeface="Arial"/>
              </a:rPr>
              <a:t>may </a:t>
            </a:r>
            <a:r>
              <a:rPr sz="1050" spc="-5" dirty="0">
                <a:latin typeface="Arial"/>
                <a:cs typeface="Arial"/>
              </a:rPr>
              <a:t>change its </a:t>
            </a:r>
            <a:r>
              <a:rPr sz="1050" spc="-10" dirty="0">
                <a:latin typeface="Courier New"/>
                <a:cs typeface="Courier New"/>
              </a:rPr>
              <a:t>process group </a:t>
            </a:r>
            <a:r>
              <a:rPr sz="1050" spc="-5" dirty="0">
                <a:latin typeface="Arial"/>
                <a:cs typeface="Arial"/>
              </a:rPr>
              <a:t>to a </a:t>
            </a:r>
            <a:r>
              <a:rPr sz="1050" spc="-15" dirty="0">
                <a:latin typeface="Arial"/>
                <a:cs typeface="Arial"/>
              </a:rPr>
              <a:t>new  value </a:t>
            </a:r>
            <a:r>
              <a:rPr sz="1050" spc="-5" dirty="0">
                <a:latin typeface="Arial"/>
                <a:cs typeface="Arial"/>
              </a:rPr>
              <a:t>using </a:t>
            </a:r>
            <a:r>
              <a:rPr sz="1050" spc="-5" dirty="0" err="1">
                <a:latin typeface="Courier New"/>
                <a:cs typeface="Courier New"/>
              </a:rPr>
              <a:t>setpgid</a:t>
            </a:r>
            <a:r>
              <a:rPr sz="1050" spc="-5" dirty="0">
                <a:latin typeface="Courier New"/>
                <a:cs typeface="Courier New"/>
              </a:rPr>
              <a:t>()</a:t>
            </a:r>
            <a:r>
              <a:rPr sz="1050" spc="-5" dirty="0">
                <a:latin typeface="Arial"/>
                <a:cs typeface="Arial"/>
              </a:rPr>
              <a:t>.</a:t>
            </a:r>
            <a:br>
              <a:rPr lang="en-CA" sz="1050" spc="-5" dirty="0">
                <a:latin typeface="Arial"/>
                <a:cs typeface="Arial"/>
              </a:rPr>
            </a:br>
            <a:r>
              <a:rPr lang="en-CA" sz="800" spc="-5" dirty="0">
                <a:latin typeface="Arial"/>
                <a:cs typeface="Arial"/>
              </a:rPr>
              <a:t>(</a:t>
            </a:r>
            <a:r>
              <a:rPr sz="800" spc="-10" dirty="0">
                <a:latin typeface="Arial"/>
                <a:cs typeface="Arial"/>
              </a:rPr>
              <a:t>See </a:t>
            </a:r>
            <a:r>
              <a:rPr sz="800" spc="-5" dirty="0">
                <a:latin typeface="Arial"/>
                <a:cs typeface="Arial"/>
              </a:rPr>
              <a:t>lecture on Process Control </a:t>
            </a:r>
            <a:r>
              <a:rPr sz="800" spc="-15" dirty="0">
                <a:latin typeface="Arial"/>
                <a:cs typeface="Arial"/>
              </a:rPr>
              <a:t>for </a:t>
            </a:r>
            <a:r>
              <a:rPr sz="800" spc="-5" dirty="0">
                <a:latin typeface="Arial"/>
                <a:cs typeface="Arial"/>
              </a:rPr>
              <a:t>more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details</a:t>
            </a:r>
            <a:r>
              <a:rPr lang="en-CA" sz="800" spc="-10" dirty="0">
                <a:latin typeface="Arial"/>
                <a:cs typeface="Arial"/>
              </a:rPr>
              <a:t>)</a:t>
            </a:r>
            <a:r>
              <a:rPr sz="800" spc="-10" dirty="0">
                <a:latin typeface="Arial"/>
                <a:cs typeface="Arial"/>
              </a:rPr>
              <a:t>.</a:t>
            </a:r>
            <a:endParaRPr lang="en-CA" sz="800" spc="-10" dirty="0">
              <a:latin typeface="Arial"/>
              <a:cs typeface="Arial"/>
            </a:endParaRPr>
          </a:p>
          <a:p>
            <a:pPr marL="490855" marR="53340">
              <a:lnSpc>
                <a:spcPct val="102600"/>
              </a:lnSpc>
            </a:pPr>
            <a:r>
              <a:rPr lang="en-US" sz="800" spc="-10" dirty="0">
                <a:latin typeface="Arial"/>
                <a:cs typeface="Arial"/>
              </a:rPr>
              <a:t>      (also see “Process Control III” – Part IV: Process Groups)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98CA59E9-7690-44B9-B8C2-08E69A0B8C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17</a:t>
            </a:fld>
            <a:endParaRPr lang="en-C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986F15-9973-2850-5389-5DF888EC6AEA}"/>
              </a:ext>
            </a:extLst>
          </p:cNvPr>
          <p:cNvSpPr txBox="1"/>
          <p:nvPr/>
        </p:nvSpPr>
        <p:spPr>
          <a:xfrm rot="20121877">
            <a:off x="957541" y="1755866"/>
            <a:ext cx="4273815" cy="338554"/>
          </a:xfrm>
          <a:prstGeom prst="rect">
            <a:avLst/>
          </a:prstGeom>
          <a:solidFill>
            <a:srgbClr val="FFFFCC">
              <a:alpha val="4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600" dirty="0"/>
              <a:t>NOT REQUIRED FOR FINALS (slides 17 – 22)</a:t>
            </a:r>
          </a:p>
        </p:txBody>
      </p:sp>
      <p:sp>
        <p:nvSpPr>
          <p:cNvPr id="31" name="object 7">
            <a:extLst>
              <a:ext uri="{FF2B5EF4-FFF2-40B4-BE49-F238E27FC236}">
                <a16:creationId xmlns:a16="http://schemas.microsoft.com/office/drawing/2014/main" id="{991E0186-435B-154C-8C06-B035FCB0736B}"/>
              </a:ext>
            </a:extLst>
          </p:cNvPr>
          <p:cNvSpPr txBox="1"/>
          <p:nvPr/>
        </p:nvSpPr>
        <p:spPr>
          <a:xfrm>
            <a:off x="917473" y="440448"/>
            <a:ext cx="251079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CA" sz="1400" spc="15" dirty="0">
                <a:solidFill>
                  <a:srgbClr val="FFFFFF"/>
                </a:solidFill>
                <a:latin typeface="Arial"/>
                <a:cs typeface="Arial"/>
              </a:rPr>
              <a:t>Process Groups: Review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allAtOnc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70822" y="106065"/>
            <a:ext cx="882015" cy="192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7700"/>
              </a:lnSpc>
            </a:pP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Process groups:</a:t>
            </a:r>
            <a:r>
              <a:rPr sz="600" b="1" spc="-40" dirty="0">
                <a:solidFill>
                  <a:srgbClr val="9898D8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review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0719" y="845261"/>
            <a:ext cx="3989704" cy="82550"/>
          </a:xfrm>
          <a:custGeom>
            <a:avLst/>
            <a:gdLst/>
            <a:ahLst/>
            <a:cxnLst/>
            <a:rect l="l" t="t" r="r" b="b"/>
            <a:pathLst>
              <a:path w="3989704" h="82550">
                <a:moveTo>
                  <a:pt x="50799" y="0"/>
                </a:moveTo>
                <a:lnTo>
                  <a:pt x="31074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799"/>
                </a:lnTo>
                <a:lnTo>
                  <a:pt x="0" y="82383"/>
                </a:lnTo>
                <a:lnTo>
                  <a:pt x="3989591" y="82383"/>
                </a:lnTo>
                <a:lnTo>
                  <a:pt x="3989591" y="50799"/>
                </a:lnTo>
                <a:lnTo>
                  <a:pt x="3974668" y="14922"/>
                </a:lnTo>
                <a:lnTo>
                  <a:pt x="3938791" y="0"/>
                </a:lnTo>
                <a:lnTo>
                  <a:pt x="50799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31518" y="2071992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06812" y="2059293"/>
            <a:ext cx="114299" cy="1142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82319" y="2110093"/>
            <a:ext cx="3837191" cy="634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70312" y="895827"/>
            <a:ext cx="50799" cy="1016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70312" y="946627"/>
            <a:ext cx="50799" cy="11253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80719" y="889691"/>
            <a:ext cx="3989704" cy="1233170"/>
          </a:xfrm>
          <a:custGeom>
            <a:avLst/>
            <a:gdLst/>
            <a:ahLst/>
            <a:cxnLst/>
            <a:rect l="l" t="t" r="r" b="b"/>
            <a:pathLst>
              <a:path w="3989704" h="1233170">
                <a:moveTo>
                  <a:pt x="3989591" y="0"/>
                </a:moveTo>
                <a:lnTo>
                  <a:pt x="0" y="0"/>
                </a:lnTo>
                <a:lnTo>
                  <a:pt x="0" y="1182301"/>
                </a:lnTo>
                <a:lnTo>
                  <a:pt x="4008" y="1202025"/>
                </a:lnTo>
                <a:lnTo>
                  <a:pt x="14922" y="1218178"/>
                </a:lnTo>
                <a:lnTo>
                  <a:pt x="31075" y="1229092"/>
                </a:lnTo>
                <a:lnTo>
                  <a:pt x="50799" y="1233100"/>
                </a:lnTo>
                <a:lnTo>
                  <a:pt x="3938791" y="1233100"/>
                </a:lnTo>
                <a:lnTo>
                  <a:pt x="3958516" y="1229092"/>
                </a:lnTo>
                <a:lnTo>
                  <a:pt x="3974669" y="1218178"/>
                </a:lnTo>
                <a:lnTo>
                  <a:pt x="3985583" y="1202025"/>
                </a:lnTo>
                <a:lnTo>
                  <a:pt x="3989591" y="1182301"/>
                </a:lnTo>
                <a:lnTo>
                  <a:pt x="3989591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070311" y="933929"/>
            <a:ext cx="0" cy="1157605"/>
          </a:xfrm>
          <a:custGeom>
            <a:avLst/>
            <a:gdLst/>
            <a:ahLst/>
            <a:cxnLst/>
            <a:rect l="l" t="t" r="r" b="b"/>
            <a:pathLst>
              <a:path h="1157605">
                <a:moveTo>
                  <a:pt x="0" y="1157114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70311" y="92122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70311" y="90852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70311" y="89582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70311" y="876778"/>
            <a:ext cx="0" cy="19050"/>
          </a:xfrm>
          <a:custGeom>
            <a:avLst/>
            <a:gdLst/>
            <a:ahLst/>
            <a:cxnLst/>
            <a:rect l="l" t="t" r="r" b="b"/>
            <a:pathLst>
              <a:path h="19050">
                <a:moveTo>
                  <a:pt x="0" y="19049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62533" y="935749"/>
            <a:ext cx="76809" cy="768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62533" y="1279894"/>
            <a:ext cx="76809" cy="768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62533" y="1451966"/>
            <a:ext cx="76809" cy="768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62533" y="1796123"/>
            <a:ext cx="76809" cy="768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17472" y="440448"/>
            <a:ext cx="4140299" cy="1592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r>
              <a:rPr lang="en-CA" sz="1400" spc="15" dirty="0">
                <a:solidFill>
                  <a:srgbClr val="FFFFFF"/>
                </a:solidFill>
                <a:latin typeface="Arial"/>
                <a:cs typeface="Arial"/>
              </a:rPr>
              <a:t> (Chapter 9)</a:t>
            </a:r>
            <a:endParaRPr sz="1400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662305" marR="552450" indent="-171450">
              <a:lnSpc>
                <a:spcPct val="102600"/>
              </a:lnSpc>
              <a:buFont typeface="Arial" panose="020B0604020202020204" pitchFamily="34" charset="0"/>
              <a:buChar char="•"/>
            </a:pPr>
            <a:r>
              <a:rPr sz="1050" spc="-5" dirty="0">
                <a:latin typeface="Arial"/>
                <a:cs typeface="Arial"/>
              </a:rPr>
              <a:t>Every process </a:t>
            </a:r>
            <a:r>
              <a:rPr sz="1050" spc="-20" dirty="0">
                <a:latin typeface="Arial"/>
                <a:cs typeface="Arial"/>
              </a:rPr>
              <a:t>may have </a:t>
            </a:r>
            <a:r>
              <a:rPr sz="1050" spc="-5" dirty="0">
                <a:latin typeface="Arial"/>
                <a:cs typeface="Arial"/>
              </a:rPr>
              <a:t>an associated </a:t>
            </a:r>
            <a:r>
              <a:rPr sz="1050" spc="-10" dirty="0">
                <a:latin typeface="Courier New"/>
                <a:cs typeface="Courier New"/>
              </a:rPr>
              <a:t>control </a:t>
            </a:r>
            <a:r>
              <a:rPr sz="1050" spc="-5" dirty="0">
                <a:latin typeface="Courier New"/>
                <a:cs typeface="Courier New"/>
              </a:rPr>
              <a:t>terminal</a:t>
            </a:r>
            <a:r>
              <a:rPr sz="1050" spc="-5" dirty="0">
                <a:latin typeface="Arial"/>
                <a:cs typeface="Arial"/>
              </a:rPr>
              <a:t>.</a:t>
            </a:r>
            <a:endParaRPr sz="1050" dirty="0">
              <a:latin typeface="Arial"/>
              <a:cs typeface="Arial"/>
            </a:endParaRPr>
          </a:p>
          <a:p>
            <a:pPr marL="662305" marR="156845" indent="-171450" algn="just">
              <a:lnSpc>
                <a:spcPct val="102600"/>
              </a:lnSpc>
              <a:buFont typeface="Arial" panose="020B0604020202020204" pitchFamily="34" charset="0"/>
              <a:buChar char="•"/>
            </a:pPr>
            <a:r>
              <a:rPr sz="1050" spc="-10" dirty="0">
                <a:latin typeface="Arial"/>
                <a:cs typeface="Arial"/>
              </a:rPr>
              <a:t>A</a:t>
            </a:r>
            <a:r>
              <a:rPr lang="en-CA" sz="1050" spc="-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child</a:t>
            </a:r>
            <a:r>
              <a:rPr lang="en-CA" sz="1050" spc="-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inherits its </a:t>
            </a:r>
            <a:r>
              <a:rPr sz="1050" spc="-10" dirty="0">
                <a:latin typeface="Courier New"/>
                <a:cs typeface="Courier New"/>
              </a:rPr>
              <a:t>control terminal </a:t>
            </a:r>
            <a:r>
              <a:rPr sz="1050" spc="-5" dirty="0">
                <a:latin typeface="Arial"/>
                <a:cs typeface="Arial"/>
              </a:rPr>
              <a:t>from its parent.</a:t>
            </a:r>
            <a:endParaRPr lang="en-CA" sz="1050" spc="-5" dirty="0">
              <a:latin typeface="Arial"/>
              <a:cs typeface="Arial"/>
            </a:endParaRPr>
          </a:p>
          <a:p>
            <a:pPr marL="662305" marR="156845" indent="-171450" algn="just">
              <a:lnSpc>
                <a:spcPct val="102600"/>
              </a:lnSpc>
              <a:buFont typeface="Arial" panose="020B0604020202020204" pitchFamily="34" charset="0"/>
              <a:buChar char="•"/>
            </a:pPr>
            <a:r>
              <a:rPr lang="en-CA" sz="1050" spc="-5" dirty="0">
                <a:latin typeface="Arial"/>
                <a:cs typeface="Arial"/>
              </a:rPr>
              <a:t>When </a:t>
            </a:r>
            <a:r>
              <a:rPr lang="en-CA" sz="1050" spc="-10" dirty="0">
                <a:latin typeface="Arial"/>
                <a:cs typeface="Arial"/>
              </a:rPr>
              <a:t>a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process </a:t>
            </a:r>
            <a:r>
              <a:rPr sz="1050" spc="-5" dirty="0">
                <a:latin typeface="Courier New"/>
                <a:cs typeface="Courier New"/>
              </a:rPr>
              <a:t>execs</a:t>
            </a:r>
            <a:r>
              <a:rPr sz="1050" spc="-5" dirty="0">
                <a:latin typeface="Arial"/>
                <a:cs typeface="Arial"/>
              </a:rPr>
              <a:t>, its </a:t>
            </a:r>
            <a:r>
              <a:rPr sz="1050" spc="-10" dirty="0">
                <a:latin typeface="Courier New"/>
                <a:cs typeface="Courier New"/>
              </a:rPr>
              <a:t>control terminal </a:t>
            </a:r>
            <a:r>
              <a:rPr sz="1050" spc="-5" dirty="0">
                <a:latin typeface="Arial"/>
                <a:cs typeface="Arial"/>
              </a:rPr>
              <a:t>remains the  </a:t>
            </a:r>
            <a:r>
              <a:rPr sz="1050" spc="-10" dirty="0">
                <a:latin typeface="Arial"/>
                <a:cs typeface="Arial"/>
              </a:rPr>
              <a:t>same.</a:t>
            </a:r>
            <a:endParaRPr sz="1050" dirty="0">
              <a:latin typeface="Arial"/>
              <a:cs typeface="Arial"/>
            </a:endParaRPr>
          </a:p>
          <a:p>
            <a:pPr marL="662305" marR="5080" indent="-171450">
              <a:lnSpc>
                <a:spcPct val="102600"/>
              </a:lnSpc>
              <a:buFont typeface="Arial" panose="020B0604020202020204" pitchFamily="34" charset="0"/>
              <a:buChar char="•"/>
            </a:pPr>
            <a:r>
              <a:rPr sz="1050" spc="-5" dirty="0">
                <a:latin typeface="Arial"/>
                <a:cs typeface="Arial"/>
              </a:rPr>
              <a:t>Every terminal is associated with a </a:t>
            </a:r>
            <a:r>
              <a:rPr sz="1050" spc="-10" dirty="0">
                <a:latin typeface="Courier New"/>
                <a:cs typeface="Courier New"/>
              </a:rPr>
              <a:t>control </a:t>
            </a:r>
            <a:r>
              <a:rPr sz="1050" spc="-5" dirty="0">
                <a:latin typeface="Courier New"/>
                <a:cs typeface="Courier New"/>
              </a:rPr>
              <a:t>process</a:t>
            </a:r>
            <a:r>
              <a:rPr sz="1050" spc="-5" dirty="0">
                <a:latin typeface="Arial"/>
                <a:cs typeface="Arial"/>
              </a:rPr>
              <a:t>, a  piece of </a:t>
            </a:r>
            <a:r>
              <a:rPr sz="1050" spc="-10" dirty="0">
                <a:latin typeface="Arial"/>
                <a:cs typeface="Arial"/>
              </a:rPr>
              <a:t>software </a:t>
            </a:r>
            <a:r>
              <a:rPr sz="1050" spc="-5" dirty="0">
                <a:latin typeface="Arial"/>
                <a:cs typeface="Arial"/>
              </a:rPr>
              <a:t>that </a:t>
            </a:r>
            <a:r>
              <a:rPr sz="1050" spc="-10" dirty="0">
                <a:latin typeface="Arial"/>
                <a:cs typeface="Arial"/>
              </a:rPr>
              <a:t>manages </a:t>
            </a:r>
            <a:r>
              <a:rPr sz="1050" spc="-5" dirty="0">
                <a:latin typeface="Arial"/>
                <a:cs typeface="Arial"/>
              </a:rPr>
              <a:t>the</a:t>
            </a:r>
            <a:r>
              <a:rPr sz="1050" spc="105" dirty="0">
                <a:latin typeface="Arial"/>
                <a:cs typeface="Arial"/>
              </a:rPr>
              <a:t> </a:t>
            </a:r>
            <a:r>
              <a:rPr sz="1050" spc="-5" dirty="0">
                <a:latin typeface="Arial"/>
                <a:cs typeface="Arial"/>
              </a:rPr>
              <a:t>terminal.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E2276A8-0462-45E6-9BF2-7731B2C746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18</a:t>
            </a:fld>
            <a:endParaRPr lang="en-CA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70822" y="106065"/>
            <a:ext cx="882015" cy="192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7700"/>
              </a:lnSpc>
            </a:pP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Process groups:</a:t>
            </a:r>
            <a:r>
              <a:rPr sz="600" b="1" spc="-40" dirty="0">
                <a:solidFill>
                  <a:srgbClr val="9898D8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review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7473" y="440448"/>
            <a:ext cx="251079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shell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terminals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95327" y="1062955"/>
            <a:ext cx="2842895" cy="139700"/>
          </a:xfrm>
          <a:custGeom>
            <a:avLst/>
            <a:gdLst/>
            <a:ahLst/>
            <a:cxnLst/>
            <a:rect l="l" t="t" r="r" b="b"/>
            <a:pathLst>
              <a:path w="2842895" h="139700">
                <a:moveTo>
                  <a:pt x="36192" y="0"/>
                </a:moveTo>
                <a:lnTo>
                  <a:pt x="22139" y="2855"/>
                </a:lnTo>
                <a:lnTo>
                  <a:pt x="10631" y="10631"/>
                </a:lnTo>
                <a:lnTo>
                  <a:pt x="2855" y="22139"/>
                </a:lnTo>
                <a:lnTo>
                  <a:pt x="0" y="36192"/>
                </a:lnTo>
                <a:lnTo>
                  <a:pt x="0" y="139239"/>
                </a:lnTo>
                <a:lnTo>
                  <a:pt x="2842384" y="139239"/>
                </a:lnTo>
                <a:lnTo>
                  <a:pt x="2842384" y="36192"/>
                </a:lnTo>
                <a:lnTo>
                  <a:pt x="2820244" y="2855"/>
                </a:lnTo>
                <a:lnTo>
                  <a:pt x="3619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95326" y="1193185"/>
            <a:ext cx="2842384" cy="360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31519" y="2047517"/>
            <a:ext cx="72384" cy="723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92471" y="2038469"/>
            <a:ext cx="81432" cy="814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67712" y="2074661"/>
            <a:ext cx="2733807" cy="452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37711" y="1094472"/>
            <a:ext cx="36192" cy="723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37711" y="1130665"/>
            <a:ext cx="36192" cy="91685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95327" y="1224732"/>
            <a:ext cx="2842895" cy="859155"/>
          </a:xfrm>
          <a:custGeom>
            <a:avLst/>
            <a:gdLst/>
            <a:ahLst/>
            <a:cxnLst/>
            <a:rect l="l" t="t" r="r" b="b"/>
            <a:pathLst>
              <a:path w="2842895" h="859155">
                <a:moveTo>
                  <a:pt x="2842384" y="0"/>
                </a:moveTo>
                <a:lnTo>
                  <a:pt x="0" y="0"/>
                </a:lnTo>
                <a:lnTo>
                  <a:pt x="0" y="822786"/>
                </a:lnTo>
                <a:lnTo>
                  <a:pt x="2855" y="836838"/>
                </a:lnTo>
                <a:lnTo>
                  <a:pt x="10631" y="848346"/>
                </a:lnTo>
                <a:lnTo>
                  <a:pt x="22139" y="856122"/>
                </a:lnTo>
                <a:lnTo>
                  <a:pt x="36192" y="858978"/>
                </a:lnTo>
                <a:lnTo>
                  <a:pt x="2806192" y="858978"/>
                </a:lnTo>
                <a:lnTo>
                  <a:pt x="2820245" y="856122"/>
                </a:lnTo>
                <a:lnTo>
                  <a:pt x="2831753" y="848346"/>
                </a:lnTo>
                <a:lnTo>
                  <a:pt x="2839528" y="836838"/>
                </a:lnTo>
                <a:lnTo>
                  <a:pt x="2842384" y="822786"/>
                </a:lnTo>
                <a:lnTo>
                  <a:pt x="2842384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37711" y="1121617"/>
            <a:ext cx="0" cy="939800"/>
          </a:xfrm>
          <a:custGeom>
            <a:avLst/>
            <a:gdLst/>
            <a:ahLst/>
            <a:cxnLst/>
            <a:rect l="l" t="t" r="r" b="b"/>
            <a:pathLst>
              <a:path h="939800">
                <a:moveTo>
                  <a:pt x="0" y="939471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37711" y="1112570"/>
            <a:ext cx="0" cy="9525"/>
          </a:xfrm>
          <a:custGeom>
            <a:avLst/>
            <a:gdLst/>
            <a:ahLst/>
            <a:cxnLst/>
            <a:rect l="l" t="t" r="r" b="b"/>
            <a:pathLst>
              <a:path h="9525">
                <a:moveTo>
                  <a:pt x="0" y="9048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37711" y="1103522"/>
            <a:ext cx="0" cy="9525"/>
          </a:xfrm>
          <a:custGeom>
            <a:avLst/>
            <a:gdLst/>
            <a:ahLst/>
            <a:cxnLst/>
            <a:rect l="l" t="t" r="r" b="b"/>
            <a:pathLst>
              <a:path h="9525">
                <a:moveTo>
                  <a:pt x="0" y="9048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37711" y="1094474"/>
            <a:ext cx="0" cy="9525"/>
          </a:xfrm>
          <a:custGeom>
            <a:avLst/>
            <a:gdLst/>
            <a:ahLst/>
            <a:cxnLst/>
            <a:rect l="l" t="t" r="r" b="b"/>
            <a:pathLst>
              <a:path h="9525">
                <a:moveTo>
                  <a:pt x="0" y="9047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37711" y="1080901"/>
            <a:ext cx="0" cy="13970"/>
          </a:xfrm>
          <a:custGeom>
            <a:avLst/>
            <a:gdLst/>
            <a:ahLst/>
            <a:cxnLst/>
            <a:rect l="l" t="t" r="r" b="b"/>
            <a:pathLst>
              <a:path h="13969">
                <a:moveTo>
                  <a:pt x="0" y="13572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24860" y="1258341"/>
            <a:ext cx="54723" cy="547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24860" y="1626120"/>
            <a:ext cx="54723" cy="5472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24860" y="1871315"/>
            <a:ext cx="54723" cy="547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95327" y="2191953"/>
            <a:ext cx="2842895" cy="139065"/>
          </a:xfrm>
          <a:custGeom>
            <a:avLst/>
            <a:gdLst/>
            <a:ahLst/>
            <a:cxnLst/>
            <a:rect l="l" t="t" r="r" b="b"/>
            <a:pathLst>
              <a:path w="2842895" h="139064">
                <a:moveTo>
                  <a:pt x="36192" y="0"/>
                </a:moveTo>
                <a:lnTo>
                  <a:pt x="22139" y="2855"/>
                </a:lnTo>
                <a:lnTo>
                  <a:pt x="10631" y="10631"/>
                </a:lnTo>
                <a:lnTo>
                  <a:pt x="2855" y="22139"/>
                </a:lnTo>
                <a:lnTo>
                  <a:pt x="0" y="36192"/>
                </a:lnTo>
                <a:lnTo>
                  <a:pt x="0" y="138449"/>
                </a:lnTo>
                <a:lnTo>
                  <a:pt x="2842384" y="138449"/>
                </a:lnTo>
                <a:lnTo>
                  <a:pt x="2842384" y="36192"/>
                </a:lnTo>
                <a:lnTo>
                  <a:pt x="2820244" y="2855"/>
                </a:lnTo>
                <a:lnTo>
                  <a:pt x="3619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95326" y="2321385"/>
            <a:ext cx="2842384" cy="360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31519" y="3193886"/>
            <a:ext cx="72384" cy="723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892471" y="3184838"/>
            <a:ext cx="81432" cy="814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67712" y="3221030"/>
            <a:ext cx="2733807" cy="4524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37711" y="2223469"/>
            <a:ext cx="36192" cy="723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37711" y="2259661"/>
            <a:ext cx="36192" cy="93422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95327" y="2352939"/>
            <a:ext cx="2842895" cy="877569"/>
          </a:xfrm>
          <a:custGeom>
            <a:avLst/>
            <a:gdLst/>
            <a:ahLst/>
            <a:cxnLst/>
            <a:rect l="l" t="t" r="r" b="b"/>
            <a:pathLst>
              <a:path w="2842895" h="877569">
                <a:moveTo>
                  <a:pt x="2842384" y="0"/>
                </a:moveTo>
                <a:lnTo>
                  <a:pt x="0" y="0"/>
                </a:lnTo>
                <a:lnTo>
                  <a:pt x="0" y="840948"/>
                </a:lnTo>
                <a:lnTo>
                  <a:pt x="2855" y="855000"/>
                </a:lnTo>
                <a:lnTo>
                  <a:pt x="10631" y="866509"/>
                </a:lnTo>
                <a:lnTo>
                  <a:pt x="22139" y="874284"/>
                </a:lnTo>
                <a:lnTo>
                  <a:pt x="36192" y="877140"/>
                </a:lnTo>
                <a:lnTo>
                  <a:pt x="2806192" y="877140"/>
                </a:lnTo>
                <a:lnTo>
                  <a:pt x="2820245" y="874284"/>
                </a:lnTo>
                <a:lnTo>
                  <a:pt x="2831753" y="866508"/>
                </a:lnTo>
                <a:lnTo>
                  <a:pt x="2839528" y="855000"/>
                </a:lnTo>
                <a:lnTo>
                  <a:pt x="2842384" y="840948"/>
                </a:lnTo>
                <a:lnTo>
                  <a:pt x="2842384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937711" y="2250613"/>
            <a:ext cx="0" cy="956944"/>
          </a:xfrm>
          <a:custGeom>
            <a:avLst/>
            <a:gdLst/>
            <a:ahLst/>
            <a:cxnLst/>
            <a:rect l="l" t="t" r="r" b="b"/>
            <a:pathLst>
              <a:path h="956944">
                <a:moveTo>
                  <a:pt x="0" y="956844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937711" y="2241566"/>
            <a:ext cx="0" cy="9525"/>
          </a:xfrm>
          <a:custGeom>
            <a:avLst/>
            <a:gdLst/>
            <a:ahLst/>
            <a:cxnLst/>
            <a:rect l="l" t="t" r="r" b="b"/>
            <a:pathLst>
              <a:path h="9525">
                <a:moveTo>
                  <a:pt x="0" y="9047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937711" y="2232518"/>
            <a:ext cx="0" cy="9525"/>
          </a:xfrm>
          <a:custGeom>
            <a:avLst/>
            <a:gdLst/>
            <a:ahLst/>
            <a:cxnLst/>
            <a:rect l="l" t="t" r="r" b="b"/>
            <a:pathLst>
              <a:path h="9525">
                <a:moveTo>
                  <a:pt x="0" y="9048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937711" y="2223470"/>
            <a:ext cx="0" cy="9525"/>
          </a:xfrm>
          <a:custGeom>
            <a:avLst/>
            <a:gdLst/>
            <a:ahLst/>
            <a:cxnLst/>
            <a:rect l="l" t="t" r="r" b="b"/>
            <a:pathLst>
              <a:path h="9525">
                <a:moveTo>
                  <a:pt x="0" y="9048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937711" y="2209897"/>
            <a:ext cx="0" cy="13970"/>
          </a:xfrm>
          <a:custGeom>
            <a:avLst/>
            <a:gdLst/>
            <a:ahLst/>
            <a:cxnLst/>
            <a:rect l="l" t="t" r="r" b="b"/>
            <a:pathLst>
              <a:path h="13969">
                <a:moveTo>
                  <a:pt x="0" y="13571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224860" y="2385754"/>
            <a:ext cx="54723" cy="547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224860" y="2876135"/>
            <a:ext cx="54723" cy="5472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118820" y="762990"/>
            <a:ext cx="2771775" cy="24440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0010">
              <a:lnSpc>
                <a:spcPct val="107300"/>
              </a:lnSpc>
            </a:pPr>
            <a:r>
              <a:rPr sz="750" spc="15" dirty="0">
                <a:latin typeface="Arial"/>
                <a:cs typeface="Arial"/>
              </a:rPr>
              <a:t>When an </a:t>
            </a:r>
            <a:r>
              <a:rPr sz="750" spc="5" dirty="0">
                <a:latin typeface="Arial"/>
                <a:cs typeface="Arial"/>
              </a:rPr>
              <a:t>interactive </a:t>
            </a:r>
            <a:r>
              <a:rPr sz="750" spc="10" dirty="0">
                <a:latin typeface="Arial"/>
                <a:cs typeface="Arial"/>
              </a:rPr>
              <a:t>shell starts, </a:t>
            </a:r>
            <a:r>
              <a:rPr sz="750" spc="5" dirty="0">
                <a:latin typeface="Arial"/>
                <a:cs typeface="Arial"/>
              </a:rPr>
              <a:t>it is </a:t>
            </a:r>
            <a:r>
              <a:rPr sz="750" spc="10" dirty="0">
                <a:latin typeface="Arial"/>
                <a:cs typeface="Arial"/>
              </a:rPr>
              <a:t>the control process of </a:t>
            </a:r>
            <a:r>
              <a:rPr sz="750" spc="5" dirty="0">
                <a:latin typeface="Arial"/>
                <a:cs typeface="Arial"/>
              </a:rPr>
              <a:t>its  </a:t>
            </a:r>
            <a:r>
              <a:rPr sz="750" spc="10" dirty="0">
                <a:latin typeface="Arial"/>
                <a:cs typeface="Arial"/>
              </a:rPr>
              <a:t>control</a:t>
            </a:r>
            <a:r>
              <a:rPr sz="750" spc="-55" dirty="0">
                <a:latin typeface="Arial"/>
                <a:cs typeface="Arial"/>
              </a:rPr>
              <a:t> </a:t>
            </a:r>
            <a:r>
              <a:rPr sz="750" spc="10" dirty="0">
                <a:latin typeface="Arial"/>
                <a:cs typeface="Arial"/>
              </a:rPr>
              <a:t>terminal:</a:t>
            </a:r>
            <a:endParaRPr sz="750" dirty="0">
              <a:latin typeface="Arial"/>
              <a:cs typeface="Arial"/>
            </a:endParaRPr>
          </a:p>
          <a:p>
            <a:pPr marL="12700">
              <a:spcBef>
                <a:spcPts val="459"/>
              </a:spcBef>
            </a:pPr>
            <a:r>
              <a:rPr sz="750" spc="10" dirty="0">
                <a:solidFill>
                  <a:srgbClr val="FFFFFF"/>
                </a:solidFill>
                <a:latin typeface="Arial"/>
                <a:cs typeface="Arial"/>
              </a:rPr>
              <a:t>Executing </a:t>
            </a:r>
            <a:r>
              <a:rPr sz="750" spc="1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750" spc="5" dirty="0">
                <a:solidFill>
                  <a:srgbClr val="FFFFFF"/>
                </a:solidFill>
                <a:latin typeface="Arial"/>
                <a:cs typeface="Arial"/>
              </a:rPr>
              <a:t>foreground</a:t>
            </a:r>
            <a:r>
              <a:rPr sz="7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750" dirty="0">
              <a:latin typeface="Arial"/>
              <a:cs typeface="Arial"/>
            </a:endParaRPr>
          </a:p>
          <a:p>
            <a:pPr marL="209550" marR="40640">
              <a:lnSpc>
                <a:spcPct val="107300"/>
              </a:lnSpc>
              <a:spcBef>
                <a:spcPts val="229"/>
              </a:spcBef>
            </a:pPr>
            <a:r>
              <a:rPr sz="750" spc="15" dirty="0">
                <a:latin typeface="Arial"/>
                <a:cs typeface="Arial"/>
              </a:rPr>
              <a:t>When a </a:t>
            </a:r>
            <a:r>
              <a:rPr sz="750" spc="10" dirty="0">
                <a:latin typeface="Arial"/>
                <a:cs typeface="Arial"/>
              </a:rPr>
              <a:t>shell </a:t>
            </a:r>
            <a:r>
              <a:rPr sz="750" spc="5" dirty="0">
                <a:latin typeface="Arial"/>
                <a:cs typeface="Arial"/>
              </a:rPr>
              <a:t>executes </a:t>
            </a:r>
            <a:r>
              <a:rPr sz="750" spc="15" dirty="0">
                <a:latin typeface="Arial"/>
                <a:cs typeface="Arial"/>
              </a:rPr>
              <a:t>a </a:t>
            </a:r>
            <a:r>
              <a:rPr sz="750" spc="5" dirty="0">
                <a:latin typeface="Arial"/>
                <a:cs typeface="Arial"/>
              </a:rPr>
              <a:t>foreground </a:t>
            </a:r>
            <a:r>
              <a:rPr sz="750" spc="10" dirty="0">
                <a:latin typeface="Arial"/>
                <a:cs typeface="Arial"/>
              </a:rPr>
              <a:t>process, the child  shell changes </a:t>
            </a:r>
            <a:r>
              <a:rPr sz="750" spc="5" dirty="0">
                <a:latin typeface="Arial"/>
                <a:cs typeface="Arial"/>
              </a:rPr>
              <a:t>its </a:t>
            </a:r>
            <a:r>
              <a:rPr sz="750" spc="15" dirty="0">
                <a:latin typeface="Courier New"/>
                <a:cs typeface="Courier New"/>
              </a:rPr>
              <a:t>group process </a:t>
            </a:r>
            <a:r>
              <a:rPr sz="750" spc="10" dirty="0">
                <a:latin typeface="Arial"/>
                <a:cs typeface="Arial"/>
              </a:rPr>
              <a:t>number to </a:t>
            </a:r>
            <a:r>
              <a:rPr sz="750" spc="5" dirty="0">
                <a:latin typeface="Arial"/>
                <a:cs typeface="Arial"/>
              </a:rPr>
              <a:t>its </a:t>
            </a:r>
            <a:r>
              <a:rPr sz="750" spc="10" dirty="0">
                <a:latin typeface="Courier New"/>
                <a:cs typeface="Courier New"/>
              </a:rPr>
              <a:t>pid</a:t>
            </a:r>
            <a:r>
              <a:rPr sz="750" spc="10" dirty="0">
                <a:latin typeface="Arial"/>
                <a:cs typeface="Arial"/>
              </a:rPr>
              <a:t>,  </a:t>
            </a:r>
            <a:r>
              <a:rPr sz="750" spc="15" dirty="0">
                <a:latin typeface="Courier New"/>
                <a:cs typeface="Courier New"/>
              </a:rPr>
              <a:t>execs</a:t>
            </a:r>
            <a:r>
              <a:rPr sz="750" spc="-260" dirty="0">
                <a:latin typeface="Courier New"/>
                <a:cs typeface="Courier New"/>
              </a:rPr>
              <a:t> </a:t>
            </a:r>
            <a:r>
              <a:rPr sz="750" spc="10" dirty="0">
                <a:latin typeface="Arial"/>
                <a:cs typeface="Arial"/>
              </a:rPr>
              <a:t>the </a:t>
            </a:r>
            <a:r>
              <a:rPr sz="750" spc="15" dirty="0">
                <a:latin typeface="Arial"/>
                <a:cs typeface="Arial"/>
              </a:rPr>
              <a:t>command </a:t>
            </a:r>
            <a:r>
              <a:rPr sz="750" spc="10" dirty="0">
                <a:latin typeface="Arial"/>
                <a:cs typeface="Arial"/>
              </a:rPr>
              <a:t>and, </a:t>
            </a:r>
            <a:r>
              <a:rPr sz="750" spc="5" dirty="0">
                <a:latin typeface="Arial"/>
                <a:cs typeface="Arial"/>
              </a:rPr>
              <a:t>takes </a:t>
            </a:r>
            <a:r>
              <a:rPr sz="750" spc="10" dirty="0">
                <a:latin typeface="Arial"/>
                <a:cs typeface="Arial"/>
              </a:rPr>
              <a:t>control of the terminal.</a:t>
            </a:r>
            <a:r>
              <a:rPr sz="750" spc="5" dirty="0">
                <a:latin typeface="Arial"/>
                <a:cs typeface="Arial"/>
              </a:rPr>
              <a:t> </a:t>
            </a:r>
            <a:r>
              <a:rPr sz="750" spc="10" dirty="0">
                <a:latin typeface="Arial"/>
                <a:cs typeface="Arial"/>
              </a:rPr>
              <a:t>In </a:t>
            </a:r>
            <a:r>
              <a:rPr sz="750" spc="5" dirty="0">
                <a:latin typeface="Arial"/>
                <a:cs typeface="Arial"/>
              </a:rPr>
              <a:t> </a:t>
            </a:r>
            <a:r>
              <a:rPr sz="750" spc="10" dirty="0">
                <a:latin typeface="Arial"/>
                <a:cs typeface="Arial"/>
              </a:rPr>
              <a:t>this case, signals generated from the terminal </a:t>
            </a:r>
            <a:r>
              <a:rPr sz="750" spc="15" dirty="0">
                <a:latin typeface="Arial"/>
                <a:cs typeface="Arial"/>
              </a:rPr>
              <a:t>go </a:t>
            </a:r>
            <a:r>
              <a:rPr sz="750" spc="10" dirty="0">
                <a:latin typeface="Arial"/>
                <a:cs typeface="Arial"/>
              </a:rPr>
              <a:t>to the  </a:t>
            </a:r>
            <a:r>
              <a:rPr sz="750" spc="15" dirty="0">
                <a:latin typeface="Arial"/>
                <a:cs typeface="Arial"/>
              </a:rPr>
              <a:t>command and </a:t>
            </a:r>
            <a:r>
              <a:rPr sz="750" spc="10" dirty="0">
                <a:latin typeface="Arial"/>
                <a:cs typeface="Arial"/>
              </a:rPr>
              <a:t>not to the parent</a:t>
            </a:r>
            <a:r>
              <a:rPr sz="750" spc="-80" dirty="0">
                <a:latin typeface="Arial"/>
                <a:cs typeface="Arial"/>
              </a:rPr>
              <a:t> </a:t>
            </a:r>
            <a:r>
              <a:rPr sz="750" spc="10" dirty="0">
                <a:latin typeface="Arial"/>
                <a:cs typeface="Arial"/>
              </a:rPr>
              <a:t>shell.</a:t>
            </a:r>
            <a:endParaRPr sz="750" dirty="0">
              <a:latin typeface="Arial"/>
              <a:cs typeface="Arial"/>
            </a:endParaRPr>
          </a:p>
          <a:p>
            <a:pPr marL="209550" marR="189865">
              <a:lnSpc>
                <a:spcPct val="107300"/>
              </a:lnSpc>
            </a:pPr>
            <a:r>
              <a:rPr sz="750" spc="15" dirty="0">
                <a:latin typeface="Arial"/>
                <a:cs typeface="Arial"/>
              </a:rPr>
              <a:t>When </a:t>
            </a:r>
            <a:r>
              <a:rPr sz="750" spc="10" dirty="0">
                <a:latin typeface="Arial"/>
                <a:cs typeface="Arial"/>
              </a:rPr>
              <a:t>the </a:t>
            </a:r>
            <a:r>
              <a:rPr sz="750" spc="15" dirty="0">
                <a:latin typeface="Arial"/>
                <a:cs typeface="Arial"/>
              </a:rPr>
              <a:t>command </a:t>
            </a:r>
            <a:r>
              <a:rPr sz="750" spc="10" dirty="0">
                <a:latin typeface="Arial"/>
                <a:cs typeface="Arial"/>
              </a:rPr>
              <a:t>terminates, the parent shell </a:t>
            </a:r>
            <a:r>
              <a:rPr sz="750" spc="5" dirty="0">
                <a:latin typeface="Arial"/>
                <a:cs typeface="Arial"/>
              </a:rPr>
              <a:t>takes  back </a:t>
            </a:r>
            <a:r>
              <a:rPr sz="750" spc="10" dirty="0">
                <a:latin typeface="Arial"/>
                <a:cs typeface="Arial"/>
              </a:rPr>
              <a:t>the control of the</a:t>
            </a:r>
            <a:r>
              <a:rPr sz="750" spc="-35" dirty="0">
                <a:latin typeface="Arial"/>
                <a:cs typeface="Arial"/>
              </a:rPr>
              <a:t> </a:t>
            </a:r>
            <a:r>
              <a:rPr sz="750" spc="10" dirty="0">
                <a:latin typeface="Arial"/>
                <a:cs typeface="Arial"/>
              </a:rPr>
              <a:t>terminal.</a:t>
            </a:r>
            <a:endParaRPr sz="750" dirty="0">
              <a:latin typeface="Arial"/>
              <a:cs typeface="Arial"/>
            </a:endParaRPr>
          </a:p>
          <a:p>
            <a:pPr>
              <a:spcBef>
                <a:spcPts val="15"/>
              </a:spcBef>
            </a:pPr>
            <a:endParaRPr sz="850" dirty="0">
              <a:latin typeface="Times New Roman"/>
              <a:cs typeface="Times New Roman"/>
            </a:endParaRPr>
          </a:p>
          <a:p>
            <a:pPr marL="12700"/>
            <a:r>
              <a:rPr sz="750" spc="10" dirty="0">
                <a:solidFill>
                  <a:srgbClr val="FFFFFF"/>
                </a:solidFill>
                <a:latin typeface="Arial"/>
                <a:cs typeface="Arial"/>
              </a:rPr>
              <a:t>Executing background</a:t>
            </a:r>
            <a:r>
              <a:rPr sz="75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750" dirty="0">
              <a:latin typeface="Arial"/>
              <a:cs typeface="Arial"/>
            </a:endParaRPr>
          </a:p>
          <a:p>
            <a:pPr marL="209550" marR="5080">
              <a:lnSpc>
                <a:spcPct val="107300"/>
              </a:lnSpc>
              <a:spcBef>
                <a:spcPts val="225"/>
              </a:spcBef>
            </a:pPr>
            <a:r>
              <a:rPr sz="750" spc="15" dirty="0">
                <a:latin typeface="Arial"/>
                <a:cs typeface="Arial"/>
              </a:rPr>
              <a:t>When a </a:t>
            </a:r>
            <a:r>
              <a:rPr sz="750" spc="10" dirty="0">
                <a:latin typeface="Arial"/>
                <a:cs typeface="Arial"/>
              </a:rPr>
              <a:t>shell </a:t>
            </a:r>
            <a:r>
              <a:rPr sz="750" spc="5" dirty="0">
                <a:latin typeface="Arial"/>
                <a:cs typeface="Arial"/>
              </a:rPr>
              <a:t>executes </a:t>
            </a:r>
            <a:r>
              <a:rPr sz="750" spc="15" dirty="0">
                <a:latin typeface="Arial"/>
                <a:cs typeface="Arial"/>
              </a:rPr>
              <a:t>a </a:t>
            </a:r>
            <a:r>
              <a:rPr sz="750" spc="10" dirty="0">
                <a:latin typeface="Arial"/>
                <a:cs typeface="Arial"/>
              </a:rPr>
              <a:t>background process, the child  shell</a:t>
            </a:r>
            <a:r>
              <a:rPr sz="750" spc="5" dirty="0">
                <a:latin typeface="Arial"/>
                <a:cs typeface="Arial"/>
              </a:rPr>
              <a:t> </a:t>
            </a:r>
            <a:r>
              <a:rPr sz="750" spc="10" dirty="0">
                <a:latin typeface="Arial"/>
                <a:cs typeface="Arial"/>
              </a:rPr>
              <a:t>changes</a:t>
            </a:r>
            <a:r>
              <a:rPr sz="750" spc="5" dirty="0">
                <a:latin typeface="Arial"/>
                <a:cs typeface="Arial"/>
              </a:rPr>
              <a:t> its </a:t>
            </a:r>
            <a:r>
              <a:rPr sz="750" spc="15" dirty="0">
                <a:latin typeface="Courier New"/>
                <a:cs typeface="Courier New"/>
              </a:rPr>
              <a:t>group process</a:t>
            </a:r>
            <a:r>
              <a:rPr sz="750" spc="-235" dirty="0">
                <a:latin typeface="Courier New"/>
                <a:cs typeface="Courier New"/>
              </a:rPr>
              <a:t> </a:t>
            </a:r>
            <a:r>
              <a:rPr sz="750" spc="10" dirty="0">
                <a:latin typeface="Arial"/>
                <a:cs typeface="Arial"/>
              </a:rPr>
              <a:t>number</a:t>
            </a:r>
            <a:r>
              <a:rPr sz="750" spc="5" dirty="0">
                <a:latin typeface="Arial"/>
                <a:cs typeface="Arial"/>
              </a:rPr>
              <a:t> </a:t>
            </a:r>
            <a:r>
              <a:rPr sz="750" spc="10" dirty="0">
                <a:latin typeface="Arial"/>
                <a:cs typeface="Arial"/>
              </a:rPr>
              <a:t>to</a:t>
            </a:r>
            <a:r>
              <a:rPr sz="750" spc="5" dirty="0">
                <a:latin typeface="Arial"/>
                <a:cs typeface="Arial"/>
              </a:rPr>
              <a:t> its </a:t>
            </a:r>
            <a:r>
              <a:rPr sz="750" spc="15" dirty="0">
                <a:latin typeface="Courier New"/>
                <a:cs typeface="Courier New"/>
              </a:rPr>
              <a:t>pid</a:t>
            </a:r>
            <a:r>
              <a:rPr sz="750" spc="-235" dirty="0">
                <a:latin typeface="Courier New"/>
                <a:cs typeface="Courier New"/>
              </a:rPr>
              <a:t> </a:t>
            </a:r>
            <a:r>
              <a:rPr sz="750" spc="10" dirty="0">
                <a:latin typeface="Arial"/>
                <a:cs typeface="Arial"/>
              </a:rPr>
              <a:t>then  </a:t>
            </a:r>
            <a:r>
              <a:rPr sz="750" spc="15" dirty="0">
                <a:latin typeface="Courier New"/>
                <a:cs typeface="Courier New"/>
              </a:rPr>
              <a:t>exec</a:t>
            </a:r>
            <a:r>
              <a:rPr sz="750" spc="15" dirty="0">
                <a:latin typeface="Arial"/>
                <a:cs typeface="Arial"/>
              </a:rPr>
              <a:t>s </a:t>
            </a:r>
            <a:r>
              <a:rPr sz="750" spc="10" dirty="0">
                <a:latin typeface="Arial"/>
                <a:cs typeface="Arial"/>
              </a:rPr>
              <a:t>the </a:t>
            </a:r>
            <a:r>
              <a:rPr sz="750" spc="15" dirty="0">
                <a:latin typeface="Arial"/>
                <a:cs typeface="Arial"/>
              </a:rPr>
              <a:t>command. </a:t>
            </a:r>
            <a:r>
              <a:rPr sz="750" dirty="0">
                <a:latin typeface="Arial"/>
                <a:cs typeface="Arial"/>
              </a:rPr>
              <a:t>However, </a:t>
            </a:r>
            <a:r>
              <a:rPr sz="750" spc="5" dirty="0">
                <a:solidFill>
                  <a:srgbClr val="FF0000"/>
                </a:solidFill>
                <a:latin typeface="Arial"/>
                <a:cs typeface="Arial"/>
              </a:rPr>
              <a:t>it </a:t>
            </a:r>
            <a:r>
              <a:rPr sz="750" spc="10" dirty="0">
                <a:solidFill>
                  <a:srgbClr val="FF0000"/>
                </a:solidFill>
                <a:latin typeface="Arial"/>
                <a:cs typeface="Arial"/>
              </a:rPr>
              <a:t>does not </a:t>
            </a:r>
            <a:r>
              <a:rPr sz="750" spc="5" dirty="0">
                <a:solidFill>
                  <a:srgbClr val="FF0000"/>
                </a:solidFill>
                <a:latin typeface="Arial"/>
                <a:cs typeface="Arial"/>
              </a:rPr>
              <a:t>take </a:t>
            </a:r>
            <a:r>
              <a:rPr sz="750" spc="10" dirty="0">
                <a:solidFill>
                  <a:srgbClr val="FF0000"/>
                </a:solidFill>
                <a:latin typeface="Arial"/>
                <a:cs typeface="Arial"/>
              </a:rPr>
              <a:t>control of  the</a:t>
            </a:r>
            <a:r>
              <a:rPr sz="75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750" spc="10" dirty="0">
                <a:solidFill>
                  <a:srgbClr val="FF0000"/>
                </a:solidFill>
                <a:latin typeface="Arial"/>
                <a:cs typeface="Arial"/>
              </a:rPr>
              <a:t>terminal</a:t>
            </a:r>
            <a:r>
              <a:rPr sz="750" spc="10" dirty="0">
                <a:latin typeface="Arial"/>
                <a:cs typeface="Arial"/>
              </a:rPr>
              <a:t>.</a:t>
            </a:r>
            <a:endParaRPr sz="750" dirty="0">
              <a:latin typeface="Arial"/>
              <a:cs typeface="Arial"/>
            </a:endParaRPr>
          </a:p>
          <a:p>
            <a:pPr marL="209550" marR="40640">
              <a:lnSpc>
                <a:spcPct val="107300"/>
              </a:lnSpc>
            </a:pPr>
            <a:r>
              <a:rPr sz="750" spc="10" dirty="0">
                <a:latin typeface="Arial"/>
                <a:cs typeface="Arial"/>
              </a:rPr>
              <a:t>In this case, signals generated from the terminal </a:t>
            </a:r>
            <a:r>
              <a:rPr sz="750" spc="15" dirty="0">
                <a:latin typeface="Arial"/>
                <a:cs typeface="Arial"/>
              </a:rPr>
              <a:t>go </a:t>
            </a:r>
            <a:r>
              <a:rPr sz="750" spc="10" dirty="0">
                <a:latin typeface="Arial"/>
                <a:cs typeface="Arial"/>
              </a:rPr>
              <a:t>to</a:t>
            </a:r>
            <a:r>
              <a:rPr sz="750" spc="-45" dirty="0">
                <a:latin typeface="Arial"/>
                <a:cs typeface="Arial"/>
              </a:rPr>
              <a:t> </a:t>
            </a:r>
            <a:r>
              <a:rPr sz="750" spc="10" dirty="0">
                <a:latin typeface="Arial"/>
                <a:cs typeface="Arial"/>
              </a:rPr>
              <a:t>the  original parent shell which </a:t>
            </a:r>
            <a:r>
              <a:rPr sz="750" spc="5" dirty="0">
                <a:latin typeface="Arial"/>
                <a:cs typeface="Arial"/>
              </a:rPr>
              <a:t>is still </a:t>
            </a:r>
            <a:r>
              <a:rPr sz="750" spc="10" dirty="0">
                <a:latin typeface="Arial"/>
                <a:cs typeface="Arial"/>
              </a:rPr>
              <a:t>the </a:t>
            </a:r>
            <a:r>
              <a:rPr sz="750" spc="5" dirty="0">
                <a:latin typeface="Arial"/>
                <a:cs typeface="Arial"/>
              </a:rPr>
              <a:t>terminal’s </a:t>
            </a:r>
            <a:r>
              <a:rPr sz="750" spc="10" dirty="0">
                <a:latin typeface="Arial"/>
                <a:cs typeface="Arial"/>
              </a:rPr>
              <a:t>control  process.</a:t>
            </a:r>
            <a:endParaRPr sz="750" dirty="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DB1A6415-4874-4F8D-968A-A6E807C707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19</a:t>
            </a:fld>
            <a:endParaRPr lang="en-CA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70822" y="106065"/>
            <a:ext cx="882015" cy="192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7700"/>
              </a:lnSpc>
            </a:pP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Process groups:</a:t>
            </a:r>
            <a:r>
              <a:rPr sz="600" b="1" spc="-40" dirty="0">
                <a:solidFill>
                  <a:srgbClr val="9898D8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review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526" y="436670"/>
            <a:ext cx="4607989" cy="4776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7473" y="426154"/>
            <a:ext cx="3761740" cy="45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6700"/>
              </a:lnSpc>
            </a:pP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1: </a:t>
            </a:r>
            <a:r>
              <a:rPr sz="1400" spc="20" dirty="0">
                <a:solidFill>
                  <a:srgbClr val="FFFFFF"/>
                </a:solidFill>
                <a:latin typeface="Courier New"/>
                <a:cs typeface="Courier New"/>
              </a:rPr>
              <a:t>CTRL-C</a:t>
            </a:r>
            <a:r>
              <a:rPr sz="1400" spc="-4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goes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to all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processes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a  process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group</a:t>
            </a:r>
            <a:r>
              <a:rPr lang="en-US" sz="1400" spc="10" dirty="0">
                <a:solidFill>
                  <a:srgbClr val="FFFFFF"/>
                </a:solidFill>
                <a:latin typeface="Arial"/>
                <a:cs typeface="Arial"/>
              </a:rPr>
              <a:t> (</a:t>
            </a:r>
            <a:r>
              <a:rPr lang="en-US" sz="1400" spc="10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ctrlc.c</a:t>
            </a:r>
            <a:r>
              <a:rPr lang="en-US" sz="1400" spc="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1525" y="911797"/>
            <a:ext cx="4608004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07226" y="1039862"/>
            <a:ext cx="3545256" cy="45719"/>
          </a:xfrm>
          <a:custGeom>
            <a:avLst/>
            <a:gdLst/>
            <a:ahLst/>
            <a:cxnLst/>
            <a:rect l="l" t="t" r="r" b="b"/>
            <a:pathLst>
              <a:path w="1908175">
                <a:moveTo>
                  <a:pt x="0" y="0"/>
                </a:moveTo>
                <a:lnTo>
                  <a:pt x="1907942" y="0"/>
                </a:lnTo>
              </a:path>
            </a:pathLst>
          </a:custGeom>
          <a:ln w="39398">
            <a:solidFill>
              <a:srgbClr val="EDCE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31519" y="1191030"/>
            <a:ext cx="48588" cy="485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4800" y="1184958"/>
            <a:ext cx="54661" cy="546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55813" y="1209252"/>
            <a:ext cx="3496656" cy="4571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15168" y="1044349"/>
            <a:ext cx="24293" cy="485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52482" y="1068644"/>
            <a:ext cx="24293" cy="12238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07226" y="1041415"/>
            <a:ext cx="3545256" cy="173990"/>
          </a:xfrm>
          <a:custGeom>
            <a:avLst/>
            <a:gdLst/>
            <a:ahLst/>
            <a:cxnLst/>
            <a:rect l="l" t="t" r="r" b="b"/>
            <a:pathLst>
              <a:path w="1908175" h="173990">
                <a:moveTo>
                  <a:pt x="1907942" y="0"/>
                </a:moveTo>
                <a:lnTo>
                  <a:pt x="0" y="0"/>
                </a:lnTo>
                <a:lnTo>
                  <a:pt x="0" y="149616"/>
                </a:lnTo>
                <a:lnTo>
                  <a:pt x="1916" y="159049"/>
                </a:lnTo>
                <a:lnTo>
                  <a:pt x="7136" y="166773"/>
                </a:lnTo>
                <a:lnTo>
                  <a:pt x="14861" y="171993"/>
                </a:lnTo>
                <a:lnTo>
                  <a:pt x="24294" y="173910"/>
                </a:lnTo>
                <a:lnTo>
                  <a:pt x="1883648" y="173910"/>
                </a:lnTo>
                <a:lnTo>
                  <a:pt x="1893081" y="171993"/>
                </a:lnTo>
                <a:lnTo>
                  <a:pt x="1900805" y="166773"/>
                </a:lnTo>
                <a:lnTo>
                  <a:pt x="1906025" y="159049"/>
                </a:lnTo>
                <a:lnTo>
                  <a:pt x="1907942" y="149616"/>
                </a:lnTo>
                <a:lnTo>
                  <a:pt x="1907942" y="0"/>
                </a:lnTo>
                <a:close/>
              </a:path>
            </a:pathLst>
          </a:custGeom>
          <a:solidFill>
            <a:srgbClr val="EDCE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15167" y="1062571"/>
            <a:ext cx="0" cy="137795"/>
          </a:xfrm>
          <a:custGeom>
            <a:avLst/>
            <a:gdLst/>
            <a:ahLst/>
            <a:cxnLst/>
            <a:rect l="l" t="t" r="r" b="b"/>
            <a:pathLst>
              <a:path h="137794">
                <a:moveTo>
                  <a:pt x="0" y="137571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15167" y="1056496"/>
            <a:ext cx="0" cy="6350"/>
          </a:xfrm>
          <a:custGeom>
            <a:avLst/>
            <a:gdLst/>
            <a:ahLst/>
            <a:cxnLst/>
            <a:rect l="l" t="t" r="r" b="b"/>
            <a:pathLst>
              <a:path h="6350">
                <a:moveTo>
                  <a:pt x="0" y="6073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15167" y="1050423"/>
            <a:ext cx="0" cy="6350"/>
          </a:xfrm>
          <a:custGeom>
            <a:avLst/>
            <a:gdLst/>
            <a:ahLst/>
            <a:cxnLst/>
            <a:rect l="l" t="t" r="r" b="b"/>
            <a:pathLst>
              <a:path h="6350">
                <a:moveTo>
                  <a:pt x="0" y="6073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15167" y="1044350"/>
            <a:ext cx="0" cy="6350"/>
          </a:xfrm>
          <a:custGeom>
            <a:avLst/>
            <a:gdLst/>
            <a:ahLst/>
            <a:cxnLst/>
            <a:rect l="l" t="t" r="r" b="b"/>
            <a:pathLst>
              <a:path h="6350">
                <a:moveTo>
                  <a:pt x="0" y="6073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15167" y="1035240"/>
            <a:ext cx="0" cy="9525"/>
          </a:xfrm>
          <a:custGeom>
            <a:avLst/>
            <a:gdLst/>
            <a:ahLst/>
            <a:cxnLst/>
            <a:rect l="l" t="t" r="r" b="b"/>
            <a:pathLst>
              <a:path h="9525">
                <a:moveTo>
                  <a:pt x="0" y="9110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B7E88A8-4978-405E-8444-33CA149AB3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20</a:t>
            </a:fld>
            <a:endParaRPr lang="en-CA"/>
          </a:p>
        </p:txBody>
      </p:sp>
      <p:sp>
        <p:nvSpPr>
          <p:cNvPr id="21" name="object 21"/>
          <p:cNvSpPr txBox="1"/>
          <p:nvPr/>
        </p:nvSpPr>
        <p:spPr>
          <a:xfrm>
            <a:off x="1118820" y="1037885"/>
            <a:ext cx="4260695" cy="21755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600" spc="10" dirty="0">
                <a:latin typeface="Arial"/>
                <a:cs typeface="Arial"/>
              </a:rPr>
              <a:t>When</a:t>
            </a:r>
            <a:r>
              <a:rPr sz="600" spc="5" dirty="0">
                <a:latin typeface="Arial"/>
                <a:cs typeface="Arial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CTRL-C</a:t>
            </a:r>
            <a:r>
              <a:rPr sz="600" spc="-155" dirty="0">
                <a:latin typeface="Courier New"/>
                <a:cs typeface="Courier New"/>
              </a:rPr>
              <a:t> </a:t>
            </a:r>
            <a:r>
              <a:rPr sz="600" spc="5" dirty="0">
                <a:latin typeface="Arial"/>
                <a:cs typeface="Arial"/>
              </a:rPr>
              <a:t>is typed, </a:t>
            </a:r>
            <a:r>
              <a:rPr sz="600" spc="10" dirty="0">
                <a:latin typeface="Courier New"/>
                <a:cs typeface="Courier New"/>
              </a:rPr>
              <a:t>SIGINT</a:t>
            </a:r>
            <a:r>
              <a:rPr sz="600" spc="-155" dirty="0">
                <a:latin typeface="Courier New"/>
                <a:cs typeface="Courier New"/>
              </a:rPr>
              <a:t> </a:t>
            </a:r>
            <a:r>
              <a:rPr sz="600" spc="5" dirty="0">
                <a:latin typeface="Arial"/>
                <a:cs typeface="Arial"/>
              </a:rPr>
              <a:t>is </a:t>
            </a:r>
            <a:r>
              <a:rPr sz="600" spc="10" dirty="0">
                <a:latin typeface="Arial"/>
                <a:cs typeface="Arial"/>
              </a:rPr>
              <a:t>sent</a:t>
            </a:r>
            <a:r>
              <a:rPr sz="600" spc="5" dirty="0">
                <a:latin typeface="Arial"/>
                <a:cs typeface="Arial"/>
              </a:rPr>
              <a:t> to all </a:t>
            </a:r>
            <a:r>
              <a:rPr sz="600" spc="10" dirty="0">
                <a:latin typeface="Arial"/>
                <a:cs typeface="Arial"/>
              </a:rPr>
              <a:t>processes</a:t>
            </a:r>
            <a:endParaRPr lang="en-CA" sz="600" spc="5" dirty="0">
              <a:latin typeface="Arial"/>
              <a:cs typeface="Arial"/>
            </a:endParaRPr>
          </a:p>
          <a:p>
            <a:pPr marL="12700"/>
            <a:r>
              <a:rPr sz="600" spc="5" dirty="0">
                <a:latin typeface="Arial"/>
                <a:cs typeface="Arial"/>
              </a:rPr>
              <a:t>in </a:t>
            </a:r>
            <a:r>
              <a:rPr sz="600" spc="10" dirty="0">
                <a:latin typeface="Arial"/>
                <a:cs typeface="Arial"/>
              </a:rPr>
              <a:t>the</a:t>
            </a:r>
            <a:r>
              <a:rPr lang="en-CA" sz="600" dirty="0">
                <a:latin typeface="Arial"/>
                <a:cs typeface="Arial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process group </a:t>
            </a:r>
            <a:r>
              <a:rPr sz="600" spc="5" dirty="0">
                <a:latin typeface="Arial"/>
                <a:cs typeface="Arial"/>
              </a:rPr>
              <a:t>of </a:t>
            </a:r>
            <a:r>
              <a:rPr sz="600" spc="10" dirty="0">
                <a:latin typeface="Arial"/>
                <a:cs typeface="Arial"/>
              </a:rPr>
              <a:t>the </a:t>
            </a:r>
            <a:r>
              <a:rPr sz="600" spc="5" dirty="0">
                <a:latin typeface="Arial"/>
                <a:cs typeface="Arial"/>
              </a:rPr>
              <a:t>terminal’s </a:t>
            </a:r>
            <a:r>
              <a:rPr sz="600" spc="10" dirty="0">
                <a:latin typeface="Courier New"/>
                <a:cs typeface="Courier New"/>
              </a:rPr>
              <a:t>control</a:t>
            </a:r>
            <a:r>
              <a:rPr sz="600" spc="-160" dirty="0">
                <a:latin typeface="Courier New"/>
                <a:cs typeface="Courier New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process</a:t>
            </a:r>
            <a:r>
              <a:rPr sz="600" spc="10" dirty="0">
                <a:latin typeface="Arial"/>
                <a:cs typeface="Arial"/>
              </a:rPr>
              <a:t>.</a:t>
            </a:r>
            <a:endParaRPr sz="600" dirty="0">
              <a:latin typeface="Arial"/>
              <a:cs typeface="Arial"/>
            </a:endParaRPr>
          </a:p>
          <a:p>
            <a:pPr>
              <a:spcBef>
                <a:spcPts val="50"/>
              </a:spcBef>
            </a:pPr>
            <a:endParaRPr sz="600" dirty="0">
              <a:latin typeface="Times New Roman"/>
              <a:cs typeface="Times New Roman"/>
            </a:endParaRPr>
          </a:p>
          <a:p>
            <a:pPr marL="12700"/>
            <a:r>
              <a:rPr sz="600" spc="10" dirty="0">
                <a:latin typeface="Courier New"/>
                <a:cs typeface="Courier New"/>
              </a:rPr>
              <a:t>#include</a:t>
            </a:r>
            <a:r>
              <a:rPr sz="600" spc="-40" dirty="0">
                <a:latin typeface="Courier New"/>
                <a:cs typeface="Courier New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&lt;stdio.h&gt;</a:t>
            </a:r>
            <a:endParaRPr sz="600" dirty="0"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600" spc="10" dirty="0">
                <a:latin typeface="Courier New"/>
                <a:cs typeface="Courier New"/>
              </a:rPr>
              <a:t>#include</a:t>
            </a:r>
            <a:r>
              <a:rPr sz="600" spc="-40" dirty="0">
                <a:latin typeface="Courier New"/>
                <a:cs typeface="Courier New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&lt;stdlib.h&gt;</a:t>
            </a:r>
            <a:endParaRPr sz="600" dirty="0"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600" spc="10" dirty="0">
                <a:latin typeface="Courier New"/>
                <a:cs typeface="Courier New"/>
              </a:rPr>
              <a:t>#include</a:t>
            </a:r>
            <a:r>
              <a:rPr sz="600" spc="-40" dirty="0">
                <a:latin typeface="Courier New"/>
                <a:cs typeface="Courier New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&lt;unistd.h&gt;</a:t>
            </a:r>
            <a:endParaRPr sz="600" dirty="0"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600" spc="10" dirty="0">
                <a:latin typeface="Courier New"/>
                <a:cs typeface="Courier New"/>
              </a:rPr>
              <a:t>#include</a:t>
            </a:r>
            <a:r>
              <a:rPr sz="600" spc="-40" dirty="0">
                <a:latin typeface="Courier New"/>
                <a:cs typeface="Courier New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&lt;signal.h&gt;</a:t>
            </a:r>
            <a:endParaRPr sz="6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600" dirty="0">
              <a:latin typeface="Times New Roman"/>
              <a:cs typeface="Times New Roman"/>
            </a:endParaRPr>
          </a:p>
          <a:p>
            <a:pPr marL="12700">
              <a:spcBef>
                <a:spcPts val="5"/>
              </a:spcBef>
            </a:pPr>
            <a:r>
              <a:rPr sz="600" spc="10" dirty="0">
                <a:latin typeface="Courier New"/>
                <a:cs typeface="Courier New"/>
              </a:rPr>
              <a:t>void</a:t>
            </a:r>
            <a:r>
              <a:rPr sz="600" spc="-25" dirty="0">
                <a:latin typeface="Courier New"/>
                <a:cs typeface="Courier New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CTRL_handler(int);</a:t>
            </a:r>
            <a:endParaRPr sz="600" dirty="0">
              <a:latin typeface="Courier New"/>
              <a:cs typeface="Courier New"/>
            </a:endParaRPr>
          </a:p>
          <a:p>
            <a:pPr>
              <a:spcBef>
                <a:spcPts val="5"/>
              </a:spcBef>
            </a:pPr>
            <a:endParaRPr sz="600" dirty="0">
              <a:latin typeface="Times New Roman"/>
              <a:cs typeface="Times New Roman"/>
            </a:endParaRPr>
          </a:p>
          <a:p>
            <a:pPr marL="12700"/>
            <a:r>
              <a:rPr sz="600" spc="10" dirty="0">
                <a:latin typeface="Courier New"/>
                <a:cs typeface="Courier New"/>
              </a:rPr>
              <a:t>void CTRL_handler(int</a:t>
            </a:r>
            <a:r>
              <a:rPr sz="600" spc="-10" dirty="0">
                <a:latin typeface="Courier New"/>
                <a:cs typeface="Courier New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dummy){</a:t>
            </a:r>
            <a:endParaRPr sz="600" dirty="0">
              <a:latin typeface="Courier New"/>
              <a:cs typeface="Courier New"/>
            </a:endParaRPr>
          </a:p>
          <a:p>
            <a:pPr marL="92075" marR="5080">
              <a:lnSpc>
                <a:spcPct val="108000"/>
              </a:lnSpc>
            </a:pPr>
            <a:r>
              <a:rPr sz="600" spc="10" dirty="0">
                <a:latin typeface="Courier New"/>
                <a:cs typeface="Courier New"/>
              </a:rPr>
              <a:t>printf("Process %d got a CTRL-C, exit\n", </a:t>
            </a:r>
            <a:r>
              <a:rPr sz="600" spc="10" dirty="0" err="1">
                <a:latin typeface="Courier New"/>
                <a:cs typeface="Courier New"/>
              </a:rPr>
              <a:t>getpid</a:t>
            </a:r>
            <a:r>
              <a:rPr sz="600" spc="10" dirty="0">
                <a:latin typeface="Courier New"/>
                <a:cs typeface="Courier New"/>
              </a:rPr>
              <a:t>());</a:t>
            </a:r>
            <a:endParaRPr lang="en-CA" sz="600" spc="10" dirty="0">
              <a:latin typeface="Courier New"/>
              <a:cs typeface="Courier New"/>
            </a:endParaRPr>
          </a:p>
          <a:p>
            <a:pPr marL="92075" marR="5080">
              <a:lnSpc>
                <a:spcPct val="108000"/>
              </a:lnSpc>
            </a:pPr>
            <a:r>
              <a:rPr sz="600" spc="10" dirty="0">
                <a:latin typeface="Courier New"/>
                <a:cs typeface="Courier New"/>
              </a:rPr>
              <a:t>exit(2);</a:t>
            </a:r>
            <a:endParaRPr sz="600" dirty="0">
              <a:latin typeface="Courier New"/>
              <a:cs typeface="Courier New"/>
            </a:endParaRPr>
          </a:p>
          <a:p>
            <a:pPr marL="12700">
              <a:spcBef>
                <a:spcPts val="50"/>
              </a:spcBef>
            </a:pPr>
            <a:r>
              <a:rPr sz="600" spc="10" dirty="0">
                <a:latin typeface="Courier New"/>
                <a:cs typeface="Courier New"/>
              </a:rPr>
              <a:t>}</a:t>
            </a:r>
            <a:endParaRPr sz="600" dirty="0">
              <a:latin typeface="Courier New"/>
              <a:cs typeface="Courier New"/>
            </a:endParaRPr>
          </a:p>
          <a:p>
            <a:pPr>
              <a:spcBef>
                <a:spcPts val="30"/>
              </a:spcBef>
            </a:pPr>
            <a:endParaRPr sz="600" dirty="0">
              <a:latin typeface="Times New Roman"/>
              <a:cs typeface="Times New Roman"/>
            </a:endParaRPr>
          </a:p>
          <a:p>
            <a:pPr marL="92075" marR="839469" indent="-80010">
              <a:lnSpc>
                <a:spcPts val="560"/>
              </a:lnSpc>
              <a:spcBef>
                <a:spcPts val="5"/>
              </a:spcBef>
            </a:pPr>
            <a:r>
              <a:rPr sz="600" spc="15" baseline="11111" dirty="0">
                <a:latin typeface="Courier New"/>
                <a:cs typeface="Courier New"/>
              </a:rPr>
              <a:t>int main(int argc, char </a:t>
            </a:r>
            <a:r>
              <a:rPr sz="600" spc="10" dirty="0">
                <a:latin typeface="Courier New"/>
                <a:cs typeface="Courier New"/>
              </a:rPr>
              <a:t>*</a:t>
            </a:r>
            <a:r>
              <a:rPr sz="600" spc="15" baseline="11111" dirty="0">
                <a:latin typeface="Courier New"/>
                <a:cs typeface="Courier New"/>
              </a:rPr>
              <a:t>argv[]){  </a:t>
            </a:r>
            <a:r>
              <a:rPr sz="600" spc="10" dirty="0">
                <a:latin typeface="Courier New"/>
                <a:cs typeface="Courier New"/>
              </a:rPr>
              <a:t>int</a:t>
            </a:r>
            <a:r>
              <a:rPr sz="600" spc="-80" dirty="0">
                <a:latin typeface="Courier New"/>
                <a:cs typeface="Courier New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i;</a:t>
            </a:r>
            <a:endParaRPr sz="600" dirty="0">
              <a:latin typeface="Courier New"/>
              <a:cs typeface="Courier New"/>
            </a:endParaRPr>
          </a:p>
          <a:p>
            <a:pPr marL="370205" marR="44450" indent="-278765">
              <a:lnSpc>
                <a:spcPts val="650"/>
              </a:lnSpc>
              <a:spcBef>
                <a:spcPts val="15"/>
              </a:spcBef>
            </a:pPr>
            <a:r>
              <a:rPr sz="600" spc="10" dirty="0">
                <a:latin typeface="Courier New"/>
                <a:cs typeface="Courier New"/>
              </a:rPr>
              <a:t>printf("First process, PID=%d, PPID=%d, PGID=%d\n",  getpid(), getppid(),</a:t>
            </a:r>
            <a:r>
              <a:rPr sz="600" dirty="0">
                <a:latin typeface="Courier New"/>
                <a:cs typeface="Courier New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getpgid(0));</a:t>
            </a:r>
            <a:endParaRPr sz="600" dirty="0">
              <a:latin typeface="Courier New"/>
              <a:cs typeface="Courier New"/>
            </a:endParaRPr>
          </a:p>
          <a:p>
            <a:pPr marL="92075">
              <a:spcBef>
                <a:spcPts val="15"/>
              </a:spcBef>
            </a:pPr>
            <a:r>
              <a:rPr sz="600" spc="10" dirty="0">
                <a:latin typeface="Courier New"/>
                <a:cs typeface="Courier New"/>
              </a:rPr>
              <a:t>signal(SIGINT,</a:t>
            </a:r>
            <a:r>
              <a:rPr sz="600" spc="-10" dirty="0">
                <a:latin typeface="Courier New"/>
                <a:cs typeface="Courier New"/>
              </a:rPr>
              <a:t> </a:t>
            </a:r>
            <a:r>
              <a:rPr sz="600" spc="10" dirty="0">
                <a:latin typeface="Courier New"/>
                <a:cs typeface="Courier New"/>
              </a:rPr>
              <a:t>CTRL_handler);</a:t>
            </a:r>
            <a:endParaRPr sz="600" dirty="0">
              <a:latin typeface="Courier New"/>
              <a:cs typeface="Courier New"/>
            </a:endParaRPr>
          </a:p>
          <a:p>
            <a:pPr marL="171450" marR="1316355" indent="-80010">
              <a:lnSpc>
                <a:spcPct val="108000"/>
              </a:lnSpc>
            </a:pPr>
            <a:r>
              <a:rPr sz="600" spc="10" dirty="0">
                <a:latin typeface="Courier New"/>
                <a:cs typeface="Courier New"/>
              </a:rPr>
              <a:t>for(i=1; i&lt;=3;</a:t>
            </a:r>
            <a:r>
              <a:rPr sz="600" spc="-40" dirty="0">
                <a:latin typeface="Courier New"/>
                <a:cs typeface="Courier New"/>
              </a:rPr>
              <a:t> </a:t>
            </a:r>
            <a:r>
              <a:rPr sz="600" spc="10" dirty="0" err="1">
                <a:latin typeface="Courier New"/>
                <a:cs typeface="Courier New"/>
              </a:rPr>
              <a:t>i</a:t>
            </a:r>
            <a:r>
              <a:rPr sz="600" spc="10" dirty="0">
                <a:latin typeface="Courier New"/>
                <a:cs typeface="Courier New"/>
              </a:rPr>
              <a:t>++)</a:t>
            </a:r>
            <a:endParaRPr lang="en-CA" sz="600" spc="10" dirty="0">
              <a:latin typeface="Courier New"/>
              <a:cs typeface="Courier New"/>
            </a:endParaRPr>
          </a:p>
          <a:p>
            <a:pPr marL="171450" marR="1316355" indent="-80010">
              <a:lnSpc>
                <a:spcPct val="108000"/>
              </a:lnSpc>
            </a:pPr>
            <a:r>
              <a:rPr lang="en-CA" sz="600" spc="10" dirty="0">
                <a:latin typeface="Courier New"/>
                <a:cs typeface="Courier New"/>
              </a:rPr>
              <a:t>	</a:t>
            </a:r>
            <a:r>
              <a:rPr sz="600" spc="10" dirty="0">
                <a:latin typeface="Courier New"/>
                <a:cs typeface="Courier New"/>
              </a:rPr>
              <a:t>fork();</a:t>
            </a:r>
            <a:endParaRPr lang="en-CA" sz="600" dirty="0">
              <a:latin typeface="Courier New"/>
              <a:cs typeface="Courier New"/>
            </a:endParaRPr>
          </a:p>
          <a:p>
            <a:pPr marL="171450" marR="1316355" indent="-80010">
              <a:lnSpc>
                <a:spcPct val="108000"/>
              </a:lnSpc>
            </a:pPr>
            <a:r>
              <a:rPr sz="600" spc="10" dirty="0" err="1">
                <a:latin typeface="Courier New"/>
                <a:cs typeface="Courier New"/>
              </a:rPr>
              <a:t>printf</a:t>
            </a:r>
            <a:r>
              <a:rPr sz="600" spc="10" dirty="0">
                <a:latin typeface="Courier New"/>
                <a:cs typeface="Courier New"/>
              </a:rPr>
              <a:t>("PID=%d PGID=%d\n", getpid(), getpgid(0));</a:t>
            </a:r>
            <a:endParaRPr lang="en-CA" sz="600" spc="10" dirty="0">
              <a:latin typeface="Courier New"/>
              <a:cs typeface="Courier New"/>
            </a:endParaRPr>
          </a:p>
          <a:p>
            <a:pPr marL="171450" marR="1316355" indent="-80010">
              <a:lnSpc>
                <a:spcPct val="108000"/>
              </a:lnSpc>
            </a:pPr>
            <a:r>
              <a:rPr sz="600" spc="10" dirty="0">
                <a:latin typeface="Courier New"/>
                <a:cs typeface="Courier New"/>
              </a:rPr>
              <a:t>pause();</a:t>
            </a:r>
            <a:endParaRPr sz="600" dirty="0"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600" spc="10" dirty="0">
                <a:latin typeface="Courier New"/>
                <a:cs typeface="Courier New"/>
              </a:rPr>
              <a:t>}</a:t>
            </a:r>
            <a:endParaRPr sz="6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70822" y="106065"/>
            <a:ext cx="882015" cy="192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7700"/>
              </a:lnSpc>
            </a:pP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Process groups:</a:t>
            </a:r>
            <a:r>
              <a:rPr sz="600" b="1" spc="-40" dirty="0">
                <a:solidFill>
                  <a:srgbClr val="9898D8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review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7473" y="440448"/>
            <a:ext cx="324612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Output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of example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 running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foreground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93126" y="972405"/>
            <a:ext cx="3015615" cy="62865"/>
          </a:xfrm>
          <a:custGeom>
            <a:avLst/>
            <a:gdLst/>
            <a:ahLst/>
            <a:cxnLst/>
            <a:rect l="l" t="t" r="r" b="b"/>
            <a:pathLst>
              <a:path w="3015615" h="62865">
                <a:moveTo>
                  <a:pt x="38393" y="0"/>
                </a:moveTo>
                <a:lnTo>
                  <a:pt x="23485" y="3029"/>
                </a:lnTo>
                <a:lnTo>
                  <a:pt x="11277" y="11278"/>
                </a:lnTo>
                <a:lnTo>
                  <a:pt x="3029" y="23486"/>
                </a:lnTo>
                <a:lnTo>
                  <a:pt x="0" y="38393"/>
                </a:lnTo>
                <a:lnTo>
                  <a:pt x="0" y="62263"/>
                </a:lnTo>
                <a:lnTo>
                  <a:pt x="3015253" y="62263"/>
                </a:lnTo>
                <a:lnTo>
                  <a:pt x="3015253" y="38393"/>
                </a:lnTo>
                <a:lnTo>
                  <a:pt x="2991766" y="3029"/>
                </a:lnTo>
                <a:lnTo>
                  <a:pt x="38393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31520" y="3186969"/>
            <a:ext cx="76787" cy="76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60388" y="3177371"/>
            <a:ext cx="86385" cy="863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9912" y="3215764"/>
            <a:ext cx="2900072" cy="479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08380" y="1010632"/>
            <a:ext cx="38393" cy="767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08380" y="1049026"/>
            <a:ext cx="38393" cy="21379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93126" y="1005993"/>
            <a:ext cx="3015615" cy="2219960"/>
          </a:xfrm>
          <a:custGeom>
            <a:avLst/>
            <a:gdLst/>
            <a:ahLst/>
            <a:cxnLst/>
            <a:rect l="l" t="t" r="r" b="b"/>
            <a:pathLst>
              <a:path w="3015615" h="2219960">
                <a:moveTo>
                  <a:pt x="3015253" y="0"/>
                </a:moveTo>
                <a:lnTo>
                  <a:pt x="0" y="0"/>
                </a:lnTo>
                <a:lnTo>
                  <a:pt x="0" y="2180974"/>
                </a:lnTo>
                <a:lnTo>
                  <a:pt x="3029" y="2195881"/>
                </a:lnTo>
                <a:lnTo>
                  <a:pt x="11278" y="2208089"/>
                </a:lnTo>
                <a:lnTo>
                  <a:pt x="23486" y="2216338"/>
                </a:lnTo>
                <a:lnTo>
                  <a:pt x="38393" y="2219367"/>
                </a:lnTo>
                <a:lnTo>
                  <a:pt x="2976859" y="2219367"/>
                </a:lnTo>
                <a:lnTo>
                  <a:pt x="2991767" y="2216338"/>
                </a:lnTo>
                <a:lnTo>
                  <a:pt x="3003975" y="2208089"/>
                </a:lnTo>
                <a:lnTo>
                  <a:pt x="3012223" y="2195881"/>
                </a:lnTo>
                <a:lnTo>
                  <a:pt x="3015253" y="2180974"/>
                </a:lnTo>
                <a:lnTo>
                  <a:pt x="3015253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08379" y="1039427"/>
            <a:ext cx="0" cy="2162175"/>
          </a:xfrm>
          <a:custGeom>
            <a:avLst/>
            <a:gdLst/>
            <a:ahLst/>
            <a:cxnLst/>
            <a:rect l="l" t="t" r="r" b="b"/>
            <a:pathLst>
              <a:path h="2162175">
                <a:moveTo>
                  <a:pt x="0" y="2161938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08379" y="1029828"/>
            <a:ext cx="0" cy="10160"/>
          </a:xfrm>
          <a:custGeom>
            <a:avLst/>
            <a:gdLst/>
            <a:ahLst/>
            <a:cxnLst/>
            <a:rect l="l" t="t" r="r" b="b"/>
            <a:pathLst>
              <a:path h="10159">
                <a:moveTo>
                  <a:pt x="0" y="9598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08379" y="1020230"/>
            <a:ext cx="0" cy="10160"/>
          </a:xfrm>
          <a:custGeom>
            <a:avLst/>
            <a:gdLst/>
            <a:ahLst/>
            <a:cxnLst/>
            <a:rect l="l" t="t" r="r" b="b"/>
            <a:pathLst>
              <a:path h="10159">
                <a:moveTo>
                  <a:pt x="0" y="9598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108379" y="1010632"/>
            <a:ext cx="0" cy="10160"/>
          </a:xfrm>
          <a:custGeom>
            <a:avLst/>
            <a:gdLst/>
            <a:ahLst/>
            <a:cxnLst/>
            <a:rect l="l" t="t" r="r" b="b"/>
            <a:pathLst>
              <a:path h="10159">
                <a:moveTo>
                  <a:pt x="0" y="9598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08379" y="996234"/>
            <a:ext cx="0" cy="14604"/>
          </a:xfrm>
          <a:custGeom>
            <a:avLst/>
            <a:gdLst/>
            <a:ahLst/>
            <a:cxnLst/>
            <a:rect l="l" t="t" r="r" b="b"/>
            <a:pathLst>
              <a:path h="14605">
                <a:moveTo>
                  <a:pt x="0" y="14397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118820" y="772440"/>
            <a:ext cx="2853055" cy="2440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800" spc="10" dirty="0">
                <a:latin typeface="Courier New"/>
                <a:cs typeface="Courier New"/>
              </a:rPr>
              <a:t>CTRL-C</a:t>
            </a:r>
            <a:r>
              <a:rPr sz="800" spc="-254" dirty="0">
                <a:latin typeface="Courier New"/>
                <a:cs typeface="Courier New"/>
              </a:rPr>
              <a:t> </a:t>
            </a:r>
            <a:r>
              <a:rPr sz="800" spc="5" dirty="0">
                <a:latin typeface="Arial"/>
                <a:cs typeface="Arial"/>
              </a:rPr>
              <a:t>is </a:t>
            </a:r>
            <a:r>
              <a:rPr sz="800" spc="10" dirty="0">
                <a:latin typeface="Arial"/>
                <a:cs typeface="Arial"/>
              </a:rPr>
              <a:t>pressed </a:t>
            </a:r>
            <a:r>
              <a:rPr sz="800" spc="5" dirty="0">
                <a:latin typeface="Arial"/>
                <a:cs typeface="Arial"/>
              </a:rPr>
              <a:t>after all </a:t>
            </a:r>
            <a:r>
              <a:rPr sz="800" spc="10" dirty="0">
                <a:latin typeface="Arial"/>
                <a:cs typeface="Arial"/>
              </a:rPr>
              <a:t>the processes are created: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06700"/>
              </a:lnSpc>
              <a:spcBef>
                <a:spcPts val="710"/>
              </a:spcBef>
            </a:pPr>
            <a:r>
              <a:rPr sz="800" spc="10" dirty="0">
                <a:latin typeface="Courier New"/>
                <a:cs typeface="Courier New"/>
              </a:rPr>
              <a:t>First process, PID=3928, PPID=3885, PGID=3928  PID=3928</a:t>
            </a:r>
            <a:r>
              <a:rPr sz="800" spc="-15" dirty="0">
                <a:latin typeface="Courier New"/>
                <a:cs typeface="Courier New"/>
              </a:rPr>
              <a:t> </a:t>
            </a:r>
            <a:r>
              <a:rPr sz="800" spc="10" dirty="0">
                <a:latin typeface="Courier New"/>
                <a:cs typeface="Courier New"/>
              </a:rPr>
              <a:t>PGID=3928</a:t>
            </a:r>
            <a:endParaRPr sz="800">
              <a:latin typeface="Courier New"/>
              <a:cs typeface="Courier New"/>
            </a:endParaRPr>
          </a:p>
          <a:p>
            <a:pPr marL="12700" marR="1701164" algn="just">
              <a:lnSpc>
                <a:spcPct val="106700"/>
              </a:lnSpc>
            </a:pPr>
            <a:r>
              <a:rPr sz="800" spc="10" dirty="0">
                <a:latin typeface="Courier New"/>
                <a:cs typeface="Courier New"/>
              </a:rPr>
              <a:t>PID=3931</a:t>
            </a:r>
            <a:r>
              <a:rPr sz="800" spc="-15" dirty="0">
                <a:latin typeface="Courier New"/>
                <a:cs typeface="Courier New"/>
              </a:rPr>
              <a:t> </a:t>
            </a:r>
            <a:r>
              <a:rPr sz="800" spc="10" dirty="0">
                <a:latin typeface="Courier New"/>
                <a:cs typeface="Courier New"/>
              </a:rPr>
              <a:t>PGID=3928  PID=3929</a:t>
            </a:r>
            <a:r>
              <a:rPr sz="800" spc="-15" dirty="0">
                <a:latin typeface="Courier New"/>
                <a:cs typeface="Courier New"/>
              </a:rPr>
              <a:t> </a:t>
            </a:r>
            <a:r>
              <a:rPr sz="800" spc="10" dirty="0">
                <a:latin typeface="Courier New"/>
                <a:cs typeface="Courier New"/>
              </a:rPr>
              <a:t>PGID=3928  PID=3930</a:t>
            </a:r>
            <a:r>
              <a:rPr sz="800" spc="-15" dirty="0">
                <a:latin typeface="Courier New"/>
                <a:cs typeface="Courier New"/>
              </a:rPr>
              <a:t> </a:t>
            </a:r>
            <a:r>
              <a:rPr sz="800" spc="10" dirty="0">
                <a:latin typeface="Courier New"/>
                <a:cs typeface="Courier New"/>
              </a:rPr>
              <a:t>PGID=3928  PID=3932</a:t>
            </a:r>
            <a:r>
              <a:rPr sz="800" spc="-15" dirty="0">
                <a:latin typeface="Courier New"/>
                <a:cs typeface="Courier New"/>
              </a:rPr>
              <a:t> </a:t>
            </a:r>
            <a:r>
              <a:rPr sz="800" spc="10" dirty="0">
                <a:latin typeface="Courier New"/>
                <a:cs typeface="Courier New"/>
              </a:rPr>
              <a:t>PGID=3928  PID=3933</a:t>
            </a:r>
            <a:r>
              <a:rPr sz="800" spc="-15" dirty="0">
                <a:latin typeface="Courier New"/>
                <a:cs typeface="Courier New"/>
              </a:rPr>
              <a:t> </a:t>
            </a:r>
            <a:r>
              <a:rPr sz="800" spc="10" dirty="0">
                <a:latin typeface="Courier New"/>
                <a:cs typeface="Courier New"/>
              </a:rPr>
              <a:t>PGID=3928  PID=3934</a:t>
            </a:r>
            <a:r>
              <a:rPr sz="800" spc="-15" dirty="0">
                <a:latin typeface="Courier New"/>
                <a:cs typeface="Courier New"/>
              </a:rPr>
              <a:t> </a:t>
            </a:r>
            <a:r>
              <a:rPr sz="800" spc="10" dirty="0">
                <a:latin typeface="Courier New"/>
                <a:cs typeface="Courier New"/>
              </a:rPr>
              <a:t>PGID=3928  PID=3935</a:t>
            </a:r>
            <a:r>
              <a:rPr sz="800" spc="-15" dirty="0">
                <a:latin typeface="Courier New"/>
                <a:cs typeface="Courier New"/>
              </a:rPr>
              <a:t> </a:t>
            </a:r>
            <a:r>
              <a:rPr sz="800" spc="10" dirty="0">
                <a:latin typeface="Courier New"/>
                <a:cs typeface="Courier New"/>
              </a:rPr>
              <a:t>PGID=3928</a:t>
            </a:r>
            <a:endParaRPr sz="800">
              <a:latin typeface="Courier New"/>
              <a:cs typeface="Courier New"/>
            </a:endParaRPr>
          </a:p>
          <a:p>
            <a:pPr marL="12700" marR="758825">
              <a:lnSpc>
                <a:spcPct val="106700"/>
              </a:lnSpc>
            </a:pPr>
            <a:r>
              <a:rPr sz="800" spc="10" dirty="0">
                <a:latin typeface="Courier New"/>
                <a:cs typeface="Courier New"/>
              </a:rPr>
              <a:t>ˆCProcess 3932 got a CTRL-C, exit  Process 3930 got a CTRL-C, exit  Process 3929 got a CTRL-C, exit  Process 3935 got a CTRL-C, exit  Process 3931 got a CTRL-C, exit  Process 3928 got a CTRL-C, exit  Process 3934 got a CTRL-C, exit  Process 3933 got a CTRL-C,</a:t>
            </a:r>
            <a:r>
              <a:rPr sz="800" spc="25" dirty="0">
                <a:latin typeface="Courier New"/>
                <a:cs typeface="Courier New"/>
              </a:rPr>
              <a:t> </a:t>
            </a:r>
            <a:r>
              <a:rPr sz="800" spc="10" dirty="0">
                <a:latin typeface="Courier New"/>
                <a:cs typeface="Courier New"/>
              </a:rPr>
              <a:t>exit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pc="-5"/>
              <a:t>Signals II</a:t>
            </a:r>
            <a:endParaRPr spc="-5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4EDD731-0E70-44D7-B79A-8160C75D23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21</a:t>
            </a:fld>
            <a:endParaRPr lang="en-CA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70822" y="106065"/>
            <a:ext cx="882015" cy="192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7700"/>
              </a:lnSpc>
            </a:pP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Process groups:</a:t>
            </a:r>
            <a:r>
              <a:rPr sz="600" b="1" spc="-40" dirty="0">
                <a:solidFill>
                  <a:srgbClr val="9898D8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review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917473" y="440448"/>
            <a:ext cx="3173324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2: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Courier New"/>
                <a:cs typeface="Courier New"/>
              </a:rPr>
              <a:t>CTRL-C</a:t>
            </a:r>
            <a:r>
              <a:rPr lang="en-US" sz="1400" spc="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20" dirty="0">
                <a:solidFill>
                  <a:srgbClr val="FFFFFF"/>
                </a:solidFill>
                <a:latin typeface="Courier New"/>
                <a:cs typeface="Courier New"/>
              </a:rPr>
              <a:t>(ctrlc2.c)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8819" y="863450"/>
            <a:ext cx="4260696" cy="1996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700" dirty="0">
                <a:latin typeface="Courier New"/>
                <a:cs typeface="Courier New"/>
              </a:rPr>
              <a:t>void CTRL_handler(int</a:t>
            </a:r>
            <a:r>
              <a:rPr sz="700" spc="-75" dirty="0">
                <a:latin typeface="Courier New"/>
                <a:cs typeface="Courier New"/>
              </a:rPr>
              <a:t> </a:t>
            </a:r>
            <a:r>
              <a:rPr sz="700" dirty="0">
                <a:latin typeface="Courier New"/>
                <a:cs typeface="Courier New"/>
              </a:rPr>
              <a:t>dummy){</a:t>
            </a:r>
          </a:p>
          <a:p>
            <a:pPr marL="119380" marR="58419">
              <a:lnSpc>
                <a:spcPct val="103800"/>
              </a:lnSpc>
            </a:pPr>
            <a:r>
              <a:rPr sz="700" dirty="0">
                <a:latin typeface="Courier New"/>
                <a:cs typeface="Courier New"/>
              </a:rPr>
              <a:t>printf("Process%d got CTR-C, exiting\n",</a:t>
            </a:r>
            <a:r>
              <a:rPr sz="700" spc="-55" dirty="0">
                <a:latin typeface="Courier New"/>
                <a:cs typeface="Courier New"/>
              </a:rPr>
              <a:t> </a:t>
            </a:r>
            <a:r>
              <a:rPr sz="700" dirty="0">
                <a:latin typeface="Courier New"/>
                <a:cs typeface="Courier New"/>
              </a:rPr>
              <a:t>getpid());  exit(0);</a:t>
            </a:r>
          </a:p>
          <a:p>
            <a:pPr marL="12700">
              <a:spcBef>
                <a:spcPts val="30"/>
              </a:spcBef>
            </a:pPr>
            <a:r>
              <a:rPr sz="700" dirty="0">
                <a:latin typeface="Courier New"/>
                <a:cs typeface="Courier New"/>
              </a:rPr>
              <a:t>}</a:t>
            </a:r>
          </a:p>
          <a:p>
            <a:pPr>
              <a:spcBef>
                <a:spcPts val="5"/>
              </a:spcBef>
            </a:pPr>
            <a:endParaRPr sz="750" dirty="0">
              <a:latin typeface="Times New Roman"/>
              <a:cs typeface="Times New Roman"/>
            </a:endParaRPr>
          </a:p>
          <a:p>
            <a:pPr marL="119380" marR="1127760" indent="-107314">
              <a:lnSpc>
                <a:spcPct val="103800"/>
              </a:lnSpc>
            </a:pPr>
            <a:r>
              <a:rPr sz="700" dirty="0">
                <a:latin typeface="Courier New"/>
                <a:cs typeface="Courier New"/>
              </a:rPr>
              <a:t>int main(int argc, char</a:t>
            </a:r>
            <a:r>
              <a:rPr sz="700" spc="-75" dirty="0">
                <a:latin typeface="Courier New"/>
                <a:cs typeface="Courier New"/>
              </a:rPr>
              <a:t> </a:t>
            </a:r>
            <a:r>
              <a:rPr sz="1050" baseline="-7936" dirty="0">
                <a:latin typeface="Courier New"/>
                <a:cs typeface="Courier New"/>
              </a:rPr>
              <a:t>*</a:t>
            </a:r>
            <a:r>
              <a:rPr sz="700" dirty="0">
                <a:latin typeface="Courier New"/>
                <a:cs typeface="Courier New"/>
              </a:rPr>
              <a:t>argv[]){  int i,</a:t>
            </a:r>
            <a:r>
              <a:rPr sz="700" spc="-95" dirty="0">
                <a:latin typeface="Courier New"/>
                <a:cs typeface="Courier New"/>
              </a:rPr>
              <a:t> </a:t>
            </a:r>
            <a:r>
              <a:rPr sz="700" dirty="0">
                <a:latin typeface="Courier New"/>
                <a:cs typeface="Courier New"/>
              </a:rPr>
              <a:t>pid;</a:t>
            </a:r>
          </a:p>
          <a:p>
            <a:pPr>
              <a:spcBef>
                <a:spcPts val="5"/>
              </a:spcBef>
            </a:pPr>
            <a:endParaRPr sz="750" dirty="0">
              <a:latin typeface="Times New Roman"/>
              <a:cs typeface="Times New Roman"/>
            </a:endParaRPr>
          </a:p>
          <a:p>
            <a:pPr marL="119380" marR="1501775">
              <a:lnSpc>
                <a:spcPct val="103800"/>
              </a:lnSpc>
            </a:pPr>
            <a:r>
              <a:rPr sz="700" dirty="0">
                <a:latin typeface="Courier New"/>
                <a:cs typeface="Courier New"/>
              </a:rPr>
              <a:t>signal(2,</a:t>
            </a:r>
            <a:r>
              <a:rPr sz="700" spc="-75" dirty="0">
                <a:latin typeface="Courier New"/>
                <a:cs typeface="Courier New"/>
              </a:rPr>
              <a:t> </a:t>
            </a:r>
            <a:r>
              <a:rPr sz="700" dirty="0" err="1">
                <a:latin typeface="Courier New"/>
                <a:cs typeface="Courier New"/>
              </a:rPr>
              <a:t>CTRL_handler</a:t>
            </a:r>
            <a:r>
              <a:rPr sz="700" dirty="0">
                <a:latin typeface="Courier New"/>
                <a:cs typeface="Courier New"/>
              </a:rPr>
              <a:t>);</a:t>
            </a:r>
            <a:endParaRPr lang="en-CA" sz="700" dirty="0">
              <a:latin typeface="Courier New"/>
              <a:cs typeface="Courier New"/>
            </a:endParaRPr>
          </a:p>
          <a:p>
            <a:pPr marL="119380" marR="1501775">
              <a:lnSpc>
                <a:spcPct val="103800"/>
              </a:lnSpc>
            </a:pPr>
            <a:r>
              <a:rPr sz="700" dirty="0">
                <a:latin typeface="Courier New"/>
                <a:cs typeface="Courier New"/>
              </a:rPr>
              <a:t>if((pid=fork()) ==</a:t>
            </a:r>
            <a:r>
              <a:rPr sz="700" spc="-85" dirty="0">
                <a:latin typeface="Courier New"/>
                <a:cs typeface="Courier New"/>
              </a:rPr>
              <a:t> </a:t>
            </a:r>
            <a:r>
              <a:rPr sz="700" dirty="0">
                <a:latin typeface="Courier New"/>
                <a:cs typeface="Courier New"/>
              </a:rPr>
              <a:t>0){</a:t>
            </a:r>
          </a:p>
          <a:p>
            <a:pPr marL="172720" marR="165100">
              <a:lnSpc>
                <a:spcPct val="103800"/>
              </a:lnSpc>
            </a:pPr>
            <a:r>
              <a:rPr sz="700" dirty="0">
                <a:latin typeface="Courier New"/>
                <a:cs typeface="Courier New"/>
              </a:rPr>
              <a:t>setpgid(0, </a:t>
            </a:r>
            <a:r>
              <a:rPr sz="700" dirty="0" err="1">
                <a:latin typeface="Courier New"/>
                <a:cs typeface="Courier New"/>
              </a:rPr>
              <a:t>getpid</a:t>
            </a:r>
            <a:r>
              <a:rPr sz="700" dirty="0">
                <a:latin typeface="Courier New"/>
                <a:cs typeface="Courier New"/>
              </a:rPr>
              <a:t>());</a:t>
            </a:r>
            <a:r>
              <a:rPr lang="en-CA" sz="700" dirty="0">
                <a:latin typeface="Courier New"/>
                <a:cs typeface="Courier New"/>
              </a:rPr>
              <a:t>       </a:t>
            </a:r>
            <a:r>
              <a:rPr sz="700" dirty="0">
                <a:latin typeface="Courier New"/>
                <a:cs typeface="Courier New"/>
              </a:rPr>
              <a:t>//child is in its own</a:t>
            </a:r>
            <a:r>
              <a:rPr sz="700" spc="-60" dirty="0">
                <a:latin typeface="Courier New"/>
                <a:cs typeface="Courier New"/>
              </a:rPr>
              <a:t> </a:t>
            </a:r>
            <a:r>
              <a:rPr sz="700" dirty="0">
                <a:latin typeface="Courier New"/>
                <a:cs typeface="Courier New"/>
              </a:rPr>
              <a:t>group</a:t>
            </a:r>
            <a:endParaRPr lang="en-CA" sz="700" dirty="0">
              <a:latin typeface="Courier New"/>
              <a:cs typeface="Courier New"/>
            </a:endParaRPr>
          </a:p>
          <a:p>
            <a:pPr marL="172720" marR="165100">
              <a:lnSpc>
                <a:spcPct val="103800"/>
              </a:lnSpc>
            </a:pPr>
            <a:r>
              <a:rPr sz="700" dirty="0" err="1">
                <a:latin typeface="Courier New"/>
                <a:cs typeface="Courier New"/>
              </a:rPr>
              <a:t>printf</a:t>
            </a:r>
            <a:r>
              <a:rPr sz="700" dirty="0">
                <a:latin typeface="Courier New"/>
                <a:cs typeface="Courier New"/>
              </a:rPr>
              <a:t>("PID=%d,</a:t>
            </a:r>
            <a:r>
              <a:rPr sz="700" spc="-55" dirty="0">
                <a:latin typeface="Courier New"/>
                <a:cs typeface="Courier New"/>
              </a:rPr>
              <a:t> </a:t>
            </a:r>
            <a:r>
              <a:rPr sz="700" dirty="0">
                <a:latin typeface="Courier New"/>
                <a:cs typeface="Courier New"/>
              </a:rPr>
              <a:t>PGID=%d\n",getpid(),getpgid(0));</a:t>
            </a:r>
          </a:p>
          <a:p>
            <a:pPr marL="119380">
              <a:spcBef>
                <a:spcPts val="30"/>
              </a:spcBef>
            </a:pPr>
            <a:r>
              <a:rPr sz="700" dirty="0">
                <a:latin typeface="Courier New"/>
                <a:cs typeface="Courier New"/>
              </a:rPr>
              <a:t>}else</a:t>
            </a:r>
          </a:p>
          <a:p>
            <a:pPr marL="226060">
              <a:spcBef>
                <a:spcPts val="25"/>
              </a:spcBef>
            </a:pPr>
            <a:r>
              <a:rPr sz="700" dirty="0">
                <a:latin typeface="Courier New"/>
                <a:cs typeface="Courier New"/>
              </a:rPr>
              <a:t>printf("PID=%d, PGID=%d\n", getpid(),</a:t>
            </a:r>
            <a:r>
              <a:rPr sz="700" spc="-55" dirty="0">
                <a:latin typeface="Courier New"/>
                <a:cs typeface="Courier New"/>
              </a:rPr>
              <a:t> </a:t>
            </a:r>
            <a:r>
              <a:rPr sz="700" dirty="0">
                <a:latin typeface="Courier New"/>
                <a:cs typeface="Courier New"/>
              </a:rPr>
              <a:t>getpgid(0));</a:t>
            </a:r>
          </a:p>
          <a:p>
            <a:pPr>
              <a:spcBef>
                <a:spcPts val="35"/>
              </a:spcBef>
            </a:pPr>
            <a:endParaRPr sz="750" dirty="0">
              <a:latin typeface="Times New Roman"/>
              <a:cs typeface="Times New Roman"/>
            </a:endParaRPr>
          </a:p>
          <a:p>
            <a:pPr marL="119380"/>
            <a:r>
              <a:rPr sz="700" dirty="0">
                <a:latin typeface="Courier New"/>
                <a:cs typeface="Courier New"/>
              </a:rPr>
              <a:t>for(i=1; i&lt;=10;</a:t>
            </a:r>
            <a:r>
              <a:rPr sz="700" spc="-85" dirty="0">
                <a:latin typeface="Courier New"/>
                <a:cs typeface="Courier New"/>
              </a:rPr>
              <a:t> </a:t>
            </a:r>
            <a:r>
              <a:rPr sz="700" dirty="0">
                <a:latin typeface="Courier New"/>
                <a:cs typeface="Courier New"/>
              </a:rPr>
              <a:t>i++){</a:t>
            </a:r>
          </a:p>
          <a:p>
            <a:pPr marL="226060" marR="111760">
              <a:lnSpc>
                <a:spcPct val="103800"/>
              </a:lnSpc>
            </a:pPr>
            <a:r>
              <a:rPr sz="700" dirty="0">
                <a:latin typeface="Courier New"/>
                <a:cs typeface="Courier New"/>
              </a:rPr>
              <a:t>printf("Process %d is still alive\n",</a:t>
            </a:r>
            <a:r>
              <a:rPr sz="700" spc="-60" dirty="0">
                <a:latin typeface="Courier New"/>
                <a:cs typeface="Courier New"/>
              </a:rPr>
              <a:t> </a:t>
            </a:r>
            <a:r>
              <a:rPr sz="700" dirty="0" err="1">
                <a:latin typeface="Courier New"/>
                <a:cs typeface="Courier New"/>
              </a:rPr>
              <a:t>getpid</a:t>
            </a:r>
            <a:r>
              <a:rPr sz="700" dirty="0">
                <a:latin typeface="Courier New"/>
                <a:cs typeface="Courier New"/>
              </a:rPr>
              <a:t>());</a:t>
            </a:r>
            <a:endParaRPr lang="en-CA" sz="700" dirty="0">
              <a:latin typeface="Courier New"/>
              <a:cs typeface="Courier New"/>
            </a:endParaRPr>
          </a:p>
          <a:p>
            <a:pPr marL="226060" marR="111760">
              <a:lnSpc>
                <a:spcPct val="103800"/>
              </a:lnSpc>
            </a:pPr>
            <a:r>
              <a:rPr sz="700" dirty="0">
                <a:latin typeface="Courier New"/>
                <a:cs typeface="Courier New"/>
              </a:rPr>
              <a:t>sleep(2);</a:t>
            </a:r>
          </a:p>
          <a:p>
            <a:pPr marL="119380">
              <a:spcBef>
                <a:spcPts val="35"/>
              </a:spcBef>
            </a:pPr>
            <a:r>
              <a:rPr sz="700" dirty="0">
                <a:latin typeface="Courier New"/>
                <a:cs typeface="Courier New"/>
              </a:rPr>
              <a:t>}</a:t>
            </a:r>
          </a:p>
          <a:p>
            <a:pPr marL="12700">
              <a:spcBef>
                <a:spcPts val="30"/>
              </a:spcBef>
            </a:pPr>
            <a:r>
              <a:rPr sz="700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10" name="object 10"/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18819" y="3166230"/>
            <a:ext cx="2338756" cy="259686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z="700" dirty="0">
                <a:latin typeface="Arial"/>
                <a:cs typeface="Arial"/>
              </a:rPr>
              <a:t>Can you describe w</a:t>
            </a:r>
            <a:r>
              <a:rPr sz="700" dirty="0">
                <a:latin typeface="Arial"/>
                <a:cs typeface="Arial"/>
              </a:rPr>
              <a:t>hat happens when </a:t>
            </a:r>
            <a:r>
              <a:rPr sz="700" spc="-5" dirty="0">
                <a:latin typeface="Arial"/>
                <a:cs typeface="Arial"/>
              </a:rPr>
              <a:t>we </a:t>
            </a:r>
            <a:r>
              <a:rPr sz="700" dirty="0">
                <a:latin typeface="Arial"/>
                <a:cs typeface="Arial"/>
              </a:rPr>
              <a:t>press</a:t>
            </a:r>
            <a:r>
              <a:rPr sz="700" spc="-70" dirty="0">
                <a:latin typeface="Arial"/>
                <a:cs typeface="Arial"/>
              </a:rPr>
              <a:t> </a:t>
            </a:r>
            <a:r>
              <a:rPr sz="700" dirty="0">
                <a:latin typeface="Courier New"/>
                <a:cs typeface="Courier New"/>
              </a:rPr>
              <a:t>CTRL-C</a:t>
            </a:r>
            <a:r>
              <a:rPr sz="700" dirty="0">
                <a:latin typeface="Arial"/>
                <a:cs typeface="Arial"/>
              </a:rPr>
              <a:t>?</a:t>
            </a:r>
          </a:p>
          <a:p>
            <a:pPr marR="5080" algn="r">
              <a:spcBef>
                <a:spcPts val="409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Signals</a:t>
            </a:r>
            <a:r>
              <a:rPr sz="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II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F53BCFB-B833-447E-8134-FE22EE1243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22</a:t>
            </a:fld>
            <a:endParaRPr lang="en-CA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04931-2C44-39C0-47F8-ED156450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73BDE68-B6CE-042E-C8D6-84239152359E}"/>
              </a:ext>
            </a:extLst>
          </p:cNvPr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indent="260985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</a:t>
            </a:r>
            <a:r>
              <a:rPr sz="600" b="1" spc="-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  Sending a signal to a</a:t>
            </a:r>
            <a:r>
              <a:rPr sz="600" b="1" spc="-3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process</a:t>
            </a:r>
            <a:endParaRPr sz="600">
              <a:latin typeface="Arial"/>
              <a:cs typeface="Arial"/>
            </a:endParaRPr>
          </a:p>
          <a:p>
            <a:pPr marL="12700" marR="5080" indent="965200">
              <a:lnSpc>
                <a:spcPct val="107700"/>
              </a:lnSpc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Examples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Process groups and control</a:t>
            </a: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BD7C341-C660-6044-EF96-88A1D75210EB}"/>
              </a:ext>
            </a:extLst>
          </p:cNvPr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F5B5D3F-7254-ADC0-A509-E15D24C97048}"/>
              </a:ext>
            </a:extLst>
          </p:cNvPr>
          <p:cNvSpPr txBox="1"/>
          <p:nvPr/>
        </p:nvSpPr>
        <p:spPr>
          <a:xfrm>
            <a:off x="3170822" y="106065"/>
            <a:ext cx="882015" cy="192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7700"/>
              </a:lnSpc>
            </a:pP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Process groups:</a:t>
            </a:r>
            <a:r>
              <a:rPr sz="600" b="1" spc="-40" dirty="0">
                <a:solidFill>
                  <a:srgbClr val="9898D8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9898D8"/>
                </a:solidFill>
                <a:latin typeface="Arial"/>
                <a:cs typeface="Arial"/>
              </a:rPr>
              <a:t>review 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terminal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22ECBF0-B2BB-2228-5CC4-A6D790E882C2}"/>
              </a:ext>
            </a:extLst>
          </p:cNvPr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09AD5CB-63C4-EFA3-79FC-5F49E54F93C0}"/>
              </a:ext>
            </a:extLst>
          </p:cNvPr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C934697-8CF2-2323-E91D-1B3CE2A8C543}"/>
              </a:ext>
            </a:extLst>
          </p:cNvPr>
          <p:cNvSpPr txBox="1"/>
          <p:nvPr/>
        </p:nvSpPr>
        <p:spPr>
          <a:xfrm>
            <a:off x="917473" y="440448"/>
            <a:ext cx="3173324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2: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Courier New"/>
                <a:cs typeface="Courier New"/>
              </a:rPr>
              <a:t>CTRL-C</a:t>
            </a:r>
            <a:r>
              <a:rPr lang="en-US" sz="1400" spc="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spc="20" dirty="0">
                <a:solidFill>
                  <a:srgbClr val="FFFFFF"/>
                </a:solidFill>
                <a:latin typeface="Courier New"/>
                <a:cs typeface="Courier New"/>
              </a:rPr>
              <a:t>(ctrlc2.c)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3293C91-E372-B3B8-A4EF-924D9DBCAC05}"/>
              </a:ext>
            </a:extLst>
          </p:cNvPr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23BC5E9-9CF8-7F6E-522E-CE9EC27D9A12}"/>
              </a:ext>
            </a:extLst>
          </p:cNvPr>
          <p:cNvSpPr txBox="1"/>
          <p:nvPr/>
        </p:nvSpPr>
        <p:spPr>
          <a:xfrm>
            <a:off x="1118819" y="863450"/>
            <a:ext cx="4260696" cy="1996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void CTRL_handler(int</a:t>
            </a:r>
            <a:r>
              <a:rPr sz="700" spc="-75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dummy){</a:t>
            </a:r>
          </a:p>
          <a:p>
            <a:pPr marL="119380" marR="58419">
              <a:lnSpc>
                <a:spcPct val="103800"/>
              </a:lnSpc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printf("Process%d got CTR-C, exiting\n",</a:t>
            </a:r>
            <a:r>
              <a:rPr sz="700" spc="-55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getpid());  exit(0);</a:t>
            </a:r>
          </a:p>
          <a:p>
            <a:pPr marL="12700">
              <a:spcBef>
                <a:spcPts val="30"/>
              </a:spcBef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}</a:t>
            </a:r>
          </a:p>
          <a:p>
            <a:pPr>
              <a:spcBef>
                <a:spcPts val="5"/>
              </a:spcBef>
            </a:pPr>
            <a:endParaRPr sz="750" dirty="0">
              <a:solidFill>
                <a:schemeClr val="bg1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119380" marR="1127760" indent="-107314">
              <a:lnSpc>
                <a:spcPct val="103800"/>
              </a:lnSpc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int main(int argc, char</a:t>
            </a:r>
            <a:r>
              <a:rPr sz="700" spc="-75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1050" baseline="-7936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*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argv[]){  int i,</a:t>
            </a:r>
            <a:r>
              <a:rPr sz="700" spc="-95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pid;</a:t>
            </a:r>
          </a:p>
          <a:p>
            <a:pPr>
              <a:spcBef>
                <a:spcPts val="5"/>
              </a:spcBef>
            </a:pPr>
            <a:endParaRPr sz="750" dirty="0">
              <a:solidFill>
                <a:schemeClr val="bg1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119380" marR="1501775">
              <a:lnSpc>
                <a:spcPct val="103800"/>
              </a:lnSpc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signal(2,</a:t>
            </a:r>
            <a:r>
              <a:rPr sz="700" spc="-75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700" dirty="0" err="1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CTRL_handler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);</a:t>
            </a:r>
            <a:endParaRPr lang="en-CA" sz="700" dirty="0">
              <a:solidFill>
                <a:schemeClr val="bg1">
                  <a:lumMod val="75000"/>
                </a:schemeClr>
              </a:solidFill>
              <a:latin typeface="Courier New"/>
              <a:cs typeface="Courier New"/>
            </a:endParaRPr>
          </a:p>
          <a:p>
            <a:pPr marL="119380" marR="1501775">
              <a:lnSpc>
                <a:spcPct val="103800"/>
              </a:lnSpc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if((pid=fork()) ==</a:t>
            </a:r>
            <a:r>
              <a:rPr sz="700" spc="-85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0){</a:t>
            </a:r>
          </a:p>
          <a:p>
            <a:pPr marL="172720" marR="165100">
              <a:lnSpc>
                <a:spcPct val="103800"/>
              </a:lnSpc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setpgid(0, </a:t>
            </a:r>
            <a:r>
              <a:rPr sz="700" dirty="0" err="1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getpid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());</a:t>
            </a:r>
            <a:r>
              <a:rPr lang="en-CA"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      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//child is in its own</a:t>
            </a:r>
            <a:r>
              <a:rPr sz="700" spc="-6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group</a:t>
            </a:r>
            <a:endParaRPr lang="en-CA" sz="700" dirty="0">
              <a:solidFill>
                <a:schemeClr val="bg1">
                  <a:lumMod val="75000"/>
                </a:schemeClr>
              </a:solidFill>
              <a:latin typeface="Courier New"/>
              <a:cs typeface="Courier New"/>
            </a:endParaRPr>
          </a:p>
          <a:p>
            <a:pPr marL="172720" marR="165100">
              <a:lnSpc>
                <a:spcPct val="103800"/>
              </a:lnSpc>
            </a:pPr>
            <a:r>
              <a:rPr sz="700" dirty="0" err="1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printf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("PID=%d,</a:t>
            </a:r>
            <a:r>
              <a:rPr sz="700" spc="-55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PGID=%d\n",getpid(),getpgid(0));</a:t>
            </a:r>
          </a:p>
          <a:p>
            <a:pPr marL="119380">
              <a:spcBef>
                <a:spcPts val="30"/>
              </a:spcBef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}else</a:t>
            </a:r>
          </a:p>
          <a:p>
            <a:pPr marL="226060">
              <a:spcBef>
                <a:spcPts val="25"/>
              </a:spcBef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printf("PID=%d, PGID=%d\n", getpid(),</a:t>
            </a:r>
            <a:r>
              <a:rPr sz="700" spc="-55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getpgid(0));</a:t>
            </a:r>
          </a:p>
          <a:p>
            <a:pPr>
              <a:spcBef>
                <a:spcPts val="35"/>
              </a:spcBef>
            </a:pPr>
            <a:endParaRPr sz="750" dirty="0">
              <a:solidFill>
                <a:schemeClr val="bg1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119380"/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for(i=1; i&lt;=10;</a:t>
            </a:r>
            <a:r>
              <a:rPr sz="700" spc="-85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i++){</a:t>
            </a:r>
          </a:p>
          <a:p>
            <a:pPr marL="226060" marR="111760">
              <a:lnSpc>
                <a:spcPct val="103800"/>
              </a:lnSpc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printf("Process %d is still alive\n",</a:t>
            </a:r>
            <a:r>
              <a:rPr sz="700" spc="-6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sz="700" dirty="0" err="1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getpid</a:t>
            </a: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());</a:t>
            </a:r>
            <a:endParaRPr lang="en-CA" sz="700" dirty="0">
              <a:solidFill>
                <a:schemeClr val="bg1">
                  <a:lumMod val="75000"/>
                </a:schemeClr>
              </a:solidFill>
              <a:latin typeface="Courier New"/>
              <a:cs typeface="Courier New"/>
            </a:endParaRPr>
          </a:p>
          <a:p>
            <a:pPr marL="226060" marR="111760">
              <a:lnSpc>
                <a:spcPct val="103800"/>
              </a:lnSpc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sleep(2);</a:t>
            </a:r>
          </a:p>
          <a:p>
            <a:pPr marL="119380">
              <a:spcBef>
                <a:spcPts val="35"/>
              </a:spcBef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}</a:t>
            </a:r>
          </a:p>
          <a:p>
            <a:pPr marL="12700">
              <a:spcBef>
                <a:spcPts val="30"/>
              </a:spcBef>
            </a:pPr>
            <a:r>
              <a:rPr sz="700" dirty="0">
                <a:solidFill>
                  <a:schemeClr val="bg1">
                    <a:lumMod val="75000"/>
                  </a:schemeClr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A9F9372-AF6D-FCDB-48F1-57A93EA503D2}"/>
              </a:ext>
            </a:extLst>
          </p:cNvPr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54CE122-7AA8-0AF7-D55B-9D11874F561E}"/>
              </a:ext>
            </a:extLst>
          </p:cNvPr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16317A7-5450-FE52-E006-52C3B4229DF8}"/>
              </a:ext>
            </a:extLst>
          </p:cNvPr>
          <p:cNvSpPr txBox="1"/>
          <p:nvPr/>
        </p:nvSpPr>
        <p:spPr>
          <a:xfrm>
            <a:off x="1118819" y="3166230"/>
            <a:ext cx="2338756" cy="259686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spcBef>
                <a:spcPts val="65"/>
              </a:spcBef>
            </a:pPr>
            <a:r>
              <a:rPr lang="en-US" sz="700" dirty="0">
                <a:latin typeface="Arial"/>
                <a:cs typeface="Arial"/>
              </a:rPr>
              <a:t>Can you describe w</a:t>
            </a:r>
            <a:r>
              <a:rPr sz="700" dirty="0">
                <a:latin typeface="Arial"/>
                <a:cs typeface="Arial"/>
              </a:rPr>
              <a:t>hat happens when </a:t>
            </a:r>
            <a:r>
              <a:rPr sz="700" spc="-5" dirty="0">
                <a:latin typeface="Arial"/>
                <a:cs typeface="Arial"/>
              </a:rPr>
              <a:t>we </a:t>
            </a:r>
            <a:r>
              <a:rPr sz="700" dirty="0">
                <a:latin typeface="Arial"/>
                <a:cs typeface="Arial"/>
              </a:rPr>
              <a:t>press</a:t>
            </a:r>
            <a:r>
              <a:rPr sz="700" spc="-70" dirty="0">
                <a:latin typeface="Arial"/>
                <a:cs typeface="Arial"/>
              </a:rPr>
              <a:t> </a:t>
            </a:r>
            <a:r>
              <a:rPr sz="700" dirty="0">
                <a:latin typeface="Courier New"/>
                <a:cs typeface="Courier New"/>
              </a:rPr>
              <a:t>CTRL-C</a:t>
            </a:r>
            <a:r>
              <a:rPr sz="700" dirty="0">
                <a:latin typeface="Arial"/>
                <a:cs typeface="Arial"/>
              </a:rPr>
              <a:t>?</a:t>
            </a:r>
          </a:p>
          <a:p>
            <a:pPr marR="5080" algn="r">
              <a:spcBef>
                <a:spcPts val="409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Signals</a:t>
            </a:r>
            <a:r>
              <a:rPr sz="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II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E912750-1193-651E-544C-09EC1B5CDC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CA" smtClean="0"/>
              <a:t>23</a:t>
            </a:fld>
            <a:endParaRPr lang="en-CA"/>
          </a:p>
        </p:txBody>
      </p:sp>
      <p:pic>
        <p:nvPicPr>
          <p:cNvPr id="14" name="Picture 13" descr="A diagram of a process&#10;&#10;AI-generated content may be incorrect.">
            <a:extLst>
              <a:ext uri="{FF2B5EF4-FFF2-40B4-BE49-F238E27FC236}">
                <a16:creationId xmlns:a16="http://schemas.microsoft.com/office/drawing/2014/main" id="{C39616BC-6B72-EBD5-ABC9-F6E07C6EAA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69" y="746400"/>
            <a:ext cx="1599327" cy="239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02771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E9E76-CF21-BF73-E182-E7801641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BF32-14BC-23E8-78D0-C5D3741A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17" dirty="0">
                <a:solidFill>
                  <a:srgbClr val="0070C0"/>
                </a:solidFill>
              </a:rPr>
              <a:t>Part V</a:t>
            </a:r>
            <a:br>
              <a:rPr lang="en-US" sz="1817" dirty="0">
                <a:solidFill>
                  <a:srgbClr val="0070C0"/>
                </a:solidFill>
              </a:rPr>
            </a:br>
            <a:r>
              <a:rPr lang="en-US" sz="1817" dirty="0">
                <a:solidFill>
                  <a:srgbClr val="0070C0"/>
                </a:solidFill>
                <a:cs typeface="Courier New" panose="02070309020205020404" pitchFamily="49" charset="0"/>
              </a:rPr>
              <a:t>Examples for homework</a:t>
            </a:r>
            <a:endParaRPr lang="en-US" sz="1817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F137E-257B-6FEA-7E3E-39073A287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72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B5C9F-67BE-17DA-6997-6ADA23C2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EE2A8E-ABD6-F42F-781E-68489154EEDA}"/>
              </a:ext>
            </a:extLst>
          </p:cNvPr>
          <p:cNvSpPr txBox="1"/>
          <p:nvPr/>
        </p:nvSpPr>
        <p:spPr>
          <a:xfrm>
            <a:off x="1634757" y="7627"/>
            <a:ext cx="1345565" cy="39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marR="5080" lvl="0" indent="260985" algn="l" defTabSz="914400" rtl="0" eaLnBrk="1" fontAlgn="auto" latinLnBrk="0" hangingPunct="1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600" b="1" spc="-5" dirty="0">
                <a:solidFill>
                  <a:srgbClr val="7F7F7F"/>
                </a:solidFill>
                <a:latin typeface="Arial"/>
                <a:cs typeface="Arial"/>
              </a:rPr>
              <a:t>Suspending a process  </a:t>
            </a:r>
            <a:r>
              <a:rPr kumimoji="0" sz="600" b="1" i="0" u="none" strike="noStrike" kern="1200" cap="none" spc="-5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Sending a signal to a</a:t>
            </a:r>
            <a:r>
              <a:rPr kumimoji="0" sz="600" b="1" i="0" u="none" strike="noStrike" kern="1200" cap="none" spc="-35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600" b="1" i="0" u="none" strike="noStrike" kern="1200" cap="none" spc="-5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process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080" lvl="0" indent="965200" algn="l" defTabSz="914400" rtl="0" eaLnBrk="1" fontAlgn="auto" latinLnBrk="0" hangingPunct="1">
              <a:lnSpc>
                <a:spcPct val="107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1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Examples</a:t>
            </a:r>
            <a:r>
              <a:rPr kumimoji="0" sz="600" b="1" i="0" u="none" strike="noStrike" kern="1200" cap="none" spc="-5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Process groups and control</a:t>
            </a:r>
            <a:r>
              <a:rPr kumimoji="0" sz="600" b="1" i="0" u="none" strike="noStrike" kern="1200" cap="none" spc="-4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600" b="1" i="0" u="none" strike="noStrike" kern="1200" cap="none" spc="-5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terminal</a:t>
            </a:r>
            <a:endParaRPr kumimoji="0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4D8A1B3-5D68-0881-FB81-266583C533FB}"/>
              </a:ext>
            </a:extLst>
          </p:cNvPr>
          <p:cNvSpPr/>
          <p:nvPr/>
        </p:nvSpPr>
        <p:spPr>
          <a:xfrm>
            <a:off x="3075521" y="0"/>
            <a:ext cx="2304415" cy="439420"/>
          </a:xfrm>
          <a:custGeom>
            <a:avLst/>
            <a:gdLst/>
            <a:ahLst/>
            <a:cxnLst/>
            <a:rect l="l" t="t" r="r" b="b"/>
            <a:pathLst>
              <a:path w="2304415" h="439420">
                <a:moveTo>
                  <a:pt x="0" y="439204"/>
                </a:moveTo>
                <a:lnTo>
                  <a:pt x="2303995" y="439204"/>
                </a:lnTo>
                <a:lnTo>
                  <a:pt x="2303995" y="0"/>
                </a:lnTo>
                <a:lnTo>
                  <a:pt x="0" y="0"/>
                </a:lnTo>
                <a:lnTo>
                  <a:pt x="0" y="439204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5D3F4D7-621A-4C71-78CE-E1C9724EF02D}"/>
              </a:ext>
            </a:extLst>
          </p:cNvPr>
          <p:cNvSpPr/>
          <p:nvPr/>
        </p:nvSpPr>
        <p:spPr>
          <a:xfrm>
            <a:off x="771525" y="436665"/>
            <a:ext cx="4608004" cy="506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F23B90D-F118-51F8-F176-E3716EE569A7}"/>
              </a:ext>
            </a:extLst>
          </p:cNvPr>
          <p:cNvSpPr/>
          <p:nvPr/>
        </p:nvSpPr>
        <p:spPr>
          <a:xfrm>
            <a:off x="771526" y="436666"/>
            <a:ext cx="4607989" cy="249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EB748CB-0080-25F3-F10E-0080546A332F}"/>
              </a:ext>
            </a:extLst>
          </p:cNvPr>
          <p:cNvSpPr txBox="1"/>
          <p:nvPr/>
        </p:nvSpPr>
        <p:spPr>
          <a:xfrm>
            <a:off x="917472" y="440448"/>
            <a:ext cx="2062849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400" b="0" i="0" u="none" strike="noStrike" kern="120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Examples (Homework)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6CCAB35-2497-4824-A4B7-B4F413ADA60B}"/>
              </a:ext>
            </a:extLst>
          </p:cNvPr>
          <p:cNvSpPr/>
          <p:nvPr/>
        </p:nvSpPr>
        <p:spPr>
          <a:xfrm>
            <a:off x="771525" y="684048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0CFC313-09A5-70AF-697B-F00DDAD99A58}"/>
              </a:ext>
            </a:extLst>
          </p:cNvPr>
          <p:cNvSpPr/>
          <p:nvPr/>
        </p:nvSpPr>
        <p:spPr>
          <a:xfrm>
            <a:off x="1080719" y="845262"/>
            <a:ext cx="3989704" cy="170815"/>
          </a:xfrm>
          <a:custGeom>
            <a:avLst/>
            <a:gdLst/>
            <a:ahLst/>
            <a:cxnLst/>
            <a:rect l="l" t="t" r="r" b="b"/>
            <a:pathLst>
              <a:path w="3989704" h="170815">
                <a:moveTo>
                  <a:pt x="50799" y="0"/>
                </a:moveTo>
                <a:lnTo>
                  <a:pt x="31074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799"/>
                </a:lnTo>
                <a:lnTo>
                  <a:pt x="0" y="170221"/>
                </a:lnTo>
                <a:lnTo>
                  <a:pt x="3989591" y="170221"/>
                </a:lnTo>
                <a:lnTo>
                  <a:pt x="3989591" y="50799"/>
                </a:lnTo>
                <a:lnTo>
                  <a:pt x="3974668" y="14922"/>
                </a:lnTo>
                <a:lnTo>
                  <a:pt x="3938791" y="0"/>
                </a:lnTo>
                <a:lnTo>
                  <a:pt x="50799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CA1948B-6AEB-658B-62B0-306D91D7BCB1}"/>
              </a:ext>
            </a:extLst>
          </p:cNvPr>
          <p:cNvSpPr/>
          <p:nvPr/>
        </p:nvSpPr>
        <p:spPr>
          <a:xfrm>
            <a:off x="1080720" y="1002831"/>
            <a:ext cx="398959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8296EC5-FFA9-F703-6799-B1F431E39963}"/>
              </a:ext>
            </a:extLst>
          </p:cNvPr>
          <p:cNvSpPr/>
          <p:nvPr/>
        </p:nvSpPr>
        <p:spPr>
          <a:xfrm>
            <a:off x="1131518" y="2269388"/>
            <a:ext cx="101600" cy="10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0FEF91A-96DB-B4A7-DFA6-BB9AFC244CBD}"/>
              </a:ext>
            </a:extLst>
          </p:cNvPr>
          <p:cNvSpPr/>
          <p:nvPr/>
        </p:nvSpPr>
        <p:spPr>
          <a:xfrm>
            <a:off x="5006812" y="2256689"/>
            <a:ext cx="114299" cy="1142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325354C-50EF-F108-810C-5534BF72B281}"/>
              </a:ext>
            </a:extLst>
          </p:cNvPr>
          <p:cNvSpPr/>
          <p:nvPr/>
        </p:nvSpPr>
        <p:spPr>
          <a:xfrm>
            <a:off x="1182319" y="2307489"/>
            <a:ext cx="3837191" cy="634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77DBDDD-409C-4CE9-9028-750A726EDC55}"/>
              </a:ext>
            </a:extLst>
          </p:cNvPr>
          <p:cNvSpPr/>
          <p:nvPr/>
        </p:nvSpPr>
        <p:spPr>
          <a:xfrm>
            <a:off x="5070312" y="889503"/>
            <a:ext cx="50799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EEAFF09-FFB5-C68B-98EA-FEC97F62E5D0}"/>
              </a:ext>
            </a:extLst>
          </p:cNvPr>
          <p:cNvSpPr/>
          <p:nvPr/>
        </p:nvSpPr>
        <p:spPr>
          <a:xfrm>
            <a:off x="5070312" y="940304"/>
            <a:ext cx="50799" cy="13290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CEDA0B9-7DAF-1768-03D3-4028616ED953}"/>
              </a:ext>
            </a:extLst>
          </p:cNvPr>
          <p:cNvSpPr/>
          <p:nvPr/>
        </p:nvSpPr>
        <p:spPr>
          <a:xfrm>
            <a:off x="1080719" y="1047120"/>
            <a:ext cx="3989704" cy="1273175"/>
          </a:xfrm>
          <a:custGeom>
            <a:avLst/>
            <a:gdLst/>
            <a:ahLst/>
            <a:cxnLst/>
            <a:rect l="l" t="t" r="r" b="b"/>
            <a:pathLst>
              <a:path w="3989704" h="1273175">
                <a:moveTo>
                  <a:pt x="3989591" y="0"/>
                </a:moveTo>
                <a:lnTo>
                  <a:pt x="0" y="0"/>
                </a:lnTo>
                <a:lnTo>
                  <a:pt x="0" y="1222268"/>
                </a:lnTo>
                <a:lnTo>
                  <a:pt x="4008" y="1241993"/>
                </a:lnTo>
                <a:lnTo>
                  <a:pt x="14922" y="1258146"/>
                </a:lnTo>
                <a:lnTo>
                  <a:pt x="31075" y="1269060"/>
                </a:lnTo>
                <a:lnTo>
                  <a:pt x="50799" y="1273068"/>
                </a:lnTo>
                <a:lnTo>
                  <a:pt x="3938791" y="1273068"/>
                </a:lnTo>
                <a:lnTo>
                  <a:pt x="3958516" y="1269059"/>
                </a:lnTo>
                <a:lnTo>
                  <a:pt x="3974669" y="1258145"/>
                </a:lnTo>
                <a:lnTo>
                  <a:pt x="3985583" y="1241993"/>
                </a:lnTo>
                <a:lnTo>
                  <a:pt x="3989591" y="1222268"/>
                </a:lnTo>
                <a:lnTo>
                  <a:pt x="3989591" y="0"/>
                </a:lnTo>
                <a:close/>
              </a:path>
            </a:pathLst>
          </a:custGeom>
          <a:solidFill>
            <a:srgbClr val="DDD2E7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44F493A-C0D9-111E-58BC-89F8E54DE66F}"/>
              </a:ext>
            </a:extLst>
          </p:cNvPr>
          <p:cNvSpPr/>
          <p:nvPr/>
        </p:nvSpPr>
        <p:spPr>
          <a:xfrm>
            <a:off x="5070311" y="927603"/>
            <a:ext cx="0" cy="1361440"/>
          </a:xfrm>
          <a:custGeom>
            <a:avLst/>
            <a:gdLst/>
            <a:ahLst/>
            <a:cxnLst/>
            <a:rect l="l" t="t" r="r" b="b"/>
            <a:pathLst>
              <a:path h="1361439">
                <a:moveTo>
                  <a:pt x="0" y="1360834"/>
                </a:moveTo>
                <a:lnTo>
                  <a:pt x="0" y="0"/>
                </a:lnTo>
              </a:path>
            </a:pathLst>
          </a:custGeom>
          <a:ln w="3175">
            <a:solidFill>
              <a:srgbClr val="79727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FB0890F-B9A8-ED89-CA6B-7472EE0DFB66}"/>
              </a:ext>
            </a:extLst>
          </p:cNvPr>
          <p:cNvSpPr/>
          <p:nvPr/>
        </p:nvSpPr>
        <p:spPr>
          <a:xfrm>
            <a:off x="5070311" y="91490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79EA7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EB0AD3A7-2E25-B7EB-0CAD-4CBC420E3509}"/>
              </a:ext>
            </a:extLst>
          </p:cNvPr>
          <p:cNvSpPr/>
          <p:nvPr/>
        </p:nvSpPr>
        <p:spPr>
          <a:xfrm>
            <a:off x="5070311" y="90220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4B9C4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5D80EDCE-1FFB-FCB3-B964-D03E30271CE7}"/>
              </a:ext>
            </a:extLst>
          </p:cNvPr>
          <p:cNvSpPr/>
          <p:nvPr/>
        </p:nvSpPr>
        <p:spPr>
          <a:xfrm>
            <a:off x="5070311" y="88950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3D7E3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263BCAE-138E-96EC-4299-F313D9F6A5F2}"/>
              </a:ext>
            </a:extLst>
          </p:cNvPr>
          <p:cNvSpPr/>
          <p:nvPr/>
        </p:nvSpPr>
        <p:spPr>
          <a:xfrm>
            <a:off x="5070311" y="870454"/>
            <a:ext cx="0" cy="19050"/>
          </a:xfrm>
          <a:custGeom>
            <a:avLst/>
            <a:gdLst/>
            <a:ahLst/>
            <a:cxnLst/>
            <a:rect l="l" t="t" r="r" b="b"/>
            <a:pathLst>
              <a:path h="19050">
                <a:moveTo>
                  <a:pt x="0" y="19049"/>
                </a:moveTo>
                <a:lnTo>
                  <a:pt x="0" y="0"/>
                </a:lnTo>
              </a:path>
            </a:pathLst>
          </a:custGeom>
          <a:ln w="3175">
            <a:solidFill>
              <a:srgbClr val="F2E5F2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88A750C-D6D1-BEDE-1281-A1615A81D3F8}"/>
              </a:ext>
            </a:extLst>
          </p:cNvPr>
          <p:cNvSpPr/>
          <p:nvPr/>
        </p:nvSpPr>
        <p:spPr>
          <a:xfrm>
            <a:off x="1262533" y="1305218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872BABE-C28B-F722-AA73-B44ECD17EA64}"/>
              </a:ext>
            </a:extLst>
          </p:cNvPr>
          <p:cNvSpPr/>
          <p:nvPr/>
        </p:nvSpPr>
        <p:spPr>
          <a:xfrm>
            <a:off x="1262533" y="1649362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7287F292-4A2B-761C-83D0-61670BB9E3C5}"/>
              </a:ext>
            </a:extLst>
          </p:cNvPr>
          <p:cNvSpPr/>
          <p:nvPr/>
        </p:nvSpPr>
        <p:spPr>
          <a:xfrm>
            <a:off x="1262533" y="1821447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EFBD1642-8AD0-BCAD-7EE1-0C1EA669B7A2}"/>
              </a:ext>
            </a:extLst>
          </p:cNvPr>
          <p:cNvSpPr/>
          <p:nvPr/>
        </p:nvSpPr>
        <p:spPr>
          <a:xfrm>
            <a:off x="1262533" y="2165592"/>
            <a:ext cx="76809" cy="768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C7A02B84-BDA6-3FFB-62DF-5F645DC9CBD5}"/>
              </a:ext>
            </a:extLst>
          </p:cNvPr>
          <p:cNvSpPr txBox="1"/>
          <p:nvPr/>
        </p:nvSpPr>
        <p:spPr>
          <a:xfrm>
            <a:off x="1118819" y="828726"/>
            <a:ext cx="3545840" cy="1492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5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Courier New"/>
              </a:rPr>
              <a:t>Homework: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Courier New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Work on the following examples: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US" sz="1050" spc="-5" dirty="0" err="1">
                <a:solidFill>
                  <a:srgbClr val="3333B2"/>
                </a:solidFill>
                <a:latin typeface="Arial"/>
                <a:cs typeface="Arial"/>
              </a:rPr>
              <a:t>ouch.c</a:t>
            </a:r>
            <a:r>
              <a:rPr lang="en-US" sz="105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</a:p>
          <a:p>
            <a:pPr marL="12700">
              <a:lnSpc>
                <a:spcPct val="100000"/>
              </a:lnSpc>
            </a:pPr>
            <a:r>
              <a:rPr lang="en-US" sz="1050" spc="-5" dirty="0" err="1">
                <a:solidFill>
                  <a:srgbClr val="3333B2"/>
                </a:solidFill>
                <a:latin typeface="Arial"/>
                <a:cs typeface="Arial"/>
              </a:rPr>
              <a:t>intquit.c</a:t>
            </a:r>
            <a:r>
              <a:rPr lang="en-US" sz="1050" spc="-5" dirty="0">
                <a:solidFill>
                  <a:srgbClr val="3333B2"/>
                </a:solidFill>
                <a:latin typeface="Arial"/>
                <a:cs typeface="Arial"/>
              </a:rPr>
              <a:t>  </a:t>
            </a:r>
          </a:p>
          <a:p>
            <a:pPr marL="12700">
              <a:lnSpc>
                <a:spcPct val="100000"/>
              </a:lnSpc>
            </a:pPr>
            <a:r>
              <a:rPr lang="en-US" sz="1050" spc="-5" dirty="0" err="1">
                <a:solidFill>
                  <a:srgbClr val="3333B2"/>
                </a:solidFill>
                <a:latin typeface="Arial"/>
                <a:cs typeface="Arial"/>
              </a:rPr>
              <a:t>sigaction.c</a:t>
            </a:r>
            <a:endParaRPr lang="en-US" sz="1050" spc="-5" dirty="0">
              <a:solidFill>
                <a:srgbClr val="3333B2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1050" spc="-5" dirty="0" err="1">
                <a:solidFill>
                  <a:srgbClr val="3333B2"/>
                </a:solidFill>
                <a:latin typeface="Arial"/>
                <a:cs typeface="Arial"/>
              </a:rPr>
              <a:t>synchro.c</a:t>
            </a:r>
            <a:r>
              <a:rPr lang="en-US" sz="105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</a:p>
          <a:p>
            <a:pPr marL="12700">
              <a:lnSpc>
                <a:spcPct val="100000"/>
              </a:lnSpc>
            </a:pPr>
            <a:r>
              <a:rPr lang="en-US" sz="1050" spc="-5" dirty="0" err="1">
                <a:solidFill>
                  <a:srgbClr val="3333B2"/>
                </a:solidFill>
                <a:latin typeface="Arial"/>
                <a:cs typeface="Arial"/>
              </a:rPr>
              <a:t>quickreply.c</a:t>
            </a:r>
            <a:endParaRPr lang="en-US" sz="1050" spc="-5" dirty="0">
              <a:solidFill>
                <a:srgbClr val="3333B2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1050" spc="-5" dirty="0" err="1">
                <a:solidFill>
                  <a:srgbClr val="3333B2"/>
                </a:solidFill>
                <a:latin typeface="Arial"/>
                <a:cs typeface="Arial"/>
              </a:rPr>
              <a:t>tml.c</a:t>
            </a:r>
            <a:endParaRPr lang="en-US" sz="1050" spc="-5" dirty="0">
              <a:solidFill>
                <a:srgbClr val="3333B2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1050" spc="-5" dirty="0">
                <a:solidFill>
                  <a:srgbClr val="3333B2"/>
                </a:solidFill>
                <a:latin typeface="Arial"/>
                <a:cs typeface="Arial"/>
              </a:rPr>
              <a:t>sleep1.c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F14D8717-1160-0758-1C9F-FE80811CEBC4}"/>
              </a:ext>
            </a:extLst>
          </p:cNvPr>
          <p:cNvSpPr/>
          <p:nvPr/>
        </p:nvSpPr>
        <p:spPr>
          <a:xfrm>
            <a:off x="771526" y="3309595"/>
            <a:ext cx="2304415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98E9F861-5FE1-7B65-BB70-F306DDF4F72D}"/>
              </a:ext>
            </a:extLst>
          </p:cNvPr>
          <p:cNvSpPr/>
          <p:nvPr/>
        </p:nvSpPr>
        <p:spPr>
          <a:xfrm>
            <a:off x="3075521" y="3309595"/>
            <a:ext cx="3077629" cy="146685"/>
          </a:xfrm>
          <a:custGeom>
            <a:avLst/>
            <a:gdLst/>
            <a:ahLst/>
            <a:cxnLst/>
            <a:rect l="l" t="t" r="r" b="b"/>
            <a:pathLst>
              <a:path w="2304415" h="146685">
                <a:moveTo>
                  <a:pt x="0" y="146405"/>
                </a:moveTo>
                <a:lnTo>
                  <a:pt x="2303995" y="146405"/>
                </a:lnTo>
                <a:lnTo>
                  <a:pt x="2303995" y="0"/>
                </a:lnTo>
                <a:lnTo>
                  <a:pt x="0" y="0"/>
                </a:lnTo>
                <a:lnTo>
                  <a:pt x="0" y="146405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6147252A-495F-3729-589C-DAC538BBCE9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240685" y="3325825"/>
            <a:ext cx="478861" cy="1006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-5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Signals II</a:t>
            </a:r>
            <a:endParaRPr kumimoji="0" sz="600" b="1" i="0" u="none" strike="noStrike" kern="1200" cap="none" spc="-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419E4EF4-94CD-CF94-46DB-8FD1DE98A9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CA" sz="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CA" sz="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53222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50F2F-83B6-D014-A474-A758842FD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6325-7F79-7367-E4B3-EA517844D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17">
                <a:solidFill>
                  <a:srgbClr val="0070C0"/>
                </a:solidFill>
              </a:rPr>
              <a:t>Part VI</a:t>
            </a:r>
            <a:br>
              <a:rPr lang="en-US" sz="1817" dirty="0">
                <a:solidFill>
                  <a:srgbClr val="0070C0"/>
                </a:solidFill>
              </a:rPr>
            </a:br>
            <a:r>
              <a:rPr lang="en-US" sz="1817" dirty="0">
                <a:solidFill>
                  <a:srgbClr val="0070C0"/>
                </a:solidFill>
                <a:cs typeface="Courier New" panose="02070309020205020404" pitchFamily="49" charset="0"/>
              </a:rPr>
              <a:t>Attendance Quiz (Not graded)</a:t>
            </a:r>
            <a:endParaRPr lang="en-US" sz="1817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CDCE4-20B8-0E89-1FA0-D1F64975D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3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A969EA-1DDF-92E6-54C9-656535AC61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4D3892-59B1-6153-DFAB-76B4FCA3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46136" tIns="46136" rIns="46136" bIns="46136" rtlCol="0" anchor="ctr" anchorCtr="0">
            <a:noAutofit/>
          </a:bodyPr>
          <a:lstStyle/>
          <a:p>
            <a:r>
              <a:rPr lang="en-US" dirty="0"/>
              <a:t>Quiz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3DB2009-E28F-16C7-421B-740003EB0EDC}"/>
              </a:ext>
            </a:extLst>
          </p:cNvPr>
          <p:cNvSpPr txBox="1">
            <a:spLocks/>
          </p:cNvSpPr>
          <p:nvPr/>
        </p:nvSpPr>
        <p:spPr>
          <a:xfrm>
            <a:off x="942" y="3178175"/>
            <a:ext cx="283583" cy="123483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61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3F5F5-7776-394F-A41F-3BAFC9CC9F8E}" type="slidenum">
              <a:rPr kumimoji="0" lang="en-US" sz="50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614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50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Cartoon checklist and pencil">
            <a:extLst>
              <a:ext uri="{FF2B5EF4-FFF2-40B4-BE49-F238E27FC236}">
                <a16:creationId xmlns:a16="http://schemas.microsoft.com/office/drawing/2014/main" id="{5D12BE29-AEB8-6151-6041-CA1FE44571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403" y="849967"/>
            <a:ext cx="2548924" cy="19116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09D14A-E01E-759A-7131-0D436DB988D7}"/>
              </a:ext>
            </a:extLst>
          </p:cNvPr>
          <p:cNvSpPr txBox="1"/>
          <p:nvPr/>
        </p:nvSpPr>
        <p:spPr>
          <a:xfrm>
            <a:off x="1728403" y="2310494"/>
            <a:ext cx="2548923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61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2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Attendance Quiz</a:t>
            </a:r>
          </a:p>
        </p:txBody>
      </p:sp>
    </p:spTree>
    <p:extLst>
      <p:ext uri="{BB962C8B-B14F-4D97-AF65-F5344CB8AC3E}">
        <p14:creationId xmlns:p14="http://schemas.microsoft.com/office/powerpoint/2010/main" val="474210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duotone>
              <a:schemeClr val="bg2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D6ED-EE4A-059C-7997-BBE5168AB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7BD75-A0AA-ABE5-C5C7-F721F2BD37FD}"/>
              </a:ext>
            </a:extLst>
          </p:cNvPr>
          <p:cNvSpPr txBox="1">
            <a:spLocks/>
          </p:cNvSpPr>
          <p:nvPr/>
        </p:nvSpPr>
        <p:spPr>
          <a:xfrm>
            <a:off x="423334" y="2308207"/>
            <a:ext cx="2348441" cy="717568"/>
          </a:xfrm>
          <a:prstGeom prst="rect">
            <a:avLst/>
          </a:prstGeom>
        </p:spPr>
        <p:txBody>
          <a:bodyPr/>
          <a:lstStyle/>
          <a:p>
            <a:pPr marL="129771" marR="0" lvl="0" indent="-129771" algn="l" defTabSz="46140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8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Tahoma" pitchFamily="34" charset="0"/>
              </a:rPr>
              <a:t>Dr</a:t>
            </a:r>
            <a:r>
              <a:rPr kumimoji="0" lang="el-GR" sz="908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Tahoma" pitchFamily="34" charset="0"/>
              </a:rPr>
              <a:t>. </a:t>
            </a:r>
            <a:r>
              <a:rPr kumimoji="0" lang="en-US" sz="908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Tahoma" pitchFamily="34" charset="0"/>
              </a:rPr>
              <a:t>Andreas S</a:t>
            </a:r>
            <a:r>
              <a:rPr kumimoji="0" lang="el-GR" sz="908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Tahoma" pitchFamily="34" charset="0"/>
              </a:rPr>
              <a:t>. </a:t>
            </a:r>
            <a:r>
              <a:rPr kumimoji="0" lang="en-US" sz="908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Tahoma" pitchFamily="34" charset="0"/>
              </a:rPr>
              <a:t>Maniatis</a:t>
            </a:r>
          </a:p>
          <a:p>
            <a:pPr marL="129771" marR="0" lvl="0" indent="-129771" algn="l" defTabSz="46140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8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Tahoma" pitchFamily="34" charset="0"/>
              </a:rPr>
              <a:t>Assistant Professor</a:t>
            </a:r>
            <a:endParaRPr kumimoji="0" lang="el-GR" sz="908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Tahoma" pitchFamily="34" charset="0"/>
            </a:endParaRPr>
          </a:p>
          <a:p>
            <a:pPr marL="129771" marR="0" lvl="0" indent="-129771" algn="l" defTabSz="46140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8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Tahoma" pitchFamily="34" charset="0"/>
                <a:hlinkClick r:id="rId3"/>
              </a:rPr>
              <a:t>Andreas.Maniatis@UWindsor.ca</a:t>
            </a:r>
            <a:endParaRPr kumimoji="0" lang="en-US" sz="908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Tahoma" pitchFamily="34" charset="0"/>
            </a:endParaRPr>
          </a:p>
          <a:p>
            <a:pPr marL="129771" marR="0" lvl="0" indent="-129771" algn="l" defTabSz="46140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8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Tahoma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http://www.linkedin.com/in/andreasmaniatis</a:t>
            </a:r>
            <a:r>
              <a:rPr kumimoji="0" lang="en-US" sz="908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Tahoma" pitchFamily="34" charset="0"/>
              </a:rPr>
              <a:t> </a:t>
            </a:r>
          </a:p>
          <a:p>
            <a:pPr marL="129771" marR="0" lvl="0" indent="-129771" algn="l" defTabSz="46140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l-GR" sz="757" b="0" i="0" u="none" strike="noStrike" kern="1200" cap="none" spc="0" normalizeH="0" baseline="0" noProof="0" dirty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Tahoma" pitchFamily="34" charset="0"/>
              <a:ea typeface="+mn-ea"/>
              <a:cs typeface="Tahoma" pitchFamily="34" charset="0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975096F5-F5E0-5127-56C2-10F1442B69D7}"/>
              </a:ext>
            </a:extLst>
          </p:cNvPr>
          <p:cNvSpPr txBox="1">
            <a:spLocks/>
          </p:cNvSpPr>
          <p:nvPr/>
        </p:nvSpPr>
        <p:spPr>
          <a:xfrm>
            <a:off x="1740517" y="1172873"/>
            <a:ext cx="2941638" cy="515507"/>
          </a:xfrm>
          <a:prstGeom prst="rect">
            <a:avLst/>
          </a:prstGeom>
        </p:spPr>
        <p:txBody>
          <a:bodyPr vert="horz" lIns="34608" tIns="17304" rIns="34608" bIns="17304" rtlCol="0" anchor="ctr">
            <a:normAutofit lnSpcReduction="10000"/>
          </a:bodyPr>
          <a:lstStyle/>
          <a:p>
            <a:pPr marL="0" marR="0" lvl="0" indent="0" algn="ctr" defTabSz="4614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17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ahoma" pitchFamily="34" charset="0"/>
                <a:ea typeface="+mn-ea"/>
                <a:cs typeface="Tahoma" pitchFamily="34" charset="0"/>
              </a:rPr>
              <a:t>Thank you!</a:t>
            </a:r>
          </a:p>
          <a:p>
            <a:pPr marL="0" marR="0" lvl="0" indent="0" algn="ctr" defTabSz="46140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14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Tahoma" pitchFamily="34" charset="0"/>
                <a:ea typeface="+mn-ea"/>
                <a:cs typeface="Tahoma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862057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UWindsor Yellow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1075</TotalTime>
  <Words>9369</Words>
  <Application>Microsoft Office PowerPoint</Application>
  <PresentationFormat>Custom</PresentationFormat>
  <Paragraphs>1274</Paragraphs>
  <Slides>28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Calibri Light</vt:lpstr>
      <vt:lpstr>Courier New</vt:lpstr>
      <vt:lpstr>Quicksand</vt:lpstr>
      <vt:lpstr>Tahoma</vt:lpstr>
      <vt:lpstr>Times New Roman</vt:lpstr>
      <vt:lpstr>Wingdings</vt:lpstr>
      <vt:lpstr>Office Theme</vt:lpstr>
      <vt:lpstr>1_Office Theme</vt:lpstr>
      <vt:lpstr>Week 9 2. UNIX Signals (II)</vt:lpstr>
      <vt:lpstr>COMP-2560  System Programming:                   Signals II</vt:lpstr>
      <vt:lpstr>Content</vt:lpstr>
      <vt:lpstr>Part I Suspending a process</vt:lpstr>
      <vt:lpstr>PowerPoint Presentation</vt:lpstr>
      <vt:lpstr>PowerPoint Presentation</vt:lpstr>
      <vt:lpstr>Part II Sending a signal to a process</vt:lpstr>
      <vt:lpstr>PowerPoint Presentation</vt:lpstr>
      <vt:lpstr>PowerPoint Presentation</vt:lpstr>
      <vt:lpstr>Part III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IV Process Groups and Control Terminal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 Examples for homework</vt:lpstr>
      <vt:lpstr>PowerPoint Presentation</vt:lpstr>
      <vt:lpstr>Part VI Attendance Quiz (Not graded)</vt:lpstr>
      <vt:lpstr>Quiz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9.2. COMP.2560 - System Programming: Signals II</dc:title>
  <dc:subject>Signals II</dc:subject>
  <dc:creator>by Dr. B. Boufama</dc:creator>
  <cp:keywords>COMP.2560, 2025F, 9.2, Signals II</cp:keywords>
  <cp:lastModifiedBy>Andreas Maniatis</cp:lastModifiedBy>
  <cp:revision>67</cp:revision>
  <dcterms:created xsi:type="dcterms:W3CDTF">2019-09-06T21:28:33Z</dcterms:created>
  <dcterms:modified xsi:type="dcterms:W3CDTF">2025-10-29T17:44:12Z</dcterms:modified>
  <cp:category>Lecture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2006-10-26T00:00:00Z</vt:filetime>
  </property>
  <property fmtid="{D5CDD505-2E9C-101B-9397-08002B2CF9AE}" pid="3" name="Creator">
    <vt:lpwstr>LaTeX with beamer class version 3.01</vt:lpwstr>
  </property>
  <property fmtid="{D5CDD505-2E9C-101B-9397-08002B2CF9AE}" pid="4" name="LastSaved">
    <vt:filetime>2006-10-26T00:00:00Z</vt:filetime>
  </property>
</Properties>
</file>