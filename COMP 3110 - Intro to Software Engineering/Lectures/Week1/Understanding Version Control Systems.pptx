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7.xml" ContentType="application/vnd.openxmlformats-officedocument.presentationml.tags+xml"/>
  <Override PartName="/ppt/notesSlides/notesSlide21.xml" ContentType="application/vnd.openxmlformats-officedocument.presentationml.notesSlide+xml"/>
  <Override PartName="/ppt/tags/tag18.xml" ContentType="application/vnd.openxmlformats-officedocument.presentationml.tags+xml"/>
  <Override PartName="/ppt/notesSlides/notesSlide22.xml" ContentType="application/vnd.openxmlformats-officedocument.presentationml.notesSlide+xml"/>
  <Override PartName="/ppt/tags/tag19.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98" r:id="rId2"/>
    <p:sldId id="366" r:id="rId3"/>
    <p:sldId id="400" r:id="rId4"/>
    <p:sldId id="401" r:id="rId5"/>
    <p:sldId id="403" r:id="rId6"/>
    <p:sldId id="402" r:id="rId7"/>
    <p:sldId id="404" r:id="rId8"/>
    <p:sldId id="405" r:id="rId9"/>
    <p:sldId id="408" r:id="rId10"/>
    <p:sldId id="407" r:id="rId11"/>
    <p:sldId id="410" r:id="rId12"/>
    <p:sldId id="411" r:id="rId13"/>
    <p:sldId id="412" r:id="rId14"/>
    <p:sldId id="415" r:id="rId15"/>
    <p:sldId id="427" r:id="rId16"/>
    <p:sldId id="429" r:id="rId17"/>
    <p:sldId id="430" r:id="rId18"/>
    <p:sldId id="413" r:id="rId19"/>
    <p:sldId id="414" r:id="rId20"/>
    <p:sldId id="416" r:id="rId21"/>
    <p:sldId id="417" r:id="rId22"/>
    <p:sldId id="420" r:id="rId23"/>
    <p:sldId id="421" r:id="rId24"/>
    <p:sldId id="42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14"/>
  </p:normalViewPr>
  <p:slideViewPr>
    <p:cSldViewPr snapToGrid="0">
      <p:cViewPr varScale="1">
        <p:scale>
          <a:sx n="97" d="100"/>
          <a:sy n="97" d="100"/>
        </p:scale>
        <p:origin x="10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8523C9-CAAC-3F47-896C-B86F8A97B164}" type="doc">
      <dgm:prSet loTypeId="urn:microsoft.com/office/officeart/2005/8/layout/process1" loCatId="" qsTypeId="urn:microsoft.com/office/officeart/2005/8/quickstyle/simple1#2" qsCatId="simple" csTypeId="urn:microsoft.com/office/officeart/2005/8/colors/accent1_2#2" csCatId="accent1" phldr="1"/>
      <dgm:spPr/>
    </dgm:pt>
    <dgm:pt modelId="{B692FDED-526F-CC41-A221-F3925B28CF80}">
      <dgm:prSet phldrT="[Text]"/>
      <dgm:spPr/>
      <dgm:t>
        <a:bodyPr/>
        <a:lstStyle/>
        <a:p>
          <a:pPr>
            <a:buFont typeface="Arial" panose="020B0604020202020204" pitchFamily="34" charset="0"/>
            <a:buChar char="•"/>
          </a:pPr>
          <a:r>
            <a:rPr lang="en-US" dirty="0"/>
            <a:t>Create a new repository or clone a repository</a:t>
          </a:r>
        </a:p>
      </dgm:t>
    </dgm:pt>
    <dgm:pt modelId="{1BEB5D4A-D7BF-3E40-B6A5-4EC9CFAE4DD4}" type="parTrans" cxnId="{2F3EB4F7-FD89-BF4B-9F8A-B9AFC3E8FBB7}">
      <dgm:prSet/>
      <dgm:spPr/>
      <dgm:t>
        <a:bodyPr/>
        <a:lstStyle/>
        <a:p>
          <a:endParaRPr lang="en-US"/>
        </a:p>
      </dgm:t>
    </dgm:pt>
    <dgm:pt modelId="{65335F3E-DC8B-6D4B-96A8-19A51B972A6B}" type="sibTrans" cxnId="{2F3EB4F7-FD89-BF4B-9F8A-B9AFC3E8FBB7}">
      <dgm:prSet/>
      <dgm:spPr/>
      <dgm:t>
        <a:bodyPr/>
        <a:lstStyle/>
        <a:p>
          <a:endParaRPr lang="en-US"/>
        </a:p>
      </dgm:t>
    </dgm:pt>
    <dgm:pt modelId="{CF4D971E-C8DC-D642-A452-AD6BDCC70CC2}">
      <dgm:prSet phldrT="[Text]"/>
      <dgm:spPr/>
      <dgm:t>
        <a:bodyPr/>
        <a:lstStyle/>
        <a:p>
          <a:pPr>
            <a:buFont typeface="Arial" panose="020B0604020202020204" pitchFamily="34" charset="0"/>
            <a:buChar char="•"/>
          </a:pPr>
          <a:r>
            <a:rPr lang="en-US" dirty="0"/>
            <a:t>Modify files in the working tree</a:t>
          </a:r>
        </a:p>
      </dgm:t>
    </dgm:pt>
    <dgm:pt modelId="{1796C835-7E8D-A24E-AB99-981E389C5B33}" type="parTrans" cxnId="{917A39DE-EC69-4549-AF2F-D4FE2D9D70D1}">
      <dgm:prSet/>
      <dgm:spPr/>
      <dgm:t>
        <a:bodyPr/>
        <a:lstStyle/>
        <a:p>
          <a:endParaRPr lang="en-US"/>
        </a:p>
      </dgm:t>
    </dgm:pt>
    <dgm:pt modelId="{4D9A2D06-7ACF-D442-A2F0-AC1963107398}" type="sibTrans" cxnId="{917A39DE-EC69-4549-AF2F-D4FE2D9D70D1}">
      <dgm:prSet/>
      <dgm:spPr/>
      <dgm:t>
        <a:bodyPr/>
        <a:lstStyle/>
        <a:p>
          <a:endParaRPr lang="en-US"/>
        </a:p>
      </dgm:t>
    </dgm:pt>
    <dgm:pt modelId="{E18E5172-7E42-184F-AD4E-13FB0D7E43FE}">
      <dgm:prSet phldrT="[Text]"/>
      <dgm:spPr/>
      <dgm:t>
        <a:bodyPr/>
        <a:lstStyle/>
        <a:p>
          <a:pPr>
            <a:buFont typeface="Arial" panose="020B0604020202020204" pitchFamily="34" charset="0"/>
            <a:buChar char="•"/>
          </a:pPr>
          <a:r>
            <a:rPr lang="en-US" dirty="0"/>
            <a:t>Added the modified files to the staged area</a:t>
          </a:r>
        </a:p>
      </dgm:t>
    </dgm:pt>
    <dgm:pt modelId="{69219C42-7578-C144-8968-ECD018AD480B}" type="parTrans" cxnId="{678273CD-4EBB-F14B-B6EE-87EC9E9D9B91}">
      <dgm:prSet/>
      <dgm:spPr/>
      <dgm:t>
        <a:bodyPr/>
        <a:lstStyle/>
        <a:p>
          <a:endParaRPr lang="en-US"/>
        </a:p>
      </dgm:t>
    </dgm:pt>
    <dgm:pt modelId="{83DEE26C-E6E6-9349-BD91-0DA7DEB6A69A}" type="sibTrans" cxnId="{678273CD-4EBB-F14B-B6EE-87EC9E9D9B91}">
      <dgm:prSet/>
      <dgm:spPr/>
      <dgm:t>
        <a:bodyPr/>
        <a:lstStyle/>
        <a:p>
          <a:endParaRPr lang="en-US"/>
        </a:p>
      </dgm:t>
    </dgm:pt>
    <dgm:pt modelId="{59EC4680-E513-9742-A2B3-7353530D2072}">
      <dgm:prSet phldrT="[Text]"/>
      <dgm:spPr/>
      <dgm:t>
        <a:bodyPr/>
        <a:lstStyle/>
        <a:p>
          <a:r>
            <a:rPr lang="en-US" dirty="0"/>
            <a:t>Commit the changes</a:t>
          </a:r>
        </a:p>
      </dgm:t>
    </dgm:pt>
    <dgm:pt modelId="{6B57B93E-BFA1-594F-B07B-20D97C0D4E49}" type="parTrans" cxnId="{55C2A9FD-E2A6-904A-B629-E0DEB60BEA29}">
      <dgm:prSet/>
      <dgm:spPr/>
      <dgm:t>
        <a:bodyPr/>
        <a:lstStyle/>
        <a:p>
          <a:endParaRPr lang="en-US"/>
        </a:p>
      </dgm:t>
    </dgm:pt>
    <dgm:pt modelId="{0F221562-3279-6245-821D-1E81E50A0BB2}" type="sibTrans" cxnId="{55C2A9FD-E2A6-904A-B629-E0DEB60BEA29}">
      <dgm:prSet/>
      <dgm:spPr/>
      <dgm:t>
        <a:bodyPr/>
        <a:lstStyle/>
        <a:p>
          <a:endParaRPr lang="en-US"/>
        </a:p>
      </dgm:t>
    </dgm:pt>
    <dgm:pt modelId="{557F54D4-7CC5-F344-B52B-C7F9BE807E24}" type="pres">
      <dgm:prSet presAssocID="{748523C9-CAAC-3F47-896C-B86F8A97B164}" presName="Name0" presStyleCnt="0">
        <dgm:presLayoutVars>
          <dgm:dir/>
          <dgm:resizeHandles val="exact"/>
        </dgm:presLayoutVars>
      </dgm:prSet>
      <dgm:spPr/>
    </dgm:pt>
    <dgm:pt modelId="{E59BB245-4A79-8346-98EF-3BDB2A6778E4}" type="pres">
      <dgm:prSet presAssocID="{B692FDED-526F-CC41-A221-F3925B28CF80}" presName="node" presStyleLbl="node1" presStyleIdx="0" presStyleCnt="4">
        <dgm:presLayoutVars>
          <dgm:bulletEnabled val="1"/>
        </dgm:presLayoutVars>
      </dgm:prSet>
      <dgm:spPr/>
    </dgm:pt>
    <dgm:pt modelId="{11AFB70B-220A-5148-A78B-F869D60C4B1A}" type="pres">
      <dgm:prSet presAssocID="{65335F3E-DC8B-6D4B-96A8-19A51B972A6B}" presName="sibTrans" presStyleLbl="sibTrans2D1" presStyleIdx="0" presStyleCnt="3"/>
      <dgm:spPr/>
    </dgm:pt>
    <dgm:pt modelId="{A76181BB-FDFF-224B-88C0-54A434A1C5AB}" type="pres">
      <dgm:prSet presAssocID="{65335F3E-DC8B-6D4B-96A8-19A51B972A6B}" presName="connectorText" presStyleLbl="sibTrans2D1" presStyleIdx="0" presStyleCnt="3"/>
      <dgm:spPr/>
    </dgm:pt>
    <dgm:pt modelId="{19F13E9F-8844-6A41-BBE4-80085EAB423D}" type="pres">
      <dgm:prSet presAssocID="{CF4D971E-C8DC-D642-A452-AD6BDCC70CC2}" presName="node" presStyleLbl="node1" presStyleIdx="1" presStyleCnt="4">
        <dgm:presLayoutVars>
          <dgm:bulletEnabled val="1"/>
        </dgm:presLayoutVars>
      </dgm:prSet>
      <dgm:spPr/>
    </dgm:pt>
    <dgm:pt modelId="{DA07494C-474C-8740-BF5C-F9DE7D1F6E99}" type="pres">
      <dgm:prSet presAssocID="{4D9A2D06-7ACF-D442-A2F0-AC1963107398}" presName="sibTrans" presStyleLbl="sibTrans2D1" presStyleIdx="1" presStyleCnt="3"/>
      <dgm:spPr/>
    </dgm:pt>
    <dgm:pt modelId="{36D9A1AB-1500-E841-A2BB-10C3E69C6AC1}" type="pres">
      <dgm:prSet presAssocID="{4D9A2D06-7ACF-D442-A2F0-AC1963107398}" presName="connectorText" presStyleLbl="sibTrans2D1" presStyleIdx="1" presStyleCnt="3"/>
      <dgm:spPr/>
    </dgm:pt>
    <dgm:pt modelId="{043FAA23-8D8D-E444-8DB6-539C79E7415E}" type="pres">
      <dgm:prSet presAssocID="{E18E5172-7E42-184F-AD4E-13FB0D7E43FE}" presName="node" presStyleLbl="node1" presStyleIdx="2" presStyleCnt="4">
        <dgm:presLayoutVars>
          <dgm:bulletEnabled val="1"/>
        </dgm:presLayoutVars>
      </dgm:prSet>
      <dgm:spPr/>
    </dgm:pt>
    <dgm:pt modelId="{20322304-D49E-4543-8021-4CC8C1F87854}" type="pres">
      <dgm:prSet presAssocID="{83DEE26C-E6E6-9349-BD91-0DA7DEB6A69A}" presName="sibTrans" presStyleLbl="sibTrans2D1" presStyleIdx="2" presStyleCnt="3"/>
      <dgm:spPr/>
    </dgm:pt>
    <dgm:pt modelId="{8719EC4A-51DA-CC45-99CF-5C73E01CF422}" type="pres">
      <dgm:prSet presAssocID="{83DEE26C-E6E6-9349-BD91-0DA7DEB6A69A}" presName="connectorText" presStyleLbl="sibTrans2D1" presStyleIdx="2" presStyleCnt="3"/>
      <dgm:spPr/>
    </dgm:pt>
    <dgm:pt modelId="{6C773637-6E0D-3F4C-810A-7A67399788AE}" type="pres">
      <dgm:prSet presAssocID="{59EC4680-E513-9742-A2B3-7353530D2072}" presName="node" presStyleLbl="node1" presStyleIdx="3" presStyleCnt="4">
        <dgm:presLayoutVars>
          <dgm:bulletEnabled val="1"/>
        </dgm:presLayoutVars>
      </dgm:prSet>
      <dgm:spPr/>
    </dgm:pt>
  </dgm:ptLst>
  <dgm:cxnLst>
    <dgm:cxn modelId="{FFF5A80D-A0E9-5440-A88D-3B73331DEEDD}" type="presOf" srcId="{E18E5172-7E42-184F-AD4E-13FB0D7E43FE}" destId="{043FAA23-8D8D-E444-8DB6-539C79E7415E}" srcOrd="0" destOrd="0" presId="urn:microsoft.com/office/officeart/2005/8/layout/process1"/>
    <dgm:cxn modelId="{58458A4F-8A94-5D4C-9DC3-84938267B6F5}" type="presOf" srcId="{748523C9-CAAC-3F47-896C-B86F8A97B164}" destId="{557F54D4-7CC5-F344-B52B-C7F9BE807E24}" srcOrd="0" destOrd="0" presId="urn:microsoft.com/office/officeart/2005/8/layout/process1"/>
    <dgm:cxn modelId="{54D4895E-8A49-C14C-977A-E045B87FD2EF}" type="presOf" srcId="{83DEE26C-E6E6-9349-BD91-0DA7DEB6A69A}" destId="{8719EC4A-51DA-CC45-99CF-5C73E01CF422}" srcOrd="1" destOrd="0" presId="urn:microsoft.com/office/officeart/2005/8/layout/process1"/>
    <dgm:cxn modelId="{8699DB72-2739-0149-9AF7-3E3DF25D13C5}" type="presOf" srcId="{83DEE26C-E6E6-9349-BD91-0DA7DEB6A69A}" destId="{20322304-D49E-4543-8021-4CC8C1F87854}" srcOrd="0" destOrd="0" presId="urn:microsoft.com/office/officeart/2005/8/layout/process1"/>
    <dgm:cxn modelId="{BAF93F80-77B7-8B4D-AAAC-DE84B522ACA6}" type="presOf" srcId="{CF4D971E-C8DC-D642-A452-AD6BDCC70CC2}" destId="{19F13E9F-8844-6A41-BBE4-80085EAB423D}" srcOrd="0" destOrd="0" presId="urn:microsoft.com/office/officeart/2005/8/layout/process1"/>
    <dgm:cxn modelId="{53455B94-2801-7848-8475-D9975644C743}" type="presOf" srcId="{59EC4680-E513-9742-A2B3-7353530D2072}" destId="{6C773637-6E0D-3F4C-810A-7A67399788AE}" srcOrd="0" destOrd="0" presId="urn:microsoft.com/office/officeart/2005/8/layout/process1"/>
    <dgm:cxn modelId="{9B9F9B97-88BC-7F4F-9A24-04A00B2F6D22}" type="presOf" srcId="{B692FDED-526F-CC41-A221-F3925B28CF80}" destId="{E59BB245-4A79-8346-98EF-3BDB2A6778E4}" srcOrd="0" destOrd="0" presId="urn:microsoft.com/office/officeart/2005/8/layout/process1"/>
    <dgm:cxn modelId="{B56896CC-44E0-154B-BCDB-2036AA902270}" type="presOf" srcId="{65335F3E-DC8B-6D4B-96A8-19A51B972A6B}" destId="{11AFB70B-220A-5148-A78B-F869D60C4B1A}" srcOrd="0" destOrd="0" presId="urn:microsoft.com/office/officeart/2005/8/layout/process1"/>
    <dgm:cxn modelId="{678273CD-4EBB-F14B-B6EE-87EC9E9D9B91}" srcId="{748523C9-CAAC-3F47-896C-B86F8A97B164}" destId="{E18E5172-7E42-184F-AD4E-13FB0D7E43FE}" srcOrd="2" destOrd="0" parTransId="{69219C42-7578-C144-8968-ECD018AD480B}" sibTransId="{83DEE26C-E6E6-9349-BD91-0DA7DEB6A69A}"/>
    <dgm:cxn modelId="{632568D0-890A-3544-8573-086EA910D873}" type="presOf" srcId="{4D9A2D06-7ACF-D442-A2F0-AC1963107398}" destId="{DA07494C-474C-8740-BF5C-F9DE7D1F6E99}" srcOrd="0" destOrd="0" presId="urn:microsoft.com/office/officeart/2005/8/layout/process1"/>
    <dgm:cxn modelId="{09016ED7-F8FF-194C-8030-E69FAB50AC49}" type="presOf" srcId="{65335F3E-DC8B-6D4B-96A8-19A51B972A6B}" destId="{A76181BB-FDFF-224B-88C0-54A434A1C5AB}" srcOrd="1" destOrd="0" presId="urn:microsoft.com/office/officeart/2005/8/layout/process1"/>
    <dgm:cxn modelId="{917A39DE-EC69-4549-AF2F-D4FE2D9D70D1}" srcId="{748523C9-CAAC-3F47-896C-B86F8A97B164}" destId="{CF4D971E-C8DC-D642-A452-AD6BDCC70CC2}" srcOrd="1" destOrd="0" parTransId="{1796C835-7E8D-A24E-AB99-981E389C5B33}" sibTransId="{4D9A2D06-7ACF-D442-A2F0-AC1963107398}"/>
    <dgm:cxn modelId="{D3990FF6-2984-D641-9443-AE3078D54726}" type="presOf" srcId="{4D9A2D06-7ACF-D442-A2F0-AC1963107398}" destId="{36D9A1AB-1500-E841-A2BB-10C3E69C6AC1}" srcOrd="1" destOrd="0" presId="urn:microsoft.com/office/officeart/2005/8/layout/process1"/>
    <dgm:cxn modelId="{2F3EB4F7-FD89-BF4B-9F8A-B9AFC3E8FBB7}" srcId="{748523C9-CAAC-3F47-896C-B86F8A97B164}" destId="{B692FDED-526F-CC41-A221-F3925B28CF80}" srcOrd="0" destOrd="0" parTransId="{1BEB5D4A-D7BF-3E40-B6A5-4EC9CFAE4DD4}" sibTransId="{65335F3E-DC8B-6D4B-96A8-19A51B972A6B}"/>
    <dgm:cxn modelId="{55C2A9FD-E2A6-904A-B629-E0DEB60BEA29}" srcId="{748523C9-CAAC-3F47-896C-B86F8A97B164}" destId="{59EC4680-E513-9742-A2B3-7353530D2072}" srcOrd="3" destOrd="0" parTransId="{6B57B93E-BFA1-594F-B07B-20D97C0D4E49}" sibTransId="{0F221562-3279-6245-821D-1E81E50A0BB2}"/>
    <dgm:cxn modelId="{23E79766-7BC6-B44E-A45A-EE7268D9D56A}" type="presParOf" srcId="{557F54D4-7CC5-F344-B52B-C7F9BE807E24}" destId="{E59BB245-4A79-8346-98EF-3BDB2A6778E4}" srcOrd="0" destOrd="0" presId="urn:microsoft.com/office/officeart/2005/8/layout/process1"/>
    <dgm:cxn modelId="{A4820D43-2D89-214C-8B5D-6244FFB760A1}" type="presParOf" srcId="{557F54D4-7CC5-F344-B52B-C7F9BE807E24}" destId="{11AFB70B-220A-5148-A78B-F869D60C4B1A}" srcOrd="1" destOrd="0" presId="urn:microsoft.com/office/officeart/2005/8/layout/process1"/>
    <dgm:cxn modelId="{82C5E025-D397-4D4C-8730-11DEDC306523}" type="presParOf" srcId="{11AFB70B-220A-5148-A78B-F869D60C4B1A}" destId="{A76181BB-FDFF-224B-88C0-54A434A1C5AB}" srcOrd="0" destOrd="0" presId="urn:microsoft.com/office/officeart/2005/8/layout/process1"/>
    <dgm:cxn modelId="{7198DCD0-10D8-4D4F-B7E7-3804E40699B3}" type="presParOf" srcId="{557F54D4-7CC5-F344-B52B-C7F9BE807E24}" destId="{19F13E9F-8844-6A41-BBE4-80085EAB423D}" srcOrd="2" destOrd="0" presId="urn:microsoft.com/office/officeart/2005/8/layout/process1"/>
    <dgm:cxn modelId="{5633F2C0-C2CA-6344-AB6F-C3186DE4242D}" type="presParOf" srcId="{557F54D4-7CC5-F344-B52B-C7F9BE807E24}" destId="{DA07494C-474C-8740-BF5C-F9DE7D1F6E99}" srcOrd="3" destOrd="0" presId="urn:microsoft.com/office/officeart/2005/8/layout/process1"/>
    <dgm:cxn modelId="{F653535D-E6D8-E54F-89C9-CD602F5DBEB0}" type="presParOf" srcId="{DA07494C-474C-8740-BF5C-F9DE7D1F6E99}" destId="{36D9A1AB-1500-E841-A2BB-10C3E69C6AC1}" srcOrd="0" destOrd="0" presId="urn:microsoft.com/office/officeart/2005/8/layout/process1"/>
    <dgm:cxn modelId="{4DBEBF4A-452A-A74D-968F-D81F43BEB255}" type="presParOf" srcId="{557F54D4-7CC5-F344-B52B-C7F9BE807E24}" destId="{043FAA23-8D8D-E444-8DB6-539C79E7415E}" srcOrd="4" destOrd="0" presId="urn:microsoft.com/office/officeart/2005/8/layout/process1"/>
    <dgm:cxn modelId="{370D7771-53D8-2D40-80FE-450DFC5FA637}" type="presParOf" srcId="{557F54D4-7CC5-F344-B52B-C7F9BE807E24}" destId="{20322304-D49E-4543-8021-4CC8C1F87854}" srcOrd="5" destOrd="0" presId="urn:microsoft.com/office/officeart/2005/8/layout/process1"/>
    <dgm:cxn modelId="{02CB3DA0-088C-D44B-9296-01E411F3E853}" type="presParOf" srcId="{20322304-D49E-4543-8021-4CC8C1F87854}" destId="{8719EC4A-51DA-CC45-99CF-5C73E01CF422}" srcOrd="0" destOrd="0" presId="urn:microsoft.com/office/officeart/2005/8/layout/process1"/>
    <dgm:cxn modelId="{DF9CB620-C27A-E04D-A7E2-5DDACCEC1C55}" type="presParOf" srcId="{557F54D4-7CC5-F344-B52B-C7F9BE807E24}" destId="{6C773637-6E0D-3F4C-810A-7A67399788AE}"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9BB245-4A79-8346-98EF-3BDB2A6778E4}">
      <dsp:nvSpPr>
        <dsp:cNvPr id="0" name=""/>
        <dsp:cNvSpPr/>
      </dsp:nvSpPr>
      <dsp:spPr>
        <a:xfrm>
          <a:off x="3657" y="2150395"/>
          <a:ext cx="1599248" cy="1229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kern="1200" dirty="0"/>
            <a:t>Create a new repository or clone a repository</a:t>
          </a:r>
        </a:p>
      </dsp:txBody>
      <dsp:txXfrm>
        <a:off x="39666" y="2186404"/>
        <a:ext cx="1527230" cy="1157404"/>
      </dsp:txXfrm>
    </dsp:sp>
    <dsp:sp modelId="{11AFB70B-220A-5148-A78B-F869D60C4B1A}">
      <dsp:nvSpPr>
        <dsp:cNvPr id="0" name=""/>
        <dsp:cNvSpPr/>
      </dsp:nvSpPr>
      <dsp:spPr>
        <a:xfrm>
          <a:off x="1762830" y="2566799"/>
          <a:ext cx="339040" cy="3966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762830" y="2646122"/>
        <a:ext cx="237328" cy="237967"/>
      </dsp:txXfrm>
    </dsp:sp>
    <dsp:sp modelId="{19F13E9F-8844-6A41-BBE4-80085EAB423D}">
      <dsp:nvSpPr>
        <dsp:cNvPr id="0" name=""/>
        <dsp:cNvSpPr/>
      </dsp:nvSpPr>
      <dsp:spPr>
        <a:xfrm>
          <a:off x="2242605" y="2150395"/>
          <a:ext cx="1599248" cy="1229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kern="1200" dirty="0"/>
            <a:t>Modify files in the working tree</a:t>
          </a:r>
        </a:p>
      </dsp:txBody>
      <dsp:txXfrm>
        <a:off x="2278614" y="2186404"/>
        <a:ext cx="1527230" cy="1157404"/>
      </dsp:txXfrm>
    </dsp:sp>
    <dsp:sp modelId="{DA07494C-474C-8740-BF5C-F9DE7D1F6E99}">
      <dsp:nvSpPr>
        <dsp:cNvPr id="0" name=""/>
        <dsp:cNvSpPr/>
      </dsp:nvSpPr>
      <dsp:spPr>
        <a:xfrm>
          <a:off x="4001778" y="2566799"/>
          <a:ext cx="339040" cy="3966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4001778" y="2646122"/>
        <a:ext cx="237328" cy="237967"/>
      </dsp:txXfrm>
    </dsp:sp>
    <dsp:sp modelId="{043FAA23-8D8D-E444-8DB6-539C79E7415E}">
      <dsp:nvSpPr>
        <dsp:cNvPr id="0" name=""/>
        <dsp:cNvSpPr/>
      </dsp:nvSpPr>
      <dsp:spPr>
        <a:xfrm>
          <a:off x="4481553" y="2150395"/>
          <a:ext cx="1599248" cy="1229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kern="1200" dirty="0"/>
            <a:t>Added the modified files to the staged area</a:t>
          </a:r>
        </a:p>
      </dsp:txBody>
      <dsp:txXfrm>
        <a:off x="4517562" y="2186404"/>
        <a:ext cx="1527230" cy="1157404"/>
      </dsp:txXfrm>
    </dsp:sp>
    <dsp:sp modelId="{20322304-D49E-4543-8021-4CC8C1F87854}">
      <dsp:nvSpPr>
        <dsp:cNvPr id="0" name=""/>
        <dsp:cNvSpPr/>
      </dsp:nvSpPr>
      <dsp:spPr>
        <a:xfrm>
          <a:off x="6240726" y="2566799"/>
          <a:ext cx="339040" cy="3966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6240726" y="2646122"/>
        <a:ext cx="237328" cy="237967"/>
      </dsp:txXfrm>
    </dsp:sp>
    <dsp:sp modelId="{6C773637-6E0D-3F4C-810A-7A67399788AE}">
      <dsp:nvSpPr>
        <dsp:cNvPr id="0" name=""/>
        <dsp:cNvSpPr/>
      </dsp:nvSpPr>
      <dsp:spPr>
        <a:xfrm>
          <a:off x="6720500" y="2150395"/>
          <a:ext cx="1599248" cy="12294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Commit the changes</a:t>
          </a:r>
        </a:p>
      </dsp:txBody>
      <dsp:txXfrm>
        <a:off x="6756509" y="2186404"/>
        <a:ext cx="1527230" cy="115740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C6BD1-D855-2047-A7A5-5B9F014CBDE9}" type="datetimeFigureOut">
              <a:rPr lang="en-US" smtClean="0"/>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52117-A7C2-374A-8D14-6C6D3AD16C79}" type="slidenum">
              <a:rPr lang="en-US" smtClean="0"/>
              <a:t>‹#›</a:t>
            </a:fld>
            <a:endParaRPr lang="en-US"/>
          </a:p>
        </p:txBody>
      </p:sp>
    </p:spTree>
    <p:extLst>
      <p:ext uri="{BB962C8B-B14F-4D97-AF65-F5344CB8AC3E}">
        <p14:creationId xmlns:p14="http://schemas.microsoft.com/office/powerpoint/2010/main" val="1984834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C74FCC-F8DA-492C-91E8-5593B461B99A}" type="slidenum">
              <a:rPr lang="en-US" smtClean="0"/>
              <a:t>1</a:t>
            </a:fld>
            <a:endParaRPr lang="en-US"/>
          </a:p>
        </p:txBody>
      </p:sp>
    </p:spTree>
    <p:extLst>
      <p:ext uri="{BB962C8B-B14F-4D97-AF65-F5344CB8AC3E}">
        <p14:creationId xmlns:p14="http://schemas.microsoft.com/office/powerpoint/2010/main" val="379884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9CD20-E711-6B1E-2953-21480E4B3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40259-055B-AFE8-EF8B-5BD216937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A10BD-FA00-272D-BD46-C30E3CD307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BCA814-6B51-9926-3488-BB5A02E41F22}"/>
              </a:ext>
            </a:extLst>
          </p:cNvPr>
          <p:cNvSpPr>
            <a:spLocks noGrp="1"/>
          </p:cNvSpPr>
          <p:nvPr>
            <p:ph type="sldNum" sz="quarter" idx="5"/>
          </p:nvPr>
        </p:nvSpPr>
        <p:spPr/>
        <p:txBody>
          <a:bodyPr/>
          <a:lstStyle/>
          <a:p>
            <a:fld id="{CCC74FCC-F8DA-492C-91E8-5593B461B99A}" type="slidenum">
              <a:rPr lang="en-US" smtClean="0"/>
              <a:t>2</a:t>
            </a:fld>
            <a:endParaRPr lang="en-US"/>
          </a:p>
        </p:txBody>
      </p:sp>
    </p:spTree>
    <p:extLst>
      <p:ext uri="{BB962C8B-B14F-4D97-AF65-F5344CB8AC3E}">
        <p14:creationId xmlns:p14="http://schemas.microsoft.com/office/powerpoint/2010/main" val="2925521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03EB9-41E4-2FE9-F150-B0DF44023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FDDA2-FBCC-EA9D-6DC3-87E2E435EB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D88A6-9A32-6AC2-39F2-57C3FBD07F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EC520B-4876-C3D3-7B2A-70527B898EDC}"/>
              </a:ext>
            </a:extLst>
          </p:cNvPr>
          <p:cNvSpPr>
            <a:spLocks noGrp="1"/>
          </p:cNvSpPr>
          <p:nvPr>
            <p:ph type="sldNum" sz="quarter" idx="5"/>
          </p:nvPr>
        </p:nvSpPr>
        <p:spPr/>
        <p:txBody>
          <a:bodyPr/>
          <a:lstStyle/>
          <a:p>
            <a:fld id="{CCC74FCC-F8DA-492C-91E8-5593B461B99A}" type="slidenum">
              <a:rPr lang="en-US" smtClean="0"/>
              <a:t>3</a:t>
            </a:fld>
            <a:endParaRPr lang="en-US"/>
          </a:p>
        </p:txBody>
      </p:sp>
    </p:spTree>
    <p:extLst>
      <p:ext uri="{BB962C8B-B14F-4D97-AF65-F5344CB8AC3E}">
        <p14:creationId xmlns:p14="http://schemas.microsoft.com/office/powerpoint/2010/main" val="1634013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020F9-EC49-249B-3C13-550E1C9EE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37B28-E70D-2E7F-7DBA-DF8F1173E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20110-9767-2C38-70BE-0BAB1FE4E6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196493-F571-30AB-A768-C42BB583C1CD}"/>
              </a:ext>
            </a:extLst>
          </p:cNvPr>
          <p:cNvSpPr>
            <a:spLocks noGrp="1"/>
          </p:cNvSpPr>
          <p:nvPr>
            <p:ph type="sldNum" sz="quarter" idx="5"/>
          </p:nvPr>
        </p:nvSpPr>
        <p:spPr/>
        <p:txBody>
          <a:bodyPr/>
          <a:lstStyle/>
          <a:p>
            <a:fld id="{CCC74FCC-F8DA-492C-91E8-5593B461B99A}" type="slidenum">
              <a:rPr lang="en-US" smtClean="0"/>
              <a:t>4</a:t>
            </a:fld>
            <a:endParaRPr lang="en-US"/>
          </a:p>
        </p:txBody>
      </p:sp>
    </p:spTree>
    <p:extLst>
      <p:ext uri="{BB962C8B-B14F-4D97-AF65-F5344CB8AC3E}">
        <p14:creationId xmlns:p14="http://schemas.microsoft.com/office/powerpoint/2010/main" val="1352030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F836E-1BFA-AA22-822E-17E4CA91A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4B4B9-5AE4-8CDA-0BD6-099BCBE83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BFCCF2-6345-E138-7A6F-F167250E32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711AF-EF47-F3CA-1BEE-2AEEF6D6E713}"/>
              </a:ext>
            </a:extLst>
          </p:cNvPr>
          <p:cNvSpPr>
            <a:spLocks noGrp="1"/>
          </p:cNvSpPr>
          <p:nvPr>
            <p:ph type="sldNum" sz="quarter" idx="5"/>
          </p:nvPr>
        </p:nvSpPr>
        <p:spPr/>
        <p:txBody>
          <a:bodyPr/>
          <a:lstStyle/>
          <a:p>
            <a:fld id="{CCC74FCC-F8DA-492C-91E8-5593B461B99A}" type="slidenum">
              <a:rPr lang="en-US" smtClean="0"/>
              <a:t>5</a:t>
            </a:fld>
            <a:endParaRPr lang="en-US"/>
          </a:p>
        </p:txBody>
      </p:sp>
    </p:spTree>
    <p:extLst>
      <p:ext uri="{BB962C8B-B14F-4D97-AF65-F5344CB8AC3E}">
        <p14:creationId xmlns:p14="http://schemas.microsoft.com/office/powerpoint/2010/main" val="1987821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AFB38-9224-443F-1E91-723368AE5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EC82B-F9FF-4192-7722-72A825B15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A21A8-57EC-C0D6-651F-4830ED77A9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9806B5-F078-C623-38C6-7CCA01BDC267}"/>
              </a:ext>
            </a:extLst>
          </p:cNvPr>
          <p:cNvSpPr>
            <a:spLocks noGrp="1"/>
          </p:cNvSpPr>
          <p:nvPr>
            <p:ph type="sldNum" sz="quarter" idx="5"/>
          </p:nvPr>
        </p:nvSpPr>
        <p:spPr/>
        <p:txBody>
          <a:bodyPr/>
          <a:lstStyle/>
          <a:p>
            <a:fld id="{CCC74FCC-F8DA-492C-91E8-5593B461B99A}" type="slidenum">
              <a:rPr lang="en-US" smtClean="0"/>
              <a:t>6</a:t>
            </a:fld>
            <a:endParaRPr lang="en-US"/>
          </a:p>
        </p:txBody>
      </p:sp>
    </p:spTree>
    <p:extLst>
      <p:ext uri="{BB962C8B-B14F-4D97-AF65-F5344CB8AC3E}">
        <p14:creationId xmlns:p14="http://schemas.microsoft.com/office/powerpoint/2010/main" val="2971906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585D8-A41A-9AC3-2457-C5277619C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D2832-EBDC-BBBD-A2B6-235F20757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27AC-0458-493B-3313-7809C9F41F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A1246F-2EFF-9910-E951-198C605CABE1}"/>
              </a:ext>
            </a:extLst>
          </p:cNvPr>
          <p:cNvSpPr>
            <a:spLocks noGrp="1"/>
          </p:cNvSpPr>
          <p:nvPr>
            <p:ph type="sldNum" sz="quarter" idx="5"/>
          </p:nvPr>
        </p:nvSpPr>
        <p:spPr/>
        <p:txBody>
          <a:bodyPr/>
          <a:lstStyle/>
          <a:p>
            <a:fld id="{CCC74FCC-F8DA-492C-91E8-5593B461B99A}" type="slidenum">
              <a:rPr lang="en-US" smtClean="0"/>
              <a:t>7</a:t>
            </a:fld>
            <a:endParaRPr lang="en-US"/>
          </a:p>
        </p:txBody>
      </p:sp>
    </p:spTree>
    <p:extLst>
      <p:ext uri="{BB962C8B-B14F-4D97-AF65-F5344CB8AC3E}">
        <p14:creationId xmlns:p14="http://schemas.microsoft.com/office/powerpoint/2010/main" val="3162774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BF479-A4E8-E706-6AFE-BCC08F8E1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77B64-6EC3-5BDA-F510-246C748A2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D4917-F92B-5133-C85F-FF9B9A4A2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95C6EC-5081-B548-2804-950E265B8BA2}"/>
              </a:ext>
            </a:extLst>
          </p:cNvPr>
          <p:cNvSpPr>
            <a:spLocks noGrp="1"/>
          </p:cNvSpPr>
          <p:nvPr>
            <p:ph type="sldNum" sz="quarter" idx="5"/>
          </p:nvPr>
        </p:nvSpPr>
        <p:spPr/>
        <p:txBody>
          <a:bodyPr/>
          <a:lstStyle/>
          <a:p>
            <a:fld id="{CCC74FCC-F8DA-492C-91E8-5593B461B99A}" type="slidenum">
              <a:rPr lang="en-US" smtClean="0"/>
              <a:t>8</a:t>
            </a:fld>
            <a:endParaRPr lang="en-US"/>
          </a:p>
        </p:txBody>
      </p:sp>
    </p:spTree>
    <p:extLst>
      <p:ext uri="{BB962C8B-B14F-4D97-AF65-F5344CB8AC3E}">
        <p14:creationId xmlns:p14="http://schemas.microsoft.com/office/powerpoint/2010/main" val="2716657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EBEA-7217-641F-A6B7-93DDBEA0E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32721-C818-71B8-316E-92ED1E6B2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87540-0334-DBBA-3C0F-F67A3D8DA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3A69BE-BCCA-83CD-20C5-35F7C07A0895}"/>
              </a:ext>
            </a:extLst>
          </p:cNvPr>
          <p:cNvSpPr>
            <a:spLocks noGrp="1"/>
          </p:cNvSpPr>
          <p:nvPr>
            <p:ph type="sldNum" sz="quarter" idx="5"/>
          </p:nvPr>
        </p:nvSpPr>
        <p:spPr/>
        <p:txBody>
          <a:bodyPr/>
          <a:lstStyle/>
          <a:p>
            <a:fld id="{CCC74FCC-F8DA-492C-91E8-5593B461B99A}" type="slidenum">
              <a:rPr lang="en-US" smtClean="0"/>
              <a:t>9</a:t>
            </a:fld>
            <a:endParaRPr lang="en-US"/>
          </a:p>
        </p:txBody>
      </p:sp>
    </p:spTree>
    <p:extLst>
      <p:ext uri="{BB962C8B-B14F-4D97-AF65-F5344CB8AC3E}">
        <p14:creationId xmlns:p14="http://schemas.microsoft.com/office/powerpoint/2010/main" val="2674740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9496B-5D2E-4173-C7E7-1786A0567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4A6D8-A480-B047-517A-51CFC75C2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B1583-505C-A1B9-AF4D-F6D0385D89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B0437-045C-891E-4157-59E10EC2329C}"/>
              </a:ext>
            </a:extLst>
          </p:cNvPr>
          <p:cNvSpPr>
            <a:spLocks noGrp="1"/>
          </p:cNvSpPr>
          <p:nvPr>
            <p:ph type="sldNum" sz="quarter" idx="5"/>
          </p:nvPr>
        </p:nvSpPr>
        <p:spPr/>
        <p:txBody>
          <a:bodyPr/>
          <a:lstStyle/>
          <a:p>
            <a:fld id="{CCC74FCC-F8DA-492C-91E8-5593B461B99A}" type="slidenum">
              <a:rPr lang="en-US" smtClean="0"/>
              <a:t>10</a:t>
            </a:fld>
            <a:endParaRPr lang="en-US"/>
          </a:p>
        </p:txBody>
      </p:sp>
    </p:spTree>
    <p:extLst>
      <p:ext uri="{BB962C8B-B14F-4D97-AF65-F5344CB8AC3E}">
        <p14:creationId xmlns:p14="http://schemas.microsoft.com/office/powerpoint/2010/main" val="3376999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C7F5-F4AF-5D24-1AAD-473636A98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E5187-E2C3-7982-8850-F31F1D67D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543E4-A333-C234-AF3D-FCB05A244A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9D15B4-9696-FB85-F331-BCA93E4E6EE8}"/>
              </a:ext>
            </a:extLst>
          </p:cNvPr>
          <p:cNvSpPr>
            <a:spLocks noGrp="1"/>
          </p:cNvSpPr>
          <p:nvPr>
            <p:ph type="sldNum" sz="quarter" idx="5"/>
          </p:nvPr>
        </p:nvSpPr>
        <p:spPr/>
        <p:txBody>
          <a:bodyPr/>
          <a:lstStyle/>
          <a:p>
            <a:fld id="{CCC74FCC-F8DA-492C-91E8-5593B461B99A}" type="slidenum">
              <a:rPr lang="en-US" smtClean="0"/>
              <a:t>11</a:t>
            </a:fld>
            <a:endParaRPr lang="en-US"/>
          </a:p>
        </p:txBody>
      </p:sp>
    </p:spTree>
    <p:extLst>
      <p:ext uri="{BB962C8B-B14F-4D97-AF65-F5344CB8AC3E}">
        <p14:creationId xmlns:p14="http://schemas.microsoft.com/office/powerpoint/2010/main" val="3902684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31419-25F5-FA78-801C-674233AB7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582C1-B6E6-32BB-18A1-51F2D42E2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2FA6F-1496-1029-0258-C923C2CBB1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6E636-80DB-36AF-4CB2-F8C969218CD1}"/>
              </a:ext>
            </a:extLst>
          </p:cNvPr>
          <p:cNvSpPr>
            <a:spLocks noGrp="1"/>
          </p:cNvSpPr>
          <p:nvPr>
            <p:ph type="sldNum" sz="quarter" idx="5"/>
          </p:nvPr>
        </p:nvSpPr>
        <p:spPr/>
        <p:txBody>
          <a:bodyPr/>
          <a:lstStyle/>
          <a:p>
            <a:fld id="{CCC74FCC-F8DA-492C-91E8-5593B461B99A}" type="slidenum">
              <a:rPr lang="en-US" smtClean="0"/>
              <a:t>12</a:t>
            </a:fld>
            <a:endParaRPr lang="en-US"/>
          </a:p>
        </p:txBody>
      </p:sp>
    </p:spTree>
    <p:extLst>
      <p:ext uri="{BB962C8B-B14F-4D97-AF65-F5344CB8AC3E}">
        <p14:creationId xmlns:p14="http://schemas.microsoft.com/office/powerpoint/2010/main" val="3378096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C3AC5-9BC4-27E5-B266-A1DCFBEB4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2D837-0378-5DF4-E289-3F2079C45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EB873-D1C8-9A46-22B6-C26018D6818F}"/>
              </a:ext>
            </a:extLst>
          </p:cNvPr>
          <p:cNvSpPr>
            <a:spLocks noGrp="1"/>
          </p:cNvSpPr>
          <p:nvPr>
            <p:ph type="body" idx="1"/>
          </p:nvPr>
        </p:nvSpPr>
        <p:spPr/>
        <p:txBody>
          <a:bodyPr/>
          <a:lstStyle/>
          <a:p>
            <a:r>
              <a:rPr lang="en-US" dirty="0"/>
              <a:t>To install git on mac:  see https://</a:t>
            </a:r>
            <a:r>
              <a:rPr lang="en-US" dirty="0" err="1"/>
              <a:t>docs.gitlab.com</a:t>
            </a:r>
            <a:r>
              <a:rPr lang="en-US" dirty="0"/>
              <a:t>/topics/git/</a:t>
            </a:r>
            <a:r>
              <a:rPr lang="en-US" dirty="0" err="1"/>
              <a:t>how_to_install_git</a:t>
            </a:r>
            <a:r>
              <a:rPr lang="en-US" dirty="0"/>
              <a:t>/</a:t>
            </a:r>
          </a:p>
          <a:p>
            <a:r>
              <a:rPr lang="en-US" dirty="0"/>
              <a:t>or https://git-</a:t>
            </a:r>
            <a:r>
              <a:rPr lang="en-US" dirty="0" err="1"/>
              <a:t>scm.com</a:t>
            </a:r>
            <a:r>
              <a:rPr lang="en-US" dirty="0"/>
              <a:t>/downloads/mac</a:t>
            </a:r>
          </a:p>
        </p:txBody>
      </p:sp>
      <p:sp>
        <p:nvSpPr>
          <p:cNvPr id="4" name="Slide Number Placeholder 3">
            <a:extLst>
              <a:ext uri="{FF2B5EF4-FFF2-40B4-BE49-F238E27FC236}">
                <a16:creationId xmlns:a16="http://schemas.microsoft.com/office/drawing/2014/main" id="{1AAB9031-0206-9728-8A63-2FDB94A5F4B1}"/>
              </a:ext>
            </a:extLst>
          </p:cNvPr>
          <p:cNvSpPr>
            <a:spLocks noGrp="1"/>
          </p:cNvSpPr>
          <p:nvPr>
            <p:ph type="sldNum" sz="quarter" idx="5"/>
          </p:nvPr>
        </p:nvSpPr>
        <p:spPr/>
        <p:txBody>
          <a:bodyPr/>
          <a:lstStyle/>
          <a:p>
            <a:fld id="{CCC74FCC-F8DA-492C-91E8-5593B461B99A}" type="slidenum">
              <a:rPr lang="en-US" smtClean="0"/>
              <a:t>13</a:t>
            </a:fld>
            <a:endParaRPr lang="en-US"/>
          </a:p>
        </p:txBody>
      </p:sp>
    </p:spTree>
    <p:extLst>
      <p:ext uri="{BB962C8B-B14F-4D97-AF65-F5344CB8AC3E}">
        <p14:creationId xmlns:p14="http://schemas.microsoft.com/office/powerpoint/2010/main" val="1579564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https://git-</a:t>
            </a:r>
            <a:r>
              <a:rPr lang="en-US" dirty="0" err="1"/>
              <a:t>scm.com</a:t>
            </a:r>
            <a:r>
              <a:rPr lang="en-US" dirty="0"/>
              <a:t>/book/</a:t>
            </a:r>
            <a:r>
              <a:rPr lang="en-US" dirty="0" err="1"/>
              <a:t>en</a:t>
            </a:r>
            <a:r>
              <a:rPr lang="en-US" dirty="0"/>
              <a:t>/v2/Getting-Started-First-Time-Git-Setup</a:t>
            </a:r>
          </a:p>
          <a:p>
            <a:endParaRPr lang="en-US" dirty="0"/>
          </a:p>
        </p:txBody>
      </p:sp>
      <p:sp>
        <p:nvSpPr>
          <p:cNvPr id="4" name="Slide Number Placeholder 3"/>
          <p:cNvSpPr>
            <a:spLocks noGrp="1"/>
          </p:cNvSpPr>
          <p:nvPr>
            <p:ph type="sldNum" sz="quarter" idx="5"/>
          </p:nvPr>
        </p:nvSpPr>
        <p:spPr/>
        <p:txBody>
          <a:bodyPr/>
          <a:lstStyle/>
          <a:p>
            <a:fld id="{2E108295-F378-479B-B4C4-EE1FE2025E65}" type="slidenum">
              <a:rPr lang="en-US" smtClean="0"/>
              <a:t>15</a:t>
            </a:fld>
            <a:endParaRPr lang="en-US"/>
          </a:p>
        </p:txBody>
      </p:sp>
    </p:spTree>
    <p:extLst>
      <p:ext uri="{BB962C8B-B14F-4D97-AF65-F5344CB8AC3E}">
        <p14:creationId xmlns:p14="http://schemas.microsoft.com/office/powerpoint/2010/main" val="3625192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29D8B-89DA-FDB0-F33B-3A5D7ACE5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5CE62-F4BC-4C76-6580-ECDF70D05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C2D67-707F-0038-F5C7-5C538B06D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FBC6E-8925-F07D-86EA-071F4A1BD545}"/>
              </a:ext>
            </a:extLst>
          </p:cNvPr>
          <p:cNvSpPr>
            <a:spLocks noGrp="1"/>
          </p:cNvSpPr>
          <p:nvPr>
            <p:ph type="sldNum" sz="quarter" idx="5"/>
          </p:nvPr>
        </p:nvSpPr>
        <p:spPr/>
        <p:txBody>
          <a:bodyPr/>
          <a:lstStyle/>
          <a:p>
            <a:fld id="{2E108295-F378-479B-B4C4-EE1FE2025E65}" type="slidenum">
              <a:rPr lang="en-US" smtClean="0"/>
              <a:t>16</a:t>
            </a:fld>
            <a:endParaRPr lang="en-US"/>
          </a:p>
        </p:txBody>
      </p:sp>
    </p:spTree>
    <p:extLst>
      <p:ext uri="{BB962C8B-B14F-4D97-AF65-F5344CB8AC3E}">
        <p14:creationId xmlns:p14="http://schemas.microsoft.com/office/powerpoint/2010/main" val="3477950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1F58B-DE2D-27D7-DA2E-57E89E702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E5593-B204-F2BE-2DFB-81E40AD60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A55F0-76C4-1A75-8CA5-F264ADBF5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9A821-E738-58C5-67CD-8AD2FD1BF86A}"/>
              </a:ext>
            </a:extLst>
          </p:cNvPr>
          <p:cNvSpPr>
            <a:spLocks noGrp="1"/>
          </p:cNvSpPr>
          <p:nvPr>
            <p:ph type="sldNum" sz="quarter" idx="5"/>
          </p:nvPr>
        </p:nvSpPr>
        <p:spPr/>
        <p:txBody>
          <a:bodyPr/>
          <a:lstStyle/>
          <a:p>
            <a:fld id="{2E108295-F378-479B-B4C4-EE1FE2025E65}" type="slidenum">
              <a:rPr lang="en-US" smtClean="0"/>
              <a:t>17</a:t>
            </a:fld>
            <a:endParaRPr lang="en-US"/>
          </a:p>
        </p:txBody>
      </p:sp>
    </p:spTree>
    <p:extLst>
      <p:ext uri="{BB962C8B-B14F-4D97-AF65-F5344CB8AC3E}">
        <p14:creationId xmlns:p14="http://schemas.microsoft.com/office/powerpoint/2010/main" val="26060708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E626-1FFE-C55A-05EC-F994F30D6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59166-68E0-E4A3-90AD-AB066E121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3745B-4071-4602-123B-6BF220955F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74B75-B362-EC59-2D7F-5E3CFF23F322}"/>
              </a:ext>
            </a:extLst>
          </p:cNvPr>
          <p:cNvSpPr>
            <a:spLocks noGrp="1"/>
          </p:cNvSpPr>
          <p:nvPr>
            <p:ph type="sldNum" sz="quarter" idx="5"/>
          </p:nvPr>
        </p:nvSpPr>
        <p:spPr/>
        <p:txBody>
          <a:bodyPr/>
          <a:lstStyle/>
          <a:p>
            <a:fld id="{CCC74FCC-F8DA-492C-91E8-5593B461B99A}" type="slidenum">
              <a:rPr lang="en-US" smtClean="0"/>
              <a:t>18</a:t>
            </a:fld>
            <a:endParaRPr lang="en-US"/>
          </a:p>
        </p:txBody>
      </p:sp>
    </p:spTree>
    <p:extLst>
      <p:ext uri="{BB962C8B-B14F-4D97-AF65-F5344CB8AC3E}">
        <p14:creationId xmlns:p14="http://schemas.microsoft.com/office/powerpoint/2010/main" val="5174868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8B65-F4B8-D925-B3F9-F5B4518FA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4C2EC-0F9C-CFB4-0BB4-AFD5E4D34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B01B2-3855-DE56-A8AD-84937FF625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75B58C-35CB-4956-1587-C81C2314A741}"/>
              </a:ext>
            </a:extLst>
          </p:cNvPr>
          <p:cNvSpPr>
            <a:spLocks noGrp="1"/>
          </p:cNvSpPr>
          <p:nvPr>
            <p:ph type="sldNum" sz="quarter" idx="5"/>
          </p:nvPr>
        </p:nvSpPr>
        <p:spPr/>
        <p:txBody>
          <a:bodyPr/>
          <a:lstStyle/>
          <a:p>
            <a:fld id="{CCC74FCC-F8DA-492C-91E8-5593B461B99A}" type="slidenum">
              <a:rPr lang="en-US" smtClean="0"/>
              <a:t>19</a:t>
            </a:fld>
            <a:endParaRPr lang="en-US"/>
          </a:p>
        </p:txBody>
      </p:sp>
    </p:spTree>
    <p:extLst>
      <p:ext uri="{BB962C8B-B14F-4D97-AF65-F5344CB8AC3E}">
        <p14:creationId xmlns:p14="http://schemas.microsoft.com/office/powerpoint/2010/main" val="4065612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4C88-EDD7-1A98-DEEA-7E7F32324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46B6E-D791-5166-267F-D4E375ABE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6CB75-7799-2F74-3D29-F68E2DA77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27C1AC-BBCB-4ABC-4B92-306C823AFDED}"/>
              </a:ext>
            </a:extLst>
          </p:cNvPr>
          <p:cNvSpPr>
            <a:spLocks noGrp="1"/>
          </p:cNvSpPr>
          <p:nvPr>
            <p:ph type="sldNum" sz="quarter" idx="5"/>
          </p:nvPr>
        </p:nvSpPr>
        <p:spPr/>
        <p:txBody>
          <a:bodyPr/>
          <a:lstStyle/>
          <a:p>
            <a:fld id="{CCC74FCC-F8DA-492C-91E8-5593B461B99A}" type="slidenum">
              <a:rPr lang="en-US" smtClean="0"/>
              <a:t>20</a:t>
            </a:fld>
            <a:endParaRPr lang="en-US"/>
          </a:p>
        </p:txBody>
      </p:sp>
    </p:spTree>
    <p:extLst>
      <p:ext uri="{BB962C8B-B14F-4D97-AF65-F5344CB8AC3E}">
        <p14:creationId xmlns:p14="http://schemas.microsoft.com/office/powerpoint/2010/main" val="2671381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BD673-B3BC-E7FD-A362-753765D3F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538E4-95F2-318A-1FA5-6DCD4256E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363E6E-792A-745A-44F0-25C8CDF26E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FE9B6-9B10-D2BF-8778-F2A700A26093}"/>
              </a:ext>
            </a:extLst>
          </p:cNvPr>
          <p:cNvSpPr>
            <a:spLocks noGrp="1"/>
          </p:cNvSpPr>
          <p:nvPr>
            <p:ph type="sldNum" sz="quarter" idx="5"/>
          </p:nvPr>
        </p:nvSpPr>
        <p:spPr/>
        <p:txBody>
          <a:bodyPr/>
          <a:lstStyle/>
          <a:p>
            <a:fld id="{CCC74FCC-F8DA-492C-91E8-5593B461B99A}" type="slidenum">
              <a:rPr lang="en-US" smtClean="0"/>
              <a:t>21</a:t>
            </a:fld>
            <a:endParaRPr lang="en-US"/>
          </a:p>
        </p:txBody>
      </p:sp>
    </p:spTree>
    <p:extLst>
      <p:ext uri="{BB962C8B-B14F-4D97-AF65-F5344CB8AC3E}">
        <p14:creationId xmlns:p14="http://schemas.microsoft.com/office/powerpoint/2010/main" val="1281617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61A3-ED08-6E1A-1D01-6A2CFB3CA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CCDDE-1FDC-BA43-EBB7-3F3CC1BA5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0D6E9-9228-4B13-B59E-11D0A107F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3EF3B-69FB-85F1-6920-97C4AD683DDB}"/>
              </a:ext>
            </a:extLst>
          </p:cNvPr>
          <p:cNvSpPr>
            <a:spLocks noGrp="1"/>
          </p:cNvSpPr>
          <p:nvPr>
            <p:ph type="sldNum" sz="quarter" idx="5"/>
          </p:nvPr>
        </p:nvSpPr>
        <p:spPr/>
        <p:txBody>
          <a:bodyPr/>
          <a:lstStyle/>
          <a:p>
            <a:fld id="{CCC74FCC-F8DA-492C-91E8-5593B461B99A}" type="slidenum">
              <a:rPr lang="en-US" smtClean="0"/>
              <a:t>22</a:t>
            </a:fld>
            <a:endParaRPr lang="en-US"/>
          </a:p>
        </p:txBody>
      </p:sp>
    </p:spTree>
    <p:extLst>
      <p:ext uri="{BB962C8B-B14F-4D97-AF65-F5344CB8AC3E}">
        <p14:creationId xmlns:p14="http://schemas.microsoft.com/office/powerpoint/2010/main" val="1859900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2C20-DCE1-63C4-95C2-33CB455DB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6B38C-A5BC-9A7A-D369-32561742C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2CBE9-A67B-9365-D1E3-E1C9C80AA9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46A2F3-08FA-6140-C6A8-4AC1E8AF6073}"/>
              </a:ext>
            </a:extLst>
          </p:cNvPr>
          <p:cNvSpPr>
            <a:spLocks noGrp="1"/>
          </p:cNvSpPr>
          <p:nvPr>
            <p:ph type="sldNum" sz="quarter" idx="5"/>
          </p:nvPr>
        </p:nvSpPr>
        <p:spPr/>
        <p:txBody>
          <a:bodyPr/>
          <a:lstStyle/>
          <a:p>
            <a:fld id="{CCC74FCC-F8DA-492C-91E8-5593B461B99A}" type="slidenum">
              <a:rPr lang="en-US" smtClean="0"/>
              <a:t>23</a:t>
            </a:fld>
            <a:endParaRPr lang="en-US"/>
          </a:p>
        </p:txBody>
      </p:sp>
    </p:spTree>
    <p:extLst>
      <p:ext uri="{BB962C8B-B14F-4D97-AF65-F5344CB8AC3E}">
        <p14:creationId xmlns:p14="http://schemas.microsoft.com/office/powerpoint/2010/main" val="2460083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60EE-678B-9712-48E4-BC8ED24AA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08FC7-ED9A-99C1-4DE4-E608060C3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BCF8A-6FA4-503C-C1E7-32E60C885C77}"/>
              </a:ext>
            </a:extLst>
          </p:cNvPr>
          <p:cNvSpPr>
            <a:spLocks noGrp="1"/>
          </p:cNvSpPr>
          <p:nvPr>
            <p:ph type="body" idx="1"/>
          </p:nvPr>
        </p:nvSpPr>
        <p:spPr/>
        <p:txBody>
          <a:bodyPr/>
          <a:lstStyle/>
          <a:p>
            <a:pPr marL="0" lvl="0" indent="0" algn="l" rtl="0">
              <a:lnSpc>
                <a:spcPct val="115000"/>
              </a:lnSpc>
              <a:spcBef>
                <a:spcPts val="1200"/>
              </a:spcBef>
              <a:spcAft>
                <a:spcPts val="0"/>
              </a:spcAft>
              <a:buNone/>
            </a:pPr>
            <a:r>
              <a:rPr lang="en-GB" sz="1200" b="1" dirty="0">
                <a:solidFill>
                  <a:schemeClr val="dk1"/>
                </a:solidFill>
              </a:rPr>
              <a:t>Why It's Important</a:t>
            </a:r>
            <a:r>
              <a:rPr lang="en-GB" sz="1200" dirty="0">
                <a:solidFill>
                  <a:schemeClr val="dk1"/>
                </a:solidFill>
              </a:rPr>
              <a:t>: Running </a:t>
            </a:r>
            <a:r>
              <a:rPr lang="en-GB" sz="1200" dirty="0">
                <a:solidFill>
                  <a:srgbClr val="188038"/>
                </a:solidFill>
                <a:latin typeface="Roboto Mono"/>
                <a:ea typeface="Roboto Mono"/>
                <a:cs typeface="Roboto Mono"/>
                <a:sym typeface="Roboto Mono"/>
              </a:rPr>
              <a:t>git status</a:t>
            </a:r>
            <a:r>
              <a:rPr lang="en-GB" sz="1200" dirty="0">
                <a:solidFill>
                  <a:schemeClr val="dk1"/>
                </a:solidFill>
              </a:rPr>
              <a:t> before committing helps ensure that all changes are accounted for. This command also helps identify untracked or forgotten files.</a:t>
            </a:r>
          </a:p>
          <a:p>
            <a:pPr marL="0" lvl="0" indent="0" algn="l" rtl="0">
              <a:lnSpc>
                <a:spcPct val="115000"/>
              </a:lnSpc>
              <a:spcBef>
                <a:spcPts val="1200"/>
              </a:spcBef>
              <a:spcAft>
                <a:spcPts val="0"/>
              </a:spcAft>
              <a:buNone/>
            </a:pPr>
            <a:r>
              <a:rPr lang="en-GB" sz="1200" b="1" dirty="0">
                <a:solidFill>
                  <a:schemeClr val="dk1"/>
                </a:solidFill>
              </a:rPr>
              <a:t>Some common Scenarios</a:t>
            </a:r>
            <a:r>
              <a:rPr lang="en-GB" sz="1200" dirty="0">
                <a:solidFill>
                  <a:schemeClr val="dk1"/>
                </a:solidFill>
              </a:rPr>
              <a:t>:</a:t>
            </a:r>
          </a:p>
          <a:p>
            <a:pPr marL="457200" lvl="0" indent="-304800" algn="l" rtl="0">
              <a:lnSpc>
                <a:spcPct val="115000"/>
              </a:lnSpc>
              <a:spcBef>
                <a:spcPts val="1200"/>
              </a:spcBef>
              <a:spcAft>
                <a:spcPts val="0"/>
              </a:spcAft>
              <a:buSzPts val="1200"/>
              <a:buChar char="●"/>
            </a:pPr>
            <a:r>
              <a:rPr lang="en-GB" sz="1200" dirty="0">
                <a:solidFill>
                  <a:schemeClr val="dk1"/>
                </a:solidFill>
              </a:rPr>
              <a:t>If you see “untracked files,” you may need to add them using </a:t>
            </a:r>
            <a:r>
              <a:rPr lang="en-GB" sz="1200" dirty="0">
                <a:solidFill>
                  <a:srgbClr val="188038"/>
                </a:solidFill>
                <a:latin typeface="Roboto Mono"/>
                <a:ea typeface="Roboto Mono"/>
                <a:cs typeface="Roboto Mono"/>
                <a:sym typeface="Roboto Mono"/>
              </a:rPr>
              <a:t>git add</a:t>
            </a:r>
            <a:r>
              <a:rPr lang="en-GB" sz="1200" dirty="0">
                <a:solidFill>
                  <a:schemeClr val="dk1"/>
                </a:solidFill>
              </a:rPr>
              <a:t>.</a:t>
            </a:r>
          </a:p>
          <a:p>
            <a:pPr marL="457200" lvl="0" indent="-304800" algn="l" rtl="0">
              <a:lnSpc>
                <a:spcPct val="115000"/>
              </a:lnSpc>
              <a:spcBef>
                <a:spcPts val="0"/>
              </a:spcBef>
              <a:spcAft>
                <a:spcPts val="0"/>
              </a:spcAft>
              <a:buClr>
                <a:schemeClr val="dk1"/>
              </a:buClr>
              <a:buSzPts val="1200"/>
              <a:buChar char="●"/>
            </a:pPr>
            <a:r>
              <a:rPr lang="en-GB" sz="1200" dirty="0">
                <a:solidFill>
                  <a:schemeClr val="dk1"/>
                </a:solidFill>
              </a:rPr>
              <a:t>If you see “modified but not committed,” it’s a reminder to either commit or discard the changes.</a:t>
            </a:r>
          </a:p>
          <a:p>
            <a:endParaRPr lang="en-US" dirty="0"/>
          </a:p>
        </p:txBody>
      </p:sp>
      <p:sp>
        <p:nvSpPr>
          <p:cNvPr id="4" name="Slide Number Placeholder 3">
            <a:extLst>
              <a:ext uri="{FF2B5EF4-FFF2-40B4-BE49-F238E27FC236}">
                <a16:creationId xmlns:a16="http://schemas.microsoft.com/office/drawing/2014/main" id="{1ED851FB-BCD9-739C-0AC0-68105AA0876B}"/>
              </a:ext>
            </a:extLst>
          </p:cNvPr>
          <p:cNvSpPr>
            <a:spLocks noGrp="1"/>
          </p:cNvSpPr>
          <p:nvPr>
            <p:ph type="sldNum" sz="quarter" idx="5"/>
          </p:nvPr>
        </p:nvSpPr>
        <p:spPr/>
        <p:txBody>
          <a:bodyPr/>
          <a:lstStyle/>
          <a:p>
            <a:fld id="{CCC74FCC-F8DA-492C-91E8-5593B461B99A}" type="slidenum">
              <a:rPr lang="en-US" smtClean="0"/>
              <a:t>24</a:t>
            </a:fld>
            <a:endParaRPr lang="en-US"/>
          </a:p>
        </p:txBody>
      </p:sp>
    </p:spTree>
    <p:extLst>
      <p:ext uri="{BB962C8B-B14F-4D97-AF65-F5344CB8AC3E}">
        <p14:creationId xmlns:p14="http://schemas.microsoft.com/office/powerpoint/2010/main" val="292541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D7F29-C05A-4DD6-B887-6B4A342B57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171264-E0BB-D225-2236-6133808091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5C7969-6ADD-E04D-0850-A8161D4A697B}"/>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8730B538-E29F-6B27-C951-53CEE71964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1B953D-5072-8D5E-055B-F82259386641}"/>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2646242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F079-EC59-B06A-C353-2D47EBC958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BBC2B5-B1C7-E93B-7549-CD57B3CD8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EC122-E1A6-6F8F-225F-7941DC304A2C}"/>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CD6B6751-7CF1-1FBF-97D1-BC68C688D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81402-162B-EA4C-A346-0830411CE4A7}"/>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1234047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198F-EE1B-72AF-E6B9-0AFE7B9B41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AF194A-A881-EC26-3AA4-3338B6F988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E5A6BA-3390-5737-1D2F-508B71187A4E}"/>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2D34A06A-AFBE-D95A-5886-E760FC12A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6F757-AD7B-13CE-E31F-138570575AEB}"/>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398519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55A6-FED0-CD8A-0CA1-5C77DB36BB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80B884-642C-CB3D-ACE5-063F41C0B9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1A9D0D-E38D-EFA8-3DFD-6D4A09A2F0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360E31-B565-CC0F-52FD-6822E107CF5C}"/>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6" name="Footer Placeholder 5">
            <a:extLst>
              <a:ext uri="{FF2B5EF4-FFF2-40B4-BE49-F238E27FC236}">
                <a16:creationId xmlns:a16="http://schemas.microsoft.com/office/drawing/2014/main" id="{AFCC4847-F585-0679-7A62-015DA26BB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5FE2A-96AE-10C3-B975-CF56D3008161}"/>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2992953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9E2C6-1A4B-6241-87D9-10392BE926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0DCAE0-989B-BB97-DD70-6D41F84C7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B6383A-2B4E-504E-0DC7-D0A6BE0F0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FAF9BA-0909-4575-036E-FE64724D5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70DA52-2242-5555-AB29-B52067451B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180467-2B3B-ADF9-B788-C4B60F13CAB2}"/>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8" name="Footer Placeholder 7">
            <a:extLst>
              <a:ext uri="{FF2B5EF4-FFF2-40B4-BE49-F238E27FC236}">
                <a16:creationId xmlns:a16="http://schemas.microsoft.com/office/drawing/2014/main" id="{E1046CB4-0902-0376-1FEE-AB8E02E773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2540EC-7D7E-493E-63B1-C4827BF4431B}"/>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7253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71DC-7391-2B40-1231-0A91242C2A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3CA7F3-97F1-FAF3-8378-4389EBB4395F}"/>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4" name="Footer Placeholder 3">
            <a:extLst>
              <a:ext uri="{FF2B5EF4-FFF2-40B4-BE49-F238E27FC236}">
                <a16:creationId xmlns:a16="http://schemas.microsoft.com/office/drawing/2014/main" id="{5E7F424F-BEE0-DCEC-960A-2D0CC51610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83733E-5BAF-31AD-785D-914D320CAB10}"/>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951157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14BD3B-8CF9-5505-86BA-0F205AEEAA2F}"/>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3" name="Footer Placeholder 2">
            <a:extLst>
              <a:ext uri="{FF2B5EF4-FFF2-40B4-BE49-F238E27FC236}">
                <a16:creationId xmlns:a16="http://schemas.microsoft.com/office/drawing/2014/main" id="{9F92FC8E-A87E-AA9E-9013-CC9286268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3C7665-4801-1E18-7CCB-513F31AC9BD9}"/>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3115145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FFD43-7971-4FBE-F6F0-D3CC1177A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67C541-D148-2D17-E875-F443E231E5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D211EE-AA80-FCF7-61B1-3B7AD93D98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8EE177-D2F4-F76E-ECF8-238FB3323975}"/>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6" name="Footer Placeholder 5">
            <a:extLst>
              <a:ext uri="{FF2B5EF4-FFF2-40B4-BE49-F238E27FC236}">
                <a16:creationId xmlns:a16="http://schemas.microsoft.com/office/drawing/2014/main" id="{4BC1D3F7-72A7-08EF-E871-DF2D01C3F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13A31-4EBF-9965-5D5B-24658730158B}"/>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1085592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7982-D6D8-C1EB-FD66-DB2311F4F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19BF91-1975-2097-6941-816FD904A4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78B6D0-0047-3FC6-AA20-AB42CB28F7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6272B-3348-C0A1-D823-FB6AE75C8F69}"/>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6" name="Footer Placeholder 5">
            <a:extLst>
              <a:ext uri="{FF2B5EF4-FFF2-40B4-BE49-F238E27FC236}">
                <a16:creationId xmlns:a16="http://schemas.microsoft.com/office/drawing/2014/main" id="{67FB6564-04D4-44D7-4E8A-0BBEFFBC9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D978B0-2410-C681-7F63-3724C804AB35}"/>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2051337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31EF-19AE-2529-1A85-7C6FABD396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58F7B6-EF66-DA71-988F-4AF21B446A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E60FD-3A70-B175-2B52-3481CB0E69FD}"/>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AA818E8D-2C9F-E035-2481-988F450F4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CFC1CD-5821-5DAE-2BEB-3D6517342E5D}"/>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305734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FE5806-E16B-CB27-F0D0-BD03E1357D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A3CAB9-10F2-5C56-92EB-EE76F6982A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84555-8604-042D-9C86-52D1A0E3F759}"/>
              </a:ext>
            </a:extLst>
          </p:cNvPr>
          <p:cNvSpPr>
            <a:spLocks noGrp="1"/>
          </p:cNvSpPr>
          <p:nvPr>
            <p:ph type="dt" sz="half" idx="10"/>
          </p:nvPr>
        </p:nvSpPr>
        <p:spPr/>
        <p:txBody>
          <a:body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7C1DA3C9-444B-7FF7-4FDD-93092EA43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A8BD1-1E0E-062B-A6E8-61057A0D4C13}"/>
              </a:ext>
            </a:extLst>
          </p:cNvPr>
          <p:cNvSpPr>
            <a:spLocks noGrp="1"/>
          </p:cNvSpPr>
          <p:nvPr>
            <p:ph type="sldNum" sz="quarter" idx="12"/>
          </p:nvPr>
        </p:nvSpPr>
        <p:spPr/>
        <p:txBody>
          <a:bodyPr/>
          <a:lstStyle/>
          <a:p>
            <a:fld id="{077AC89C-9FF0-BB41-A1C8-56E8FF91C150}" type="slidenum">
              <a:rPr lang="en-US" smtClean="0"/>
              <a:t>‹#›</a:t>
            </a:fld>
            <a:endParaRPr lang="en-US"/>
          </a:p>
        </p:txBody>
      </p:sp>
    </p:spTree>
    <p:extLst>
      <p:ext uri="{BB962C8B-B14F-4D97-AF65-F5344CB8AC3E}">
        <p14:creationId xmlns:p14="http://schemas.microsoft.com/office/powerpoint/2010/main" val="3070568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286A79-8D59-DF17-EB3C-95F1BB36C5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BA8D98-C09C-A03F-C876-C489827457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F8DF03-6517-23AD-14F8-85810297E3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149B97-A02A-204B-8D83-EDC15DA35822}" type="datetimeFigureOut">
              <a:rPr lang="en-US" smtClean="0"/>
              <a:t>9/21/26</a:t>
            </a:fld>
            <a:endParaRPr lang="en-US"/>
          </a:p>
        </p:txBody>
      </p:sp>
      <p:sp>
        <p:nvSpPr>
          <p:cNvPr id="5" name="Footer Placeholder 4">
            <a:extLst>
              <a:ext uri="{FF2B5EF4-FFF2-40B4-BE49-F238E27FC236}">
                <a16:creationId xmlns:a16="http://schemas.microsoft.com/office/drawing/2014/main" id="{CCF447A8-8AF8-6411-60C2-2B33E53A5A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F9ED32-43B7-F8AF-7FDC-1C86D670A0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7AC89C-9FF0-BB41-A1C8-56E8FF91C150}" type="slidenum">
              <a:rPr lang="en-US" smtClean="0"/>
              <a:t>‹#›</a:t>
            </a:fld>
            <a:endParaRPr lang="en-US"/>
          </a:p>
        </p:txBody>
      </p:sp>
    </p:spTree>
    <p:extLst>
      <p:ext uri="{BB962C8B-B14F-4D97-AF65-F5344CB8AC3E}">
        <p14:creationId xmlns:p14="http://schemas.microsoft.com/office/powerpoint/2010/main" val="3081133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0.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8B0D-0870-4E5D-A9E7-96864031096A}"/>
              </a:ext>
            </a:extLst>
          </p:cNvPr>
          <p:cNvSpPr>
            <a:spLocks noGrp="1"/>
          </p:cNvSpPr>
          <p:nvPr>
            <p:ph type="ctrTitle"/>
          </p:nvPr>
        </p:nvSpPr>
        <p:spPr>
          <a:xfrm>
            <a:off x="1524000" y="1660634"/>
            <a:ext cx="9144000" cy="1829088"/>
          </a:xfrm>
          <a:solidFill>
            <a:srgbClr val="002060">
              <a:alpha val="90000"/>
            </a:srgbClr>
          </a:solidFill>
          <a:ln>
            <a:solidFill>
              <a:srgbClr val="002060"/>
            </a:solidFill>
          </a:ln>
        </p:spPr>
        <p:txBody>
          <a:bodyPr anchor="ctr">
            <a:noAutofit/>
          </a:bodyPr>
          <a:lstStyle/>
          <a:p>
            <a:r>
              <a:rPr lang="en-CA" sz="5500" b="1" dirty="0">
                <a:solidFill>
                  <a:schemeClr val="bg1"/>
                </a:solidFill>
              </a:rPr>
              <a:t>Understanding Version Control System </a:t>
            </a:r>
            <a:endParaRPr lang="en-US" sz="4600" b="1" dirty="0">
              <a:solidFill>
                <a:schemeClr val="bg1"/>
              </a:solidFill>
            </a:endParaRPr>
          </a:p>
        </p:txBody>
      </p:sp>
      <p:sp>
        <p:nvSpPr>
          <p:cNvPr id="3" name="Subtitle 2">
            <a:extLst>
              <a:ext uri="{FF2B5EF4-FFF2-40B4-BE49-F238E27FC236}">
                <a16:creationId xmlns:a16="http://schemas.microsoft.com/office/drawing/2014/main" id="{894E503C-025B-4F93-BFA1-9B0864F2B969}"/>
              </a:ext>
            </a:extLst>
          </p:cNvPr>
          <p:cNvSpPr>
            <a:spLocks noGrp="1"/>
          </p:cNvSpPr>
          <p:nvPr>
            <p:ph type="subTitle" idx="1"/>
          </p:nvPr>
        </p:nvSpPr>
        <p:spPr>
          <a:xfrm>
            <a:off x="2466975" y="3751740"/>
            <a:ext cx="7258050" cy="1768078"/>
          </a:xfrm>
        </p:spPr>
        <p:txBody>
          <a:bodyPr>
            <a:normAutofit/>
          </a:bodyPr>
          <a:lstStyle/>
          <a:p>
            <a:pPr>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200" b="1" dirty="0"/>
              <a:t>Muhammad Asaduzzaman</a:t>
            </a:r>
          </a:p>
          <a:p>
            <a:pPr>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200" b="1" dirty="0"/>
              <a:t>School of Computer Science</a:t>
            </a:r>
          </a:p>
          <a:p>
            <a:pPr>
              <a:spcBef>
                <a:spcPts val="7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3200" b="1" dirty="0"/>
              <a:t>University of Windsor</a:t>
            </a:r>
          </a:p>
        </p:txBody>
      </p:sp>
      <p:sp>
        <p:nvSpPr>
          <p:cNvPr id="4" name="TextBox 3">
            <a:extLst>
              <a:ext uri="{FF2B5EF4-FFF2-40B4-BE49-F238E27FC236}">
                <a16:creationId xmlns:a16="http://schemas.microsoft.com/office/drawing/2014/main" id="{11E47E04-5665-3098-BBBD-346B3E29B161}"/>
              </a:ext>
            </a:extLst>
          </p:cNvPr>
          <p:cNvSpPr txBox="1"/>
          <p:nvPr/>
        </p:nvSpPr>
        <p:spPr>
          <a:xfrm>
            <a:off x="1664133" y="5781838"/>
            <a:ext cx="8863734" cy="954107"/>
          </a:xfrm>
          <a:prstGeom prst="rect">
            <a:avLst/>
          </a:prstGeom>
          <a:solidFill>
            <a:schemeClr val="accent2"/>
          </a:solidFill>
          <a:ln>
            <a:solidFill>
              <a:schemeClr val="bg1"/>
            </a:solidFill>
          </a:ln>
        </p:spPr>
        <p:txBody>
          <a:bodyPr wrap="square" rtlCol="0">
            <a:spAutoFit/>
          </a:bodyPr>
          <a:lstStyle/>
          <a:p>
            <a:pPr algn="ctr"/>
            <a:r>
              <a:rPr lang="en-CA" sz="2800" dirty="0"/>
              <a:t>Used content from the Pro Git book</a:t>
            </a:r>
            <a:br>
              <a:rPr lang="en-CA" sz="2800" dirty="0"/>
            </a:br>
            <a:r>
              <a:rPr lang="en-CA" sz="2800" dirty="0"/>
              <a:t>https://git-</a:t>
            </a:r>
            <a:r>
              <a:rPr lang="en-CA" sz="2800" dirty="0" err="1"/>
              <a:t>scm.com</a:t>
            </a:r>
            <a:r>
              <a:rPr lang="en-CA" sz="2800" dirty="0"/>
              <a:t>/book/</a:t>
            </a:r>
            <a:r>
              <a:rPr lang="en-CA" sz="2800" dirty="0" err="1"/>
              <a:t>en</a:t>
            </a:r>
            <a:r>
              <a:rPr lang="en-CA" sz="2800" dirty="0"/>
              <a:t>/v2</a:t>
            </a:r>
            <a:endParaRPr lang="en-US" sz="2800" dirty="0"/>
          </a:p>
        </p:txBody>
      </p:sp>
    </p:spTree>
    <p:extLst>
      <p:ext uri="{BB962C8B-B14F-4D97-AF65-F5344CB8AC3E}">
        <p14:creationId xmlns:p14="http://schemas.microsoft.com/office/powerpoint/2010/main" val="702372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5C08-91D3-8C9E-0505-0090A24BE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451C1-18CE-1864-E271-A39834C5A31B}"/>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What is a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FC5C4FDA-407C-8FD0-D492-980AF8C11B33}"/>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87805F58-54B9-2EA8-7D85-0704C67F2B51}"/>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EF1BDB74-550D-A10F-B283-B69F65D88359}"/>
              </a:ext>
            </a:extLst>
          </p:cNvPr>
          <p:cNvSpPr txBox="1"/>
          <p:nvPr/>
        </p:nvSpPr>
        <p:spPr>
          <a:xfrm>
            <a:off x="2136775" y="1852807"/>
            <a:ext cx="8126276"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 version control system </a:t>
            </a:r>
            <a:r>
              <a:rPr lang="en-US" sz="2800" b="1" u="sng" dirty="0">
                <a:latin typeface="Times New Roman" panose="02020603050405020304" pitchFamily="18" charset="0"/>
                <a:cs typeface="Times New Roman" panose="02020603050405020304" pitchFamily="18" charset="0"/>
              </a:rPr>
              <a:t>records changes </a:t>
            </a:r>
            <a:r>
              <a:rPr lang="en-US" sz="2800" dirty="0">
                <a:latin typeface="Times New Roman" panose="02020603050405020304" pitchFamily="18" charset="0"/>
                <a:cs typeface="Times New Roman" panose="02020603050405020304" pitchFamily="18" charset="0"/>
              </a:rPr>
              <a:t>to a file or set of files so that we can </a:t>
            </a:r>
            <a:r>
              <a:rPr lang="en-US" sz="2800" b="1" u="sng" dirty="0">
                <a:latin typeface="Times New Roman" panose="02020603050405020304" pitchFamily="18" charset="0"/>
                <a:cs typeface="Times New Roman" panose="02020603050405020304" pitchFamily="18" charset="0"/>
              </a:rPr>
              <a:t>retrieve the content </a:t>
            </a:r>
            <a:r>
              <a:rPr lang="en-US" sz="2800" dirty="0">
                <a:latin typeface="Times New Roman" panose="02020603050405020304" pitchFamily="18" charset="0"/>
                <a:cs typeface="Times New Roman" panose="02020603050405020304" pitchFamily="18" charset="0"/>
              </a:rPr>
              <a:t>of a file at a </a:t>
            </a:r>
            <a:r>
              <a:rPr lang="en-US" sz="2800" b="1" u="sng" dirty="0">
                <a:latin typeface="Times New Roman" panose="02020603050405020304" pitchFamily="18" charset="0"/>
                <a:cs typeface="Times New Roman" panose="02020603050405020304" pitchFamily="18" charset="0"/>
              </a:rPr>
              <a:t>specific point in time</a:t>
            </a:r>
            <a:r>
              <a:rPr lang="en-US" sz="2800" dirty="0">
                <a:latin typeface="Times New Roman" panose="02020603050405020304" pitchFamily="18" charset="0"/>
                <a:cs typeface="Times New Roman" panose="02020603050405020304" pitchFamily="18" charset="0"/>
              </a:rPr>
              <a:t>.</a:t>
            </a:r>
          </a:p>
        </p:txBody>
      </p:sp>
    </p:spTree>
    <p:custDataLst>
      <p:tags r:id="rId1"/>
    </p:custDataLst>
    <p:extLst>
      <p:ext uri="{BB962C8B-B14F-4D97-AF65-F5344CB8AC3E}">
        <p14:creationId xmlns:p14="http://schemas.microsoft.com/office/powerpoint/2010/main" val="3277330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A364-966A-91FE-CA8F-D54877B3E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7F38B-99CB-FD02-47DA-69C90B7AFBB5}"/>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Local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C15413B0-624B-D8F6-3108-EC8A22C72CAF}"/>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170388F0-6BE6-D0EA-5DE5-D3E804F92618}"/>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Local version control diagram">
            <a:extLst>
              <a:ext uri="{FF2B5EF4-FFF2-40B4-BE49-F238E27FC236}">
                <a16:creationId xmlns:a16="http://schemas.microsoft.com/office/drawing/2014/main" id="{6618B8C0-905C-EBEF-6D7D-C77482FD7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6237" y="3328421"/>
            <a:ext cx="3946312" cy="33705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F0ED64C-4752-20B4-1706-971086B8F3CB}"/>
              </a:ext>
            </a:extLst>
          </p:cNvPr>
          <p:cNvSpPr txBox="1"/>
          <p:nvPr/>
        </p:nvSpPr>
        <p:spPr>
          <a:xfrm>
            <a:off x="2136776" y="1814945"/>
            <a:ext cx="8171007" cy="1569660"/>
          </a:xfrm>
          <a:prstGeom prst="rect">
            <a:avLst/>
          </a:prstGeom>
          <a:noFill/>
        </p:spPr>
        <p:txBody>
          <a:bodyPr wrap="square" rtlCol="0">
            <a:spAutoFit/>
          </a:bodyPr>
          <a:lstStyle/>
          <a:p>
            <a:r>
              <a:rPr lang="en-US" sz="2400" dirty="0"/>
              <a:t>When you make changes to a file, you can accidentally change the content of the file that you don’t want to, accidentally write to the wrong file, delete the file or copy over files that you don’t mean to.</a:t>
            </a:r>
          </a:p>
        </p:txBody>
      </p:sp>
    </p:spTree>
    <p:custDataLst>
      <p:tags r:id="rId1"/>
    </p:custDataLst>
    <p:extLst>
      <p:ext uri="{BB962C8B-B14F-4D97-AF65-F5344CB8AC3E}">
        <p14:creationId xmlns:p14="http://schemas.microsoft.com/office/powerpoint/2010/main" val="1994949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2602-5410-4E73-A535-6DD4002C6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EBE83-6A04-91F3-BA52-8867859AF112}"/>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Centralized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5E65E375-9D80-3258-FDBC-E588C7FE3998}"/>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A4705E23-4D0A-9760-FD32-06247D24DA0B}"/>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98FE9851-E52E-7C9B-853A-9F12D7660DEC}"/>
              </a:ext>
            </a:extLst>
          </p:cNvPr>
          <p:cNvSpPr txBox="1"/>
          <p:nvPr/>
        </p:nvSpPr>
        <p:spPr>
          <a:xfrm>
            <a:off x="2136776" y="1814946"/>
            <a:ext cx="8171007" cy="830997"/>
          </a:xfrm>
          <a:prstGeom prst="rect">
            <a:avLst/>
          </a:prstGeom>
          <a:noFill/>
        </p:spPr>
        <p:txBody>
          <a:bodyPr wrap="square" rtlCol="0">
            <a:spAutoFit/>
          </a:bodyPr>
          <a:lstStyle/>
          <a:p>
            <a:r>
              <a:rPr lang="en-US" sz="2400" dirty="0"/>
              <a:t>In a centralized version control system, there is a single repository (or server) that contains all the versioned files. </a:t>
            </a:r>
          </a:p>
        </p:txBody>
      </p:sp>
      <p:pic>
        <p:nvPicPr>
          <p:cNvPr id="7" name="Picture 2" descr="Centralized version control diagram">
            <a:extLst>
              <a:ext uri="{FF2B5EF4-FFF2-40B4-BE49-F238E27FC236}">
                <a16:creationId xmlns:a16="http://schemas.microsoft.com/office/drawing/2014/main" id="{72E329AB-976B-F562-24A8-F61EF25020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161" y="3519175"/>
            <a:ext cx="7048235" cy="287068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88874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A1D1-24B6-4E56-DAC6-8D9935AB8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C2733-C7C5-9075-105B-BF9CD9A1497F}"/>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What are the benefits and drawback?</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E46A29D0-9A0F-F33F-A4ED-4588F576626C}"/>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2FBAEAE9-0D6D-19CB-0ED2-24DA863719BD}"/>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Centralized version control diagram">
            <a:extLst>
              <a:ext uri="{FF2B5EF4-FFF2-40B4-BE49-F238E27FC236}">
                <a16:creationId xmlns:a16="http://schemas.microsoft.com/office/drawing/2014/main" id="{91AB0F4F-F256-9DAF-0FA3-B984D77C1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161" y="3519175"/>
            <a:ext cx="7048235" cy="287068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88148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27250-328B-D7CD-3D77-0B3A9068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D1EC6-29B6-8447-5E6D-863616577D93}"/>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Benefits of Centralized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F0ECC58D-37DC-FD9F-127C-031A34350EA8}"/>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41BA3B99-7C0F-3C86-2EF9-EAE74A7EBBDF}"/>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Centralized version control diagram">
            <a:extLst>
              <a:ext uri="{FF2B5EF4-FFF2-40B4-BE49-F238E27FC236}">
                <a16:creationId xmlns:a16="http://schemas.microsoft.com/office/drawing/2014/main" id="{D499FBC1-6A59-2BF5-2191-7B2E442BF1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161" y="3519175"/>
            <a:ext cx="7048235" cy="28706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76CD7D5-83E9-80CE-0B17-4823484C4456}"/>
              </a:ext>
            </a:extLst>
          </p:cNvPr>
          <p:cNvSpPr txBox="1"/>
          <p:nvPr/>
        </p:nvSpPr>
        <p:spPr>
          <a:xfrm>
            <a:off x="2136776" y="1814945"/>
            <a:ext cx="8171007" cy="1569660"/>
          </a:xfrm>
          <a:prstGeom prst="rect">
            <a:avLst/>
          </a:prstGeom>
          <a:noFill/>
        </p:spPr>
        <p:txBody>
          <a:bodyPr wrap="square" rtlCol="0">
            <a:spAutoFit/>
          </a:bodyPr>
          <a:lstStyle/>
          <a:p>
            <a:pPr marL="342900" indent="-342900">
              <a:buFontTx/>
              <a:buChar char="-"/>
            </a:pPr>
            <a:r>
              <a:rPr lang="en-US" sz="2400" dirty="0">
                <a:solidFill>
                  <a:schemeClr val="accent1"/>
                </a:solidFill>
              </a:rPr>
              <a:t>Everyone knows about the latest state of the repository</a:t>
            </a:r>
          </a:p>
          <a:p>
            <a:pPr marL="342900" indent="-342900">
              <a:buFontTx/>
              <a:buChar char="-"/>
            </a:pPr>
            <a:r>
              <a:rPr lang="en-US" sz="2400" dirty="0">
                <a:solidFill>
                  <a:schemeClr val="accent1"/>
                </a:solidFill>
              </a:rPr>
              <a:t>This enables collaboration among multiple developers that can check out files from the central repository</a:t>
            </a:r>
          </a:p>
          <a:p>
            <a:pPr marL="342900" indent="-342900">
              <a:buFontTx/>
              <a:buChar char="-"/>
            </a:pPr>
            <a:r>
              <a:rPr lang="en-US" sz="2400" dirty="0">
                <a:solidFill>
                  <a:schemeClr val="accent1"/>
                </a:solidFill>
              </a:rPr>
              <a:t>Administrators have fine control over who can do what</a:t>
            </a:r>
          </a:p>
        </p:txBody>
      </p:sp>
    </p:spTree>
    <p:custDataLst>
      <p:tags r:id="rId1"/>
    </p:custDataLst>
    <p:extLst>
      <p:ext uri="{BB962C8B-B14F-4D97-AF65-F5344CB8AC3E}">
        <p14:creationId xmlns:p14="http://schemas.microsoft.com/office/powerpoint/2010/main" val="392115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9480A-9909-C4FE-566B-D06FCEEAF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3B7C5-9133-B6E2-9F39-05AB0BB783EB}"/>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Drawback of Centralized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980C5818-211E-FE4E-F25A-EF65D92E70CF}"/>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345FAE67-549B-61B7-F720-366D20F41006}"/>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Centralized version control diagram">
            <a:extLst>
              <a:ext uri="{FF2B5EF4-FFF2-40B4-BE49-F238E27FC236}">
                <a16:creationId xmlns:a16="http://schemas.microsoft.com/office/drawing/2014/main" id="{CF28BF74-2451-8E28-680F-EB99A263C2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161" y="3519175"/>
            <a:ext cx="7048235" cy="28706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83B16E8-FB1D-0C95-4150-652D1126E315}"/>
              </a:ext>
            </a:extLst>
          </p:cNvPr>
          <p:cNvSpPr txBox="1"/>
          <p:nvPr/>
        </p:nvSpPr>
        <p:spPr>
          <a:xfrm>
            <a:off x="2136776" y="1814946"/>
            <a:ext cx="8171007" cy="461665"/>
          </a:xfrm>
          <a:prstGeom prst="rect">
            <a:avLst/>
          </a:prstGeom>
          <a:noFill/>
        </p:spPr>
        <p:txBody>
          <a:bodyPr wrap="square" rtlCol="0">
            <a:spAutoFit/>
          </a:bodyPr>
          <a:lstStyle/>
          <a:p>
            <a:pPr marL="342900" indent="-342900">
              <a:buFontTx/>
              <a:buChar char="-"/>
            </a:pPr>
            <a:r>
              <a:rPr lang="en-US" sz="2400" dirty="0">
                <a:solidFill>
                  <a:schemeClr val="accent1"/>
                </a:solidFill>
              </a:rPr>
              <a:t>Single point of failure</a:t>
            </a:r>
          </a:p>
        </p:txBody>
      </p:sp>
    </p:spTree>
    <p:custDataLst>
      <p:tags r:id="rId1"/>
    </p:custDataLst>
    <p:extLst>
      <p:ext uri="{BB962C8B-B14F-4D97-AF65-F5344CB8AC3E}">
        <p14:creationId xmlns:p14="http://schemas.microsoft.com/office/powerpoint/2010/main" val="892700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9E27D-7CA7-EC12-93D3-493CEF227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45ED2-F98B-A2C3-97D7-2EB80980616F}"/>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Distributed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10B9A523-2EF1-AA09-3026-7AB4EBBC95A9}"/>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D74A8DD6-82D3-B098-3A32-2B30A4FE1BB1}"/>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6" name="Picture 2" descr="Distributed version control diagram">
            <a:extLst>
              <a:ext uri="{FF2B5EF4-FFF2-40B4-BE49-F238E27FC236}">
                <a16:creationId xmlns:a16="http://schemas.microsoft.com/office/drawing/2014/main" id="{7F2C195A-3C60-E34E-E26D-AABFAC7EC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9237" y="1852807"/>
            <a:ext cx="4128655" cy="49433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2D98BF2-0FFD-1C5B-8C82-4CE77276F162}"/>
              </a:ext>
            </a:extLst>
          </p:cNvPr>
          <p:cNvSpPr txBox="1"/>
          <p:nvPr/>
        </p:nvSpPr>
        <p:spPr>
          <a:xfrm>
            <a:off x="1831976" y="1852806"/>
            <a:ext cx="4527261" cy="2677656"/>
          </a:xfrm>
          <a:prstGeom prst="rect">
            <a:avLst/>
          </a:prstGeom>
          <a:noFill/>
        </p:spPr>
        <p:txBody>
          <a:bodyPr wrap="square" rtlCol="0">
            <a:spAutoFit/>
          </a:bodyPr>
          <a:lstStyle/>
          <a:p>
            <a:pPr marL="342900" indent="-342900">
              <a:buFontTx/>
              <a:buChar char="-"/>
            </a:pPr>
            <a:r>
              <a:rPr lang="en-US" sz="2400" dirty="0">
                <a:solidFill>
                  <a:schemeClr val="accent1"/>
                </a:solidFill>
              </a:rPr>
              <a:t>Every client has a complete copy of the repository (i.e., full history)</a:t>
            </a:r>
          </a:p>
          <a:p>
            <a:pPr marL="342900" indent="-342900">
              <a:buFontTx/>
              <a:buChar char="-"/>
            </a:pPr>
            <a:r>
              <a:rPr lang="en-US" sz="2400" dirty="0">
                <a:solidFill>
                  <a:schemeClr val="accent1"/>
                </a:solidFill>
              </a:rPr>
              <a:t>If the server dies, the content can be copies back to the server from a client</a:t>
            </a:r>
          </a:p>
          <a:p>
            <a:pPr marL="342900" indent="-342900">
              <a:buFontTx/>
              <a:buChar char="-"/>
            </a:pPr>
            <a:endParaRPr lang="en-US" sz="2400" dirty="0">
              <a:solidFill>
                <a:schemeClr val="accent1"/>
              </a:solidFill>
            </a:endParaRPr>
          </a:p>
        </p:txBody>
      </p:sp>
    </p:spTree>
    <p:custDataLst>
      <p:tags r:id="rId1"/>
    </p:custDataLst>
    <p:extLst>
      <p:ext uri="{BB962C8B-B14F-4D97-AF65-F5344CB8AC3E}">
        <p14:creationId xmlns:p14="http://schemas.microsoft.com/office/powerpoint/2010/main" val="214367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78B2-89D8-9419-802D-31CD20611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DEFAB-E1F4-22C5-AE97-171D57474AE4}"/>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Delta-based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9F1C31C8-C34E-007B-7ECA-AD11FDB39390}"/>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D0A56DB1-DF0E-0376-4FDE-0916389069B9}"/>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Diagram&#10;&#10;Description automatically generated">
            <a:extLst>
              <a:ext uri="{FF2B5EF4-FFF2-40B4-BE49-F238E27FC236}">
                <a16:creationId xmlns:a16="http://schemas.microsoft.com/office/drawing/2014/main" id="{7C8C9619-0AEA-5293-AC26-EBE2417622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0771" y="2282704"/>
            <a:ext cx="7690459" cy="3073915"/>
          </a:xfrm>
          <a:prstGeom prst="rect">
            <a:avLst/>
          </a:prstGeom>
        </p:spPr>
      </p:pic>
    </p:spTree>
    <p:custDataLst>
      <p:tags r:id="rId1"/>
    </p:custDataLst>
    <p:extLst>
      <p:ext uri="{BB962C8B-B14F-4D97-AF65-F5344CB8AC3E}">
        <p14:creationId xmlns:p14="http://schemas.microsoft.com/office/powerpoint/2010/main" val="3612724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6A0F6-D19B-2EF2-3B9D-9D170DCD7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0BCA-E9B3-6CB3-0822-5A85E297BA05}"/>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Snapshot-based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DBD2965A-B432-6ECC-219D-A1BC1D7054DB}"/>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DE75FDD8-6953-4DEF-11AA-84F40C46AD98}"/>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A screen shot of a calculator&#10;&#10;Description automatically generated with medium confidence">
            <a:extLst>
              <a:ext uri="{FF2B5EF4-FFF2-40B4-BE49-F238E27FC236}">
                <a16:creationId xmlns:a16="http://schemas.microsoft.com/office/drawing/2014/main" id="{7CF08B74-3F1C-357C-C440-03F8E2135B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0404" y="2628648"/>
            <a:ext cx="7734472" cy="2995826"/>
          </a:xfrm>
          <a:prstGeom prst="rect">
            <a:avLst/>
          </a:prstGeom>
        </p:spPr>
      </p:pic>
    </p:spTree>
    <p:custDataLst>
      <p:tags r:id="rId1"/>
    </p:custDataLst>
    <p:extLst>
      <p:ext uri="{BB962C8B-B14F-4D97-AF65-F5344CB8AC3E}">
        <p14:creationId xmlns:p14="http://schemas.microsoft.com/office/powerpoint/2010/main" val="3415351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1960-A8CB-CA49-4BF8-3633C3EC5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0627A-2F33-852F-9B83-80DFBBE7F4EC}"/>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Git is an example of a distributed version control system</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1A55AC8A-BB78-F4A4-5B5C-6BA08FC8FB6F}"/>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7B84D53D-6449-12E1-097E-E2FC8735842B}"/>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A screen shot of a calculator&#10;&#10;Description automatically generated with medium confidence">
            <a:extLst>
              <a:ext uri="{FF2B5EF4-FFF2-40B4-BE49-F238E27FC236}">
                <a16:creationId xmlns:a16="http://schemas.microsoft.com/office/drawing/2014/main" id="{B37E0611-8A59-8790-F06F-D03991939F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3310" y="3429000"/>
            <a:ext cx="7734472" cy="2995826"/>
          </a:xfrm>
          <a:prstGeom prst="rect">
            <a:avLst/>
          </a:prstGeom>
        </p:spPr>
      </p:pic>
      <p:sp>
        <p:nvSpPr>
          <p:cNvPr id="4" name="TextBox 3">
            <a:extLst>
              <a:ext uri="{FF2B5EF4-FFF2-40B4-BE49-F238E27FC236}">
                <a16:creationId xmlns:a16="http://schemas.microsoft.com/office/drawing/2014/main" id="{4B66AEBB-F7BA-987D-5CE5-985E30A30F10}"/>
              </a:ext>
            </a:extLst>
          </p:cNvPr>
          <p:cNvSpPr txBox="1"/>
          <p:nvPr/>
        </p:nvSpPr>
        <p:spPr>
          <a:xfrm>
            <a:off x="2136776" y="1814946"/>
            <a:ext cx="8171007" cy="830997"/>
          </a:xfrm>
          <a:prstGeom prst="rect">
            <a:avLst/>
          </a:prstGeom>
          <a:noFill/>
        </p:spPr>
        <p:txBody>
          <a:bodyPr wrap="square" rtlCol="0">
            <a:spAutoFit/>
          </a:bodyPr>
          <a:lstStyle/>
          <a:p>
            <a:pPr marL="342900" indent="-342900">
              <a:buFontTx/>
              <a:buChar char="-"/>
            </a:pPr>
            <a:r>
              <a:rPr lang="en-US" sz="2400" dirty="0">
                <a:solidFill>
                  <a:schemeClr val="accent1"/>
                </a:solidFill>
              </a:rPr>
              <a:t>Snapshots, not differences</a:t>
            </a:r>
          </a:p>
          <a:p>
            <a:pPr marL="342900" indent="-342900">
              <a:buFontTx/>
              <a:buChar char="-"/>
            </a:pPr>
            <a:r>
              <a:rPr lang="en-US" sz="2400" dirty="0">
                <a:solidFill>
                  <a:schemeClr val="accent1"/>
                </a:solidFill>
              </a:rPr>
              <a:t>Nearly every operation is local</a:t>
            </a:r>
          </a:p>
        </p:txBody>
      </p:sp>
    </p:spTree>
    <p:custDataLst>
      <p:tags r:id="rId1"/>
    </p:custDataLst>
    <p:extLst>
      <p:ext uri="{BB962C8B-B14F-4D97-AF65-F5344CB8AC3E}">
        <p14:creationId xmlns:p14="http://schemas.microsoft.com/office/powerpoint/2010/main" val="382265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C35C-03C0-F3C8-4C2F-01BC85752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CC6B0-EC4F-B0D4-FF61-9F9BA1E01230}"/>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Installing Git</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EF84CCAA-C9F2-0ED6-482E-C14863C38798}"/>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92BA8C93-462E-5CFD-1C53-8FC2DE43849A}"/>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12EF09F1-69EE-38C9-1835-54ED6BFAF677}"/>
              </a:ext>
            </a:extLst>
          </p:cNvPr>
          <p:cNvSpPr txBox="1"/>
          <p:nvPr/>
        </p:nvSpPr>
        <p:spPr>
          <a:xfrm>
            <a:off x="1664133" y="1700406"/>
            <a:ext cx="8863734" cy="954107"/>
          </a:xfrm>
          <a:prstGeom prst="rect">
            <a:avLst/>
          </a:prstGeom>
          <a:solidFill>
            <a:schemeClr val="accent2"/>
          </a:solidFill>
          <a:ln>
            <a:solidFill>
              <a:schemeClr val="bg1"/>
            </a:solidFill>
          </a:ln>
        </p:spPr>
        <p:txBody>
          <a:bodyPr wrap="square" rtlCol="0">
            <a:spAutoFit/>
          </a:bodyPr>
          <a:lstStyle/>
          <a:p>
            <a:pPr algn="ctr"/>
            <a:r>
              <a:rPr lang="en-CA" sz="2800" dirty="0"/>
              <a:t>Installing on </a:t>
            </a:r>
            <a:r>
              <a:rPr lang="en-CA" sz="2800" dirty="0">
                <a:solidFill>
                  <a:srgbClr val="4E443C"/>
                </a:solidFill>
                <a:latin typeface="Arial" panose="020B0604020202020204" pitchFamily="34" charset="0"/>
              </a:rPr>
              <a:t>Debian-based distribution, such as Ubuntu</a:t>
            </a:r>
            <a:br>
              <a:rPr lang="en-CA" sz="2800" dirty="0"/>
            </a:br>
            <a:r>
              <a:rPr lang="en-CA" sz="2800" dirty="0" err="1"/>
              <a:t>sudo</a:t>
            </a:r>
            <a:r>
              <a:rPr lang="en-CA" sz="2800" dirty="0"/>
              <a:t> apt install git-all</a:t>
            </a:r>
            <a:endParaRPr lang="en-US" sz="2800" dirty="0"/>
          </a:p>
        </p:txBody>
      </p:sp>
      <p:pic>
        <p:nvPicPr>
          <p:cNvPr id="9" name="Picture 8" descr="A screenshot of a computer&#10;&#10;Description automatically generated">
            <a:extLst>
              <a:ext uri="{FF2B5EF4-FFF2-40B4-BE49-F238E27FC236}">
                <a16:creationId xmlns:a16="http://schemas.microsoft.com/office/drawing/2014/main" id="{7E68F88F-F145-38D4-C9C7-C9BB0E6E52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1619" y="4695943"/>
            <a:ext cx="4592780" cy="2087163"/>
          </a:xfrm>
          <a:prstGeom prst="rect">
            <a:avLst/>
          </a:prstGeom>
        </p:spPr>
      </p:pic>
      <p:sp>
        <p:nvSpPr>
          <p:cNvPr id="10" name="TextBox 9">
            <a:extLst>
              <a:ext uri="{FF2B5EF4-FFF2-40B4-BE49-F238E27FC236}">
                <a16:creationId xmlns:a16="http://schemas.microsoft.com/office/drawing/2014/main" id="{52BA6EF0-020A-F085-60E4-1FA0731EBB9A}"/>
              </a:ext>
            </a:extLst>
          </p:cNvPr>
          <p:cNvSpPr txBox="1"/>
          <p:nvPr/>
        </p:nvSpPr>
        <p:spPr>
          <a:xfrm>
            <a:off x="1664133" y="2767286"/>
            <a:ext cx="8863734" cy="1815882"/>
          </a:xfrm>
          <a:prstGeom prst="rect">
            <a:avLst/>
          </a:prstGeom>
          <a:solidFill>
            <a:schemeClr val="accent2"/>
          </a:solidFill>
          <a:ln>
            <a:solidFill>
              <a:schemeClr val="bg1"/>
            </a:solidFill>
          </a:ln>
        </p:spPr>
        <p:txBody>
          <a:bodyPr wrap="square" rtlCol="0">
            <a:spAutoFit/>
          </a:bodyPr>
          <a:lstStyle/>
          <a:p>
            <a:pPr algn="ctr"/>
            <a:r>
              <a:rPr lang="en-CA" sz="2800" dirty="0"/>
              <a:t>Installing on </a:t>
            </a:r>
            <a:r>
              <a:rPr lang="en-CA" sz="2800" dirty="0">
                <a:solidFill>
                  <a:srgbClr val="4E443C"/>
                </a:solidFill>
                <a:latin typeface="Arial" panose="020B0604020202020204" pitchFamily="34" charset="0"/>
              </a:rPr>
              <a:t>Windows: https://</a:t>
            </a:r>
            <a:r>
              <a:rPr lang="en-CA" sz="2800" dirty="0" err="1">
                <a:solidFill>
                  <a:srgbClr val="4E443C"/>
                </a:solidFill>
                <a:latin typeface="Arial" panose="020B0604020202020204" pitchFamily="34" charset="0"/>
              </a:rPr>
              <a:t>github.com</a:t>
            </a:r>
            <a:r>
              <a:rPr lang="en-CA" sz="2800" dirty="0">
                <a:solidFill>
                  <a:srgbClr val="4E443C"/>
                </a:solidFill>
                <a:latin typeface="Arial" panose="020B0604020202020204" pitchFamily="34" charset="0"/>
              </a:rPr>
              <a:t>/git-for-windows/git/releases/download/v2.51.0.windows.1/Git-2.51.0-64-bit.exe </a:t>
            </a:r>
            <a:br>
              <a:rPr lang="en-CA" sz="2800" dirty="0"/>
            </a:br>
            <a:r>
              <a:rPr lang="en-CA" sz="2800" dirty="0"/>
              <a:t>https://git-</a:t>
            </a:r>
            <a:r>
              <a:rPr lang="en-CA" sz="2800" dirty="0" err="1"/>
              <a:t>scm.com</a:t>
            </a:r>
            <a:r>
              <a:rPr lang="en-CA" sz="2800" dirty="0"/>
              <a:t>/downloads/win</a:t>
            </a:r>
            <a:endParaRPr lang="en-US" sz="2800" dirty="0"/>
          </a:p>
        </p:txBody>
      </p:sp>
    </p:spTree>
    <p:custDataLst>
      <p:tags r:id="rId1"/>
    </p:custDataLst>
    <p:extLst>
      <p:ext uri="{BB962C8B-B14F-4D97-AF65-F5344CB8AC3E}">
        <p14:creationId xmlns:p14="http://schemas.microsoft.com/office/powerpoint/2010/main" val="1597071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D2214-742F-5F18-734A-89C622D89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0B7AB-9CC5-B802-A4AD-F5957E7BA71C}"/>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Installing Git</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1C1E4EE9-54F4-FA17-DE73-C57D28BA7E0D}"/>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B50F56A8-0F37-2363-A07E-00F78B3DA373}"/>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6239EB93-6EA5-6D2B-C320-4A9C68932227}"/>
              </a:ext>
            </a:extLst>
          </p:cNvPr>
          <p:cNvSpPr txBox="1"/>
          <p:nvPr/>
        </p:nvSpPr>
        <p:spPr>
          <a:xfrm>
            <a:off x="1664133" y="1700406"/>
            <a:ext cx="8863734" cy="954107"/>
          </a:xfrm>
          <a:prstGeom prst="rect">
            <a:avLst/>
          </a:prstGeom>
          <a:solidFill>
            <a:schemeClr val="accent2"/>
          </a:solidFill>
          <a:ln>
            <a:solidFill>
              <a:schemeClr val="bg1"/>
            </a:solidFill>
          </a:ln>
        </p:spPr>
        <p:txBody>
          <a:bodyPr wrap="square" rtlCol="0">
            <a:spAutoFit/>
          </a:bodyPr>
          <a:lstStyle/>
          <a:p>
            <a:pPr algn="ctr"/>
            <a:r>
              <a:rPr lang="en-CA" sz="2800" dirty="0"/>
              <a:t>Installing on </a:t>
            </a:r>
            <a:r>
              <a:rPr lang="en-CA" sz="2800" dirty="0">
                <a:solidFill>
                  <a:srgbClr val="4E443C"/>
                </a:solidFill>
                <a:latin typeface="Arial" panose="020B0604020202020204" pitchFamily="34" charset="0"/>
              </a:rPr>
              <a:t>Debian-based distribution, such as Ubuntu</a:t>
            </a:r>
            <a:br>
              <a:rPr lang="en-CA" sz="2800" dirty="0"/>
            </a:br>
            <a:r>
              <a:rPr lang="en-CA" sz="2800" dirty="0" err="1"/>
              <a:t>sudo</a:t>
            </a:r>
            <a:r>
              <a:rPr lang="en-CA" sz="2800" dirty="0"/>
              <a:t> apt install git-all</a:t>
            </a:r>
            <a:endParaRPr lang="en-US" sz="2800" dirty="0"/>
          </a:p>
        </p:txBody>
      </p:sp>
      <p:pic>
        <p:nvPicPr>
          <p:cNvPr id="9" name="Picture 8" descr="A screenshot of a computer&#10;&#10;Description automatically generated">
            <a:extLst>
              <a:ext uri="{FF2B5EF4-FFF2-40B4-BE49-F238E27FC236}">
                <a16:creationId xmlns:a16="http://schemas.microsoft.com/office/drawing/2014/main" id="{667A28DB-6D90-1860-07BD-3FABDB1607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1619" y="4695943"/>
            <a:ext cx="4592780" cy="2087163"/>
          </a:xfrm>
          <a:prstGeom prst="rect">
            <a:avLst/>
          </a:prstGeom>
        </p:spPr>
      </p:pic>
      <p:sp>
        <p:nvSpPr>
          <p:cNvPr id="10" name="TextBox 9">
            <a:extLst>
              <a:ext uri="{FF2B5EF4-FFF2-40B4-BE49-F238E27FC236}">
                <a16:creationId xmlns:a16="http://schemas.microsoft.com/office/drawing/2014/main" id="{A0EEC7C9-BBAD-30F2-E196-19E9BBB7E1BC}"/>
              </a:ext>
            </a:extLst>
          </p:cNvPr>
          <p:cNvSpPr txBox="1"/>
          <p:nvPr/>
        </p:nvSpPr>
        <p:spPr>
          <a:xfrm>
            <a:off x="1664133" y="2767286"/>
            <a:ext cx="8863734" cy="1815882"/>
          </a:xfrm>
          <a:prstGeom prst="rect">
            <a:avLst/>
          </a:prstGeom>
          <a:solidFill>
            <a:schemeClr val="accent2"/>
          </a:solidFill>
          <a:ln>
            <a:solidFill>
              <a:schemeClr val="bg1"/>
            </a:solidFill>
          </a:ln>
        </p:spPr>
        <p:txBody>
          <a:bodyPr wrap="square" rtlCol="0">
            <a:spAutoFit/>
          </a:bodyPr>
          <a:lstStyle/>
          <a:p>
            <a:pPr algn="ctr"/>
            <a:r>
              <a:rPr lang="en-CA" sz="2800" dirty="0"/>
              <a:t>Installing on </a:t>
            </a:r>
            <a:r>
              <a:rPr lang="en-CA" sz="2800" dirty="0">
                <a:solidFill>
                  <a:srgbClr val="4E443C"/>
                </a:solidFill>
                <a:latin typeface="Arial" panose="020B0604020202020204" pitchFamily="34" charset="0"/>
              </a:rPr>
              <a:t>Windows: https://</a:t>
            </a:r>
            <a:r>
              <a:rPr lang="en-CA" sz="2800" dirty="0" err="1">
                <a:solidFill>
                  <a:srgbClr val="4E443C"/>
                </a:solidFill>
                <a:latin typeface="Arial" panose="020B0604020202020204" pitchFamily="34" charset="0"/>
              </a:rPr>
              <a:t>github.com</a:t>
            </a:r>
            <a:r>
              <a:rPr lang="en-CA" sz="2800" dirty="0">
                <a:solidFill>
                  <a:srgbClr val="4E443C"/>
                </a:solidFill>
                <a:latin typeface="Arial" panose="020B0604020202020204" pitchFamily="34" charset="0"/>
              </a:rPr>
              <a:t>/git-for-windows/git/releases/download/v2.51.0.windows.1/Git-2.51.0-64-bit.exe </a:t>
            </a:r>
            <a:br>
              <a:rPr lang="en-CA" sz="2800" dirty="0"/>
            </a:br>
            <a:r>
              <a:rPr lang="en-CA" sz="2800" dirty="0"/>
              <a:t>https://git-</a:t>
            </a:r>
            <a:r>
              <a:rPr lang="en-CA" sz="2800" dirty="0" err="1"/>
              <a:t>scm.com</a:t>
            </a:r>
            <a:r>
              <a:rPr lang="en-CA" sz="2800" dirty="0"/>
              <a:t>/downloads/win</a:t>
            </a:r>
            <a:endParaRPr lang="en-US" sz="2800" dirty="0"/>
          </a:p>
        </p:txBody>
      </p:sp>
    </p:spTree>
    <p:custDataLst>
      <p:tags r:id="rId1"/>
    </p:custDataLst>
    <p:extLst>
      <p:ext uri="{BB962C8B-B14F-4D97-AF65-F5344CB8AC3E}">
        <p14:creationId xmlns:p14="http://schemas.microsoft.com/office/powerpoint/2010/main" val="35215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D8139-F83D-4EF0-8E0C-E17CD1DFB878}"/>
              </a:ext>
            </a:extLst>
          </p:cNvPr>
          <p:cNvSpPr>
            <a:spLocks noGrp="1"/>
          </p:cNvSpPr>
          <p:nvPr>
            <p:ph type="title"/>
          </p:nvPr>
        </p:nvSpPr>
        <p:spPr/>
        <p:txBody>
          <a:bodyPr/>
          <a:lstStyle/>
          <a:p>
            <a:r>
              <a:rPr lang="en-US" dirty="0"/>
              <a:t>git version command</a:t>
            </a:r>
          </a:p>
        </p:txBody>
      </p:sp>
      <p:pic>
        <p:nvPicPr>
          <p:cNvPr id="6" name="Content Placeholder 5" descr="A screenshot of a computer&#10;&#10;Description automatically generated">
            <a:extLst>
              <a:ext uri="{FF2B5EF4-FFF2-40B4-BE49-F238E27FC236}">
                <a16:creationId xmlns:a16="http://schemas.microsoft.com/office/drawing/2014/main" id="{D18F5FA3-1156-D8BA-51FF-E400FFACC8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3738" y="1653973"/>
            <a:ext cx="8524524" cy="4299510"/>
          </a:xfrm>
        </p:spPr>
      </p:pic>
      <p:sp>
        <p:nvSpPr>
          <p:cNvPr id="4" name="Slide Number Placeholder 3">
            <a:extLst>
              <a:ext uri="{FF2B5EF4-FFF2-40B4-BE49-F238E27FC236}">
                <a16:creationId xmlns:a16="http://schemas.microsoft.com/office/drawing/2014/main" id="{CF081E9E-FD31-6FE3-11EC-7A0ED7D0E4A5}"/>
              </a:ext>
            </a:extLst>
          </p:cNvPr>
          <p:cNvSpPr>
            <a:spLocks noGrp="1"/>
          </p:cNvSpPr>
          <p:nvPr>
            <p:ph type="sldNum" sz="quarter" idx="12"/>
          </p:nvPr>
        </p:nvSpPr>
        <p:spPr/>
        <p:txBody>
          <a:bodyPr/>
          <a:lstStyle/>
          <a:p>
            <a:fld id="{195EE1B9-BF1E-4A9E-A347-25B7544482F7}" type="slidenum">
              <a:rPr lang="en-US" smtClean="0"/>
              <a:t>14</a:t>
            </a:fld>
            <a:endParaRPr lang="en-US"/>
          </a:p>
        </p:txBody>
      </p:sp>
      <p:cxnSp>
        <p:nvCxnSpPr>
          <p:cNvPr id="8" name="Straight Arrow Connector 7">
            <a:extLst>
              <a:ext uri="{FF2B5EF4-FFF2-40B4-BE49-F238E27FC236}">
                <a16:creationId xmlns:a16="http://schemas.microsoft.com/office/drawing/2014/main" id="{9F04366B-14BA-913F-211E-3509F68771A6}"/>
              </a:ext>
            </a:extLst>
          </p:cNvPr>
          <p:cNvCxnSpPr>
            <a:cxnSpLocks/>
          </p:cNvCxnSpPr>
          <p:nvPr/>
        </p:nvCxnSpPr>
        <p:spPr>
          <a:xfrm flipH="1" flipV="1">
            <a:off x="4003964" y="3803729"/>
            <a:ext cx="2438400" cy="2552623"/>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8DF8344F-6BC5-DCB7-97F3-F44E83E3A41B}"/>
              </a:ext>
            </a:extLst>
          </p:cNvPr>
          <p:cNvSpPr txBox="1">
            <a:spLocks/>
          </p:cNvSpPr>
          <p:nvPr/>
        </p:nvSpPr>
        <p:spPr>
          <a:xfrm>
            <a:off x="6360970" y="6103148"/>
            <a:ext cx="3250623" cy="618328"/>
          </a:xfrm>
          <a:prstGeom prst="rect">
            <a:avLst/>
          </a:prstGeom>
          <a:solidFill>
            <a:schemeClr val="accent2"/>
          </a:solid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git version</a:t>
            </a:r>
          </a:p>
        </p:txBody>
      </p:sp>
    </p:spTree>
    <p:extLst>
      <p:ext uri="{BB962C8B-B14F-4D97-AF65-F5344CB8AC3E}">
        <p14:creationId xmlns:p14="http://schemas.microsoft.com/office/powerpoint/2010/main" val="152935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FCE9-1934-01B1-7C79-D72EAD8E0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447B-3A12-5B69-94E4-D96F9858733A}"/>
              </a:ext>
            </a:extLst>
          </p:cNvPr>
          <p:cNvSpPr>
            <a:spLocks noGrp="1"/>
          </p:cNvSpPr>
          <p:nvPr>
            <p:ph type="title"/>
          </p:nvPr>
        </p:nvSpPr>
        <p:spPr/>
        <p:txBody>
          <a:bodyPr/>
          <a:lstStyle/>
          <a:p>
            <a:r>
              <a:rPr lang="en-US" dirty="0"/>
              <a:t>git config command</a:t>
            </a:r>
          </a:p>
        </p:txBody>
      </p:sp>
      <p:sp>
        <p:nvSpPr>
          <p:cNvPr id="4" name="Slide Number Placeholder 3">
            <a:extLst>
              <a:ext uri="{FF2B5EF4-FFF2-40B4-BE49-F238E27FC236}">
                <a16:creationId xmlns:a16="http://schemas.microsoft.com/office/drawing/2014/main" id="{0ACA7C38-2809-866D-599F-2D67928524F9}"/>
              </a:ext>
            </a:extLst>
          </p:cNvPr>
          <p:cNvSpPr>
            <a:spLocks noGrp="1"/>
          </p:cNvSpPr>
          <p:nvPr>
            <p:ph type="sldNum" sz="quarter" idx="12"/>
          </p:nvPr>
        </p:nvSpPr>
        <p:spPr/>
        <p:txBody>
          <a:bodyPr/>
          <a:lstStyle/>
          <a:p>
            <a:fld id="{195EE1B9-BF1E-4A9E-A347-25B7544482F7}" type="slidenum">
              <a:rPr lang="en-US" smtClean="0"/>
              <a:t>15</a:t>
            </a:fld>
            <a:endParaRPr lang="en-US"/>
          </a:p>
        </p:txBody>
      </p:sp>
      <p:sp>
        <p:nvSpPr>
          <p:cNvPr id="5" name="Content Placeholder 4">
            <a:extLst>
              <a:ext uri="{FF2B5EF4-FFF2-40B4-BE49-F238E27FC236}">
                <a16:creationId xmlns:a16="http://schemas.microsoft.com/office/drawing/2014/main" id="{F2A63F10-4612-861C-7E11-77ACEB883A45}"/>
              </a:ext>
            </a:extLst>
          </p:cNvPr>
          <p:cNvSpPr>
            <a:spLocks noGrp="1"/>
          </p:cNvSpPr>
          <p:nvPr>
            <p:ph idx="1"/>
          </p:nvPr>
        </p:nvSpPr>
        <p:spPr>
          <a:xfrm>
            <a:off x="1662546" y="1825625"/>
            <a:ext cx="8866909" cy="4351338"/>
          </a:xfrm>
        </p:spPr>
        <p:txBody>
          <a:bodyPr/>
          <a:lstStyle/>
          <a:p>
            <a:r>
              <a:rPr lang="en-US" dirty="0">
                <a:latin typeface="Roboto Mono" pitchFamily="49" charset="0"/>
                <a:ea typeface="Roboto Mono" pitchFamily="49" charset="0"/>
              </a:rPr>
              <a:t>Git comes with a tool, called git config, that allows set configuration variables that controls how git looks and behaves</a:t>
            </a:r>
          </a:p>
          <a:p>
            <a:endParaRPr lang="en-US" dirty="0">
              <a:latin typeface="Roboto Mono" pitchFamily="49" charset="0"/>
              <a:ea typeface="Roboto Mono" pitchFamily="49" charset="0"/>
            </a:endParaRPr>
          </a:p>
        </p:txBody>
      </p:sp>
      <p:graphicFrame>
        <p:nvGraphicFramePr>
          <p:cNvPr id="7" name="Table 6">
            <a:extLst>
              <a:ext uri="{FF2B5EF4-FFF2-40B4-BE49-F238E27FC236}">
                <a16:creationId xmlns:a16="http://schemas.microsoft.com/office/drawing/2014/main" id="{2F84D8C3-62EA-5BB6-8646-F6E55E3A7596}"/>
              </a:ext>
            </a:extLst>
          </p:cNvPr>
          <p:cNvGraphicFramePr>
            <a:graphicFrameLocks noGrp="1"/>
          </p:cNvGraphicFramePr>
          <p:nvPr/>
        </p:nvGraphicFramePr>
        <p:xfrm>
          <a:off x="1816532" y="3688293"/>
          <a:ext cx="8558934" cy="1174652"/>
        </p:xfrm>
        <a:graphic>
          <a:graphicData uri="http://schemas.openxmlformats.org/drawingml/2006/table">
            <a:tbl>
              <a:tblPr firstRow="1" bandRow="1">
                <a:tableStyleId>{5C22544A-7EE6-4342-B048-85BDC9FD1C3A}</a:tableStyleId>
              </a:tblPr>
              <a:tblGrid>
                <a:gridCol w="2379807">
                  <a:extLst>
                    <a:ext uri="{9D8B030D-6E8A-4147-A177-3AD203B41FA5}">
                      <a16:colId xmlns:a16="http://schemas.microsoft.com/office/drawing/2014/main" val="2919313566"/>
                    </a:ext>
                  </a:extLst>
                </a:gridCol>
                <a:gridCol w="6179127">
                  <a:extLst>
                    <a:ext uri="{9D8B030D-6E8A-4147-A177-3AD203B41FA5}">
                      <a16:colId xmlns:a16="http://schemas.microsoft.com/office/drawing/2014/main" val="634706535"/>
                    </a:ext>
                  </a:extLst>
                </a:gridCol>
              </a:tblGrid>
              <a:tr h="1174652">
                <a:tc>
                  <a:txBody>
                    <a:bodyPr/>
                    <a:lstStyle/>
                    <a:p>
                      <a:r>
                        <a:rPr lang="en-US" sz="2800" b="0" dirty="0">
                          <a:latin typeface="Roboto Mono" pitchFamily="49" charset="0"/>
                          <a:ea typeface="Roboto Mono" pitchFamily="49" charset="0"/>
                        </a:rPr>
                        <a:t>git config --list</a:t>
                      </a:r>
                    </a:p>
                  </a:txBody>
                  <a:tcPr/>
                </a:tc>
                <a:tc>
                  <a:txBody>
                    <a:bodyPr/>
                    <a:lstStyle/>
                    <a:p>
                      <a:r>
                        <a:rPr lang="en-US" sz="2800" b="0" dirty="0"/>
                        <a:t>view all settings</a:t>
                      </a:r>
                    </a:p>
                  </a:txBody>
                  <a:tcPr/>
                </a:tc>
                <a:extLst>
                  <a:ext uri="{0D108BD9-81ED-4DB2-BD59-A6C34878D82A}">
                    <a16:rowId xmlns:a16="http://schemas.microsoft.com/office/drawing/2014/main" val="1396573574"/>
                  </a:ext>
                </a:extLst>
              </a:tr>
            </a:tbl>
          </a:graphicData>
        </a:graphic>
      </p:graphicFrame>
      <p:sp>
        <p:nvSpPr>
          <p:cNvPr id="12" name="Rectangle 11">
            <a:extLst>
              <a:ext uri="{FF2B5EF4-FFF2-40B4-BE49-F238E27FC236}">
                <a16:creationId xmlns:a16="http://schemas.microsoft.com/office/drawing/2014/main" id="{7C7EE928-F145-6445-A505-8BABBEE9942B}"/>
              </a:ext>
            </a:extLst>
          </p:cNvPr>
          <p:cNvSpPr/>
          <p:nvPr/>
        </p:nvSpPr>
        <p:spPr>
          <a:xfrm>
            <a:off x="1524000" y="5167745"/>
            <a:ext cx="9144000" cy="11886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200" dirty="0">
                <a:latin typeface="Roboto Mono" pitchFamily="49" charset="0"/>
                <a:ea typeface="Roboto Mono" pitchFamily="49" charset="0"/>
              </a:rPr>
              <a:t>$ git config --global </a:t>
            </a:r>
            <a:r>
              <a:rPr lang="en-CA" sz="2200" dirty="0" err="1">
                <a:latin typeface="Roboto Mono" pitchFamily="49" charset="0"/>
                <a:ea typeface="Roboto Mono" pitchFamily="49" charset="0"/>
              </a:rPr>
              <a:t>user.name</a:t>
            </a:r>
            <a:r>
              <a:rPr lang="en-CA" sz="2200" dirty="0">
                <a:latin typeface="Roboto Mono" pitchFamily="49" charset="0"/>
                <a:ea typeface="Roboto Mono" pitchFamily="49" charset="0"/>
              </a:rPr>
              <a:t> "John Doe" </a:t>
            </a:r>
          </a:p>
          <a:p>
            <a:r>
              <a:rPr lang="en-CA" sz="2200" dirty="0">
                <a:latin typeface="Roboto Mono" pitchFamily="49" charset="0"/>
                <a:ea typeface="Roboto Mono" pitchFamily="49" charset="0"/>
              </a:rPr>
              <a:t>$ git config --global </a:t>
            </a:r>
            <a:r>
              <a:rPr lang="en-CA" sz="2200" dirty="0" err="1">
                <a:latin typeface="Roboto Mono" pitchFamily="49" charset="0"/>
                <a:ea typeface="Roboto Mono" pitchFamily="49" charset="0"/>
              </a:rPr>
              <a:t>user.email</a:t>
            </a:r>
            <a:r>
              <a:rPr lang="en-CA" sz="2200" dirty="0">
                <a:latin typeface="Roboto Mono" pitchFamily="49" charset="0"/>
                <a:ea typeface="Roboto Mono" pitchFamily="49" charset="0"/>
              </a:rPr>
              <a:t> </a:t>
            </a:r>
            <a:r>
              <a:rPr lang="en-CA" sz="2200" dirty="0" err="1">
                <a:latin typeface="Roboto Mono" pitchFamily="49" charset="0"/>
                <a:ea typeface="Roboto Mono" pitchFamily="49" charset="0"/>
              </a:rPr>
              <a:t>johndoe@example.com</a:t>
            </a:r>
            <a:endParaRPr lang="en-US" sz="2200" dirty="0">
              <a:latin typeface="Roboto Mono" pitchFamily="49" charset="0"/>
              <a:ea typeface="Roboto Mono" pitchFamily="49" charset="0"/>
            </a:endParaRPr>
          </a:p>
        </p:txBody>
      </p:sp>
    </p:spTree>
    <p:extLst>
      <p:ext uri="{BB962C8B-B14F-4D97-AF65-F5344CB8AC3E}">
        <p14:creationId xmlns:p14="http://schemas.microsoft.com/office/powerpoint/2010/main" val="2733962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5D1D-733B-C276-11BA-CB2D8EBF4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907D8-8C52-089B-AC15-C9EE64873907}"/>
              </a:ext>
            </a:extLst>
          </p:cNvPr>
          <p:cNvSpPr>
            <a:spLocks noGrp="1"/>
          </p:cNvSpPr>
          <p:nvPr>
            <p:ph type="title"/>
          </p:nvPr>
        </p:nvSpPr>
        <p:spPr/>
        <p:txBody>
          <a:bodyPr/>
          <a:lstStyle/>
          <a:p>
            <a:r>
              <a:rPr lang="en-US" dirty="0"/>
              <a:t>git config command</a:t>
            </a:r>
          </a:p>
        </p:txBody>
      </p:sp>
      <p:sp>
        <p:nvSpPr>
          <p:cNvPr id="4" name="Slide Number Placeholder 3">
            <a:extLst>
              <a:ext uri="{FF2B5EF4-FFF2-40B4-BE49-F238E27FC236}">
                <a16:creationId xmlns:a16="http://schemas.microsoft.com/office/drawing/2014/main" id="{9E6134BE-31E8-7103-D14A-A209D177CD18}"/>
              </a:ext>
            </a:extLst>
          </p:cNvPr>
          <p:cNvSpPr>
            <a:spLocks noGrp="1"/>
          </p:cNvSpPr>
          <p:nvPr>
            <p:ph type="sldNum" sz="quarter" idx="12"/>
          </p:nvPr>
        </p:nvSpPr>
        <p:spPr/>
        <p:txBody>
          <a:bodyPr/>
          <a:lstStyle/>
          <a:p>
            <a:fld id="{195EE1B9-BF1E-4A9E-A347-25B7544482F7}" type="slidenum">
              <a:rPr lang="en-US" smtClean="0"/>
              <a:t>16</a:t>
            </a:fld>
            <a:endParaRPr lang="en-US"/>
          </a:p>
        </p:txBody>
      </p:sp>
      <p:sp>
        <p:nvSpPr>
          <p:cNvPr id="5" name="Content Placeholder 4">
            <a:extLst>
              <a:ext uri="{FF2B5EF4-FFF2-40B4-BE49-F238E27FC236}">
                <a16:creationId xmlns:a16="http://schemas.microsoft.com/office/drawing/2014/main" id="{AECA269E-C68B-08F1-CEE8-AFF2AF5070FC}"/>
              </a:ext>
            </a:extLst>
          </p:cNvPr>
          <p:cNvSpPr>
            <a:spLocks noGrp="1"/>
          </p:cNvSpPr>
          <p:nvPr>
            <p:ph idx="1"/>
          </p:nvPr>
        </p:nvSpPr>
        <p:spPr>
          <a:xfrm>
            <a:off x="1662546" y="1825625"/>
            <a:ext cx="8866909" cy="4351338"/>
          </a:xfrm>
        </p:spPr>
        <p:txBody>
          <a:bodyPr/>
          <a:lstStyle/>
          <a:p>
            <a:r>
              <a:rPr lang="en-US" dirty="0">
                <a:latin typeface="Roboto Mono" pitchFamily="49" charset="0"/>
                <a:ea typeface="Roboto Mono" pitchFamily="49" charset="0"/>
              </a:rPr>
              <a:t>Git comes with a tool, called git config, that allows set configuration variables that controls how git looks and behaves</a:t>
            </a:r>
          </a:p>
          <a:p>
            <a:endParaRPr lang="en-US" dirty="0">
              <a:latin typeface="Roboto Mono" pitchFamily="49" charset="0"/>
              <a:ea typeface="Roboto Mono" pitchFamily="49" charset="0"/>
            </a:endParaRPr>
          </a:p>
        </p:txBody>
      </p:sp>
      <p:sp>
        <p:nvSpPr>
          <p:cNvPr id="12" name="Rectangle 11">
            <a:extLst>
              <a:ext uri="{FF2B5EF4-FFF2-40B4-BE49-F238E27FC236}">
                <a16:creationId xmlns:a16="http://schemas.microsoft.com/office/drawing/2014/main" id="{E22581AA-E919-2D60-C627-858652BA4A77}"/>
              </a:ext>
            </a:extLst>
          </p:cNvPr>
          <p:cNvSpPr/>
          <p:nvPr/>
        </p:nvSpPr>
        <p:spPr>
          <a:xfrm>
            <a:off x="1523999" y="3629890"/>
            <a:ext cx="9144000" cy="11886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200" dirty="0">
                <a:latin typeface="Roboto Mono" pitchFamily="49" charset="0"/>
                <a:ea typeface="Roboto Mono" pitchFamily="49" charset="0"/>
              </a:rPr>
              <a:t>$ git config --global </a:t>
            </a:r>
            <a:r>
              <a:rPr lang="en-CA" sz="2200" dirty="0" err="1">
                <a:latin typeface="Roboto Mono" pitchFamily="49" charset="0"/>
                <a:ea typeface="Roboto Mono" pitchFamily="49" charset="0"/>
              </a:rPr>
              <a:t>user.name</a:t>
            </a:r>
            <a:r>
              <a:rPr lang="en-CA" sz="2200" dirty="0">
                <a:latin typeface="Roboto Mono" pitchFamily="49" charset="0"/>
                <a:ea typeface="Roboto Mono" pitchFamily="49" charset="0"/>
              </a:rPr>
              <a:t> "John Doe" </a:t>
            </a:r>
          </a:p>
          <a:p>
            <a:r>
              <a:rPr lang="en-CA" sz="2200" dirty="0">
                <a:latin typeface="Roboto Mono" pitchFamily="49" charset="0"/>
                <a:ea typeface="Roboto Mono" pitchFamily="49" charset="0"/>
              </a:rPr>
              <a:t>$ git config --global </a:t>
            </a:r>
            <a:r>
              <a:rPr lang="en-CA" sz="2200" dirty="0" err="1">
                <a:latin typeface="Roboto Mono" pitchFamily="49" charset="0"/>
                <a:ea typeface="Roboto Mono" pitchFamily="49" charset="0"/>
              </a:rPr>
              <a:t>user.email</a:t>
            </a:r>
            <a:r>
              <a:rPr lang="en-CA" sz="2200" dirty="0">
                <a:latin typeface="Roboto Mono" pitchFamily="49" charset="0"/>
                <a:ea typeface="Roboto Mono" pitchFamily="49" charset="0"/>
              </a:rPr>
              <a:t> </a:t>
            </a:r>
            <a:r>
              <a:rPr lang="en-CA" sz="2200" dirty="0" err="1">
                <a:latin typeface="Roboto Mono" pitchFamily="49" charset="0"/>
                <a:ea typeface="Roboto Mono" pitchFamily="49" charset="0"/>
              </a:rPr>
              <a:t>johndoe@example.com</a:t>
            </a:r>
            <a:endParaRPr lang="en-US" sz="2200" dirty="0">
              <a:latin typeface="Roboto Mono" pitchFamily="49" charset="0"/>
              <a:ea typeface="Roboto Mono" pitchFamily="49" charset="0"/>
            </a:endParaRPr>
          </a:p>
        </p:txBody>
      </p:sp>
      <p:sp>
        <p:nvSpPr>
          <p:cNvPr id="3" name="Rectangle 2">
            <a:extLst>
              <a:ext uri="{FF2B5EF4-FFF2-40B4-BE49-F238E27FC236}">
                <a16:creationId xmlns:a16="http://schemas.microsoft.com/office/drawing/2014/main" id="{12F2500F-E434-BBE6-1CA8-E778FE77405B}"/>
              </a:ext>
            </a:extLst>
          </p:cNvPr>
          <p:cNvSpPr/>
          <p:nvPr/>
        </p:nvSpPr>
        <p:spPr>
          <a:xfrm>
            <a:off x="1523999" y="5118172"/>
            <a:ext cx="9144000" cy="11886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200" dirty="0">
                <a:latin typeface="Roboto Mono" pitchFamily="49" charset="0"/>
                <a:ea typeface="Roboto Mono" pitchFamily="49" charset="0"/>
              </a:rPr>
              <a:t>git config &lt;</a:t>
            </a:r>
            <a:r>
              <a:rPr lang="en-CA" sz="2200" dirty="0" err="1">
                <a:latin typeface="Roboto Mono" pitchFamily="49" charset="0"/>
                <a:ea typeface="Roboto Mono" pitchFamily="49" charset="0"/>
              </a:rPr>
              <a:t>key_name</a:t>
            </a:r>
            <a:r>
              <a:rPr lang="en-CA" sz="2200" dirty="0">
                <a:latin typeface="Roboto Mono" pitchFamily="49" charset="0"/>
                <a:ea typeface="Roboto Mono" pitchFamily="49" charset="0"/>
              </a:rPr>
              <a:t>&gt;</a:t>
            </a:r>
            <a:br>
              <a:rPr lang="en-CA" sz="2200" dirty="0">
                <a:latin typeface="Roboto Mono" pitchFamily="49" charset="0"/>
                <a:ea typeface="Roboto Mono" pitchFamily="49" charset="0"/>
              </a:rPr>
            </a:br>
            <a:r>
              <a:rPr lang="en-CA" sz="2200" dirty="0">
                <a:latin typeface="Roboto Mono" pitchFamily="49" charset="0"/>
                <a:ea typeface="Roboto Mono" pitchFamily="49" charset="0"/>
              </a:rPr>
              <a:t>$ git config –global </a:t>
            </a:r>
            <a:r>
              <a:rPr lang="en-CA" sz="2200" dirty="0" err="1">
                <a:latin typeface="Roboto Mono" pitchFamily="49" charset="0"/>
                <a:ea typeface="Roboto Mono" pitchFamily="49" charset="0"/>
              </a:rPr>
              <a:t>user.name</a:t>
            </a:r>
            <a:endParaRPr lang="en-CA" sz="2200" dirty="0">
              <a:latin typeface="Roboto Mono" pitchFamily="49" charset="0"/>
              <a:ea typeface="Roboto Mono" pitchFamily="49" charset="0"/>
            </a:endParaRPr>
          </a:p>
          <a:p>
            <a:r>
              <a:rPr lang="en-CA" sz="2200" dirty="0">
                <a:latin typeface="Roboto Mono" pitchFamily="49" charset="0"/>
                <a:ea typeface="Roboto Mono" pitchFamily="49" charset="0"/>
              </a:rPr>
              <a:t>John Doe</a:t>
            </a:r>
            <a:endParaRPr lang="en-US" sz="2200" dirty="0">
              <a:latin typeface="Roboto Mono" pitchFamily="49" charset="0"/>
              <a:ea typeface="Roboto Mono" pitchFamily="49" charset="0"/>
            </a:endParaRPr>
          </a:p>
        </p:txBody>
      </p:sp>
    </p:spTree>
    <p:extLst>
      <p:ext uri="{BB962C8B-B14F-4D97-AF65-F5344CB8AC3E}">
        <p14:creationId xmlns:p14="http://schemas.microsoft.com/office/powerpoint/2010/main" val="684579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138E-263D-D1FC-89AA-99C2B4AAB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F4E29-F99D-084D-88B2-C12E64E3D21B}"/>
              </a:ext>
            </a:extLst>
          </p:cNvPr>
          <p:cNvSpPr>
            <a:spLocks noGrp="1"/>
          </p:cNvSpPr>
          <p:nvPr>
            <p:ph type="title"/>
          </p:nvPr>
        </p:nvSpPr>
        <p:spPr/>
        <p:txBody>
          <a:bodyPr/>
          <a:lstStyle/>
          <a:p>
            <a:r>
              <a:rPr lang="en-US" dirty="0"/>
              <a:t>git config command</a:t>
            </a:r>
          </a:p>
        </p:txBody>
      </p:sp>
      <p:sp>
        <p:nvSpPr>
          <p:cNvPr id="4" name="Slide Number Placeholder 3">
            <a:extLst>
              <a:ext uri="{FF2B5EF4-FFF2-40B4-BE49-F238E27FC236}">
                <a16:creationId xmlns:a16="http://schemas.microsoft.com/office/drawing/2014/main" id="{E082C28D-C5F0-571F-80C0-38C73F3538DC}"/>
              </a:ext>
            </a:extLst>
          </p:cNvPr>
          <p:cNvSpPr>
            <a:spLocks noGrp="1"/>
          </p:cNvSpPr>
          <p:nvPr>
            <p:ph type="sldNum" sz="quarter" idx="12"/>
          </p:nvPr>
        </p:nvSpPr>
        <p:spPr/>
        <p:txBody>
          <a:bodyPr/>
          <a:lstStyle/>
          <a:p>
            <a:fld id="{195EE1B9-BF1E-4A9E-A347-25B7544482F7}" type="slidenum">
              <a:rPr lang="en-US" smtClean="0"/>
              <a:t>17</a:t>
            </a:fld>
            <a:endParaRPr lang="en-US"/>
          </a:p>
        </p:txBody>
      </p:sp>
      <p:sp>
        <p:nvSpPr>
          <p:cNvPr id="3" name="Rectangle 2">
            <a:extLst>
              <a:ext uri="{FF2B5EF4-FFF2-40B4-BE49-F238E27FC236}">
                <a16:creationId xmlns:a16="http://schemas.microsoft.com/office/drawing/2014/main" id="{AFAD24CC-5179-62C0-66A0-36D8DCCAABD1}"/>
              </a:ext>
            </a:extLst>
          </p:cNvPr>
          <p:cNvSpPr/>
          <p:nvPr/>
        </p:nvSpPr>
        <p:spPr>
          <a:xfrm>
            <a:off x="1524000" y="1474426"/>
            <a:ext cx="9144000" cy="33608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2400" dirty="0">
                <a:latin typeface="Roboto Mono" pitchFamily="49" charset="0"/>
                <a:ea typeface="Roboto Mono" pitchFamily="49" charset="0"/>
              </a:rPr>
              <a:t>$ git config --list </a:t>
            </a:r>
          </a:p>
          <a:p>
            <a:r>
              <a:rPr lang="en-CA" sz="2400" dirty="0" err="1">
                <a:latin typeface="Roboto Mono" pitchFamily="49" charset="0"/>
                <a:ea typeface="Roboto Mono" pitchFamily="49" charset="0"/>
              </a:rPr>
              <a:t>user.name</a:t>
            </a:r>
            <a:r>
              <a:rPr lang="en-CA" sz="2400" dirty="0">
                <a:latin typeface="Roboto Mono" pitchFamily="49" charset="0"/>
                <a:ea typeface="Roboto Mono" pitchFamily="49" charset="0"/>
              </a:rPr>
              <a:t>=John Doe </a:t>
            </a:r>
          </a:p>
          <a:p>
            <a:r>
              <a:rPr lang="en-CA" sz="2400" dirty="0" err="1">
                <a:latin typeface="Roboto Mono" pitchFamily="49" charset="0"/>
                <a:ea typeface="Roboto Mono" pitchFamily="49" charset="0"/>
              </a:rPr>
              <a:t>user.email</a:t>
            </a:r>
            <a:r>
              <a:rPr lang="en-CA" sz="2400" dirty="0">
                <a:latin typeface="Roboto Mono" pitchFamily="49" charset="0"/>
                <a:ea typeface="Roboto Mono" pitchFamily="49" charset="0"/>
              </a:rPr>
              <a:t>=</a:t>
            </a:r>
            <a:r>
              <a:rPr lang="en-CA" sz="2400" dirty="0" err="1">
                <a:latin typeface="Roboto Mono" pitchFamily="49" charset="0"/>
                <a:ea typeface="Roboto Mono" pitchFamily="49" charset="0"/>
              </a:rPr>
              <a:t>johndoe@example.com</a:t>
            </a:r>
            <a:r>
              <a:rPr lang="en-CA" sz="2400" dirty="0">
                <a:latin typeface="Roboto Mono" pitchFamily="49" charset="0"/>
                <a:ea typeface="Roboto Mono" pitchFamily="49" charset="0"/>
              </a:rPr>
              <a:t> </a:t>
            </a:r>
          </a:p>
          <a:p>
            <a:r>
              <a:rPr lang="en-CA" sz="2400" dirty="0" err="1">
                <a:latin typeface="Roboto Mono" pitchFamily="49" charset="0"/>
                <a:ea typeface="Roboto Mono" pitchFamily="49" charset="0"/>
              </a:rPr>
              <a:t>color.status</a:t>
            </a:r>
            <a:r>
              <a:rPr lang="en-CA" sz="2400" dirty="0">
                <a:latin typeface="Roboto Mono" pitchFamily="49" charset="0"/>
                <a:ea typeface="Roboto Mono" pitchFamily="49" charset="0"/>
              </a:rPr>
              <a:t>=auto </a:t>
            </a:r>
          </a:p>
          <a:p>
            <a:r>
              <a:rPr lang="en-CA" sz="2400" dirty="0" err="1">
                <a:latin typeface="Roboto Mono" pitchFamily="49" charset="0"/>
                <a:ea typeface="Roboto Mono" pitchFamily="49" charset="0"/>
              </a:rPr>
              <a:t>color.branch</a:t>
            </a:r>
            <a:r>
              <a:rPr lang="en-CA" sz="2400" dirty="0">
                <a:latin typeface="Roboto Mono" pitchFamily="49" charset="0"/>
                <a:ea typeface="Roboto Mono" pitchFamily="49" charset="0"/>
              </a:rPr>
              <a:t>=auto </a:t>
            </a:r>
          </a:p>
          <a:p>
            <a:r>
              <a:rPr lang="en-CA" sz="2400" dirty="0" err="1">
                <a:latin typeface="Roboto Mono" pitchFamily="49" charset="0"/>
                <a:ea typeface="Roboto Mono" pitchFamily="49" charset="0"/>
              </a:rPr>
              <a:t>color.interactive</a:t>
            </a:r>
            <a:r>
              <a:rPr lang="en-CA" sz="2400" dirty="0">
                <a:latin typeface="Roboto Mono" pitchFamily="49" charset="0"/>
                <a:ea typeface="Roboto Mono" pitchFamily="49" charset="0"/>
              </a:rPr>
              <a:t>=auto </a:t>
            </a:r>
          </a:p>
          <a:p>
            <a:r>
              <a:rPr lang="en-CA" sz="2400" dirty="0" err="1">
                <a:latin typeface="Roboto Mono" pitchFamily="49" charset="0"/>
                <a:ea typeface="Roboto Mono" pitchFamily="49" charset="0"/>
              </a:rPr>
              <a:t>color.diff</a:t>
            </a:r>
            <a:r>
              <a:rPr lang="en-CA" sz="2400" dirty="0">
                <a:latin typeface="Roboto Mono" pitchFamily="49" charset="0"/>
                <a:ea typeface="Roboto Mono" pitchFamily="49" charset="0"/>
              </a:rPr>
              <a:t>=auto </a:t>
            </a:r>
          </a:p>
          <a:p>
            <a:r>
              <a:rPr lang="en-CA" sz="2400" dirty="0">
                <a:latin typeface="Roboto Mono" pitchFamily="49" charset="0"/>
                <a:ea typeface="Roboto Mono" pitchFamily="49" charset="0"/>
              </a:rPr>
              <a:t>...</a:t>
            </a:r>
            <a:endParaRPr lang="en-US" sz="2200" dirty="0">
              <a:latin typeface="Roboto Mono" pitchFamily="49" charset="0"/>
              <a:ea typeface="Roboto Mono" pitchFamily="49" charset="0"/>
            </a:endParaRPr>
          </a:p>
        </p:txBody>
      </p:sp>
      <p:sp>
        <p:nvSpPr>
          <p:cNvPr id="8" name="TextBox 7">
            <a:extLst>
              <a:ext uri="{FF2B5EF4-FFF2-40B4-BE49-F238E27FC236}">
                <a16:creationId xmlns:a16="http://schemas.microsoft.com/office/drawing/2014/main" id="{A9EAC23F-2FF9-65EA-8148-A0C9B3A52640}"/>
              </a:ext>
            </a:extLst>
          </p:cNvPr>
          <p:cNvSpPr txBox="1"/>
          <p:nvPr/>
        </p:nvSpPr>
        <p:spPr>
          <a:xfrm>
            <a:off x="1967347" y="5463173"/>
            <a:ext cx="5418471" cy="461665"/>
          </a:xfrm>
          <a:prstGeom prst="rect">
            <a:avLst/>
          </a:prstGeom>
          <a:solidFill>
            <a:schemeClr val="accent2"/>
          </a:solidFill>
        </p:spPr>
        <p:txBody>
          <a:bodyPr wrap="none" rtlCol="0">
            <a:spAutoFit/>
          </a:bodyPr>
          <a:lstStyle/>
          <a:p>
            <a:r>
              <a:rPr lang="en-US" sz="2400" dirty="0">
                <a:latin typeface="Roboto Mono" pitchFamily="49" charset="0"/>
                <a:ea typeface="Roboto Mono" pitchFamily="49" charset="0"/>
              </a:rPr>
              <a:t>This configuration is stored in ~/.</a:t>
            </a:r>
            <a:r>
              <a:rPr lang="en-US" sz="2400" dirty="0" err="1">
                <a:latin typeface="Roboto Mono" pitchFamily="49" charset="0"/>
                <a:ea typeface="Roboto Mono" pitchFamily="49" charset="0"/>
              </a:rPr>
              <a:t>gitconfig</a:t>
            </a:r>
            <a:r>
              <a:rPr lang="en-US" sz="2400" dirty="0">
                <a:latin typeface="Roboto Mono" pitchFamily="49" charset="0"/>
                <a:ea typeface="Roboto Mono" pitchFamily="49" charset="0"/>
              </a:rPr>
              <a:t>.</a:t>
            </a:r>
          </a:p>
        </p:txBody>
      </p:sp>
    </p:spTree>
    <p:extLst>
      <p:ext uri="{BB962C8B-B14F-4D97-AF65-F5344CB8AC3E}">
        <p14:creationId xmlns:p14="http://schemas.microsoft.com/office/powerpoint/2010/main" val="356766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D91E-B7B5-AC3B-06E4-0AC9E39CD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0F1A4-9E3F-30D4-AB2B-D835FEC465F3}"/>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a:solidFill>
                  <a:schemeClr val="bg1"/>
                </a:solidFill>
              </a:rPr>
              <a:t>Files in Git reside in three states</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AAF12393-96C0-77F8-C655-9A61D7B28A24}"/>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608D3185-EA3F-D392-90F9-A2642ADDD5DA}"/>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Diagram&#10;&#10;Description automatically generated">
            <a:extLst>
              <a:ext uri="{FF2B5EF4-FFF2-40B4-BE49-F238E27FC236}">
                <a16:creationId xmlns:a16="http://schemas.microsoft.com/office/drawing/2014/main" id="{F8487E6D-392B-4607-0023-1BDAD88861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6374" y="1593153"/>
            <a:ext cx="5679809" cy="3167750"/>
          </a:xfrm>
          <a:prstGeom prst="rect">
            <a:avLst/>
          </a:prstGeom>
        </p:spPr>
      </p:pic>
      <p:sp>
        <p:nvSpPr>
          <p:cNvPr id="4" name="TextBox 3">
            <a:extLst>
              <a:ext uri="{FF2B5EF4-FFF2-40B4-BE49-F238E27FC236}">
                <a16:creationId xmlns:a16="http://schemas.microsoft.com/office/drawing/2014/main" id="{E3DF1F46-C27B-EB22-A3A1-33FFD7AF7D36}"/>
              </a:ext>
            </a:extLst>
          </p:cNvPr>
          <p:cNvSpPr txBox="1"/>
          <p:nvPr/>
        </p:nvSpPr>
        <p:spPr>
          <a:xfrm>
            <a:off x="1679576" y="4915813"/>
            <a:ext cx="8877589" cy="830997"/>
          </a:xfrm>
          <a:prstGeom prst="rect">
            <a:avLst/>
          </a:prstGeom>
          <a:noFill/>
        </p:spPr>
        <p:txBody>
          <a:bodyPr wrap="square" rtlCol="0">
            <a:spAutoFit/>
          </a:bodyPr>
          <a:lstStyle/>
          <a:p>
            <a:r>
              <a:rPr lang="en-US" sz="2400" dirty="0">
                <a:solidFill>
                  <a:srgbClr val="FF0000"/>
                </a:solidFill>
              </a:rPr>
              <a:t>Working copy: A working copy is the copy you have checked out to your working area.</a:t>
            </a:r>
            <a:endParaRPr lang="en-US" sz="2400" dirty="0"/>
          </a:p>
        </p:txBody>
      </p:sp>
    </p:spTree>
    <p:custDataLst>
      <p:tags r:id="rId1"/>
    </p:custDataLst>
    <p:extLst>
      <p:ext uri="{BB962C8B-B14F-4D97-AF65-F5344CB8AC3E}">
        <p14:creationId xmlns:p14="http://schemas.microsoft.com/office/powerpoint/2010/main" val="3564267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BB3D-9D79-0276-2E19-ACC4C3349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6405A-508E-C3D4-C140-A714E9FC1B26}"/>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a:solidFill>
                  <a:schemeClr val="bg1"/>
                </a:solidFill>
              </a:rPr>
              <a:t>Files in Git reside in three states</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0B20D53F-42AF-436A-08C0-1C48EC14A015}"/>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2648F43B-3D65-52F1-2718-B8433F22BC12}"/>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Diagram&#10;&#10;Description automatically generated">
            <a:extLst>
              <a:ext uri="{FF2B5EF4-FFF2-40B4-BE49-F238E27FC236}">
                <a16:creationId xmlns:a16="http://schemas.microsoft.com/office/drawing/2014/main" id="{19009861-97B4-4C0F-3555-525831021B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6374" y="1593153"/>
            <a:ext cx="5679809" cy="3167750"/>
          </a:xfrm>
          <a:prstGeom prst="rect">
            <a:avLst/>
          </a:prstGeom>
        </p:spPr>
      </p:pic>
      <p:sp>
        <p:nvSpPr>
          <p:cNvPr id="4" name="TextBox 3">
            <a:extLst>
              <a:ext uri="{FF2B5EF4-FFF2-40B4-BE49-F238E27FC236}">
                <a16:creationId xmlns:a16="http://schemas.microsoft.com/office/drawing/2014/main" id="{18F7185C-D472-3B63-881A-1595FEC424A9}"/>
              </a:ext>
            </a:extLst>
          </p:cNvPr>
          <p:cNvSpPr txBox="1"/>
          <p:nvPr/>
        </p:nvSpPr>
        <p:spPr>
          <a:xfrm>
            <a:off x="1679576" y="4915812"/>
            <a:ext cx="8877589" cy="1569660"/>
          </a:xfrm>
          <a:prstGeom prst="rect">
            <a:avLst/>
          </a:prstGeom>
          <a:noFill/>
        </p:spPr>
        <p:txBody>
          <a:bodyPr wrap="square" rtlCol="0">
            <a:spAutoFit/>
          </a:bodyPr>
          <a:lstStyle/>
          <a:p>
            <a:r>
              <a:rPr lang="en-US" sz="2400" dirty="0">
                <a:solidFill>
                  <a:srgbClr val="FF0000"/>
                </a:solidFill>
              </a:rPr>
              <a:t>Modified:     </a:t>
            </a:r>
            <a:r>
              <a:rPr lang="en-US" sz="2400" dirty="0"/>
              <a:t>Files are changed but are not committed yet</a:t>
            </a:r>
          </a:p>
          <a:p>
            <a:r>
              <a:rPr lang="en-US" sz="2400" dirty="0">
                <a:solidFill>
                  <a:srgbClr val="FF0000"/>
                </a:solidFill>
              </a:rPr>
              <a:t>Staged:         </a:t>
            </a:r>
            <a:r>
              <a:rPr lang="en-US" sz="2400" dirty="0"/>
              <a:t>Modified files are marked to go into next commit   </a:t>
            </a:r>
            <a:br>
              <a:rPr lang="en-US" sz="2400" dirty="0"/>
            </a:br>
            <a:r>
              <a:rPr lang="en-US" sz="2400" dirty="0"/>
              <a:t>                       snapshot</a:t>
            </a:r>
          </a:p>
          <a:p>
            <a:r>
              <a:rPr lang="en-US" sz="2400" dirty="0">
                <a:solidFill>
                  <a:srgbClr val="FF0000"/>
                </a:solidFill>
              </a:rPr>
              <a:t>Committed: </a:t>
            </a:r>
            <a:r>
              <a:rPr lang="en-US" sz="2400" dirty="0"/>
              <a:t>Modified files are stored in a local database</a:t>
            </a:r>
          </a:p>
        </p:txBody>
      </p:sp>
    </p:spTree>
    <p:custDataLst>
      <p:tags r:id="rId1"/>
    </p:custDataLst>
    <p:extLst>
      <p:ext uri="{BB962C8B-B14F-4D97-AF65-F5344CB8AC3E}">
        <p14:creationId xmlns:p14="http://schemas.microsoft.com/office/powerpoint/2010/main" val="1086520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F242E-62AB-1D0D-F38D-BF6CBABE8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98FAF-C22B-906E-AD49-27E4D4BDFDB4}"/>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a:solidFill>
                  <a:schemeClr val="bg1"/>
                </a:solidFill>
              </a:rPr>
              <a:t>Files in Git reside in three states</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88541B6F-DFCB-5FEC-201C-77A4A1D02B3B}"/>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2AC81990-67F0-06F4-4737-C034540A1947}"/>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Diagram&#10;&#10;Description automatically generated">
            <a:extLst>
              <a:ext uri="{FF2B5EF4-FFF2-40B4-BE49-F238E27FC236}">
                <a16:creationId xmlns:a16="http://schemas.microsoft.com/office/drawing/2014/main" id="{0D95D5EE-7B6D-8678-FF5C-D55738BEED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6374" y="1593153"/>
            <a:ext cx="5679809" cy="3167750"/>
          </a:xfrm>
          <a:prstGeom prst="rect">
            <a:avLst/>
          </a:prstGeom>
        </p:spPr>
      </p:pic>
      <p:sp>
        <p:nvSpPr>
          <p:cNvPr id="4" name="TextBox 3">
            <a:extLst>
              <a:ext uri="{FF2B5EF4-FFF2-40B4-BE49-F238E27FC236}">
                <a16:creationId xmlns:a16="http://schemas.microsoft.com/office/drawing/2014/main" id="{A2E98057-8DD4-DA6A-31A6-DDDB228CFFDF}"/>
              </a:ext>
            </a:extLst>
          </p:cNvPr>
          <p:cNvSpPr txBox="1"/>
          <p:nvPr/>
        </p:nvSpPr>
        <p:spPr>
          <a:xfrm>
            <a:off x="1679576" y="4915812"/>
            <a:ext cx="8877589" cy="1569660"/>
          </a:xfrm>
          <a:prstGeom prst="rect">
            <a:avLst/>
          </a:prstGeom>
          <a:noFill/>
        </p:spPr>
        <p:txBody>
          <a:bodyPr wrap="square" rtlCol="0">
            <a:spAutoFit/>
          </a:bodyPr>
          <a:lstStyle/>
          <a:p>
            <a:r>
              <a:rPr lang="en-US" sz="2400" dirty="0">
                <a:solidFill>
                  <a:srgbClr val="FF0000"/>
                </a:solidFill>
              </a:rPr>
              <a:t>Modified:     </a:t>
            </a:r>
            <a:r>
              <a:rPr lang="en-US" sz="2400" dirty="0"/>
              <a:t>Files are changed but are not committed yet</a:t>
            </a:r>
          </a:p>
          <a:p>
            <a:r>
              <a:rPr lang="en-US" sz="2400" dirty="0">
                <a:solidFill>
                  <a:srgbClr val="FF0000"/>
                </a:solidFill>
              </a:rPr>
              <a:t>Staged:         </a:t>
            </a:r>
            <a:r>
              <a:rPr lang="en-US" sz="2400" dirty="0"/>
              <a:t>Modified files are marked to go into next commit   </a:t>
            </a:r>
            <a:br>
              <a:rPr lang="en-US" sz="2400" dirty="0"/>
            </a:br>
            <a:r>
              <a:rPr lang="en-US" sz="2400" dirty="0"/>
              <a:t>                       snapshot</a:t>
            </a:r>
          </a:p>
          <a:p>
            <a:r>
              <a:rPr lang="en-US" sz="2400" dirty="0">
                <a:solidFill>
                  <a:srgbClr val="FF0000"/>
                </a:solidFill>
              </a:rPr>
              <a:t>Committed: </a:t>
            </a:r>
            <a:r>
              <a:rPr lang="en-US" sz="2400" dirty="0"/>
              <a:t>Modified files are stored in a local database</a:t>
            </a:r>
          </a:p>
        </p:txBody>
      </p:sp>
    </p:spTree>
    <p:custDataLst>
      <p:tags r:id="rId1"/>
    </p:custDataLst>
    <p:extLst>
      <p:ext uri="{BB962C8B-B14F-4D97-AF65-F5344CB8AC3E}">
        <p14:creationId xmlns:p14="http://schemas.microsoft.com/office/powerpoint/2010/main" val="102387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20433-332E-8FD9-E02E-EEF13604F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964DF-8905-6B45-6BF3-20C715A18A5E}"/>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Basic Workflow in Git</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CE18A26A-335F-75E6-33FB-DA4DFA22FB3C}"/>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DD69EED0-FC8C-A7A0-F9FE-8B8188A9C089}"/>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Diagram 6">
            <a:extLst>
              <a:ext uri="{FF2B5EF4-FFF2-40B4-BE49-F238E27FC236}">
                <a16:creationId xmlns:a16="http://schemas.microsoft.com/office/drawing/2014/main" id="{7B671CC9-A73F-F874-71D8-9BA25020BF48}"/>
              </a:ext>
            </a:extLst>
          </p:cNvPr>
          <p:cNvGraphicFramePr/>
          <p:nvPr/>
        </p:nvGraphicFramePr>
        <p:xfrm>
          <a:off x="1984376" y="7938"/>
          <a:ext cx="8323407" cy="5530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descr="Diagram&#10;&#10;Description automatically generated">
            <a:extLst>
              <a:ext uri="{FF2B5EF4-FFF2-40B4-BE49-F238E27FC236}">
                <a16:creationId xmlns:a16="http://schemas.microsoft.com/office/drawing/2014/main" id="{F13F767B-9CB2-742E-7526-AD5C67EA712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37096" y="3847644"/>
            <a:ext cx="4917809" cy="2742766"/>
          </a:xfrm>
          <a:prstGeom prst="rect">
            <a:avLst/>
          </a:prstGeom>
        </p:spPr>
      </p:pic>
    </p:spTree>
    <p:custDataLst>
      <p:tags r:id="rId1"/>
    </p:custDataLst>
    <p:extLst>
      <p:ext uri="{BB962C8B-B14F-4D97-AF65-F5344CB8AC3E}">
        <p14:creationId xmlns:p14="http://schemas.microsoft.com/office/powerpoint/2010/main" val="156842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5B35-B1CF-D1C6-C36B-9964D02F2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54207-4A4A-5FA0-D6D8-0B3ADDFC2F38}"/>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Getting a new repository</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93AEB7F3-DF5E-9B48-414C-2FCE91411622}"/>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7836325B-B8EA-7AF7-A628-F51EABE8F60B}"/>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Table 2">
            <a:extLst>
              <a:ext uri="{FF2B5EF4-FFF2-40B4-BE49-F238E27FC236}">
                <a16:creationId xmlns:a16="http://schemas.microsoft.com/office/drawing/2014/main" id="{487434C6-1A76-891E-87A9-0C1210FC29CE}"/>
              </a:ext>
            </a:extLst>
          </p:cNvPr>
          <p:cNvGraphicFramePr>
            <a:graphicFrameLocks noGrp="1"/>
          </p:cNvGraphicFramePr>
          <p:nvPr/>
        </p:nvGraphicFramePr>
        <p:xfrm>
          <a:off x="1831975" y="1852808"/>
          <a:ext cx="8558934" cy="2488670"/>
        </p:xfrm>
        <a:graphic>
          <a:graphicData uri="http://schemas.openxmlformats.org/drawingml/2006/table">
            <a:tbl>
              <a:tblPr firstRow="1" bandRow="1">
                <a:tableStyleId>{5C22544A-7EE6-4342-B048-85BDC9FD1C3A}</a:tableStyleId>
              </a:tblPr>
              <a:tblGrid>
                <a:gridCol w="2379807">
                  <a:extLst>
                    <a:ext uri="{9D8B030D-6E8A-4147-A177-3AD203B41FA5}">
                      <a16:colId xmlns:a16="http://schemas.microsoft.com/office/drawing/2014/main" val="2919313566"/>
                    </a:ext>
                  </a:extLst>
                </a:gridCol>
                <a:gridCol w="6179127">
                  <a:extLst>
                    <a:ext uri="{9D8B030D-6E8A-4147-A177-3AD203B41FA5}">
                      <a16:colId xmlns:a16="http://schemas.microsoft.com/office/drawing/2014/main" val="634706535"/>
                    </a:ext>
                  </a:extLst>
                </a:gridCol>
              </a:tblGrid>
              <a:tr h="1543790">
                <a:tc>
                  <a:txBody>
                    <a:bodyPr/>
                    <a:lstStyle/>
                    <a:p>
                      <a:r>
                        <a:rPr lang="en-US" sz="2800" b="0" dirty="0">
                          <a:latin typeface="Roboto Mono" pitchFamily="49" charset="0"/>
                          <a:ea typeface="Roboto Mono" pitchFamily="49" charset="0"/>
                        </a:rPr>
                        <a:t>git </a:t>
                      </a:r>
                      <a:r>
                        <a:rPr lang="en-US" sz="2800" b="0" dirty="0" err="1">
                          <a:latin typeface="Roboto Mono" pitchFamily="49" charset="0"/>
                          <a:ea typeface="Roboto Mono" pitchFamily="49" charset="0"/>
                        </a:rPr>
                        <a:t>init</a:t>
                      </a:r>
                      <a:endParaRPr lang="en-US" sz="2800" b="0" dirty="0">
                        <a:latin typeface="Roboto Mono" pitchFamily="49" charset="0"/>
                        <a:ea typeface="Roboto Mono" pitchFamily="49" charset="0"/>
                      </a:endParaRPr>
                    </a:p>
                  </a:txBody>
                  <a:tcPr/>
                </a:tc>
                <a:tc>
                  <a:txBody>
                    <a:bodyPr/>
                    <a:lstStyle/>
                    <a:p>
                      <a:r>
                        <a:rPr lang="en-US" sz="2800" b="0" dirty="0"/>
                        <a:t>create an empty repository in the current working directory. By default it will have one branch, named master</a:t>
                      </a:r>
                    </a:p>
                  </a:txBody>
                  <a:tcPr/>
                </a:tc>
                <a:extLst>
                  <a:ext uri="{0D108BD9-81ED-4DB2-BD59-A6C34878D82A}">
                    <a16:rowId xmlns:a16="http://schemas.microsoft.com/office/drawing/2014/main" val="1396573574"/>
                  </a:ext>
                </a:extLst>
              </a:tr>
              <a:tr h="773620">
                <a:tc>
                  <a:txBody>
                    <a:bodyPr/>
                    <a:lstStyle/>
                    <a:p>
                      <a:r>
                        <a:rPr lang="en-US" sz="2800" b="0" dirty="0">
                          <a:latin typeface="Roboto Mono" pitchFamily="49" charset="0"/>
                          <a:ea typeface="Roboto Mono" pitchFamily="49" charset="0"/>
                        </a:rPr>
                        <a:t>git clone </a:t>
                      </a:r>
                      <a:r>
                        <a:rPr lang="en-US" sz="2800" b="0" dirty="0" err="1">
                          <a:latin typeface="Roboto Mono" pitchFamily="49" charset="0"/>
                          <a:ea typeface="Roboto Mono" pitchFamily="49" charset="0"/>
                        </a:rPr>
                        <a:t>url</a:t>
                      </a:r>
                      <a:endParaRPr lang="en-US" sz="2800" b="0" dirty="0">
                        <a:latin typeface="Roboto Mono" pitchFamily="49" charset="0"/>
                        <a:ea typeface="Roboto Mono" pitchFamily="49" charset="0"/>
                      </a:endParaRPr>
                    </a:p>
                  </a:txBody>
                  <a:tcPr/>
                </a:tc>
                <a:tc>
                  <a:txBody>
                    <a:bodyPr/>
                    <a:lstStyle/>
                    <a:p>
                      <a:r>
                        <a:rPr lang="en-US" sz="2800" b="0" dirty="0"/>
                        <a:t>Clone a repository from the </a:t>
                      </a:r>
                      <a:r>
                        <a:rPr lang="en-US" sz="2800" b="0" dirty="0" err="1"/>
                        <a:t>url</a:t>
                      </a:r>
                      <a:endParaRPr lang="en-US" sz="2800" b="0" dirty="0"/>
                    </a:p>
                  </a:txBody>
                  <a:tcPr/>
                </a:tc>
                <a:extLst>
                  <a:ext uri="{0D108BD9-81ED-4DB2-BD59-A6C34878D82A}">
                    <a16:rowId xmlns:a16="http://schemas.microsoft.com/office/drawing/2014/main" val="342405236"/>
                  </a:ext>
                </a:extLst>
              </a:tr>
            </a:tbl>
          </a:graphicData>
        </a:graphic>
      </p:graphicFrame>
      <p:sp>
        <p:nvSpPr>
          <p:cNvPr id="4" name="Content Placeholder 2">
            <a:extLst>
              <a:ext uri="{FF2B5EF4-FFF2-40B4-BE49-F238E27FC236}">
                <a16:creationId xmlns:a16="http://schemas.microsoft.com/office/drawing/2014/main" id="{CE140618-22E5-3A7E-3002-81E4ED5821A9}"/>
              </a:ext>
            </a:extLst>
          </p:cNvPr>
          <p:cNvSpPr>
            <a:spLocks noGrp="1"/>
          </p:cNvSpPr>
          <p:nvPr>
            <p:ph idx="1"/>
          </p:nvPr>
        </p:nvSpPr>
        <p:spPr>
          <a:xfrm>
            <a:off x="1831975" y="4415899"/>
            <a:ext cx="8558934" cy="1413164"/>
          </a:xfrm>
        </p:spPr>
        <p:txBody>
          <a:bodyPr>
            <a:noAutofit/>
          </a:bodyPr>
          <a:lstStyle/>
          <a:p>
            <a:pPr marL="82296" indent="0">
              <a:buNone/>
            </a:pPr>
            <a:r>
              <a:rPr lang="en-US" sz="2400" dirty="0">
                <a:cs typeface="Courier New"/>
              </a:rPr>
              <a:t>In a directory as named in </a:t>
            </a:r>
            <a:r>
              <a:rPr lang="en-US" sz="2400" dirty="0" err="1">
                <a:cs typeface="Courier New"/>
              </a:rPr>
              <a:t>url</a:t>
            </a:r>
            <a:r>
              <a:rPr lang="en-US" sz="2400" dirty="0">
                <a:cs typeface="Courier New"/>
              </a:rPr>
              <a:t>:</a:t>
            </a:r>
          </a:p>
          <a:p>
            <a:pPr marL="82296" indent="0">
              <a:buNone/>
            </a:pPr>
            <a:r>
              <a:rPr lang="en-US" sz="2400" dirty="0">
                <a:latin typeface="Courier New"/>
                <a:cs typeface="Courier New"/>
              </a:rPr>
              <a:t>$ git clone git://</a:t>
            </a:r>
            <a:r>
              <a:rPr lang="en-US" sz="2400" dirty="0" err="1">
                <a:latin typeface="Courier New"/>
                <a:cs typeface="Courier New"/>
              </a:rPr>
              <a:t>github.com</a:t>
            </a:r>
            <a:r>
              <a:rPr lang="en-US" sz="2400" dirty="0">
                <a:latin typeface="Courier New"/>
                <a:cs typeface="Courier New"/>
              </a:rPr>
              <a:t>/</a:t>
            </a:r>
            <a:r>
              <a:rPr lang="en-US" sz="2400" dirty="0" err="1">
                <a:latin typeface="Courier New"/>
                <a:cs typeface="Courier New"/>
              </a:rPr>
              <a:t>schacon</a:t>
            </a:r>
            <a:r>
              <a:rPr lang="en-US" sz="2400" dirty="0">
                <a:latin typeface="Courier New"/>
                <a:cs typeface="Courier New"/>
              </a:rPr>
              <a:t>/</a:t>
            </a:r>
            <a:r>
              <a:rPr lang="en-US" sz="2400" dirty="0" err="1">
                <a:solidFill>
                  <a:srgbClr val="FF0000"/>
                </a:solidFill>
                <a:latin typeface="Courier New"/>
                <a:cs typeface="Courier New"/>
              </a:rPr>
              <a:t>grit</a:t>
            </a:r>
            <a:r>
              <a:rPr lang="en-US" sz="2400" dirty="0" err="1">
                <a:latin typeface="Courier New"/>
                <a:cs typeface="Courier New"/>
              </a:rPr>
              <a:t>.git</a:t>
            </a:r>
            <a:endParaRPr lang="en-US" sz="2400" dirty="0">
              <a:cs typeface="Courier New"/>
            </a:endParaRPr>
          </a:p>
          <a:p>
            <a:pPr marL="82296" indent="0">
              <a:buNone/>
            </a:pPr>
            <a:r>
              <a:rPr lang="en-US" sz="2400" dirty="0">
                <a:cs typeface="Courier New"/>
              </a:rPr>
              <a:t>In a different directory as named in </a:t>
            </a:r>
            <a:r>
              <a:rPr lang="en-US" sz="2400" dirty="0" err="1">
                <a:cs typeface="Courier New"/>
              </a:rPr>
              <a:t>url</a:t>
            </a:r>
            <a:r>
              <a:rPr lang="en-US" sz="2400" dirty="0">
                <a:cs typeface="Courier New"/>
              </a:rPr>
              <a:t>:</a:t>
            </a:r>
            <a:endParaRPr lang="en-US" sz="2400" dirty="0">
              <a:latin typeface="Courier New"/>
              <a:cs typeface="Courier New"/>
            </a:endParaRPr>
          </a:p>
          <a:p>
            <a:pPr marL="82296" indent="0">
              <a:buNone/>
            </a:pPr>
            <a:r>
              <a:rPr lang="en-US" sz="2400" dirty="0">
                <a:latin typeface="Courier New"/>
                <a:cs typeface="Courier New"/>
              </a:rPr>
              <a:t>$ </a:t>
            </a:r>
            <a:r>
              <a:rPr lang="en-US" sz="2400" dirty="0" err="1">
                <a:latin typeface="Courier New"/>
                <a:cs typeface="Courier New"/>
              </a:rPr>
              <a:t>git</a:t>
            </a:r>
            <a:r>
              <a:rPr lang="en-US" sz="2400" dirty="0">
                <a:latin typeface="Courier New"/>
                <a:cs typeface="Courier New"/>
              </a:rPr>
              <a:t> clone </a:t>
            </a:r>
            <a:r>
              <a:rPr lang="en-US" sz="2400" dirty="0" err="1">
                <a:latin typeface="Courier New"/>
                <a:cs typeface="Courier New"/>
              </a:rPr>
              <a:t>git</a:t>
            </a:r>
            <a:r>
              <a:rPr lang="en-US" sz="2400" dirty="0">
                <a:latin typeface="Courier New"/>
                <a:cs typeface="Courier New"/>
              </a:rPr>
              <a:t>://</a:t>
            </a:r>
            <a:r>
              <a:rPr lang="en-US" sz="2400" dirty="0" err="1">
                <a:latin typeface="Courier New"/>
                <a:cs typeface="Courier New"/>
              </a:rPr>
              <a:t>github.com</a:t>
            </a:r>
            <a:r>
              <a:rPr lang="en-US" sz="2400" dirty="0">
                <a:latin typeface="Courier New"/>
                <a:cs typeface="Courier New"/>
              </a:rPr>
              <a:t>/</a:t>
            </a:r>
            <a:r>
              <a:rPr lang="en-US" sz="2400" dirty="0" err="1">
                <a:latin typeface="Courier New"/>
                <a:cs typeface="Courier New"/>
              </a:rPr>
              <a:t>schacon</a:t>
            </a:r>
            <a:r>
              <a:rPr lang="en-US" sz="2400" dirty="0">
                <a:latin typeface="Courier New"/>
                <a:cs typeface="Courier New"/>
              </a:rPr>
              <a:t>/</a:t>
            </a:r>
            <a:r>
              <a:rPr lang="en-US" sz="2400" dirty="0" err="1">
                <a:solidFill>
                  <a:srgbClr val="FF0000"/>
                </a:solidFill>
                <a:latin typeface="Courier New"/>
                <a:cs typeface="Courier New"/>
              </a:rPr>
              <a:t>grit</a:t>
            </a:r>
            <a:r>
              <a:rPr lang="en-US" sz="2400" dirty="0" err="1">
                <a:latin typeface="Courier New"/>
                <a:cs typeface="Courier New"/>
              </a:rPr>
              <a:t>.git</a:t>
            </a:r>
            <a:r>
              <a:rPr lang="en-US" sz="2400" dirty="0">
                <a:latin typeface="Courier New"/>
                <a:cs typeface="Courier New"/>
              </a:rPr>
              <a:t> </a:t>
            </a:r>
            <a:r>
              <a:rPr lang="en-US" sz="2400" dirty="0" err="1">
                <a:solidFill>
                  <a:srgbClr val="008000"/>
                </a:solidFill>
                <a:latin typeface="Courier New"/>
                <a:cs typeface="Courier New"/>
              </a:rPr>
              <a:t>mygrit</a:t>
            </a:r>
            <a:endParaRPr lang="en-US" sz="2400" dirty="0">
              <a:solidFill>
                <a:srgbClr val="008000"/>
              </a:solidFill>
              <a:latin typeface="Courier New"/>
              <a:cs typeface="Courier New"/>
            </a:endParaRPr>
          </a:p>
        </p:txBody>
      </p:sp>
    </p:spTree>
    <p:custDataLst>
      <p:tags r:id="rId1"/>
    </p:custDataLst>
    <p:extLst>
      <p:ext uri="{BB962C8B-B14F-4D97-AF65-F5344CB8AC3E}">
        <p14:creationId xmlns:p14="http://schemas.microsoft.com/office/powerpoint/2010/main" val="3330959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36AD-D38D-2895-45F3-718ABA174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3B700-07AF-93B1-FFD7-B98C23CA6107}"/>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Recording changes to a git repository</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B27B2DD3-0779-D847-DFEB-39A8A6A1A51A}"/>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6325C984-55D7-953B-D9B3-358DA8733866}"/>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Table 2">
            <a:extLst>
              <a:ext uri="{FF2B5EF4-FFF2-40B4-BE49-F238E27FC236}">
                <a16:creationId xmlns:a16="http://schemas.microsoft.com/office/drawing/2014/main" id="{68A49B6D-D9CF-0002-2293-9E53996F5A38}"/>
              </a:ext>
            </a:extLst>
          </p:cNvPr>
          <p:cNvGraphicFramePr>
            <a:graphicFrameLocks noGrp="1"/>
          </p:cNvGraphicFramePr>
          <p:nvPr/>
        </p:nvGraphicFramePr>
        <p:xfrm>
          <a:off x="1831975" y="1852808"/>
          <a:ext cx="8558934" cy="2915390"/>
        </p:xfrm>
        <a:graphic>
          <a:graphicData uri="http://schemas.openxmlformats.org/drawingml/2006/table">
            <a:tbl>
              <a:tblPr firstRow="1" bandRow="1">
                <a:tableStyleId>{5C22544A-7EE6-4342-B048-85BDC9FD1C3A}</a:tableStyleId>
              </a:tblPr>
              <a:tblGrid>
                <a:gridCol w="2670752">
                  <a:extLst>
                    <a:ext uri="{9D8B030D-6E8A-4147-A177-3AD203B41FA5}">
                      <a16:colId xmlns:a16="http://schemas.microsoft.com/office/drawing/2014/main" val="2919313566"/>
                    </a:ext>
                  </a:extLst>
                </a:gridCol>
                <a:gridCol w="5888182">
                  <a:extLst>
                    <a:ext uri="{9D8B030D-6E8A-4147-A177-3AD203B41FA5}">
                      <a16:colId xmlns:a16="http://schemas.microsoft.com/office/drawing/2014/main" val="634706535"/>
                    </a:ext>
                  </a:extLst>
                </a:gridCol>
              </a:tblGrid>
              <a:tr h="1543790">
                <a:tc>
                  <a:txBody>
                    <a:bodyPr/>
                    <a:lstStyle/>
                    <a:p>
                      <a:r>
                        <a:rPr lang="en-US" sz="2800" b="0" dirty="0">
                          <a:latin typeface="Roboto Mono" pitchFamily="49" charset="0"/>
                          <a:ea typeface="Roboto Mono" pitchFamily="49" charset="0"/>
                        </a:rPr>
                        <a:t>git add filename</a:t>
                      </a:r>
                    </a:p>
                  </a:txBody>
                  <a:tcPr/>
                </a:tc>
                <a:tc>
                  <a:txBody>
                    <a:bodyPr/>
                    <a:lstStyle/>
                    <a:p>
                      <a:r>
                        <a:rPr lang="en-US" sz="2800" b="0" dirty="0"/>
                        <a:t>stages file that you want to track with git</a:t>
                      </a:r>
                    </a:p>
                  </a:txBody>
                  <a:tcPr/>
                </a:tc>
                <a:extLst>
                  <a:ext uri="{0D108BD9-81ED-4DB2-BD59-A6C34878D82A}">
                    <a16:rowId xmlns:a16="http://schemas.microsoft.com/office/drawing/2014/main" val="1396573574"/>
                  </a:ext>
                </a:extLst>
              </a:tr>
              <a:tr h="773620">
                <a:tc>
                  <a:txBody>
                    <a:bodyPr/>
                    <a:lstStyle/>
                    <a:p>
                      <a:r>
                        <a:rPr lang="en-GB" sz="2800" dirty="0">
                          <a:solidFill>
                            <a:srgbClr val="188038"/>
                          </a:solidFill>
                          <a:latin typeface="Roboto Mono"/>
                          <a:ea typeface="Roboto Mono"/>
                          <a:cs typeface="Roboto Mono"/>
                          <a:sym typeface="Roboto Mono"/>
                        </a:rPr>
                        <a:t>git commit -m "message"</a:t>
                      </a:r>
                      <a:r>
                        <a:rPr lang="en-GB" sz="2800" dirty="0">
                          <a:solidFill>
                            <a:schemeClr val="dk1"/>
                          </a:solidFill>
                        </a:rPr>
                        <a:t> </a:t>
                      </a:r>
                      <a:endParaRPr lang="en-US" sz="2800" b="0" dirty="0"/>
                    </a:p>
                  </a:txBody>
                  <a:tcPr/>
                </a:tc>
                <a:tc>
                  <a:txBody>
                    <a:bodyPr/>
                    <a:lstStyle/>
                    <a:p>
                      <a:r>
                        <a:rPr lang="en-US" sz="2800" b="0" dirty="0"/>
                        <a:t>Create a commit with a message, which is a snapshot of the current repository</a:t>
                      </a:r>
                    </a:p>
                  </a:txBody>
                  <a:tcPr/>
                </a:tc>
                <a:extLst>
                  <a:ext uri="{0D108BD9-81ED-4DB2-BD59-A6C34878D82A}">
                    <a16:rowId xmlns:a16="http://schemas.microsoft.com/office/drawing/2014/main" val="342405236"/>
                  </a:ext>
                </a:extLst>
              </a:tr>
            </a:tbl>
          </a:graphicData>
        </a:graphic>
      </p:graphicFrame>
    </p:spTree>
    <p:custDataLst>
      <p:tags r:id="rId1"/>
    </p:custDataLst>
    <p:extLst>
      <p:ext uri="{BB962C8B-B14F-4D97-AF65-F5344CB8AC3E}">
        <p14:creationId xmlns:p14="http://schemas.microsoft.com/office/powerpoint/2010/main" val="965693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391BD-26DD-4C50-B7A9-159643BB9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B25C01-6CB8-3D26-790E-E452A214F631}"/>
              </a:ext>
            </a:extLst>
          </p:cNvPr>
          <p:cNvSpPr>
            <a:spLocks noGrp="1"/>
          </p:cNvSpPr>
          <p:nvPr>
            <p:ph type="title"/>
          </p:nvPr>
        </p:nvSpPr>
        <p:spPr>
          <a:xfrm>
            <a:off x="1524000" y="267591"/>
            <a:ext cx="9144000" cy="1325563"/>
          </a:xfrm>
          <a:solidFill>
            <a:srgbClr val="002060">
              <a:alpha val="90000"/>
            </a:srgbClr>
          </a:solidFill>
          <a:ln>
            <a:solidFill>
              <a:schemeClr val="bg1"/>
            </a:solidFill>
          </a:ln>
        </p:spPr>
        <p:txBody>
          <a:bodyPr/>
          <a:lstStyle/>
          <a:p>
            <a:pPr algn="ctr"/>
            <a:r>
              <a:rPr lang="en-CA" b="1" dirty="0">
                <a:solidFill>
                  <a:schemeClr val="bg1"/>
                </a:solidFill>
              </a:rPr>
              <a:t>Displaying changes to a git repository</a:t>
            </a:r>
            <a:endParaRPr lang="en-US" b="1" dirty="0">
              <a:solidFill>
                <a:schemeClr val="bg1"/>
              </a:solidFill>
            </a:endParaRPr>
          </a:p>
        </p:txBody>
      </p:sp>
      <p:sp>
        <p:nvSpPr>
          <p:cNvPr id="5" name="AutoShape 2" descr="Image result for zju logo">
            <a:extLst>
              <a:ext uri="{FF2B5EF4-FFF2-40B4-BE49-F238E27FC236}">
                <a16:creationId xmlns:a16="http://schemas.microsoft.com/office/drawing/2014/main" id="{32AB6D32-E013-1CC1-B86C-ABC6F4EB87EE}"/>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zju logo">
            <a:extLst>
              <a:ext uri="{FF2B5EF4-FFF2-40B4-BE49-F238E27FC236}">
                <a16:creationId xmlns:a16="http://schemas.microsoft.com/office/drawing/2014/main" id="{42DF9280-F0F5-4F3B-44D7-366D588CFC2C}"/>
              </a:ext>
            </a:extLst>
          </p:cNvPr>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7" name="Table 6">
            <a:extLst>
              <a:ext uri="{FF2B5EF4-FFF2-40B4-BE49-F238E27FC236}">
                <a16:creationId xmlns:a16="http://schemas.microsoft.com/office/drawing/2014/main" id="{DA5BE3BE-8276-E96B-E5B4-63517734CA15}"/>
              </a:ext>
            </a:extLst>
          </p:cNvPr>
          <p:cNvGraphicFramePr>
            <a:graphicFrameLocks noGrp="1"/>
          </p:cNvGraphicFramePr>
          <p:nvPr/>
        </p:nvGraphicFramePr>
        <p:xfrm>
          <a:off x="1831975" y="1852808"/>
          <a:ext cx="8558934" cy="944880"/>
        </p:xfrm>
        <a:graphic>
          <a:graphicData uri="http://schemas.openxmlformats.org/drawingml/2006/table">
            <a:tbl>
              <a:tblPr firstRow="1" bandRow="1">
                <a:tableStyleId>{5C22544A-7EE6-4342-B048-85BDC9FD1C3A}</a:tableStyleId>
              </a:tblPr>
              <a:tblGrid>
                <a:gridCol w="2670752">
                  <a:extLst>
                    <a:ext uri="{9D8B030D-6E8A-4147-A177-3AD203B41FA5}">
                      <a16:colId xmlns:a16="http://schemas.microsoft.com/office/drawing/2014/main" val="2919313566"/>
                    </a:ext>
                  </a:extLst>
                </a:gridCol>
                <a:gridCol w="5888182">
                  <a:extLst>
                    <a:ext uri="{9D8B030D-6E8A-4147-A177-3AD203B41FA5}">
                      <a16:colId xmlns:a16="http://schemas.microsoft.com/office/drawing/2014/main" val="634706535"/>
                    </a:ext>
                  </a:extLst>
                </a:gridCol>
              </a:tblGrid>
              <a:tr h="773620">
                <a:tc>
                  <a:txBody>
                    <a:bodyPr/>
                    <a:lstStyle/>
                    <a:p>
                      <a:pPr marL="0" algn="l" defTabSz="914400" rtl="0" eaLnBrk="1" latinLnBrk="0" hangingPunct="1"/>
                      <a:r>
                        <a:rPr lang="en-US" sz="2800" kern="1200" dirty="0">
                          <a:solidFill>
                            <a:schemeClr val="bg1"/>
                          </a:solidFill>
                          <a:latin typeface="Roboto Mono"/>
                          <a:ea typeface="Roboto Mono"/>
                        </a:rPr>
                        <a:t>git status</a:t>
                      </a:r>
                    </a:p>
                  </a:txBody>
                  <a:tcPr/>
                </a:tc>
                <a:tc>
                  <a:txBody>
                    <a:bodyPr/>
                    <a:lstStyle/>
                    <a:p>
                      <a:r>
                        <a:rPr lang="en-US" sz="2800" b="0" dirty="0"/>
                        <a:t>Display the files changed in the index and in the working tree</a:t>
                      </a:r>
                    </a:p>
                  </a:txBody>
                  <a:tcPr/>
                </a:tc>
                <a:extLst>
                  <a:ext uri="{0D108BD9-81ED-4DB2-BD59-A6C34878D82A}">
                    <a16:rowId xmlns:a16="http://schemas.microsoft.com/office/drawing/2014/main" val="146915405"/>
                  </a:ext>
                </a:extLst>
              </a:tr>
            </a:tbl>
          </a:graphicData>
        </a:graphic>
      </p:graphicFrame>
      <p:sp>
        <p:nvSpPr>
          <p:cNvPr id="8" name="TextBox 7">
            <a:extLst>
              <a:ext uri="{FF2B5EF4-FFF2-40B4-BE49-F238E27FC236}">
                <a16:creationId xmlns:a16="http://schemas.microsoft.com/office/drawing/2014/main" id="{7A1A0BFB-45BA-B6B3-D40A-3777D3AC46F5}"/>
              </a:ext>
            </a:extLst>
          </p:cNvPr>
          <p:cNvSpPr txBox="1"/>
          <p:nvPr/>
        </p:nvSpPr>
        <p:spPr>
          <a:xfrm>
            <a:off x="2286001" y="3161605"/>
            <a:ext cx="7924800" cy="3071610"/>
          </a:xfrm>
          <a:prstGeom prst="rect">
            <a:avLst/>
          </a:prstGeom>
          <a:noFill/>
        </p:spPr>
        <p:txBody>
          <a:bodyPr wrap="square" rtlCol="0">
            <a:spAutoFit/>
          </a:bodyPr>
          <a:lstStyle/>
          <a:p>
            <a:pPr>
              <a:lnSpc>
                <a:spcPct val="115000"/>
              </a:lnSpc>
              <a:spcBef>
                <a:spcPts val="1200"/>
              </a:spcBef>
            </a:pPr>
            <a:r>
              <a:rPr lang="en-GB" sz="2400" dirty="0">
                <a:solidFill>
                  <a:srgbClr val="188038"/>
                </a:solidFill>
                <a:latin typeface="Roboto Mono"/>
                <a:ea typeface="Roboto Mono"/>
                <a:cs typeface="Roboto Mono"/>
                <a:sym typeface="Roboto Mono"/>
              </a:rPr>
              <a:t>git status</a:t>
            </a:r>
            <a:r>
              <a:rPr lang="en-GB" sz="2400" dirty="0">
                <a:solidFill>
                  <a:schemeClr val="dk1"/>
                </a:solidFill>
              </a:rPr>
              <a:t> shows the current status of your working directory, including:</a:t>
            </a:r>
          </a:p>
          <a:p>
            <a:pPr marL="457200" indent="-304800">
              <a:lnSpc>
                <a:spcPct val="115000"/>
              </a:lnSpc>
              <a:spcBef>
                <a:spcPts val="1200"/>
              </a:spcBef>
              <a:buClr>
                <a:schemeClr val="dk1"/>
              </a:buClr>
              <a:buSzPts val="1200"/>
              <a:buChar char="●"/>
            </a:pPr>
            <a:r>
              <a:rPr lang="en-GB" sz="2400" dirty="0">
                <a:solidFill>
                  <a:schemeClr val="dk1"/>
                </a:solidFill>
              </a:rPr>
              <a:t>Files that have been modified but not yet committed.</a:t>
            </a:r>
          </a:p>
          <a:p>
            <a:pPr marL="457200" indent="-304800">
              <a:lnSpc>
                <a:spcPct val="115000"/>
              </a:lnSpc>
              <a:buClr>
                <a:schemeClr val="dk1"/>
              </a:buClr>
              <a:buSzPts val="1200"/>
              <a:buChar char="●"/>
            </a:pPr>
            <a:r>
              <a:rPr lang="en-GB" sz="2400" dirty="0">
                <a:solidFill>
                  <a:schemeClr val="dk1"/>
                </a:solidFill>
              </a:rPr>
              <a:t>Files that have been added but not yet committed.</a:t>
            </a:r>
          </a:p>
          <a:p>
            <a:pPr marL="457200" indent="-304800">
              <a:lnSpc>
                <a:spcPct val="115000"/>
              </a:lnSpc>
              <a:buClr>
                <a:schemeClr val="dk1"/>
              </a:buClr>
              <a:buSzPts val="1200"/>
              <a:buChar char="●"/>
            </a:pPr>
            <a:r>
              <a:rPr lang="en-GB" sz="2400" dirty="0">
                <a:solidFill>
                  <a:schemeClr val="dk1"/>
                </a:solidFill>
              </a:rPr>
              <a:t>Files that are untracked (not added to version control yet).</a:t>
            </a:r>
          </a:p>
          <a:p>
            <a:endParaRPr lang="en-US" dirty="0"/>
          </a:p>
        </p:txBody>
      </p:sp>
    </p:spTree>
    <p:custDataLst>
      <p:tags r:id="rId1"/>
    </p:custDataLst>
    <p:extLst>
      <p:ext uri="{BB962C8B-B14F-4D97-AF65-F5344CB8AC3E}">
        <p14:creationId xmlns:p14="http://schemas.microsoft.com/office/powerpoint/2010/main" val="31525658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5|3.8|3.9|8.1|27.1"/>
</p:tagLst>
</file>

<file path=ppt/tags/tag2.xml><?xml version="1.0" encoding="utf-8"?>
<p:tagLst xmlns:a="http://schemas.openxmlformats.org/drawingml/2006/main" xmlns:r="http://schemas.openxmlformats.org/officeDocument/2006/relationships" xmlns:p="http://schemas.openxmlformats.org/presentationml/2006/main">
  <p:tag name="TIMING" val="|7.5|3.8|3.9|8.1|27.1"/>
</p:tagLst>
</file>

<file path=ppt/tags/tag3.xml><?xml version="1.0" encoding="utf-8"?>
<p:tagLst xmlns:a="http://schemas.openxmlformats.org/drawingml/2006/main" xmlns:r="http://schemas.openxmlformats.org/officeDocument/2006/relationships" xmlns:p="http://schemas.openxmlformats.org/presentationml/2006/main">
  <p:tag name="TIMING" val="|7.5|3.8|3.9|8.1|27.1"/>
</p:tagLst>
</file>

<file path=ppt/tags/tag4.xml><?xml version="1.0" encoding="utf-8"?>
<p:tagLst xmlns:a="http://schemas.openxmlformats.org/drawingml/2006/main" xmlns:r="http://schemas.openxmlformats.org/officeDocument/2006/relationships" xmlns:p="http://schemas.openxmlformats.org/presentationml/2006/main">
  <p:tag name="TIMING" val="|7.5|3.8|3.9|8.1|27.1"/>
</p:tagLst>
</file>

<file path=ppt/tags/tag5.xml><?xml version="1.0" encoding="utf-8"?>
<p:tagLst xmlns:a="http://schemas.openxmlformats.org/drawingml/2006/main" xmlns:r="http://schemas.openxmlformats.org/officeDocument/2006/relationships" xmlns:p="http://schemas.openxmlformats.org/presentationml/2006/main">
  <p:tag name="TIMING" val="|7.5|3.8|3.9|8.1|27.1"/>
</p:tagLst>
</file>

<file path=ppt/tags/tag6.xml><?xml version="1.0" encoding="utf-8"?>
<p:tagLst xmlns:a="http://schemas.openxmlformats.org/drawingml/2006/main" xmlns:r="http://schemas.openxmlformats.org/officeDocument/2006/relationships" xmlns:p="http://schemas.openxmlformats.org/presentationml/2006/main">
  <p:tag name="TIMING" val="|7.5|3.8|3.9|8.1|27.1"/>
</p:tagLst>
</file>

<file path=ppt/tags/tag7.xml><?xml version="1.0" encoding="utf-8"?>
<p:tagLst xmlns:a="http://schemas.openxmlformats.org/drawingml/2006/main" xmlns:r="http://schemas.openxmlformats.org/officeDocument/2006/relationships" xmlns:p="http://schemas.openxmlformats.org/presentationml/2006/main">
  <p:tag name="TIMING" val="|7.5|3.8|3.9|8.1|27.1"/>
</p:tagLst>
</file>

<file path=ppt/tags/tag8.xml><?xml version="1.0" encoding="utf-8"?>
<p:tagLst xmlns:a="http://schemas.openxmlformats.org/drawingml/2006/main" xmlns:r="http://schemas.openxmlformats.org/officeDocument/2006/relationships" xmlns:p="http://schemas.openxmlformats.org/presentationml/2006/main">
  <p:tag name="TIMING" val="|7.5|3.8|3.9|8.1|27.1"/>
</p:tagLst>
</file>

<file path=ppt/tags/tag9.xml><?xml version="1.0" encoding="utf-8"?>
<p:tagLst xmlns:a="http://schemas.openxmlformats.org/drawingml/2006/main" xmlns:r="http://schemas.openxmlformats.org/officeDocument/2006/relationships" xmlns:p="http://schemas.openxmlformats.org/presentationml/2006/main">
  <p:tag name="TIMING" val="|7.5|3.8|3.9|8.1|27.1"/>
</p:tagLst>
</file>

<file path=ppt/tags/tag10.xml><?xml version="1.0" encoding="utf-8"?>
<p:tagLst xmlns:a="http://schemas.openxmlformats.org/drawingml/2006/main" xmlns:r="http://schemas.openxmlformats.org/officeDocument/2006/relationships" xmlns:p="http://schemas.openxmlformats.org/presentationml/2006/main">
  <p:tag name="TIMING" val="|7.5|3.8|3.9|8.1|27.1"/>
</p:tagLst>
</file>

<file path=ppt/tags/tag11.xml><?xml version="1.0" encoding="utf-8"?>
<p:tagLst xmlns:a="http://schemas.openxmlformats.org/drawingml/2006/main" xmlns:r="http://schemas.openxmlformats.org/officeDocument/2006/relationships" xmlns:p="http://schemas.openxmlformats.org/presentationml/2006/main">
  <p:tag name="TIMING" val="|7.5|3.8|3.9|8.1|27.1"/>
</p:tagLst>
</file>

<file path=ppt/tags/tag12.xml><?xml version="1.0" encoding="utf-8"?>
<p:tagLst xmlns:a="http://schemas.openxmlformats.org/drawingml/2006/main" xmlns:r="http://schemas.openxmlformats.org/officeDocument/2006/relationships" xmlns:p="http://schemas.openxmlformats.org/presentationml/2006/main">
  <p:tag name="TIMING" val="|7.5|3.8|3.9|8.1|27.1"/>
</p:tagLst>
</file>

<file path=ppt/tags/tag13.xml><?xml version="1.0" encoding="utf-8"?>
<p:tagLst xmlns:a="http://schemas.openxmlformats.org/drawingml/2006/main" xmlns:r="http://schemas.openxmlformats.org/officeDocument/2006/relationships" xmlns:p="http://schemas.openxmlformats.org/presentationml/2006/main">
  <p:tag name="TIMING" val="|7.5|3.8|3.9|8.1|27.1"/>
</p:tagLst>
</file>

<file path=ppt/tags/tag14.xml><?xml version="1.0" encoding="utf-8"?>
<p:tagLst xmlns:a="http://schemas.openxmlformats.org/drawingml/2006/main" xmlns:r="http://schemas.openxmlformats.org/officeDocument/2006/relationships" xmlns:p="http://schemas.openxmlformats.org/presentationml/2006/main">
  <p:tag name="TIMING" val="|7.5|3.8|3.9|8.1|27.1"/>
</p:tagLst>
</file>

<file path=ppt/tags/tag15.xml><?xml version="1.0" encoding="utf-8"?>
<p:tagLst xmlns:a="http://schemas.openxmlformats.org/drawingml/2006/main" xmlns:r="http://schemas.openxmlformats.org/officeDocument/2006/relationships" xmlns:p="http://schemas.openxmlformats.org/presentationml/2006/main">
  <p:tag name="TIMING" val="|7.5|3.8|3.9|8.1|27.1"/>
</p:tagLst>
</file>

<file path=ppt/tags/tag16.xml><?xml version="1.0" encoding="utf-8"?>
<p:tagLst xmlns:a="http://schemas.openxmlformats.org/drawingml/2006/main" xmlns:r="http://schemas.openxmlformats.org/officeDocument/2006/relationships" xmlns:p="http://schemas.openxmlformats.org/presentationml/2006/main">
  <p:tag name="TIMING" val="|7.5|3.8|3.9|8.1|27.1"/>
</p:tagLst>
</file>

<file path=ppt/tags/tag17.xml><?xml version="1.0" encoding="utf-8"?>
<p:tagLst xmlns:a="http://schemas.openxmlformats.org/drawingml/2006/main" xmlns:r="http://schemas.openxmlformats.org/officeDocument/2006/relationships" xmlns:p="http://schemas.openxmlformats.org/presentationml/2006/main">
  <p:tag name="TIMING" val="|7.5|3.8|3.9|8.1|27.1"/>
</p:tagLst>
</file>

<file path=ppt/tags/tag18.xml><?xml version="1.0" encoding="utf-8"?>
<p:tagLst xmlns:a="http://schemas.openxmlformats.org/drawingml/2006/main" xmlns:r="http://schemas.openxmlformats.org/officeDocument/2006/relationships" xmlns:p="http://schemas.openxmlformats.org/presentationml/2006/main">
  <p:tag name="TIMING" val="|7.5|3.8|3.9|8.1|27.1"/>
</p:tagLst>
</file>

<file path=ppt/tags/tag19.xml><?xml version="1.0" encoding="utf-8"?>
<p:tagLst xmlns:a="http://schemas.openxmlformats.org/drawingml/2006/main" xmlns:r="http://schemas.openxmlformats.org/officeDocument/2006/relationships" xmlns:p="http://schemas.openxmlformats.org/presentationml/2006/main">
  <p:tag name="TIMING" val="|7.5|3.8|3.9|8.1|27.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1017</Words>
  <Application>Microsoft Macintosh PowerPoint</Application>
  <PresentationFormat>Widescreen</PresentationFormat>
  <Paragraphs>126</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Courier New</vt:lpstr>
      <vt:lpstr>Roboto Mono</vt:lpstr>
      <vt:lpstr>Times New Roman</vt:lpstr>
      <vt:lpstr>Office Theme</vt:lpstr>
      <vt:lpstr>Understanding Version Control System </vt:lpstr>
      <vt:lpstr>What is a Version Control System</vt:lpstr>
      <vt:lpstr>Local Version Control System</vt:lpstr>
      <vt:lpstr>Centralized Version Control System</vt:lpstr>
      <vt:lpstr>What are the benefits and drawback?</vt:lpstr>
      <vt:lpstr>Benefits of Centralized Version Control System</vt:lpstr>
      <vt:lpstr>Drawback of Centralized Version Control System</vt:lpstr>
      <vt:lpstr>Distributed Version Control System</vt:lpstr>
      <vt:lpstr>Delta-based version control system</vt:lpstr>
      <vt:lpstr>Snapshot-based version control system</vt:lpstr>
      <vt:lpstr>Git is an example of a distributed version control system</vt:lpstr>
      <vt:lpstr>Installing Git</vt:lpstr>
      <vt:lpstr>Installing Git</vt:lpstr>
      <vt:lpstr>git version command</vt:lpstr>
      <vt:lpstr>git config command</vt:lpstr>
      <vt:lpstr>git config command</vt:lpstr>
      <vt:lpstr>git config command</vt:lpstr>
      <vt:lpstr>Files in Git reside in three states</vt:lpstr>
      <vt:lpstr>Files in Git reside in three states</vt:lpstr>
      <vt:lpstr>Files in Git reside in three states</vt:lpstr>
      <vt:lpstr>Basic Workflow in Git</vt:lpstr>
      <vt:lpstr>Getting a new repository</vt:lpstr>
      <vt:lpstr>Recording changes to a git repository</vt:lpstr>
      <vt:lpstr>Displaying changes to a git repository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Asaduzzaman</dc:creator>
  <cp:lastModifiedBy>Muhammad Asaduzzaman</cp:lastModifiedBy>
  <cp:revision>1</cp:revision>
  <dcterms:created xsi:type="dcterms:W3CDTF">2026-09-21T17:52:27Z</dcterms:created>
  <dcterms:modified xsi:type="dcterms:W3CDTF">2026-09-21T17:53:22Z</dcterms:modified>
</cp:coreProperties>
</file>