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431" r:id="rId3"/>
    <p:sldId id="433" r:id="rId4"/>
    <p:sldId id="434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51" r:id="rId15"/>
    <p:sldId id="445" r:id="rId16"/>
    <p:sldId id="446" r:id="rId17"/>
    <p:sldId id="447" r:id="rId18"/>
    <p:sldId id="448" r:id="rId19"/>
    <p:sldId id="449" r:id="rId20"/>
    <p:sldId id="452" r:id="rId21"/>
    <p:sldId id="454" r:id="rId22"/>
    <p:sldId id="455" r:id="rId23"/>
    <p:sldId id="456" r:id="rId24"/>
    <p:sldId id="457" r:id="rId25"/>
    <p:sldId id="458" r:id="rId26"/>
    <p:sldId id="467" r:id="rId27"/>
    <p:sldId id="459" r:id="rId28"/>
    <p:sldId id="460" r:id="rId29"/>
    <p:sldId id="461" r:id="rId30"/>
    <p:sldId id="462" r:id="rId31"/>
    <p:sldId id="463" r:id="rId32"/>
    <p:sldId id="464" r:id="rId33"/>
    <p:sldId id="465" r:id="rId34"/>
    <p:sldId id="46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674663-8059-407E-81A8-506948F93833}">
          <p14:sldIdLst>
            <p14:sldId id="256"/>
            <p14:sldId id="431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51"/>
            <p14:sldId id="445"/>
            <p14:sldId id="446"/>
            <p14:sldId id="447"/>
            <p14:sldId id="448"/>
            <p14:sldId id="449"/>
          </p14:sldIdLst>
        </p14:section>
        <p14:section name="motivation" id="{35AA79B0-8D2C-43A1-AD77-0AA2DF6D9FE4}">
          <p14:sldIdLst>
            <p14:sldId id="452"/>
            <p14:sldId id="454"/>
            <p14:sldId id="455"/>
            <p14:sldId id="456"/>
            <p14:sldId id="457"/>
            <p14:sldId id="458"/>
            <p14:sldId id="467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E Hassan" initials="AEH" lastIdx="20" clrIdx="0">
    <p:extLst>
      <p:ext uri="{19B8F6BF-5375-455C-9EA6-DF929625EA0E}">
        <p15:presenceInfo xmlns:p15="http://schemas.microsoft.com/office/powerpoint/2012/main" userId="Ahmed E Hassan" providerId="None"/>
      </p:ext>
    </p:extLst>
  </p:cmAuthor>
  <p:cmAuthor id="2" name="wang shaowei" initials="ws" lastIdx="3" clrIdx="1">
    <p:extLst>
      <p:ext uri="{19B8F6BF-5375-455C-9EA6-DF929625EA0E}">
        <p15:presenceInfo xmlns:p15="http://schemas.microsoft.com/office/powerpoint/2012/main" userId="2ee205089b2fa34b" providerId="Windows Live"/>
      </p:ext>
    </p:extLst>
  </p:cmAuthor>
  <p:cmAuthor id="3" name="Ahmed Hassan" initials="AH" lastIdx="12" clrIdx="2">
    <p:extLst>
      <p:ext uri="{19B8F6BF-5375-455C-9EA6-DF929625EA0E}">
        <p15:presenceInfo xmlns:p15="http://schemas.microsoft.com/office/powerpoint/2012/main" userId="S::hassan@queensu.ca::4102316f-6d29-4484-8423-77af86da7306" providerId="AD"/>
      </p:ext>
    </p:extLst>
  </p:cmAuthor>
  <p:cmAuthor id="4" name="Microsoft Office User" initials="MOU" lastIdx="3" clrIdx="3"/>
  <p:cmAuthor id="5" name="Muhammad Asaduzzaman" initials="" lastIdx="1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4F5F0"/>
    <a:srgbClr val="EE7D2F"/>
    <a:srgbClr val="193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1271" autoAdjust="0"/>
  </p:normalViewPr>
  <p:slideViewPr>
    <p:cSldViewPr snapToGrid="0">
      <p:cViewPr varScale="1">
        <p:scale>
          <a:sx n="79" d="100"/>
          <a:sy n="79" d="100"/>
        </p:scale>
        <p:origin x="200" y="6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FEEB3-8704-4D92-8DD8-0006BCEB3232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08295-F378-479B-B4C4-EE1FE2025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40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817E-9242-C500-7E23-D197C2BF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2E53D-9C57-896D-4FC9-83FC5E597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74B72-2B11-99D6-3077-4D658F637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03C67-52A1-2038-DCE7-7CB4D9783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47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445B-5FC2-5DAE-59E3-690D0F91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7CE80-DFEA-52E6-7274-C02568FE5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9CFF1-2C69-5B2D-1F3E-1F6CC251E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4720E-9A7A-924C-CD74-D20688B75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EDA1C-DE54-A77F-3896-068C3194C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FEAC6-432C-8E96-2C37-86170DE9A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2CED3-9D0F-FF35-9BFE-591C0E6C7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7D2DA-38ED-B4C7-2C70-D759392D4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6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D129-DEA8-9325-4924-05A3295CF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B70F1-06CD-5BA6-3937-0803494AA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C6BCD-D3FD-54F7-4E63-D5B5F4678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As you start making commits, you’re given a </a:t>
            </a:r>
            <a:r>
              <a:rPr lang="en-CA" dirty="0"/>
              <a:t>master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 branch that points to the last commit you made. Every time you commit, the </a:t>
            </a:r>
            <a:r>
              <a:rPr lang="en-CA" dirty="0"/>
              <a:t>master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 branch pointer moves forward automatically.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41E13-639C-92CD-C86C-4D3D4EF18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22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815A2-120A-BEF4-633B-1591A5E7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DD4E9-1DF6-CCDE-BF91-5F6C5D83F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849BF-4692-DE4C-70A6-22DBFF539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dirty="0">
                <a:latin typeface="Roboto Mono" pitchFamily="49" charset="0"/>
                <a:ea typeface="Roboto Mono" pitchFamily="49" charset="0"/>
              </a:rPr>
              <a:t>git branch v1.0 </a:t>
            </a:r>
            <a:r>
              <a:rPr lang="en-CA" sz="1200" b="0" i="0" dirty="0">
                <a:solidFill>
                  <a:srgbClr val="4E443C"/>
                </a:solidFill>
                <a:effectLst/>
                <a:latin typeface="Arial" panose="020B0604020202020204" pitchFamily="34" charset="0"/>
                <a:ea typeface="Roboto Mono" pitchFamily="49" charset="0"/>
              </a:rPr>
              <a:t>command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 creates a new pointer to the same commit you’re currently 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4E667-B0B7-69C6-0E39-7C80BF533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77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D8A7E-0224-E0F4-193F-42EF207D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50267-600D-CF2C-F958-9774ED09F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20FEA-7F4C-A1E8-7355-E9FAEFD32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dirty="0">
                <a:latin typeface="Roboto Mono" pitchFamily="49" charset="0"/>
                <a:ea typeface="Roboto Mono" pitchFamily="49" charset="0"/>
              </a:rPr>
              <a:t>git branch testing </a:t>
            </a:r>
            <a:r>
              <a:rPr lang="en-CA" sz="1200" b="0" i="0" dirty="0">
                <a:solidFill>
                  <a:srgbClr val="4E443C"/>
                </a:solidFill>
                <a:effectLst/>
                <a:latin typeface="Arial" panose="020B0604020202020204" pitchFamily="34" charset="0"/>
                <a:ea typeface="Roboto Mono" pitchFamily="49" charset="0"/>
              </a:rPr>
              <a:t>command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 creates a new pointer to the same commit you’re currently 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9EA9-CD72-1513-9E12-E624CB1D1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2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B5D49-8430-EDF3-8415-A93563D6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AF18D-E16E-F77B-4899-072A2D5FE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9FAA5-BA2A-CC26-8A23-1BA3B0328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dirty="0">
                <a:latin typeface="Roboto Mono" pitchFamily="49" charset="0"/>
                <a:ea typeface="Roboto Mono" pitchFamily="49" charset="0"/>
              </a:rPr>
              <a:t>git branch v1.0 </a:t>
            </a:r>
            <a:r>
              <a:rPr lang="en-CA" sz="1200" b="0" i="0" dirty="0">
                <a:solidFill>
                  <a:srgbClr val="4E443C"/>
                </a:solidFill>
                <a:effectLst/>
                <a:latin typeface="Arial" panose="020B0604020202020204" pitchFamily="34" charset="0"/>
                <a:ea typeface="Roboto Mono" pitchFamily="49" charset="0"/>
              </a:rPr>
              <a:t>command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 creates a new pointer to the same commit you’re currently 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19A15-8ACC-0524-E5CF-A780685D9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55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6FF2B-ABC3-0385-8C04-13396D28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3E59F-FEC0-54D8-5F8C-03E0D69CF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2CC54-79FD-3E63-6519-75164407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CA" dirty="0"/>
              <a:t>git branch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 command only </a:t>
            </a:r>
            <a:r>
              <a:rPr lang="en-CA" b="1" i="0" dirty="0">
                <a:solidFill>
                  <a:srgbClr val="4E443C"/>
                </a:solidFill>
                <a:effectLst/>
                <a:latin typeface="Courier" pitchFamily="2" charset="0"/>
              </a:rPr>
              <a:t>created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 a new branch — it didn’t switch to that branch.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1B675-E4B8-D33A-69FD-AC1C71B0E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29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4846-1F80-1DAC-8550-D2E68258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684DE-10E8-46B8-3AE3-BA1CE19C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5C7A8-BFE4-F129-1D4D-8D5575F92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CA" dirty="0"/>
              <a:t>git branch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 command only </a:t>
            </a:r>
            <a:r>
              <a:rPr lang="en-CA" b="1" i="0" dirty="0">
                <a:solidFill>
                  <a:srgbClr val="4E443C"/>
                </a:solidFill>
                <a:effectLst/>
                <a:latin typeface="Courier" pitchFamily="2" charset="0"/>
              </a:rPr>
              <a:t>created</a:t>
            </a:r>
            <a:r>
              <a:rPr lang="en-CA" b="0" i="0" dirty="0">
                <a:solidFill>
                  <a:srgbClr val="4E443C"/>
                </a:solidFill>
                <a:effectLst/>
                <a:latin typeface="Arial" panose="020B0604020202020204" pitchFamily="34" charset="0"/>
              </a:rPr>
              <a:t> a new branch — it didn’t switch to that branch.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CEA1-E6D3-788E-53A4-4F722E8DC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97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0FA23-98E8-4B43-B818-387AD302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759AA-EBA2-321B-420F-8CF6E88AA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DE04C-1550-E571-EFA1-9682179C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B159-8563-1D09-146C-C0C67C3FA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70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8E3D-9D7F-D127-9060-7AF8160E4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077B9-AC2B-8C8B-1176-AEF781BD0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82560-6935-A409-AD1E-083C8F7B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8ABF0-A296-949D-5321-D6A9C1A5C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57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86ADA-EDD1-B89E-B210-1CD09502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CE667-8690-C94E-E5A3-F6FF0B242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D19C1-D7C2-0002-DF24-6CB52731E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CCA78-BE21-38C1-3209-FB17FF006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BDBC3-0CA7-5B3E-BA2B-7C9AB1A5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0D962-3244-7A7E-6921-CE8764731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F1A46-2DAA-CE3A-4816-9F5726824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B18D7-1D08-53B4-DB21-430E485A3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86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82BDA-8293-FC7E-3792-0C351CA9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B42EA-BE93-C8A2-D3AE-7E488B0D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94390-D89B-9114-D960-5ABA7932A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C79FC-651B-EA4B-AF2E-CF791A483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09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0919-6770-396F-D919-9A6F8B89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05CA5-E55C-5AC8-5F53-C7B49433C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D6121-786A-7BEC-8A1A-FEBB528B6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C27D0-A231-70D0-36F2-CB2FFA3DB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71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AD63-6647-EFD0-6122-B25A33B60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99175-4A10-F04A-1EF0-0AA39DE04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CF40F-886C-4AC7-C998-9BAB75667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83872-C5D9-F887-392A-1FBED739E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443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16C5-FEB5-1A93-46F9-A18F87BC8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BF556-E502-D660-6EFF-DC1D2F357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81C0E-5E7D-E20F-F000-EF76D2976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98E2C-49B7-4B1B-15A8-55704BDB2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24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5551-8FCF-9E60-2892-EF94AF74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45C26-1371-8DD2-097F-D9FAF5869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B5FE5-BE53-BC8B-F80C-780BF02F6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2475C-A092-65B0-E3CB-09C7DA064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48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2406-C963-5774-B80B-A98F97F1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92DA9-4944-3480-D8F4-5659662A2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025AC-0F34-F6A7-80DA-773C3C36E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CD39E-0A46-9941-4D64-EA05756EE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16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1083F-C319-B9C2-BDEC-0F2F455F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82280-1637-FCE7-B9E2-1F99DBCD3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CB858-5B48-3B95-56DF-C4E4FD7EA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0AD02-D9EC-1AF7-F3CB-0C86FA187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0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BE10-990C-638E-349A-DD139913E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AB6B9-36A4-0C42-D224-5B0808745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2635E-C04F-2698-104A-F33434000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012BD-85A9-1E9D-7401-175592A74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35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C78F-46A2-9B7C-12D0-A0BCAEAD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525A5-3380-A66F-F134-755FB1D73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4C7C4-2009-88F8-AE07-E335A0622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8659E-368F-384F-87F6-5396F96C0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187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2A71-5507-3B2B-41B2-A2852328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05756-D601-6045-F02E-2CC1632A2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96FAE-E374-B5E8-CDBD-0540F0948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CABE9-BC0A-59DA-BD91-3E49D835A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74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DB82-98BC-43FE-BD70-8711B315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9A7DE-E66E-6042-B9D8-157EA1586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D30A4-7A21-8DFC-6B12-13D496223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B07C5-BFE8-ED48-0AD2-527D040F4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48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0A71-C2E0-94DB-5E62-9284D5986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DC1A5-53A6-672D-041C-B06B85D79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D3B52-CE9F-CE72-157B-77D6D0CD1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37F3F-C16A-34BA-F873-236E1F0F0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82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22EA-B7E3-979B-2A4B-8D6915EB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F86EC-3C40-DBA7-8771-E13C389FF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17062-5C78-093E-75EE-8E4C0AA15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7C460-70F5-5C62-A467-708B547C2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145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35C0-F298-A385-61CA-C5EF823E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9E49F-9883-D844-4A0D-08391F2E9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CB9F3-8D0E-11CC-FCF4-0268BAF65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03CF6-6010-F9E8-6D12-CF9C4D196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97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66E3-F6B2-632F-425C-0533DF32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594EB-05C5-A05D-2F1C-FCDA0829C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29034-D241-29A7-3C30-9BFF26BDD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529A5-F79F-C275-D876-37EB592EC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389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183A-74B4-3A47-7921-17A915B9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2ACB8-72FD-EF81-70B1-DBC1A21E8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6EBF8-BAB8-0F17-0D5A-6C06E4A76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76F56-4D9D-2D66-7D7A-8D84511DC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7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05A0-6FC6-86F8-531E-864FED64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44A0-8EA0-8084-6A4B-947598D8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3AB6C-8AA7-635C-56B8-FA033BC24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F1EA6-2CCF-8335-B998-6C7E46531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512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586A-7481-6ADF-BEEF-94DE1A8B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DC56E-E7FC-538D-0F6C-8358EB5AE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9C154-78BE-3992-CF29-E7BAC6006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5F775-9861-1A51-91DA-60375D637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068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4B30-9FF6-8BB3-4309-4B61FD5D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DEEE3-6298-904B-C5BA-9A828419B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B0A41-3912-5C74-2B32-28B901AC1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9939-8F28-6C4E-2F6A-C510242C6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26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BED9-7E13-912E-3B45-D925E31D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0A9E1-F928-1387-8881-291A5D1E8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58ADF-4B9D-26EC-D1C2-1C5CAE00D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E98C9-AC54-B333-8B9B-132A701E6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74FCC-F8DA-492C-91E8-5593B461B99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7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3A93-5F34-0140-A4C1-4EAC2E844B8E}" type="datetime1">
              <a:rPr lang="en-CA" smtClean="0"/>
              <a:t>2025-09-17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1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2D11-3CF5-5A45-BCC2-C2BD74B9FC5D}" type="datetime1">
              <a:rPr lang="en-CA" smtClean="0"/>
              <a:t>2025-09-17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C2AB-007C-D646-B598-012C2C29DFA2}" type="datetime1">
              <a:rPr lang="en-CA" smtClean="0"/>
              <a:t>2025-09-17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3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3AD-CDCC-6547-B57A-FB59B06BEE89}" type="datetime1">
              <a:rPr lang="en-CA" smtClean="0"/>
              <a:t>2025-09-17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6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C64B-AE42-4D4D-B93E-B0E2D5CEDDC9}" type="datetime1">
              <a:rPr lang="en-CA" smtClean="0"/>
              <a:t>2025-09-17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4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3E53-3B36-0C4A-809A-3C209156E3ED}" type="datetime1">
              <a:rPr lang="en-CA" smtClean="0"/>
              <a:t>2025-09-17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3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AAC8-C2A9-D94C-BD9A-DCA9E954316F}" type="datetime1">
              <a:rPr lang="en-CA" smtClean="0"/>
              <a:t>2025-09-17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2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4EC1-0EB9-AA47-876E-26E419EAD7B5}" type="datetime1">
              <a:rPr lang="en-CA" smtClean="0"/>
              <a:t>2025-09-17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6A69-06AA-DA41-888F-7E71770E2D5C}" type="datetime1">
              <a:rPr lang="en-CA" smtClean="0"/>
              <a:t>2025-09-17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C16D-652D-FD49-AAC4-9F56195B2CE6}" type="datetime1">
              <a:rPr lang="en-CA" smtClean="0"/>
              <a:t>2025-09-17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9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4E21-F84E-024D-AD3B-D0AF53A755A2}" type="datetime1">
              <a:rPr lang="en-CA" smtClean="0"/>
              <a:t>2025-09-17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EEDE8-C377-6042-8A81-747D33F2E166}" type="datetime1">
              <a:rPr lang="en-CA" smtClean="0"/>
              <a:t>2025-09-17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EE1B9-BF1E-4A9E-A347-25B754448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0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22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7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8B0D-0870-4E5D-A9E7-968640310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0634"/>
            <a:ext cx="9144000" cy="1829088"/>
          </a:xfrm>
          <a:solidFill>
            <a:srgbClr val="002060">
              <a:alpha val="90000"/>
            </a:srgbClr>
          </a:solidFill>
          <a:ln>
            <a:solidFill>
              <a:srgbClr val="002060"/>
            </a:solidFill>
          </a:ln>
        </p:spPr>
        <p:txBody>
          <a:bodyPr anchor="ctr">
            <a:noAutofit/>
          </a:bodyPr>
          <a:lstStyle/>
          <a:p>
            <a:r>
              <a:rPr lang="en-CA" sz="5500" b="1" dirty="0">
                <a:solidFill>
                  <a:schemeClr val="bg1"/>
                </a:solidFill>
              </a:rPr>
              <a:t>Branching and Merging (Git) </a:t>
            </a:r>
            <a:endParaRPr lang="en-US" sz="4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E503C-025B-4F93-BFA1-9B0864F2B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975" y="3751740"/>
            <a:ext cx="7258050" cy="1768078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spcBef>
                <a:spcPts val="700"/>
              </a:spcBef>
              <a:buFont typeface="Wingdings" pitchFamily="2" charset="2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3200" b="1" dirty="0"/>
              <a:t>Muhammad Asaduzzaman</a:t>
            </a:r>
          </a:p>
          <a:p>
            <a:pPr algn="ctr" eaLnBrk="1" hangingPunct="1">
              <a:lnSpc>
                <a:spcPct val="90000"/>
              </a:lnSpc>
              <a:spcBef>
                <a:spcPts val="700"/>
              </a:spcBef>
              <a:buFont typeface="Wingdings" pitchFamily="2" charset="2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3200" b="1" dirty="0"/>
              <a:t>School of Computer Science</a:t>
            </a:r>
          </a:p>
          <a:p>
            <a:pPr algn="ctr" eaLnBrk="1" hangingPunct="1">
              <a:lnSpc>
                <a:spcPct val="90000"/>
              </a:lnSpc>
              <a:spcBef>
                <a:spcPts val="700"/>
              </a:spcBef>
              <a:buFont typeface="Wingdings" pitchFamily="2" charset="2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3200" b="1" dirty="0"/>
              <a:t>University of Windsor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E47E04-5665-3098-BBBD-346B3E29B161}"/>
              </a:ext>
            </a:extLst>
          </p:cNvPr>
          <p:cNvSpPr txBox="1"/>
          <p:nvPr/>
        </p:nvSpPr>
        <p:spPr>
          <a:xfrm>
            <a:off x="140133" y="5781837"/>
            <a:ext cx="8863734" cy="954107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Used content from the Pro Git book</a:t>
            </a:r>
            <a:br>
              <a:rPr lang="en-CA" sz="2800" dirty="0"/>
            </a:br>
            <a:r>
              <a:rPr lang="en-CA" sz="2800" dirty="0"/>
              <a:t>https://git-</a:t>
            </a:r>
            <a:r>
              <a:rPr lang="en-CA" sz="2800" dirty="0" err="1"/>
              <a:t>scm.com</a:t>
            </a:r>
            <a:r>
              <a:rPr lang="en-CA" sz="2800" dirty="0"/>
              <a:t>/book/</a:t>
            </a:r>
            <a:r>
              <a:rPr lang="en-CA" sz="2800" dirty="0" err="1"/>
              <a:t>en</a:t>
            </a:r>
            <a:r>
              <a:rPr lang="en-CA" sz="2800" dirty="0"/>
              <a:t>/v2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0237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15E8-63FF-6A8C-98C6-E755C596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EFE3-6BC9-BF3F-A886-B26EE3B5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0"/>
            <a:ext cx="9144000" cy="1325563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1D894389-B758-2967-CEFA-5A6AC155F1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3282E1A8-0622-552F-6091-D09C6C3721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FD28D-604C-BF59-4625-2BE0B37E916B}"/>
              </a:ext>
            </a:extLst>
          </p:cNvPr>
          <p:cNvSpPr txBox="1"/>
          <p:nvPr/>
        </p:nvSpPr>
        <p:spPr>
          <a:xfrm>
            <a:off x="460375" y="1814945"/>
            <a:ext cx="84065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boto Mono" pitchFamily="49" charset="0"/>
                <a:ea typeface="Roboto Mono" pitchFamily="49" charset="0"/>
              </a:rPr>
              <a:t>A Git repository contains four kinds of objects.</a:t>
            </a:r>
          </a:p>
          <a:p>
            <a:endParaRPr lang="en-US" sz="2400" dirty="0">
              <a:latin typeface="Roboto Mono" pitchFamily="49" charset="0"/>
              <a:ea typeface="Roboto Mono" pitchFamily="49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Roboto Mono" pitchFamily="49" charset="0"/>
                <a:ea typeface="Roboto Mono" pitchFamily="49" charset="0"/>
              </a:rPr>
              <a:t>A blob (represent a file)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Roboto Mono" pitchFamily="49" charset="0"/>
                <a:ea typeface="Roboto Mono" pitchFamily="49" charset="0"/>
              </a:rPr>
              <a:t>a tree (represent a directory)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Roboto Mono" pitchFamily="49" charset="0"/>
                <a:ea typeface="Roboto Mono" pitchFamily="49" charset="0"/>
              </a:rPr>
              <a:t>a commit (represent a revision/snapshot of the repository)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Roboto Mono" pitchFamily="49" charset="0"/>
                <a:ea typeface="Roboto Mono" pitchFamily="49" charset="0"/>
              </a:rPr>
              <a:t>a tag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C3B08-B771-91C9-D20D-969F6AF8773D}"/>
              </a:ext>
            </a:extLst>
          </p:cNvPr>
          <p:cNvSpPr txBox="1"/>
          <p:nvPr/>
        </p:nvSpPr>
        <p:spPr>
          <a:xfrm>
            <a:off x="307975" y="5251517"/>
            <a:ext cx="8711334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Every object is uniquely identified by a 40 hex digit number, which is obtained by determining SHA-1 hash of its content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035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221FD-9139-773D-53E7-6A75E1D9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029-ECD7-9717-F532-3653261C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17EBA88F-4178-E4B6-D959-67653AA60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37083DB0-49E5-6BAD-F579-F21B1712ED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F79B5F-F99D-06F6-B3F2-12A864141876}"/>
              </a:ext>
            </a:extLst>
          </p:cNvPr>
          <p:cNvSpPr/>
          <p:nvPr/>
        </p:nvSpPr>
        <p:spPr>
          <a:xfrm>
            <a:off x="0" y="1437290"/>
            <a:ext cx="9144000" cy="987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latin typeface="Roboto Mono" pitchFamily="49" charset="0"/>
                <a:ea typeface="Roboto Mono" pitchFamily="49" charset="0"/>
              </a:rPr>
              <a:t>$ git add README </a:t>
            </a:r>
            <a:r>
              <a:rPr lang="en-CA" dirty="0" err="1">
                <a:latin typeface="Roboto Mono" pitchFamily="49" charset="0"/>
                <a:ea typeface="Roboto Mono" pitchFamily="49" charset="0"/>
              </a:rPr>
              <a:t>test.rb</a:t>
            </a:r>
            <a:r>
              <a:rPr lang="en-CA" dirty="0">
                <a:latin typeface="Roboto Mono" pitchFamily="49" charset="0"/>
                <a:ea typeface="Roboto Mono" pitchFamily="49" charset="0"/>
              </a:rPr>
              <a:t> LICENSE </a:t>
            </a:r>
          </a:p>
          <a:p>
            <a:r>
              <a:rPr lang="en-CA" dirty="0">
                <a:latin typeface="Roboto Mono" pitchFamily="49" charset="0"/>
                <a:ea typeface="Roboto Mono" pitchFamily="49" charset="0"/>
              </a:rPr>
              <a:t>$ git commit -m 'Initial commit'</a:t>
            </a:r>
            <a:endParaRPr lang="en-US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2770" name="Picture 2" descr="A commit and its tree">
            <a:extLst>
              <a:ext uri="{FF2B5EF4-FFF2-40B4-BE49-F238E27FC236}">
                <a16:creationId xmlns:a16="http://schemas.microsoft.com/office/drawing/2014/main" id="{30978861-1123-90EB-742D-55AB7833C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10" y="2388899"/>
            <a:ext cx="8012771" cy="44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957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54F4-9A58-7E6D-ED06-386ED318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88EB-59AF-AA23-CEFB-1CF938AA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BCD775CA-1BA7-0989-8255-45E89E7A9C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A16BBA0B-A7A1-C655-B2D0-35FA35BEE9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19B6E-5B16-E06A-FF6F-B96BAF8278E6}"/>
              </a:ext>
            </a:extLst>
          </p:cNvPr>
          <p:cNvSpPr/>
          <p:nvPr/>
        </p:nvSpPr>
        <p:spPr>
          <a:xfrm>
            <a:off x="0" y="1437290"/>
            <a:ext cx="9144000" cy="987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>
                <a:latin typeface="Roboto Mono" pitchFamily="49" charset="0"/>
                <a:ea typeface="Roboto Mono" pitchFamily="49" charset="0"/>
              </a:rPr>
              <a:t>If you create multiple commits, each commits stores a pointer that points to the commit before it.</a:t>
            </a:r>
            <a:endParaRPr lang="en-US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3794" name="Picture 2" descr="Commits and their parents">
            <a:extLst>
              <a:ext uri="{FF2B5EF4-FFF2-40B4-BE49-F238E27FC236}">
                <a16:creationId xmlns:a16="http://schemas.microsoft.com/office/drawing/2014/main" id="{DDFE8E72-D68F-0ABE-53CA-CA15DBA12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958515"/>
            <a:ext cx="8905298" cy="294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248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7DC8-5EF2-0581-7979-CE4E137A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9762-DCA6-D634-2AD8-2273537E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Model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9552F87D-53E7-2504-29E8-DBA76BD804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CD246DBE-816E-B2D5-0C71-8749EBF226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ED3F4A-7ACF-238A-40ED-6AFD3E4B33D5}"/>
              </a:ext>
            </a:extLst>
          </p:cNvPr>
          <p:cNvSpPr/>
          <p:nvPr/>
        </p:nvSpPr>
        <p:spPr>
          <a:xfrm>
            <a:off x="0" y="1437290"/>
            <a:ext cx="9144000" cy="1208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b="0" i="0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A branch in Git is simply a lightweight movable pointer to one of these commits. The default branch name in Git is </a:t>
            </a:r>
            <a: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master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4818" name="Picture 2" descr="A branch and its commit history">
            <a:extLst>
              <a:ext uri="{FF2B5EF4-FFF2-40B4-BE49-F238E27FC236}">
                <a16:creationId xmlns:a16="http://schemas.microsoft.com/office/drawing/2014/main" id="{CD2C389E-2233-20F5-D2C4-1B58FEFC6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18" y="2646218"/>
            <a:ext cx="7204364" cy="387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931D0F-038F-AEC8-8C15-40823E149984}"/>
              </a:ext>
            </a:extLst>
          </p:cNvPr>
          <p:cNvSpPr/>
          <p:nvPr/>
        </p:nvSpPr>
        <p:spPr>
          <a:xfrm>
            <a:off x="4572000" y="3588327"/>
            <a:ext cx="1773382" cy="1108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F89A-9BDA-6239-85E5-D83B58F4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5AB7-9175-9002-06AA-89412A98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Branching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B3317228-649E-FAC0-E40D-1339B4F150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3A006E3C-CF52-26D9-C1C8-D05551238F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3A8D0-A2F7-4D08-A3AD-70E989314B5D}"/>
              </a:ext>
            </a:extLst>
          </p:cNvPr>
          <p:cNvSpPr/>
          <p:nvPr/>
        </p:nvSpPr>
        <p:spPr>
          <a:xfrm>
            <a:off x="0" y="1437289"/>
            <a:ext cx="9144000" cy="1991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b="0" i="0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A branch in Git is simply a lightweight movable pointer to one of these commits. The default branch name in Git is </a:t>
            </a:r>
            <a: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master</a:t>
            </a:r>
          </a:p>
          <a:p>
            <a: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You can create a new branch by running the following command:</a:t>
            </a:r>
            <a:b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</a:br>
            <a:r>
              <a:rPr lang="en-CA" sz="2000" dirty="0">
                <a:latin typeface="Roboto Mono" pitchFamily="49" charset="0"/>
                <a:ea typeface="Roboto Mono" pitchFamily="49" charset="0"/>
              </a:rPr>
              <a:t>$ git branch v1.0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5842" name="Picture 2" descr="A branch and its commit history">
            <a:extLst>
              <a:ext uri="{FF2B5EF4-FFF2-40B4-BE49-F238E27FC236}">
                <a16:creationId xmlns:a16="http://schemas.microsoft.com/office/drawing/2014/main" id="{8ACD13B8-1C2D-0A5B-2495-35B004955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6" y="3262756"/>
            <a:ext cx="6192982" cy="332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77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44715-04AB-E228-D581-BDCC35D5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C48F-6A8F-E884-72D7-3A90D3FB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Branching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70F9F7D6-5E95-588C-BC9E-2B23170068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8F44EBA5-0518-D51A-C73A-C31A7E3ADE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B5BD59-5CA8-A04F-0B8D-04C709C2529A}"/>
              </a:ext>
            </a:extLst>
          </p:cNvPr>
          <p:cNvSpPr/>
          <p:nvPr/>
        </p:nvSpPr>
        <p:spPr>
          <a:xfrm>
            <a:off x="0" y="1437289"/>
            <a:ext cx="9144000" cy="12643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You can create a new branch by running the following command:</a:t>
            </a:r>
            <a:b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</a:br>
            <a:r>
              <a:rPr lang="en-CA" sz="2000" dirty="0">
                <a:latin typeface="Roboto Mono" pitchFamily="49" charset="0"/>
                <a:ea typeface="Roboto Mono" pitchFamily="49" charset="0"/>
              </a:rPr>
              <a:t>$ git branch testing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6866" name="Picture 2" descr="Two branches pointing into the same series of commits">
            <a:extLst>
              <a:ext uri="{FF2B5EF4-FFF2-40B4-BE49-F238E27FC236}">
                <a16:creationId xmlns:a16="http://schemas.microsoft.com/office/drawing/2014/main" id="{354DEDCD-3262-0E4A-5A61-1F6BDF66C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5359"/>
            <a:ext cx="9144000" cy="357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953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CA86-86EC-9D9B-C286-1DAC3BC3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5139-C953-E44A-FC78-C2D08118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Branching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B44B6521-37D0-A9BF-317A-29B4AFCEEE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3AF1D990-033B-ABB9-DFDC-04AD17EC31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54D4E4-4639-2E02-AB3D-AAE8A41E92D6}"/>
              </a:ext>
            </a:extLst>
          </p:cNvPr>
          <p:cNvSpPr/>
          <p:nvPr/>
        </p:nvSpPr>
        <p:spPr>
          <a:xfrm>
            <a:off x="0" y="1437289"/>
            <a:ext cx="9144000" cy="12643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You can create a new branch by running the following command:</a:t>
            </a:r>
            <a:b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</a:br>
            <a:r>
              <a:rPr lang="en-CA" sz="2000" dirty="0">
                <a:latin typeface="Roboto Mono" pitchFamily="49" charset="0"/>
                <a:ea typeface="Roboto Mono" pitchFamily="49" charset="0"/>
              </a:rPr>
              <a:t>$ git branch testing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6866" name="Picture 2" descr="Two branches pointing into the same series of commits">
            <a:extLst>
              <a:ext uri="{FF2B5EF4-FFF2-40B4-BE49-F238E27FC236}">
                <a16:creationId xmlns:a16="http://schemas.microsoft.com/office/drawing/2014/main" id="{3549947E-114C-48E7-86A9-EE4D5D6D2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5359"/>
            <a:ext cx="9144000" cy="357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015E8B-066B-45EF-8727-FA58C974C7C7}"/>
              </a:ext>
            </a:extLst>
          </p:cNvPr>
          <p:cNvSpPr txBox="1"/>
          <p:nvPr/>
        </p:nvSpPr>
        <p:spPr>
          <a:xfrm>
            <a:off x="155575" y="2101471"/>
            <a:ext cx="8711334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How does git know which branch you are currently on?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606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BE14-AD35-1A55-0A0F-DF72656B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7D9F-4C0E-C389-AEEC-5EB6F89F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Branching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084A95B9-FE09-1246-EC54-E04C5F261E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4186A845-1657-A21A-5760-50F94CC60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B64279-5B8B-2E79-BBFF-E6CDF4E8F6CD}"/>
              </a:ext>
            </a:extLst>
          </p:cNvPr>
          <p:cNvSpPr/>
          <p:nvPr/>
        </p:nvSpPr>
        <p:spPr>
          <a:xfrm>
            <a:off x="0" y="1437289"/>
            <a:ext cx="9144000" cy="12643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You can create a new branch by running the following command:</a:t>
            </a:r>
            <a:br>
              <a:rPr lang="en-CA" sz="20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</a:br>
            <a:r>
              <a:rPr lang="en-CA" sz="2000" dirty="0">
                <a:latin typeface="Roboto Mono" pitchFamily="49" charset="0"/>
                <a:ea typeface="Roboto Mono" pitchFamily="49" charset="0"/>
              </a:rPr>
              <a:t>$ git branch testing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B7B29-693C-8EA9-D3A8-82663A540E40}"/>
              </a:ext>
            </a:extLst>
          </p:cNvPr>
          <p:cNvSpPr txBox="1"/>
          <p:nvPr/>
        </p:nvSpPr>
        <p:spPr>
          <a:xfrm>
            <a:off x="0" y="2101471"/>
            <a:ext cx="9144000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How does git know which branch you are currently on?</a:t>
            </a:r>
          </a:p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This is done using a special pointer, called HEAD</a:t>
            </a:r>
          </a:p>
        </p:txBody>
      </p:sp>
      <p:pic>
        <p:nvPicPr>
          <p:cNvPr id="38914" name="Picture 2" descr="HEAD pointing to a branch">
            <a:extLst>
              <a:ext uri="{FF2B5EF4-FFF2-40B4-BE49-F238E27FC236}">
                <a16:creationId xmlns:a16="http://schemas.microsoft.com/office/drawing/2014/main" id="{2F57CD5C-2902-E201-9E1B-CA5984B5C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418" y="3352668"/>
            <a:ext cx="6206837" cy="342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640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174C-9EDF-EE3C-3BC4-B480622B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79AB-6A6A-6549-0720-9CD23122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Branching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A62A1220-3290-0971-82F3-5948F8F98A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2632B58C-7334-7B89-8AAB-99D0A1B5D1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129789-70BA-14AF-26A8-F9E226F882DC}"/>
              </a:ext>
            </a:extLst>
          </p:cNvPr>
          <p:cNvSpPr/>
          <p:nvPr/>
        </p:nvSpPr>
        <p:spPr>
          <a:xfrm>
            <a:off x="110836" y="1443864"/>
            <a:ext cx="9144000" cy="1908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Roboto Mono" pitchFamily="49" charset="0"/>
                <a:ea typeface="Roboto Mono" pitchFamily="49" charset="0"/>
              </a:rPr>
              <a:t>$ git log --</a:t>
            </a:r>
            <a:r>
              <a:rPr lang="en-CA" sz="2000" dirty="0" err="1">
                <a:latin typeface="Roboto Mono" pitchFamily="49" charset="0"/>
                <a:ea typeface="Roboto Mono" pitchFamily="49" charset="0"/>
              </a:rPr>
              <a:t>oneline</a:t>
            </a:r>
            <a:r>
              <a:rPr lang="en-CA" sz="2000" dirty="0">
                <a:latin typeface="Roboto Mono" pitchFamily="49" charset="0"/>
                <a:ea typeface="Roboto Mono" pitchFamily="49" charset="0"/>
              </a:rPr>
              <a:t> --decorate </a:t>
            </a:r>
            <a:br>
              <a:rPr lang="en-CA" sz="2000" dirty="0">
                <a:latin typeface="Roboto Mono" pitchFamily="49" charset="0"/>
                <a:ea typeface="Roboto Mono" pitchFamily="49" charset="0"/>
              </a:rPr>
            </a:br>
            <a:r>
              <a:rPr lang="en-CA" sz="2000" dirty="0">
                <a:latin typeface="Roboto Mono" pitchFamily="49" charset="0"/>
                <a:ea typeface="Roboto Mono" pitchFamily="49" charset="0"/>
              </a:rPr>
              <a:t>f30ab (HEAD -&gt; master, testing) Add feature #32 - ability to add new formats to the central interface </a:t>
            </a:r>
          </a:p>
          <a:p>
            <a:r>
              <a:rPr lang="en-CA" sz="2000" dirty="0">
                <a:latin typeface="Roboto Mono" pitchFamily="49" charset="0"/>
                <a:ea typeface="Roboto Mono" pitchFamily="49" charset="0"/>
              </a:rPr>
              <a:t>34ac2 Fix bug #1328 - stack overflow under certain conditions </a:t>
            </a:r>
          </a:p>
          <a:p>
            <a:r>
              <a:rPr lang="en-CA" sz="2000" dirty="0">
                <a:latin typeface="Roboto Mono" pitchFamily="49" charset="0"/>
                <a:ea typeface="Roboto Mono" pitchFamily="49" charset="0"/>
              </a:rPr>
              <a:t>98ca9 Initial commit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8914" name="Picture 2" descr="HEAD pointing to a branch">
            <a:extLst>
              <a:ext uri="{FF2B5EF4-FFF2-40B4-BE49-F238E27FC236}">
                <a16:creationId xmlns:a16="http://schemas.microsoft.com/office/drawing/2014/main" id="{5681DB45-3CC1-7493-4103-0AD54CDB2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27" y="3429000"/>
            <a:ext cx="6206837" cy="342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2458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D6E1-B36A-5D1F-2760-C0F3765B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35EB-951E-DB38-3FD2-F197C4D6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Git Branching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A41287B3-22CB-86DE-487E-955989FB82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8C47ED71-6153-F88E-772B-EA50B33E10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79E641-C127-0DC1-24C6-40AB9048D8B7}"/>
              </a:ext>
            </a:extLst>
          </p:cNvPr>
          <p:cNvSpPr/>
          <p:nvPr/>
        </p:nvSpPr>
        <p:spPr>
          <a:xfrm>
            <a:off x="110836" y="1443864"/>
            <a:ext cx="9144000" cy="1908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latin typeface="Roboto Mono" pitchFamily="49" charset="0"/>
                <a:ea typeface="Roboto Mono" pitchFamily="49" charset="0"/>
              </a:rPr>
              <a:t>$ git log --</a:t>
            </a:r>
            <a:r>
              <a:rPr lang="en-CA" sz="2000" dirty="0" err="1">
                <a:latin typeface="Roboto Mono" pitchFamily="49" charset="0"/>
                <a:ea typeface="Roboto Mono" pitchFamily="49" charset="0"/>
              </a:rPr>
              <a:t>oneline</a:t>
            </a:r>
            <a:r>
              <a:rPr lang="en-CA" sz="2000" dirty="0">
                <a:latin typeface="Roboto Mono" pitchFamily="49" charset="0"/>
                <a:ea typeface="Roboto Mono" pitchFamily="49" charset="0"/>
              </a:rPr>
              <a:t> --decorate </a:t>
            </a:r>
            <a:br>
              <a:rPr lang="en-CA" sz="2000" dirty="0">
                <a:latin typeface="Roboto Mono" pitchFamily="49" charset="0"/>
                <a:ea typeface="Roboto Mono" pitchFamily="49" charset="0"/>
              </a:rPr>
            </a:br>
            <a:r>
              <a:rPr lang="en-CA" sz="2000" dirty="0">
                <a:latin typeface="Roboto Mono" pitchFamily="49" charset="0"/>
                <a:ea typeface="Roboto Mono" pitchFamily="49" charset="0"/>
              </a:rPr>
              <a:t>f30ab (HEAD -&gt; master, testing) Add feature #32 - ability to add new formats to the central interface </a:t>
            </a:r>
          </a:p>
          <a:p>
            <a:r>
              <a:rPr lang="en-CA" sz="2000" dirty="0">
                <a:latin typeface="Roboto Mono" pitchFamily="49" charset="0"/>
                <a:ea typeface="Roboto Mono" pitchFamily="49" charset="0"/>
              </a:rPr>
              <a:t>34ac2 Fix bug #1328 - stack overflow under certain conditions </a:t>
            </a:r>
          </a:p>
          <a:p>
            <a:r>
              <a:rPr lang="en-CA" sz="2000" dirty="0">
                <a:latin typeface="Roboto Mono" pitchFamily="49" charset="0"/>
                <a:ea typeface="Roboto Mono" pitchFamily="49" charset="0"/>
              </a:rPr>
              <a:t>98ca9 Initial commit</a:t>
            </a:r>
            <a:endParaRPr lang="en-US" sz="20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38914" name="Picture 2" descr="HEAD pointing to a branch">
            <a:extLst>
              <a:ext uri="{FF2B5EF4-FFF2-40B4-BE49-F238E27FC236}">
                <a16:creationId xmlns:a16="http://schemas.microsoft.com/office/drawing/2014/main" id="{1CC54555-3D05-65BD-8794-957D15058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27" y="3429000"/>
            <a:ext cx="6206837" cy="342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73F12B-F1C0-6E71-6983-68C51ED87CBD}"/>
              </a:ext>
            </a:extLst>
          </p:cNvPr>
          <p:cNvSpPr txBox="1"/>
          <p:nvPr/>
        </p:nvSpPr>
        <p:spPr>
          <a:xfrm>
            <a:off x="1052946" y="4054962"/>
            <a:ext cx="454429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How to switch branches?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731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3ABA3-3352-1C87-311C-2F493035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E5F4-514B-3138-4A46-811A7AA14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How to switch branches?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46177E8C-1859-D190-58F2-566539E89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96F5A8E5-0F1E-93F4-7009-4596D7CA9C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F3A20-C5D0-DDE7-7081-B37169694B8F}"/>
              </a:ext>
            </a:extLst>
          </p:cNvPr>
          <p:cNvSpPr/>
          <p:nvPr/>
        </p:nvSpPr>
        <p:spPr>
          <a:xfrm>
            <a:off x="110836" y="1443864"/>
            <a:ext cx="9144000" cy="815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testing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1986" name="Picture 2" descr="HEAD points to the current branch">
            <a:extLst>
              <a:ext uri="{FF2B5EF4-FFF2-40B4-BE49-F238E27FC236}">
                <a16:creationId xmlns:a16="http://schemas.microsoft.com/office/drawing/2014/main" id="{8EF69E04-2942-1FAD-D9D5-3EAA5F84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352" y="4172611"/>
            <a:ext cx="4565073" cy="2483050"/>
          </a:xfrm>
          <a:prstGeom prst="rect">
            <a:avLst/>
          </a:prstGeom>
          <a:noFill/>
          <a:ln w="2222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EAD pointing to a branch">
            <a:extLst>
              <a:ext uri="{FF2B5EF4-FFF2-40B4-BE49-F238E27FC236}">
                <a16:creationId xmlns:a16="http://schemas.microsoft.com/office/drawing/2014/main" id="{2F793C4F-17C2-3B45-A82B-356C657A4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373128"/>
            <a:ext cx="3931516" cy="2167795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21FAD92A-D469-4828-C3BF-1569A1985CD7}"/>
              </a:ext>
            </a:extLst>
          </p:cNvPr>
          <p:cNvSpPr/>
          <p:nvPr/>
        </p:nvSpPr>
        <p:spPr>
          <a:xfrm>
            <a:off x="1513976" y="2685389"/>
            <a:ext cx="5482491" cy="2793140"/>
          </a:xfrm>
          <a:prstGeom prst="arc">
            <a:avLst>
              <a:gd name="adj1" fmla="val 16200000"/>
              <a:gd name="adj2" fmla="val 51562"/>
            </a:avLst>
          </a:prstGeom>
          <a:ln w="635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01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0BC6-626F-915B-E442-E400796F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DDE6-4876-8BBA-6753-48F2FDE5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What if I make new changes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B0A23E94-F02D-6C79-678C-5745E69AAA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F39A0858-22B3-AD03-A5D0-97B7BE7AB6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C052E-D194-256A-5029-A0B425985D82}"/>
              </a:ext>
            </a:extLst>
          </p:cNvPr>
          <p:cNvSpPr/>
          <p:nvPr/>
        </p:nvSpPr>
        <p:spPr>
          <a:xfrm>
            <a:off x="110836" y="1388444"/>
            <a:ext cx="9144000" cy="815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vim </a:t>
            </a:r>
            <a:r>
              <a:rPr lang="en-CA" sz="2400" dirty="0" err="1">
                <a:latin typeface="Roboto Mono" pitchFamily="49" charset="0"/>
                <a:ea typeface="Roboto Mono" pitchFamily="49" charset="0"/>
              </a:rPr>
              <a:t>test.rb</a:t>
            </a:r>
            <a:r>
              <a:rPr lang="en-CA" sz="2400" dirty="0">
                <a:latin typeface="Roboto Mono" pitchFamily="49" charset="0"/>
                <a:ea typeface="Roboto Mono" pitchFamily="49" charset="0"/>
              </a:rPr>
              <a:t>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commit -a -m 'Make a change'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1986" name="Picture 2" descr="HEAD points to the current branch">
            <a:extLst>
              <a:ext uri="{FF2B5EF4-FFF2-40B4-BE49-F238E27FC236}">
                <a16:creationId xmlns:a16="http://schemas.microsoft.com/office/drawing/2014/main" id="{A63D991F-6D44-A1D1-EE4F-F8BC16A3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6" y="2746301"/>
            <a:ext cx="3529734" cy="1919905"/>
          </a:xfrm>
          <a:prstGeom prst="rect">
            <a:avLst/>
          </a:prstGeom>
          <a:noFill/>
          <a:ln w="2222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 descr="The HEAD branch moves forward when a commit is made">
            <a:extLst>
              <a:ext uri="{FF2B5EF4-FFF2-40B4-BE49-F238E27FC236}">
                <a16:creationId xmlns:a16="http://schemas.microsoft.com/office/drawing/2014/main" id="{40D8783D-FF0D-5598-FDC0-154CEBF9F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310" y="4749809"/>
            <a:ext cx="5252240" cy="2108191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216CF6-3A00-401B-21D1-8B4E745D2750}"/>
              </a:ext>
            </a:extLst>
          </p:cNvPr>
          <p:cNvSpPr txBox="1"/>
          <p:nvPr/>
        </p:nvSpPr>
        <p:spPr>
          <a:xfrm>
            <a:off x="460370" y="2261214"/>
            <a:ext cx="29787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 commit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54427-400B-DDF3-B3E5-8F968740FA33}"/>
              </a:ext>
            </a:extLst>
          </p:cNvPr>
          <p:cNvSpPr txBox="1"/>
          <p:nvPr/>
        </p:nvSpPr>
        <p:spPr>
          <a:xfrm>
            <a:off x="4990806" y="4288144"/>
            <a:ext cx="29787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 commit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015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3B73-F694-674D-A97F-5E1058FE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8392-5521-DED7-348F-B8D9637E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What if I make new changes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7FF49C84-999C-8BB6-B97E-3F7E24342E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584D78A1-9145-F43C-C421-DDAF66F34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4E5F8-A213-B88B-7EBB-41A622162188}"/>
              </a:ext>
            </a:extLst>
          </p:cNvPr>
          <p:cNvSpPr/>
          <p:nvPr/>
        </p:nvSpPr>
        <p:spPr>
          <a:xfrm>
            <a:off x="110836" y="1388444"/>
            <a:ext cx="9144000" cy="815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vim </a:t>
            </a:r>
            <a:r>
              <a:rPr lang="en-CA" sz="2400" dirty="0" err="1">
                <a:latin typeface="Roboto Mono" pitchFamily="49" charset="0"/>
                <a:ea typeface="Roboto Mono" pitchFamily="49" charset="0"/>
              </a:rPr>
              <a:t>test.rb</a:t>
            </a:r>
            <a:r>
              <a:rPr lang="en-CA" sz="2400" dirty="0">
                <a:latin typeface="Roboto Mono" pitchFamily="49" charset="0"/>
                <a:ea typeface="Roboto Mono" pitchFamily="49" charset="0"/>
              </a:rPr>
              <a:t>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commit -a -m 'Make a change'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1986" name="Picture 2" descr="HEAD points to the current branch">
            <a:extLst>
              <a:ext uri="{FF2B5EF4-FFF2-40B4-BE49-F238E27FC236}">
                <a16:creationId xmlns:a16="http://schemas.microsoft.com/office/drawing/2014/main" id="{2E2BB95C-96A7-957F-3268-A3A60F6D6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6" y="2746301"/>
            <a:ext cx="3529734" cy="1919905"/>
          </a:xfrm>
          <a:prstGeom prst="rect">
            <a:avLst/>
          </a:prstGeom>
          <a:noFill/>
          <a:ln w="2222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 descr="The HEAD branch moves forward when a commit is made">
            <a:extLst>
              <a:ext uri="{FF2B5EF4-FFF2-40B4-BE49-F238E27FC236}">
                <a16:creationId xmlns:a16="http://schemas.microsoft.com/office/drawing/2014/main" id="{78A70EDF-BCA3-C0FF-6CAC-74F706576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310" y="4749809"/>
            <a:ext cx="5252240" cy="2108191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327D65-7C11-99B9-182B-2B7AE3421BBB}"/>
              </a:ext>
            </a:extLst>
          </p:cNvPr>
          <p:cNvSpPr txBox="1"/>
          <p:nvPr/>
        </p:nvSpPr>
        <p:spPr>
          <a:xfrm>
            <a:off x="460370" y="2261214"/>
            <a:ext cx="29787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 commit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9F9EF-9AAF-6516-C7C4-AC9D7328DE24}"/>
              </a:ext>
            </a:extLst>
          </p:cNvPr>
          <p:cNvSpPr txBox="1"/>
          <p:nvPr/>
        </p:nvSpPr>
        <p:spPr>
          <a:xfrm>
            <a:off x="4990806" y="4288144"/>
            <a:ext cx="29787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 commit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A232F5D8-1977-A24E-9314-196C99E754E5}"/>
              </a:ext>
            </a:extLst>
          </p:cNvPr>
          <p:cNvSpPr/>
          <p:nvPr/>
        </p:nvSpPr>
        <p:spPr>
          <a:xfrm>
            <a:off x="4862948" y="2261214"/>
            <a:ext cx="3529734" cy="210819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How to switch to the master branch?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126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65FEB-EC72-9026-B5F8-09B5AFE9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30BD-D846-B3C5-CD11-4273F4F5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Let’s switch to the master branch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A263D3E9-3562-2D79-4619-8B6AC1F779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69224FD8-C31B-3777-E549-4BE76111BA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7316B8-D92A-B9FE-6DF2-38EB737E412E}"/>
              </a:ext>
            </a:extLst>
          </p:cNvPr>
          <p:cNvSpPr/>
          <p:nvPr/>
        </p:nvSpPr>
        <p:spPr>
          <a:xfrm>
            <a:off x="110836" y="1388444"/>
            <a:ext cx="9144000" cy="815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master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5058" name="Picture 2" descr="HEAD moves when you checkout">
            <a:extLst>
              <a:ext uri="{FF2B5EF4-FFF2-40B4-BE49-F238E27FC236}">
                <a16:creationId xmlns:a16="http://schemas.microsoft.com/office/drawing/2014/main" id="{1A33D3C4-8E56-F403-5083-C819C21D4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22261"/>
            <a:ext cx="9144000" cy="366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0869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E479-4DA3-B4F2-596C-4B67112B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8135-54E1-99F9-0D6A-24ED42A6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Let’s switch to the master branch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B45AB455-BBF3-A0C9-9EC2-EA3DE904AF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7BAB849A-8F1C-7FC7-DBDA-D22718AA5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D19AE-A703-40D4-2EBC-A6A123A44228}"/>
              </a:ext>
            </a:extLst>
          </p:cNvPr>
          <p:cNvSpPr/>
          <p:nvPr/>
        </p:nvSpPr>
        <p:spPr>
          <a:xfrm>
            <a:off x="110836" y="1388445"/>
            <a:ext cx="8977746" cy="537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master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5058" name="Picture 2" descr="HEAD moves when you checkout">
            <a:extLst>
              <a:ext uri="{FF2B5EF4-FFF2-40B4-BE49-F238E27FC236}">
                <a16:creationId xmlns:a16="http://schemas.microsoft.com/office/drawing/2014/main" id="{25380665-FDAF-F28A-2F58-47BC34BC1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22261"/>
            <a:ext cx="9144000" cy="366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046948-2684-682D-664D-7E3C8ACCC910}"/>
              </a:ext>
            </a:extLst>
          </p:cNvPr>
          <p:cNvSpPr txBox="1"/>
          <p:nvPr/>
        </p:nvSpPr>
        <p:spPr>
          <a:xfrm>
            <a:off x="110836" y="2077376"/>
            <a:ext cx="8922328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effectLst/>
                <a:latin typeface="Roboto Mono" pitchFamily="49" charset="0"/>
                <a:ea typeface="Roboto Mono" pitchFamily="49" charset="0"/>
                <a:cs typeface="Times New Roman" panose="02020603050405020304" pitchFamily="18" charset="0"/>
              </a:rPr>
              <a:t>git log doesn’t show all the branches all the time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D9ED3AF5-CA40-6A0A-30FC-B497369BE50E}"/>
              </a:ext>
            </a:extLst>
          </p:cNvPr>
          <p:cNvSpPr/>
          <p:nvPr/>
        </p:nvSpPr>
        <p:spPr>
          <a:xfrm>
            <a:off x="1416338" y="2418892"/>
            <a:ext cx="1922607" cy="1371600"/>
          </a:xfrm>
          <a:prstGeom prst="cloud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why?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2256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4F4D6-9D35-FEF4-273F-B758FF4A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BF7C-7470-E3B3-8072-C142B066D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Let’s switch to the master branch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18FEDE46-E4CE-BF3D-E254-FE6858CBCF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B0DA816A-5D87-79CC-E1A2-EEC1B8DC4B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AD360-24AF-CFA8-985D-389C7BA909F8}"/>
              </a:ext>
            </a:extLst>
          </p:cNvPr>
          <p:cNvSpPr/>
          <p:nvPr/>
        </p:nvSpPr>
        <p:spPr>
          <a:xfrm>
            <a:off x="110836" y="1388445"/>
            <a:ext cx="8977746" cy="537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master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5058" name="Picture 2" descr="HEAD moves when you checkout">
            <a:extLst>
              <a:ext uri="{FF2B5EF4-FFF2-40B4-BE49-F238E27FC236}">
                <a16:creationId xmlns:a16="http://schemas.microsoft.com/office/drawing/2014/main" id="{4F43759A-2C3C-FF13-525D-A31609B25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00243"/>
            <a:ext cx="9144000" cy="366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38318A-45AA-F11E-1820-790D4F73A034}"/>
              </a:ext>
            </a:extLst>
          </p:cNvPr>
          <p:cNvSpPr txBox="1"/>
          <p:nvPr/>
        </p:nvSpPr>
        <p:spPr>
          <a:xfrm>
            <a:off x="110836" y="2077376"/>
            <a:ext cx="8922328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effectLst/>
                <a:latin typeface="Roboto Mono" pitchFamily="49" charset="0"/>
                <a:ea typeface="Roboto Mono" pitchFamily="49" charset="0"/>
                <a:cs typeface="Times New Roman" panose="02020603050405020304" pitchFamily="18" charset="0"/>
              </a:rPr>
              <a:t>git log doesn’t show all the branches all the time</a:t>
            </a:r>
          </a:p>
          <a:p>
            <a:pPr algn="ctr"/>
            <a:r>
              <a:rPr lang="en-CA" sz="2000" b="0" i="0" dirty="0">
                <a:solidFill>
                  <a:srgbClr val="333333"/>
                </a:solidFill>
                <a:effectLst/>
                <a:latin typeface="Roboto Mono" pitchFamily="49" charset="0"/>
                <a:ea typeface="Roboto Mono" pitchFamily="49" charset="0"/>
              </a:rPr>
              <a:t>git log testing</a:t>
            </a:r>
            <a:r>
              <a:rPr lang="en-CA" sz="2000" b="0" i="0" dirty="0">
                <a:solidFill>
                  <a:srgbClr val="333333"/>
                </a:solidFill>
                <a:latin typeface="Roboto Mono" pitchFamily="49" charset="0"/>
                <a:ea typeface="Roboto Mono" pitchFamily="49" charset="0"/>
                <a:cs typeface="Times New Roman" panose="02020603050405020304" pitchFamily="18" charset="0"/>
              </a:rPr>
              <a:t> or use git log --all</a:t>
            </a:r>
            <a:endParaRPr lang="en-CA" sz="2000" dirty="0">
              <a:effectLst/>
              <a:latin typeface="Roboto Mono" pitchFamily="49" charset="0"/>
              <a:ea typeface="Roboto Mono" pitchFamily="49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67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8B19-F72E-D550-4E16-F0FE1A7E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4105-2CC7-8A45-F33B-7EFF04B6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Let’s make a divergent change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65616A83-964F-DF99-2862-2E4359B7A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987D2070-245A-8C61-05FE-A7C843A92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45DDF6-ED74-2CFB-551D-C4CED83EA03D}"/>
              </a:ext>
            </a:extLst>
          </p:cNvPr>
          <p:cNvSpPr/>
          <p:nvPr/>
        </p:nvSpPr>
        <p:spPr>
          <a:xfrm>
            <a:off x="110836" y="1388444"/>
            <a:ext cx="8977746" cy="707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/>
              <a:t>$ vim </a:t>
            </a:r>
            <a:r>
              <a:rPr lang="en-CA" sz="2400" dirty="0" err="1"/>
              <a:t>test.rb</a:t>
            </a:r>
            <a:r>
              <a:rPr lang="en-CA" sz="2400" dirty="0"/>
              <a:t> </a:t>
            </a:r>
          </a:p>
          <a:p>
            <a:r>
              <a:rPr lang="en-CA" sz="2400" dirty="0"/>
              <a:t>$ git commit -a -m 'Make other changes'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5058" name="Picture 2" descr="HEAD moves when you checkout">
            <a:extLst>
              <a:ext uri="{FF2B5EF4-FFF2-40B4-BE49-F238E27FC236}">
                <a16:creationId xmlns:a16="http://schemas.microsoft.com/office/drawing/2014/main" id="{AE9B2BF5-AA53-B7D2-3395-E6ACD607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762272"/>
            <a:ext cx="4723934" cy="1892855"/>
          </a:xfrm>
          <a:prstGeom prst="rect">
            <a:avLst/>
          </a:prstGeom>
          <a:noFill/>
          <a:ln w="12700">
            <a:solidFill>
              <a:schemeClr val="accent1">
                <a:shade val="1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485FF-0D54-BEC1-53F7-C78A07A10276}"/>
              </a:ext>
            </a:extLst>
          </p:cNvPr>
          <p:cNvSpPr txBox="1"/>
          <p:nvPr/>
        </p:nvSpPr>
        <p:spPr>
          <a:xfrm>
            <a:off x="460370" y="2261214"/>
            <a:ext cx="29787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 commit</a:t>
            </a:r>
          </a:p>
        </p:txBody>
      </p:sp>
      <p:pic>
        <p:nvPicPr>
          <p:cNvPr id="48130" name="Picture 2" descr="Divergent history">
            <a:extLst>
              <a:ext uri="{FF2B5EF4-FFF2-40B4-BE49-F238E27FC236}">
                <a16:creationId xmlns:a16="http://schemas.microsoft.com/office/drawing/2014/main" id="{366E614F-BC95-1571-B59E-DB2445AD3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170" y="3528564"/>
            <a:ext cx="5205412" cy="332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BE7C14-7071-2EE9-B10F-0E5B4C524B7D}"/>
              </a:ext>
            </a:extLst>
          </p:cNvPr>
          <p:cNvSpPr txBox="1"/>
          <p:nvPr/>
        </p:nvSpPr>
        <p:spPr>
          <a:xfrm>
            <a:off x="4996512" y="6359576"/>
            <a:ext cx="29787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 commit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7BFCC7B7-25B1-DE5D-CBB2-D92AF5DF3FA9}"/>
              </a:ext>
            </a:extLst>
          </p:cNvPr>
          <p:cNvSpPr/>
          <p:nvPr/>
        </p:nvSpPr>
        <p:spPr>
          <a:xfrm>
            <a:off x="1858463" y="2758544"/>
            <a:ext cx="5482491" cy="2793140"/>
          </a:xfrm>
          <a:prstGeom prst="arc">
            <a:avLst>
              <a:gd name="adj1" fmla="val 16200000"/>
              <a:gd name="adj2" fmla="val 51562"/>
            </a:avLst>
          </a:prstGeom>
          <a:ln w="635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4307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A21B-3EF3-FE3A-9C00-F0522940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BED2-5557-1B46-654E-A68ECFF9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You can see divergent history easily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F3E5E1E2-0325-7544-ABB7-FE761B4494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49DCF191-F074-78C0-E5B8-0BEDA99B34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663A3-F959-7900-EF06-64CE087582E7}"/>
              </a:ext>
            </a:extLst>
          </p:cNvPr>
          <p:cNvSpPr/>
          <p:nvPr/>
        </p:nvSpPr>
        <p:spPr>
          <a:xfrm>
            <a:off x="110836" y="1388445"/>
            <a:ext cx="8853055" cy="461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$ </a:t>
            </a:r>
            <a:r>
              <a:rPr lang="en-CA" sz="2400" b="0" i="0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git log --</a:t>
            </a:r>
            <a:r>
              <a:rPr lang="en-CA" sz="2400" b="0" i="0" dirty="0" err="1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oneline</a:t>
            </a:r>
            <a:r>
              <a:rPr lang="en-CA" sz="2400" b="0" i="0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 --decorate --graph --all</a:t>
            </a:r>
            <a:endParaRPr lang="en-US" sz="240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8130" name="Picture 2" descr="Divergent history">
            <a:extLst>
              <a:ext uri="{FF2B5EF4-FFF2-40B4-BE49-F238E27FC236}">
                <a16:creationId xmlns:a16="http://schemas.microsoft.com/office/drawing/2014/main" id="{74F0D862-E088-8481-D1AE-8D0375096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054" y="1589691"/>
            <a:ext cx="5846618" cy="373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5E2902D-ACF2-1F11-E816-71DA6C2097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20" y="4876469"/>
            <a:ext cx="8855360" cy="17139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764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53B0-7069-459E-8315-FE873D27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005D-9AE0-8631-84FA-84F79241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4E054A63-5525-25B2-D038-800933C92A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36C57C90-B3C6-6DCB-7B7C-DC604E7E2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diagram with arrows and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D4062BCB-B353-4C71-04F9-96279925D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99" y="3303633"/>
            <a:ext cx="7772400" cy="2242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B83443-49A5-AEDA-44CC-E6C81601ED71}"/>
              </a:ext>
            </a:extLst>
          </p:cNvPr>
          <p:cNvSpPr txBox="1"/>
          <p:nvPr/>
        </p:nvSpPr>
        <p:spPr>
          <a:xfrm>
            <a:off x="825498" y="1646336"/>
            <a:ext cx="7772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boto Mono" pitchFamily="49" charset="0"/>
                <a:ea typeface="Roboto Mono" pitchFamily="49" charset="0"/>
              </a:rPr>
              <a:t>Let’s say you are working on a project where you are building a website and you have already made some commits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0C724-9586-3202-16CC-C49462251D05}"/>
              </a:ext>
            </a:extLst>
          </p:cNvPr>
          <p:cNvSpPr txBox="1"/>
          <p:nvPr/>
        </p:nvSpPr>
        <p:spPr>
          <a:xfrm>
            <a:off x="110836" y="6003091"/>
            <a:ext cx="8922328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effectLst/>
                <a:latin typeface="Roboto Mono" pitchFamily="49" charset="0"/>
                <a:ea typeface="Roboto Mono" pitchFamily="49" charset="0"/>
                <a:cs typeface="Times New Roman" panose="02020603050405020304" pitchFamily="18" charset="0"/>
              </a:rPr>
              <a:t>Each commit is also known as a revision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000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A920-AEEB-84DC-296E-8A7DB3372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8B65-1188-0F14-E701-A61F482C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2AB2D675-5512-0A45-42EE-715A5A7AE6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D9CB168D-31DE-E61A-CC03-EDCBEC0FC9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7E7A9-0332-D290-0BAD-5BEBAB54E3F1}"/>
              </a:ext>
            </a:extLst>
          </p:cNvPr>
          <p:cNvSpPr txBox="1"/>
          <p:nvPr/>
        </p:nvSpPr>
        <p:spPr>
          <a:xfrm>
            <a:off x="0" y="1634058"/>
            <a:ext cx="6544583" cy="8309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-b iss53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Switched to a new branch "iss53</a:t>
            </a:r>
            <a:r>
              <a:rPr lang="en-CA" sz="2400" dirty="0"/>
              <a:t>"</a:t>
            </a:r>
            <a:endParaRPr lang="en-US" sz="24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8" name="Picture 7" descr="A diagram of a flowchart&#10;&#10;Description automatically generated">
            <a:extLst>
              <a:ext uri="{FF2B5EF4-FFF2-40B4-BE49-F238E27FC236}">
                <a16:creationId xmlns:a16="http://schemas.microsoft.com/office/drawing/2014/main" id="{74713AC9-8333-F22E-E07D-41AE6E497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89" y="3771229"/>
            <a:ext cx="6652350" cy="3086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0F7E75-EAE2-83F4-CE9F-1FBD88763E7B}"/>
              </a:ext>
            </a:extLst>
          </p:cNvPr>
          <p:cNvSpPr txBox="1"/>
          <p:nvPr/>
        </p:nvSpPr>
        <p:spPr>
          <a:xfrm>
            <a:off x="460376" y="3429000"/>
            <a:ext cx="4715782" cy="8309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branch iss53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iss53</a:t>
            </a:r>
            <a:endParaRPr lang="en-US" sz="24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E7F9CC-DAFD-124E-4D7A-A9560A826D20}"/>
              </a:ext>
            </a:extLst>
          </p:cNvPr>
          <p:cNvCxnSpPr/>
          <p:nvPr/>
        </p:nvCxnSpPr>
        <p:spPr>
          <a:xfrm flipH="1">
            <a:off x="3020786" y="2513412"/>
            <a:ext cx="1045028" cy="91558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032322-22C5-A680-1955-C313F32C4478}"/>
              </a:ext>
            </a:extLst>
          </p:cNvPr>
          <p:cNvSpPr txBox="1"/>
          <p:nvPr/>
        </p:nvSpPr>
        <p:spPr>
          <a:xfrm>
            <a:off x="1146490" y="2753888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 Mono" pitchFamily="49" charset="0"/>
                <a:ea typeface="Roboto Mono" pitchFamily="49" charset="0"/>
              </a:rPr>
              <a:t>Shortcut for</a:t>
            </a:r>
          </a:p>
        </p:txBody>
      </p:sp>
      <p:pic>
        <p:nvPicPr>
          <p:cNvPr id="12" name="Picture 11" descr="A diagram with arrows and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C447A46A-5B28-FBA0-7238-8A8B089425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129" y="1770337"/>
            <a:ext cx="2407871" cy="6947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C73B71-6ED4-A9A9-12C3-E791C79FECF3}"/>
              </a:ext>
            </a:extLst>
          </p:cNvPr>
          <p:cNvSpPr txBox="1"/>
          <p:nvPr/>
        </p:nvSpPr>
        <p:spPr>
          <a:xfrm>
            <a:off x="110836" y="6003091"/>
            <a:ext cx="5391893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effectLst/>
                <a:latin typeface="Roboto Mono" pitchFamily="49" charset="0"/>
                <a:ea typeface="Roboto Mono" pitchFamily="49" charset="0"/>
                <a:cs typeface="Times New Roman" panose="02020603050405020304" pitchFamily="18" charset="0"/>
              </a:rPr>
              <a:t>You are in iss53 branch now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3836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C76E-175D-94BD-0AE8-18D74EAA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F88E-7350-05DD-91CE-1EDE5FAE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4A926BE7-8927-6FC4-6979-3BCFD51233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19A1AB60-EC08-58CD-79EE-0A58A20B0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557A5-0F65-5AB1-286E-A7BA92911A5E}"/>
              </a:ext>
            </a:extLst>
          </p:cNvPr>
          <p:cNvSpPr txBox="1"/>
          <p:nvPr/>
        </p:nvSpPr>
        <p:spPr>
          <a:xfrm>
            <a:off x="0" y="1507353"/>
            <a:ext cx="914400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vim </a:t>
            </a:r>
            <a:r>
              <a:rPr lang="en-CA" sz="2400" dirty="0" err="1">
                <a:latin typeface="Roboto Mono" pitchFamily="49" charset="0"/>
                <a:ea typeface="Roboto Mono" pitchFamily="49" charset="0"/>
              </a:rPr>
              <a:t>index.html</a:t>
            </a:r>
            <a:r>
              <a:rPr lang="en-CA" sz="2400" dirty="0">
                <a:latin typeface="Roboto Mono" pitchFamily="49" charset="0"/>
                <a:ea typeface="Roboto Mono" pitchFamily="49" charset="0"/>
              </a:rPr>
              <a:t>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commit -a -m 'Create new footer [issue 53]'</a:t>
            </a:r>
            <a:endParaRPr lang="en-US" sz="24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2CC42A7B-87C6-5800-50C4-55E02B1D6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746" y="4437313"/>
            <a:ext cx="6392342" cy="2323611"/>
          </a:xfrm>
          <a:prstGeom prst="rect">
            <a:avLst/>
          </a:prstGeom>
        </p:spPr>
      </p:pic>
      <p:pic>
        <p:nvPicPr>
          <p:cNvPr id="8" name="Picture 7" descr="A diagram of a flowchart&#10;&#10;Description automatically generated">
            <a:extLst>
              <a:ext uri="{FF2B5EF4-FFF2-40B4-BE49-F238E27FC236}">
                <a16:creationId xmlns:a16="http://schemas.microsoft.com/office/drawing/2014/main" id="{1FB1A4E2-9694-BB5A-FDD6-4CFD9EC7B4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2588127"/>
            <a:ext cx="3985211" cy="18491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1E5EA3-CD49-51AD-297D-82004F21688E}"/>
              </a:ext>
            </a:extLst>
          </p:cNvPr>
          <p:cNvCxnSpPr>
            <a:cxnSpLocks/>
          </p:cNvCxnSpPr>
          <p:nvPr/>
        </p:nvCxnSpPr>
        <p:spPr>
          <a:xfrm>
            <a:off x="4445586" y="3429000"/>
            <a:ext cx="1366331" cy="117575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476BB-FC73-43AA-6999-3149B2303849}"/>
              </a:ext>
            </a:extLst>
          </p:cNvPr>
          <p:cNvSpPr txBox="1"/>
          <p:nvPr/>
        </p:nvSpPr>
        <p:spPr>
          <a:xfrm>
            <a:off x="4698416" y="2898609"/>
            <a:ext cx="433475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effectLst/>
                <a:latin typeface="Roboto Mono" pitchFamily="49" charset="0"/>
                <a:ea typeface="Roboto Mono" pitchFamily="49" charset="0"/>
                <a:cs typeface="Times New Roman" panose="02020603050405020304" pitchFamily="18" charset="0"/>
              </a:rPr>
              <a:t>You are in iss53 branch now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4386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E67A-B009-EEBC-8192-4F86424E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689F-DB19-BED0-DB9A-C946662E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1C60724E-0491-ED55-D302-5BDB43220F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A5CFFD4B-0825-0B9D-E88B-440A8462D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CCEC3CDE-B381-AEBD-F76D-6A6D44C6D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1" y="4016410"/>
            <a:ext cx="7772400" cy="2825261"/>
          </a:xfrm>
          <a:prstGeom prst="rect">
            <a:avLst/>
          </a:prstGeom>
        </p:spPr>
      </p:pic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9D1B2467-ABDD-BC4C-8847-C22B49867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80" y="1330037"/>
            <a:ext cx="6966915" cy="2532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0D80BD-93B2-FD79-BBA8-FF0CEDC9F5B5}"/>
              </a:ext>
            </a:extLst>
          </p:cNvPr>
          <p:cNvSpPr txBox="1"/>
          <p:nvPr/>
        </p:nvSpPr>
        <p:spPr>
          <a:xfrm>
            <a:off x="185705" y="3331027"/>
            <a:ext cx="5161991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master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Switched to branch 'master'</a:t>
            </a:r>
            <a:endParaRPr lang="en-US" sz="24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26C424-09B4-4FE9-D2C1-D940594A165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766701" y="4162024"/>
            <a:ext cx="1119499" cy="71732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4ACF2-E7F3-FAC7-6D63-9C1162A875C3}"/>
              </a:ext>
            </a:extLst>
          </p:cNvPr>
          <p:cNvSpPr txBox="1"/>
          <p:nvPr/>
        </p:nvSpPr>
        <p:spPr>
          <a:xfrm>
            <a:off x="7756070" y="1461745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9B13E5-F5AE-BA88-423A-7B1CBAA9BD3E}"/>
              </a:ext>
            </a:extLst>
          </p:cNvPr>
          <p:cNvSpPr txBox="1"/>
          <p:nvPr/>
        </p:nvSpPr>
        <p:spPr>
          <a:xfrm>
            <a:off x="8033656" y="5566439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B1D19B-9B06-45C5-2B4D-4BA19E312978}"/>
              </a:ext>
            </a:extLst>
          </p:cNvPr>
          <p:cNvCxnSpPr/>
          <p:nvPr/>
        </p:nvCxnSpPr>
        <p:spPr>
          <a:xfrm>
            <a:off x="5861957" y="3839331"/>
            <a:ext cx="29637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86738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81EC3-A868-F6F2-3ADD-C077200B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BB07A-856C-0DFD-7C9D-E1D7A3EC4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20C4658B-B495-D06F-AFF0-C7C4D7B6A5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BA032C93-9CD9-E4FD-8DD0-A440460F95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00D6EA35-9E79-D47C-7703-6C14F531F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220" y="1330038"/>
            <a:ext cx="5232437" cy="19019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51070A-C133-FC51-A979-BDB5E0F58502}"/>
              </a:ext>
            </a:extLst>
          </p:cNvPr>
          <p:cNvSpPr txBox="1"/>
          <p:nvPr/>
        </p:nvSpPr>
        <p:spPr>
          <a:xfrm>
            <a:off x="7756070" y="1461745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19143-B4C1-1F35-1677-F57F3AC6BDF2}"/>
              </a:ext>
            </a:extLst>
          </p:cNvPr>
          <p:cNvSpPr txBox="1"/>
          <p:nvPr/>
        </p:nvSpPr>
        <p:spPr>
          <a:xfrm>
            <a:off x="4504417" y="6226101"/>
            <a:ext cx="148392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pic>
        <p:nvPicPr>
          <p:cNvPr id="16" name="Picture 15" descr="A diagram of a process&#10;&#10;Description automatically generated">
            <a:extLst>
              <a:ext uri="{FF2B5EF4-FFF2-40B4-BE49-F238E27FC236}">
                <a16:creationId xmlns:a16="http://schemas.microsoft.com/office/drawing/2014/main" id="{E9327536-49F4-5339-ED1A-7C4D7EF8D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30" y="4258089"/>
            <a:ext cx="5502728" cy="25999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5969D7-1E23-1A09-B4B0-3D57F5349F5F}"/>
              </a:ext>
            </a:extLst>
          </p:cNvPr>
          <p:cNvSpPr txBox="1"/>
          <p:nvPr/>
        </p:nvSpPr>
        <p:spPr>
          <a:xfrm>
            <a:off x="8033656" y="5566439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70217-76ED-CE4A-138F-58C02326A587}"/>
              </a:ext>
            </a:extLst>
          </p:cNvPr>
          <p:cNvSpPr txBox="1"/>
          <p:nvPr/>
        </p:nvSpPr>
        <p:spPr>
          <a:xfrm>
            <a:off x="0" y="2532327"/>
            <a:ext cx="8858344" cy="203132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Roboto Mono" pitchFamily="49" charset="0"/>
                <a:ea typeface="Roboto Mono" pitchFamily="49" charset="0"/>
              </a:rPr>
              <a:t>$ git checkout -b hotfix </a:t>
            </a:r>
          </a:p>
          <a:p>
            <a:r>
              <a:rPr lang="en-CA" dirty="0">
                <a:latin typeface="Roboto Mono" pitchFamily="49" charset="0"/>
                <a:ea typeface="Roboto Mono" pitchFamily="49" charset="0"/>
              </a:rPr>
              <a:t>Switched to a new branch 'hotfix’ </a:t>
            </a:r>
          </a:p>
          <a:p>
            <a:endParaRPr lang="en-CA" dirty="0">
              <a:latin typeface="Roboto Mono" pitchFamily="49" charset="0"/>
              <a:ea typeface="Roboto Mono" pitchFamily="49" charset="0"/>
            </a:endParaRPr>
          </a:p>
          <a:p>
            <a:r>
              <a:rPr lang="en-CA" dirty="0">
                <a:latin typeface="Roboto Mono" pitchFamily="49" charset="0"/>
                <a:ea typeface="Roboto Mono" pitchFamily="49" charset="0"/>
              </a:rPr>
              <a:t>$ vim </a:t>
            </a:r>
            <a:r>
              <a:rPr lang="en-CA" dirty="0" err="1">
                <a:latin typeface="Roboto Mono" pitchFamily="49" charset="0"/>
                <a:ea typeface="Roboto Mono" pitchFamily="49" charset="0"/>
              </a:rPr>
              <a:t>index.html</a:t>
            </a:r>
            <a:r>
              <a:rPr lang="en-CA" dirty="0">
                <a:latin typeface="Roboto Mono" pitchFamily="49" charset="0"/>
                <a:ea typeface="Roboto Mono" pitchFamily="49" charset="0"/>
              </a:rPr>
              <a:t> </a:t>
            </a:r>
          </a:p>
          <a:p>
            <a:r>
              <a:rPr lang="en-CA" dirty="0">
                <a:latin typeface="Roboto Mono" pitchFamily="49" charset="0"/>
                <a:ea typeface="Roboto Mono" pitchFamily="49" charset="0"/>
              </a:rPr>
              <a:t>$ git commit -a -m 'Fix broken email address’ </a:t>
            </a:r>
          </a:p>
          <a:p>
            <a:r>
              <a:rPr lang="en-CA" dirty="0">
                <a:latin typeface="Roboto Mono" pitchFamily="49" charset="0"/>
                <a:ea typeface="Roboto Mono" pitchFamily="49" charset="0"/>
              </a:rPr>
              <a:t>[hotfix 1fb7853] </a:t>
            </a:r>
          </a:p>
          <a:p>
            <a:r>
              <a:rPr lang="en-CA" dirty="0">
                <a:latin typeface="Roboto Mono" pitchFamily="49" charset="0"/>
                <a:ea typeface="Roboto Mono" pitchFamily="49" charset="0"/>
              </a:rPr>
              <a:t>Fix broken email address 1 file changed, 2 insertions(+)</a:t>
            </a:r>
            <a:endParaRPr lang="en-US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4646BF-ECDA-5B47-433C-F03E7E39CB4D}"/>
              </a:ext>
            </a:extLst>
          </p:cNvPr>
          <p:cNvCxnSpPr/>
          <p:nvPr/>
        </p:nvCxnSpPr>
        <p:spPr>
          <a:xfrm>
            <a:off x="5894615" y="3429000"/>
            <a:ext cx="29637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623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CBBC-99F9-B2BC-B7F7-DFC3310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AE54-A112-42C1-F7E4-E323198E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256BDBFC-27D5-6779-EA20-F53C48C855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CE4AD8DE-EBED-2BAB-DF65-9F25CFBAF2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AD0C1-512B-5BEF-CA8A-6921D714E9D3}"/>
              </a:ext>
            </a:extLst>
          </p:cNvPr>
          <p:cNvSpPr txBox="1"/>
          <p:nvPr/>
        </p:nvSpPr>
        <p:spPr>
          <a:xfrm>
            <a:off x="7756070" y="1461745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pic>
        <p:nvPicPr>
          <p:cNvPr id="16" name="Picture 15" descr="A diagram of a process&#10;&#10;Description automatically generated">
            <a:extLst>
              <a:ext uri="{FF2B5EF4-FFF2-40B4-BE49-F238E27FC236}">
                <a16:creationId xmlns:a16="http://schemas.microsoft.com/office/drawing/2014/main" id="{32FDA080-A9D9-6910-7EF3-4E156CB41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1" y="1330037"/>
            <a:ext cx="4996544" cy="23607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ACCA72-97C0-E3FD-1C8C-2F1E0E505AD4}"/>
              </a:ext>
            </a:extLst>
          </p:cNvPr>
          <p:cNvSpPr txBox="1"/>
          <p:nvPr/>
        </p:nvSpPr>
        <p:spPr>
          <a:xfrm>
            <a:off x="8033656" y="5566439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pic>
        <p:nvPicPr>
          <p:cNvPr id="10" name="Picture 9" descr="A diagram of a flowchart&#10;&#10;Description automatically generated">
            <a:extLst>
              <a:ext uri="{FF2B5EF4-FFF2-40B4-BE49-F238E27FC236}">
                <a16:creationId xmlns:a16="http://schemas.microsoft.com/office/drawing/2014/main" id="{36D84361-B34D-827C-FCE8-2C03094AD8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615" y="3839331"/>
            <a:ext cx="5143499" cy="3018669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0A0708-B1C1-28EA-C677-BD0699A9F355}"/>
              </a:ext>
            </a:extLst>
          </p:cNvPr>
          <p:cNvSpPr txBox="1"/>
          <p:nvPr/>
        </p:nvSpPr>
        <p:spPr>
          <a:xfrm>
            <a:off x="-32658" y="2511119"/>
            <a:ext cx="8858344" cy="193899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master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merge hotfix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Updating f42c576..3a0874c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Fast-forward </a:t>
            </a:r>
            <a:r>
              <a:rPr lang="en-CA" sz="2400" dirty="0" err="1">
                <a:latin typeface="Roboto Mono" pitchFamily="49" charset="0"/>
                <a:ea typeface="Roboto Mono" pitchFamily="49" charset="0"/>
              </a:rPr>
              <a:t>index.html</a:t>
            </a:r>
            <a:r>
              <a:rPr lang="en-CA" sz="2400" dirty="0">
                <a:latin typeface="Roboto Mono" pitchFamily="49" charset="0"/>
                <a:ea typeface="Roboto Mono" pitchFamily="49" charset="0"/>
              </a:rPr>
              <a:t> | 2 ++ </a:t>
            </a:r>
            <a:br>
              <a:rPr lang="en-CA" sz="2400" dirty="0">
                <a:latin typeface="Roboto Mono" pitchFamily="49" charset="0"/>
                <a:ea typeface="Roboto Mono" pitchFamily="49" charset="0"/>
              </a:rPr>
            </a:br>
            <a:r>
              <a:rPr lang="en-CA" sz="2400" dirty="0">
                <a:latin typeface="Roboto Mono" pitchFamily="49" charset="0"/>
                <a:ea typeface="Roboto Mono" pitchFamily="49" charset="0"/>
              </a:rPr>
              <a:t>1 file changed, 2 insertions(+)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859DE0-EDD0-994C-1555-4E722B7CAD74}"/>
              </a:ext>
            </a:extLst>
          </p:cNvPr>
          <p:cNvCxnSpPr/>
          <p:nvPr/>
        </p:nvCxnSpPr>
        <p:spPr>
          <a:xfrm>
            <a:off x="5861957" y="3839331"/>
            <a:ext cx="29637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40786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8C9D-6BA5-6DE5-927C-D06C786A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9404-9A8B-06F8-CEE5-84A35BCC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332D4CC2-3023-E21B-67B8-ED4140CF1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27D80557-FD8D-F7D2-50C6-FD4BBA7BB3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8F271-2EC1-20F9-2E98-ED53630C9337}"/>
              </a:ext>
            </a:extLst>
          </p:cNvPr>
          <p:cNvSpPr txBox="1"/>
          <p:nvPr/>
        </p:nvSpPr>
        <p:spPr>
          <a:xfrm>
            <a:off x="7756070" y="1461745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pic>
        <p:nvPicPr>
          <p:cNvPr id="10" name="Picture 9" descr="A diagram of a flowchart&#10;&#10;Description automatically generated">
            <a:extLst>
              <a:ext uri="{FF2B5EF4-FFF2-40B4-BE49-F238E27FC236}">
                <a16:creationId xmlns:a16="http://schemas.microsoft.com/office/drawing/2014/main" id="{9D638AF0-02E0-FFCD-C80B-AD8CDE855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1" y="1330037"/>
            <a:ext cx="3739243" cy="2194525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D71E3A-94B1-FB96-68E8-8A192CD5CD9C}"/>
              </a:ext>
            </a:extLst>
          </p:cNvPr>
          <p:cNvSpPr txBox="1"/>
          <p:nvPr/>
        </p:nvSpPr>
        <p:spPr>
          <a:xfrm>
            <a:off x="-32658" y="3329426"/>
            <a:ext cx="8858344" cy="83099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branch -d hotfix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Deleted branch hotfix (3a0874c).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545EAA-DF3C-69B5-73B6-5AAE39E11660}"/>
              </a:ext>
            </a:extLst>
          </p:cNvPr>
          <p:cNvCxnSpPr/>
          <p:nvPr/>
        </p:nvCxnSpPr>
        <p:spPr>
          <a:xfrm>
            <a:off x="5861957" y="3839331"/>
            <a:ext cx="29637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diagram of a flowchart&#10;&#10;Description automatically generated">
            <a:extLst>
              <a:ext uri="{FF2B5EF4-FFF2-40B4-BE49-F238E27FC236}">
                <a16:creationId xmlns:a16="http://schemas.microsoft.com/office/drawing/2014/main" id="{2D480487-7AF8-BB53-F2C1-08176661C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56" y="4282942"/>
            <a:ext cx="4229101" cy="2482017"/>
          </a:xfrm>
          <a:prstGeom prst="rect">
            <a:avLst/>
          </a:prstGeom>
          <a:ln>
            <a:noFill/>
          </a:ln>
        </p:spPr>
      </p:pic>
      <p:pic>
        <p:nvPicPr>
          <p:cNvPr id="19" name="Graphic 18" descr="Badge Cross with solid fill">
            <a:extLst>
              <a:ext uri="{FF2B5EF4-FFF2-40B4-BE49-F238E27FC236}">
                <a16:creationId xmlns:a16="http://schemas.microsoft.com/office/drawing/2014/main" id="{8BD0ED32-4249-0B10-252B-629231A0E3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9152" y="4841119"/>
            <a:ext cx="405609" cy="40560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B83200-C319-14CF-7F13-A26967BEAD43}"/>
              </a:ext>
            </a:extLst>
          </p:cNvPr>
          <p:cNvSpPr txBox="1"/>
          <p:nvPr/>
        </p:nvSpPr>
        <p:spPr>
          <a:xfrm>
            <a:off x="8033657" y="4320328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755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AB571-E66F-B485-5D3A-B1668053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E083-5773-B076-A828-0AC41C0D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60498B7B-C1B4-6DB0-0238-130104CB49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B143B8B8-1D19-A945-BEB6-BDCD9D8C64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E6F1E-5914-2314-834D-1AA4765883EA}"/>
              </a:ext>
            </a:extLst>
          </p:cNvPr>
          <p:cNvSpPr txBox="1"/>
          <p:nvPr/>
        </p:nvSpPr>
        <p:spPr>
          <a:xfrm>
            <a:off x="7756070" y="1461745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pic>
        <p:nvPicPr>
          <p:cNvPr id="10" name="Picture 9" descr="A diagram of a flowchart&#10;&#10;Description automatically generated">
            <a:extLst>
              <a:ext uri="{FF2B5EF4-FFF2-40B4-BE49-F238E27FC236}">
                <a16:creationId xmlns:a16="http://schemas.microsoft.com/office/drawing/2014/main" id="{06055EE1-9444-173B-38C7-CE0080835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1" y="1330037"/>
            <a:ext cx="3739243" cy="2194525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D543C7-B640-074A-4F82-5D3A0635E626}"/>
              </a:ext>
            </a:extLst>
          </p:cNvPr>
          <p:cNvSpPr txBox="1"/>
          <p:nvPr/>
        </p:nvSpPr>
        <p:spPr>
          <a:xfrm>
            <a:off x="-32658" y="3329426"/>
            <a:ext cx="8858344" cy="83099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branch -d hotfix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Deleted branch hotfix (3a0874c).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23A2DB-9C86-5114-099A-DB0A343E6CFC}"/>
              </a:ext>
            </a:extLst>
          </p:cNvPr>
          <p:cNvCxnSpPr/>
          <p:nvPr/>
        </p:nvCxnSpPr>
        <p:spPr>
          <a:xfrm>
            <a:off x="5861957" y="3839331"/>
            <a:ext cx="29637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FD87E-E01A-E632-1F3A-E7250ACB9C84}"/>
              </a:ext>
            </a:extLst>
          </p:cNvPr>
          <p:cNvSpPr/>
          <p:nvPr/>
        </p:nvSpPr>
        <p:spPr>
          <a:xfrm>
            <a:off x="0" y="1262946"/>
            <a:ext cx="9144000" cy="2858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iss53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Switched to branch "iss53"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vim </a:t>
            </a:r>
            <a:r>
              <a:rPr lang="en-CA" sz="2400" dirty="0" err="1">
                <a:latin typeface="Roboto Mono" pitchFamily="49" charset="0"/>
                <a:ea typeface="Roboto Mono" pitchFamily="49" charset="0"/>
              </a:rPr>
              <a:t>index.html</a:t>
            </a:r>
            <a:r>
              <a:rPr lang="en-CA" sz="2400" dirty="0">
                <a:latin typeface="Roboto Mono" pitchFamily="49" charset="0"/>
                <a:ea typeface="Roboto Mono" pitchFamily="49" charset="0"/>
              </a:rPr>
              <a:t>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commit -a -m 'Finish the new footer [issue 53]’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[iss53 ad82d7a] Finish the new footer [issue 53] </a:t>
            </a:r>
          </a:p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1 file changed, 1 insertion(+)</a:t>
            </a:r>
            <a:endParaRPr lang="en-US" sz="24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18" name="Picture 17" descr="A diagram of a flowchart&#10;&#10;Description automatically generated">
            <a:extLst>
              <a:ext uri="{FF2B5EF4-FFF2-40B4-BE49-F238E27FC236}">
                <a16:creationId xmlns:a16="http://schemas.microsoft.com/office/drawing/2014/main" id="{D5FC47F9-9835-1D9E-7A6B-6013948EA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18047"/>
            <a:ext cx="3701479" cy="2172361"/>
          </a:xfrm>
          <a:prstGeom prst="rect">
            <a:avLst/>
          </a:prstGeom>
          <a:ln>
            <a:noFill/>
          </a:ln>
        </p:spPr>
      </p:pic>
      <p:pic>
        <p:nvPicPr>
          <p:cNvPr id="19" name="Graphic 18" descr="Badge Cross with solid fill">
            <a:extLst>
              <a:ext uri="{FF2B5EF4-FFF2-40B4-BE49-F238E27FC236}">
                <a16:creationId xmlns:a16="http://schemas.microsoft.com/office/drawing/2014/main" id="{8158432C-5A9B-3F07-BAB8-51FCD6E18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4456" y="4897268"/>
            <a:ext cx="405609" cy="405609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D4EAE66E-A998-C4E9-C91D-AD47F9B687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021" y="4401175"/>
            <a:ext cx="5249979" cy="2447298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CA75D9-6AEE-41CF-8442-4549E02D7D2D}"/>
              </a:ext>
            </a:extLst>
          </p:cNvPr>
          <p:cNvCxnSpPr>
            <a:cxnSpLocks/>
          </p:cNvCxnSpPr>
          <p:nvPr/>
        </p:nvCxnSpPr>
        <p:spPr>
          <a:xfrm>
            <a:off x="3861363" y="4782830"/>
            <a:ext cx="1135180" cy="33405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D41DB2-312E-57CD-B74E-CBE5108E75F2}"/>
              </a:ext>
            </a:extLst>
          </p:cNvPr>
          <p:cNvSpPr txBox="1"/>
          <p:nvPr/>
        </p:nvSpPr>
        <p:spPr>
          <a:xfrm>
            <a:off x="8033657" y="4320328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B9B944-5082-7B89-F9E3-63E12B5D607A}"/>
              </a:ext>
            </a:extLst>
          </p:cNvPr>
          <p:cNvSpPr txBox="1"/>
          <p:nvPr/>
        </p:nvSpPr>
        <p:spPr>
          <a:xfrm>
            <a:off x="0" y="4488192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409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DF9E-B850-538C-CBFC-29057673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3E89-5810-1809-5308-04865E50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279F59A8-CAB2-D870-3DF6-11D8E91B7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DBAB09F3-C835-1AC7-BCDC-CEF0828735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diagram of a family tree&#10;&#10;Description automatically generated">
            <a:extLst>
              <a:ext uri="{FF2B5EF4-FFF2-40B4-BE49-F238E27FC236}">
                <a16:creationId xmlns:a16="http://schemas.microsoft.com/office/drawing/2014/main" id="{D485ABBD-AD3A-562A-61C9-C6E887219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642879"/>
            <a:ext cx="5069568" cy="1997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170396-DF49-5D8E-7B46-4E919FA38E32}"/>
              </a:ext>
            </a:extLst>
          </p:cNvPr>
          <p:cNvSpPr txBox="1"/>
          <p:nvPr/>
        </p:nvSpPr>
        <p:spPr>
          <a:xfrm>
            <a:off x="8033657" y="4695885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561C4-4ECF-2D01-A079-4ED8C6C5943A}"/>
              </a:ext>
            </a:extLst>
          </p:cNvPr>
          <p:cNvSpPr txBox="1"/>
          <p:nvPr/>
        </p:nvSpPr>
        <p:spPr>
          <a:xfrm>
            <a:off x="0" y="1381596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7240BC-A656-720E-EA1B-5EFC2DD15D95}"/>
              </a:ext>
            </a:extLst>
          </p:cNvPr>
          <p:cNvSpPr/>
          <p:nvPr/>
        </p:nvSpPr>
        <p:spPr>
          <a:xfrm>
            <a:off x="5473192" y="1387416"/>
            <a:ext cx="3670808" cy="2508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$ git merge iss53 </a:t>
            </a:r>
          </a:p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Merge made by the 'recursive' strategy. index.html </a:t>
            </a:r>
          </a:p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| 1 + 1 file changed, </a:t>
            </a:r>
          </a:p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1 insertion(+)</a:t>
            </a:r>
            <a:endParaRPr lang="en-US" sz="22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20" name="Picture 19" descr="A diagram of a flowchart&#10;&#10;Description automatically generated">
            <a:extLst>
              <a:ext uri="{FF2B5EF4-FFF2-40B4-BE49-F238E27FC236}">
                <a16:creationId xmlns:a16="http://schemas.microsoft.com/office/drawing/2014/main" id="{2C05E3F4-9251-3514-3620-0CA23B7B7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3066"/>
            <a:ext cx="7701176" cy="284919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728FE3D-D68D-C049-1CC3-AE98FF229423}"/>
              </a:ext>
            </a:extLst>
          </p:cNvPr>
          <p:cNvSpPr/>
          <p:nvPr/>
        </p:nvSpPr>
        <p:spPr>
          <a:xfrm>
            <a:off x="155575" y="3358863"/>
            <a:ext cx="3670808" cy="1338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dirty="0">
                <a:latin typeface="Roboto Mono" pitchFamily="49" charset="0"/>
                <a:ea typeface="Roboto Mono" pitchFamily="49" charset="0"/>
              </a:rPr>
              <a:t>$ git checkout master Switched to branch 'master'</a:t>
            </a:r>
            <a:endParaRPr lang="en-US" sz="22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26" name="Graphic 25" descr="Badge 1 with solid fill">
            <a:extLst>
              <a:ext uri="{FF2B5EF4-FFF2-40B4-BE49-F238E27FC236}">
                <a16:creationId xmlns:a16="http://schemas.microsoft.com/office/drawing/2014/main" id="{34ED5F53-FD79-A033-5481-B42E29D697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4464" y="4110717"/>
            <a:ext cx="581919" cy="581919"/>
          </a:xfrm>
          <a:prstGeom prst="rect">
            <a:avLst/>
          </a:prstGeom>
        </p:spPr>
      </p:pic>
      <p:pic>
        <p:nvPicPr>
          <p:cNvPr id="28" name="Graphic 27" descr="Badge with solid fill">
            <a:extLst>
              <a:ext uri="{FF2B5EF4-FFF2-40B4-BE49-F238E27FC236}">
                <a16:creationId xmlns:a16="http://schemas.microsoft.com/office/drawing/2014/main" id="{7A20C26E-A21A-F183-7EEC-118A428896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4349" y="3375547"/>
            <a:ext cx="529353" cy="529353"/>
          </a:xfrm>
          <a:prstGeom prst="rect">
            <a:avLst/>
          </a:prstGeom>
        </p:spPr>
      </p:pic>
      <p:pic>
        <p:nvPicPr>
          <p:cNvPr id="29" name="Graphic 28" descr="Badge 1 with solid fill">
            <a:extLst>
              <a:ext uri="{FF2B5EF4-FFF2-40B4-BE49-F238E27FC236}">
                <a16:creationId xmlns:a16="http://schemas.microsoft.com/office/drawing/2014/main" id="{2A3D2BF5-FFDE-B113-640D-4CD4FDE5F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0117" y="5923266"/>
            <a:ext cx="667143" cy="667143"/>
          </a:xfrm>
          <a:prstGeom prst="rect">
            <a:avLst/>
          </a:prstGeom>
        </p:spPr>
      </p:pic>
      <p:pic>
        <p:nvPicPr>
          <p:cNvPr id="30" name="Graphic 29" descr="Badge with solid fill">
            <a:extLst>
              <a:ext uri="{FF2B5EF4-FFF2-40B4-BE49-F238E27FC236}">
                <a16:creationId xmlns:a16="http://schemas.microsoft.com/office/drawing/2014/main" id="{026523A7-8F42-CFEB-F4A3-559F96648F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83445" y="5905811"/>
            <a:ext cx="702547" cy="702547"/>
          </a:xfrm>
          <a:prstGeom prst="rect">
            <a:avLst/>
          </a:prstGeom>
        </p:spPr>
      </p:pic>
      <p:pic>
        <p:nvPicPr>
          <p:cNvPr id="40" name="Graphic 39" descr="Add with solid fill">
            <a:extLst>
              <a:ext uri="{FF2B5EF4-FFF2-40B4-BE49-F238E27FC236}">
                <a16:creationId xmlns:a16="http://schemas.microsoft.com/office/drawing/2014/main" id="{6AC52851-D05B-54A2-8110-540F2471E8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77260" y="6022109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517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417-1194-6E36-1B10-9025EFCA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90A0-8E34-092A-880A-D0850BA33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Basic Branching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3DBF987F-8C7B-158A-3A85-D971F0A027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D89466F5-F536-646F-A851-A2514465C9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diagram of a family tree&#10;&#10;Description automatically generated">
            <a:extLst>
              <a:ext uri="{FF2B5EF4-FFF2-40B4-BE49-F238E27FC236}">
                <a16:creationId xmlns:a16="http://schemas.microsoft.com/office/drawing/2014/main" id="{A4B54F77-E2A3-2502-1A5A-9FC900B8C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642879"/>
            <a:ext cx="5069568" cy="1997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209166-55A5-3381-7329-C7A69685CEBD}"/>
              </a:ext>
            </a:extLst>
          </p:cNvPr>
          <p:cNvSpPr txBox="1"/>
          <p:nvPr/>
        </p:nvSpPr>
        <p:spPr>
          <a:xfrm>
            <a:off x="8033657" y="4695885"/>
            <a:ext cx="111034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After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5B03F-3733-C11E-D1F9-2D9EBD4AEF1C}"/>
              </a:ext>
            </a:extLst>
          </p:cNvPr>
          <p:cNvSpPr txBox="1"/>
          <p:nvPr/>
        </p:nvSpPr>
        <p:spPr>
          <a:xfrm>
            <a:off x="0" y="1381596"/>
            <a:ext cx="1387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before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6E9E1C-C7EE-B56E-244C-B80C3CB24D09}"/>
              </a:ext>
            </a:extLst>
          </p:cNvPr>
          <p:cNvSpPr/>
          <p:nvPr/>
        </p:nvSpPr>
        <p:spPr>
          <a:xfrm>
            <a:off x="5473192" y="1387416"/>
            <a:ext cx="3670808" cy="2508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$ git merge iss53 </a:t>
            </a:r>
          </a:p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Merge made by the 'recursive' strategy. index.html </a:t>
            </a:r>
          </a:p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| 1 + 1 file changed, </a:t>
            </a:r>
          </a:p>
          <a:p>
            <a:r>
              <a:rPr lang="en-CA" sz="2200" dirty="0">
                <a:latin typeface="Roboto Mono" pitchFamily="49" charset="0"/>
                <a:ea typeface="Roboto Mono" pitchFamily="49" charset="0"/>
              </a:rPr>
              <a:t>1 insertion(+)</a:t>
            </a:r>
            <a:endParaRPr lang="en-US" sz="22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20" name="Picture 19" descr="A diagram of a flowchart&#10;&#10;Description automatically generated">
            <a:extLst>
              <a:ext uri="{FF2B5EF4-FFF2-40B4-BE49-F238E27FC236}">
                <a16:creationId xmlns:a16="http://schemas.microsoft.com/office/drawing/2014/main" id="{EA3E7963-BD13-F0F0-38FF-55D30A318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53066"/>
            <a:ext cx="7701176" cy="28491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132450-B112-FCE4-1224-FA284F7B1C06}"/>
              </a:ext>
            </a:extLst>
          </p:cNvPr>
          <p:cNvSpPr txBox="1"/>
          <p:nvPr/>
        </p:nvSpPr>
        <p:spPr>
          <a:xfrm>
            <a:off x="460375" y="3464790"/>
            <a:ext cx="7212480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 Mono" pitchFamily="49" charset="0"/>
                <a:ea typeface="Roboto Mono" pitchFamily="49" charset="0"/>
              </a:rPr>
              <a:t>We can delete the branch iss53 now:</a:t>
            </a:r>
            <a:br>
              <a:rPr lang="en-US" sz="2400" dirty="0">
                <a:latin typeface="Roboto Mono" pitchFamily="49" charset="0"/>
                <a:ea typeface="Roboto Mono" pitchFamily="49" charset="0"/>
              </a:rPr>
            </a:br>
            <a:r>
              <a:rPr lang="en-CA" sz="2400" dirty="0">
                <a:latin typeface="Roboto Mono" pitchFamily="49" charset="0"/>
                <a:ea typeface="Roboto Mono" pitchFamily="49" charset="0"/>
              </a:rPr>
              <a:t>$ git branch -d iss53</a:t>
            </a:r>
            <a:endParaRPr lang="en-US" sz="2400" dirty="0">
              <a:latin typeface="Roboto Mono" pitchFamily="49" charset="0"/>
              <a:ea typeface="Roboto Mono" pitchFamily="49" charset="0"/>
            </a:endParaRPr>
          </a:p>
        </p:txBody>
      </p:sp>
      <p:pic>
        <p:nvPicPr>
          <p:cNvPr id="4" name="Graphic 3" descr="Badge Cross with solid fill">
            <a:extLst>
              <a:ext uri="{FF2B5EF4-FFF2-40B4-BE49-F238E27FC236}">
                <a16:creationId xmlns:a16="http://schemas.microsoft.com/office/drawing/2014/main" id="{92ED0447-1BDE-44B0-D2A9-2E2C901692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2584" y="6247836"/>
            <a:ext cx="405609" cy="4056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1477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DD9E-4161-F679-0B30-974A6B24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D66C-8395-D794-0DDF-1735D3D3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Merge Conflict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33A1BAF3-9B11-010D-F69B-3E45204767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70436F26-8D9D-3B0D-0F14-04E4E2E062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skd181973sdc.png">
            <a:extLst>
              <a:ext uri="{FF2B5EF4-FFF2-40B4-BE49-F238E27FC236}">
                <a16:creationId xmlns:a16="http://schemas.microsoft.com/office/drawing/2014/main" id="{E1533304-97B7-A9F9-787E-9AB7011CCD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17" y="2303954"/>
            <a:ext cx="681692" cy="878111"/>
          </a:xfrm>
          <a:prstGeom prst="rect">
            <a:avLst/>
          </a:prstGeom>
        </p:spPr>
      </p:pic>
      <p:pic>
        <p:nvPicPr>
          <p:cNvPr id="7" name="Picture 6" descr="skd182040sdc.png">
            <a:extLst>
              <a:ext uri="{FF2B5EF4-FFF2-40B4-BE49-F238E27FC236}">
                <a16:creationId xmlns:a16="http://schemas.microsoft.com/office/drawing/2014/main" id="{F1BB8F81-1B85-249E-2281-DFD5210673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34" y="2343454"/>
            <a:ext cx="699606" cy="838611"/>
          </a:xfrm>
          <a:prstGeom prst="rect">
            <a:avLst/>
          </a:prstGeom>
        </p:spPr>
      </p:pic>
      <p:sp>
        <p:nvSpPr>
          <p:cNvPr id="8" name="Magnetic Disk 7">
            <a:extLst>
              <a:ext uri="{FF2B5EF4-FFF2-40B4-BE49-F238E27FC236}">
                <a16:creationId xmlns:a16="http://schemas.microsoft.com/office/drawing/2014/main" id="{B44C5A5F-30D7-6799-36E5-121E71E32005}"/>
              </a:ext>
            </a:extLst>
          </p:cNvPr>
          <p:cNvSpPr/>
          <p:nvPr/>
        </p:nvSpPr>
        <p:spPr>
          <a:xfrm>
            <a:off x="935166" y="3461838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AA1422-1224-5E29-4EB9-BB6DB96CCF8A}"/>
              </a:ext>
            </a:extLst>
          </p:cNvPr>
          <p:cNvCxnSpPr/>
          <p:nvPr/>
        </p:nvCxnSpPr>
        <p:spPr>
          <a:xfrm flipH="1">
            <a:off x="1106088" y="3060105"/>
            <a:ext cx="650221" cy="40173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147DBC-C962-82B7-D68D-EC00CD2AFA01}"/>
              </a:ext>
            </a:extLst>
          </p:cNvPr>
          <p:cNvCxnSpPr/>
          <p:nvPr/>
        </p:nvCxnSpPr>
        <p:spPr>
          <a:xfrm>
            <a:off x="581945" y="3182065"/>
            <a:ext cx="524143" cy="27977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DBD32C-0651-A1D8-E5A8-E8D03D1BB1AF}"/>
              </a:ext>
            </a:extLst>
          </p:cNvPr>
          <p:cNvSpPr txBox="1"/>
          <p:nvPr/>
        </p:nvSpPr>
        <p:spPr>
          <a:xfrm>
            <a:off x="581945" y="447706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5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85706-DF79-C50D-9287-A4F87E46D880}"/>
              </a:ext>
            </a:extLst>
          </p:cNvPr>
          <p:cNvSpPr txBox="1"/>
          <p:nvPr/>
        </p:nvSpPr>
        <p:spPr>
          <a:xfrm>
            <a:off x="0" y="1697123"/>
            <a:ext cx="314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Alice Local Revision: 5</a:t>
            </a:r>
          </a:p>
          <a:p>
            <a:r>
              <a:rPr lang="en-US" dirty="0">
                <a:solidFill>
                  <a:srgbClr val="FFFFFF"/>
                </a:solidFill>
              </a:rPr>
              <a:t>Bob Local    Revision: 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D654F-3574-05FC-999F-750814E1769E}"/>
              </a:ext>
            </a:extLst>
          </p:cNvPr>
          <p:cNvSpPr txBox="1"/>
          <p:nvPr/>
        </p:nvSpPr>
        <p:spPr>
          <a:xfrm>
            <a:off x="1756542" y="2985861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Both checkout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Time:  12 pm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3EF9C1-5F45-46E2-AC1A-601DAA838217}"/>
              </a:ext>
            </a:extLst>
          </p:cNvPr>
          <p:cNvSpPr txBox="1"/>
          <p:nvPr/>
        </p:nvSpPr>
        <p:spPr>
          <a:xfrm>
            <a:off x="240388" y="1587303"/>
            <a:ext cx="353151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Alice Local  Revision: 5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Local    Revision: 5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5581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03AC4-A521-78A5-9031-A98B2893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F9E8-9A04-2390-9F6A-E856601B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Merge Conflict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5E870F29-9895-1F01-21F9-8680D95152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C07EC8E0-6C15-A89E-F847-16F6969D77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skd181973sdc.png">
            <a:extLst>
              <a:ext uri="{FF2B5EF4-FFF2-40B4-BE49-F238E27FC236}">
                <a16:creationId xmlns:a16="http://schemas.microsoft.com/office/drawing/2014/main" id="{6BA885D8-07A8-61A4-64C0-F826394E53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17" y="2303954"/>
            <a:ext cx="681692" cy="878111"/>
          </a:xfrm>
          <a:prstGeom prst="rect">
            <a:avLst/>
          </a:prstGeom>
        </p:spPr>
      </p:pic>
      <p:pic>
        <p:nvPicPr>
          <p:cNvPr id="7" name="Picture 6" descr="skd182040sdc.png">
            <a:extLst>
              <a:ext uri="{FF2B5EF4-FFF2-40B4-BE49-F238E27FC236}">
                <a16:creationId xmlns:a16="http://schemas.microsoft.com/office/drawing/2014/main" id="{3CFF4583-D665-F45C-EFB6-3B09796012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34" y="2343454"/>
            <a:ext cx="699606" cy="838611"/>
          </a:xfrm>
          <a:prstGeom prst="rect">
            <a:avLst/>
          </a:prstGeom>
        </p:spPr>
      </p:pic>
      <p:sp>
        <p:nvSpPr>
          <p:cNvPr id="8" name="Magnetic Disk 7">
            <a:extLst>
              <a:ext uri="{FF2B5EF4-FFF2-40B4-BE49-F238E27FC236}">
                <a16:creationId xmlns:a16="http://schemas.microsoft.com/office/drawing/2014/main" id="{9E89B82B-4EF2-EF5D-BA0C-DC9807C5D513}"/>
              </a:ext>
            </a:extLst>
          </p:cNvPr>
          <p:cNvSpPr/>
          <p:nvPr/>
        </p:nvSpPr>
        <p:spPr>
          <a:xfrm>
            <a:off x="935166" y="3461838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311228-BD28-526F-BEA8-00BB57E867E1}"/>
              </a:ext>
            </a:extLst>
          </p:cNvPr>
          <p:cNvCxnSpPr/>
          <p:nvPr/>
        </p:nvCxnSpPr>
        <p:spPr>
          <a:xfrm flipH="1">
            <a:off x="1106088" y="3060105"/>
            <a:ext cx="650221" cy="40173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E124A-BA50-C3BE-B14E-06F1FAC9FBA5}"/>
              </a:ext>
            </a:extLst>
          </p:cNvPr>
          <p:cNvCxnSpPr/>
          <p:nvPr/>
        </p:nvCxnSpPr>
        <p:spPr>
          <a:xfrm>
            <a:off x="581945" y="3182065"/>
            <a:ext cx="524143" cy="27977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6E9CD6-B1F0-B984-AD25-A59AB20B5618}"/>
              </a:ext>
            </a:extLst>
          </p:cNvPr>
          <p:cNvSpPr txBox="1"/>
          <p:nvPr/>
        </p:nvSpPr>
        <p:spPr>
          <a:xfrm>
            <a:off x="581945" y="447706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5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BFBB33-C1B4-6D5B-570E-E653338DBC59}"/>
              </a:ext>
            </a:extLst>
          </p:cNvPr>
          <p:cNvSpPr txBox="1"/>
          <p:nvPr/>
        </p:nvSpPr>
        <p:spPr>
          <a:xfrm>
            <a:off x="0" y="1697123"/>
            <a:ext cx="314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Alice Local Revision: 5</a:t>
            </a:r>
          </a:p>
          <a:p>
            <a:r>
              <a:rPr lang="en-US" dirty="0">
                <a:solidFill>
                  <a:srgbClr val="FFFFFF"/>
                </a:solidFill>
              </a:rPr>
              <a:t>Bob Local    Revision: 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3EF19-B306-A1FE-423B-F99BB8B3F1F0}"/>
              </a:ext>
            </a:extLst>
          </p:cNvPr>
          <p:cNvSpPr txBox="1"/>
          <p:nvPr/>
        </p:nvSpPr>
        <p:spPr>
          <a:xfrm>
            <a:off x="1756542" y="2985861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Both checkout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Time:  12 pm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D1010E-1A73-3F70-DE93-B110A3D7B959}"/>
              </a:ext>
            </a:extLst>
          </p:cNvPr>
          <p:cNvSpPr txBox="1"/>
          <p:nvPr/>
        </p:nvSpPr>
        <p:spPr>
          <a:xfrm>
            <a:off x="240388" y="1587303"/>
            <a:ext cx="353151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Alice Local  Revision: 5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Local    Revision: 5 </a:t>
            </a:r>
          </a:p>
        </p:txBody>
      </p:sp>
      <p:pic>
        <p:nvPicPr>
          <p:cNvPr id="3" name="Picture 2" descr="skd181973sdc.png">
            <a:extLst>
              <a:ext uri="{FF2B5EF4-FFF2-40B4-BE49-F238E27FC236}">
                <a16:creationId xmlns:a16="http://schemas.microsoft.com/office/drawing/2014/main" id="{444BCA35-1C0B-D3A9-542C-8DE2E24FF8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036" y="1761975"/>
            <a:ext cx="681692" cy="878111"/>
          </a:xfrm>
          <a:prstGeom prst="rect">
            <a:avLst/>
          </a:prstGeom>
        </p:spPr>
      </p:pic>
      <p:sp>
        <p:nvSpPr>
          <p:cNvPr id="9" name="Magnetic Disk 8">
            <a:extLst>
              <a:ext uri="{FF2B5EF4-FFF2-40B4-BE49-F238E27FC236}">
                <a16:creationId xmlns:a16="http://schemas.microsoft.com/office/drawing/2014/main" id="{7A5FB999-08DE-6AEA-CD56-36814A7440CF}"/>
              </a:ext>
            </a:extLst>
          </p:cNvPr>
          <p:cNvSpPr/>
          <p:nvPr/>
        </p:nvSpPr>
        <p:spPr>
          <a:xfrm>
            <a:off x="5864769" y="2563483"/>
            <a:ext cx="1025974" cy="1068709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7E81E3-16D4-3D1D-E24C-61CE09A2DEFA}"/>
              </a:ext>
            </a:extLst>
          </p:cNvPr>
          <p:cNvCxnSpPr>
            <a:endCxn id="3" idx="3"/>
          </p:cNvCxnSpPr>
          <p:nvPr/>
        </p:nvCxnSpPr>
        <p:spPr>
          <a:xfrm flipH="1" flipV="1">
            <a:off x="5099728" y="2201031"/>
            <a:ext cx="840424" cy="435881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5C8F91-F8AD-5098-C998-A9D571832D67}"/>
              </a:ext>
            </a:extLst>
          </p:cNvPr>
          <p:cNvSpPr txBox="1"/>
          <p:nvPr/>
        </p:nvSpPr>
        <p:spPr>
          <a:xfrm>
            <a:off x="4009498" y="2662696"/>
            <a:ext cx="185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</a:t>
            </a:r>
            <a:r>
              <a:rPr lang="en-US" dirty="0">
                <a:solidFill>
                  <a:srgbClr val="FFFFFF"/>
                </a:solidFill>
              </a:rPr>
              <a:t>Alice</a:t>
            </a:r>
          </a:p>
          <a:p>
            <a:r>
              <a:rPr lang="en-US" dirty="0">
                <a:solidFill>
                  <a:srgbClr val="FFFFFF"/>
                </a:solidFill>
              </a:rPr>
              <a:t>Local Revision 6</a:t>
            </a:r>
          </a:p>
        </p:txBody>
      </p:sp>
      <p:pic>
        <p:nvPicPr>
          <p:cNvPr id="13" name="Picture 12" descr="skd182040sdc.png">
            <a:extLst>
              <a:ext uri="{FF2B5EF4-FFF2-40B4-BE49-F238E27FC236}">
                <a16:creationId xmlns:a16="http://schemas.microsoft.com/office/drawing/2014/main" id="{5AFFBF8C-8831-16DA-37BD-CA9AA5512D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910" y="2437165"/>
            <a:ext cx="699606" cy="838611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6431E51C-375E-A6FD-C7FB-A1E829952357}"/>
              </a:ext>
            </a:extLst>
          </p:cNvPr>
          <p:cNvSpPr/>
          <p:nvPr/>
        </p:nvSpPr>
        <p:spPr>
          <a:xfrm>
            <a:off x="4185647" y="3088768"/>
            <a:ext cx="672059" cy="187008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7EB70-93A3-4F9B-D1E2-A110F77E244B}"/>
              </a:ext>
            </a:extLst>
          </p:cNvPr>
          <p:cNvSpPr txBox="1"/>
          <p:nvPr/>
        </p:nvSpPr>
        <p:spPr>
          <a:xfrm>
            <a:off x="5293335" y="1502321"/>
            <a:ext cx="363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Alice changes </a:t>
            </a:r>
            <a:r>
              <a:rPr lang="en-US" dirty="0" err="1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file</a:t>
            </a:r>
          </a:p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 and commit first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E9D6DB-CD3C-8DA2-E822-FC7A41B418C4}"/>
              </a:ext>
            </a:extLst>
          </p:cNvPr>
          <p:cNvSpPr/>
          <p:nvPr/>
        </p:nvSpPr>
        <p:spPr>
          <a:xfrm>
            <a:off x="5204666" y="2184641"/>
            <a:ext cx="575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835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sz="3600" dirty="0">
              <a:solidFill>
                <a:srgbClr val="F835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3CF766-6688-5710-F39E-D96B8F50FA63}"/>
              </a:ext>
            </a:extLst>
          </p:cNvPr>
          <p:cNvSpPr txBox="1"/>
          <p:nvPr/>
        </p:nvSpPr>
        <p:spPr>
          <a:xfrm>
            <a:off x="7056184" y="3311765"/>
            <a:ext cx="186827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5967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1393-A166-FBFD-9E75-DFF000FC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5022-1515-26B5-BD6F-BADD209B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Merge Conflict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6BC0B6AA-4873-1216-27B8-495C6B0424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4AF87139-2D62-DFFD-6E06-E20B8EF696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skd181973sdc.png">
            <a:extLst>
              <a:ext uri="{FF2B5EF4-FFF2-40B4-BE49-F238E27FC236}">
                <a16:creationId xmlns:a16="http://schemas.microsoft.com/office/drawing/2014/main" id="{DE65ECF4-5F10-ACA5-3385-64F933C56C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17" y="2303954"/>
            <a:ext cx="681692" cy="878111"/>
          </a:xfrm>
          <a:prstGeom prst="rect">
            <a:avLst/>
          </a:prstGeom>
        </p:spPr>
      </p:pic>
      <p:pic>
        <p:nvPicPr>
          <p:cNvPr id="7" name="Picture 6" descr="skd182040sdc.png">
            <a:extLst>
              <a:ext uri="{FF2B5EF4-FFF2-40B4-BE49-F238E27FC236}">
                <a16:creationId xmlns:a16="http://schemas.microsoft.com/office/drawing/2014/main" id="{68382940-A681-41B3-F426-1755BA73ED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34" y="2343454"/>
            <a:ext cx="699606" cy="838611"/>
          </a:xfrm>
          <a:prstGeom prst="rect">
            <a:avLst/>
          </a:prstGeom>
        </p:spPr>
      </p:pic>
      <p:sp>
        <p:nvSpPr>
          <p:cNvPr id="8" name="Magnetic Disk 7">
            <a:extLst>
              <a:ext uri="{FF2B5EF4-FFF2-40B4-BE49-F238E27FC236}">
                <a16:creationId xmlns:a16="http://schemas.microsoft.com/office/drawing/2014/main" id="{FD87CE9A-D98F-3061-EA49-1FD107E39D9F}"/>
              </a:ext>
            </a:extLst>
          </p:cNvPr>
          <p:cNvSpPr/>
          <p:nvPr/>
        </p:nvSpPr>
        <p:spPr>
          <a:xfrm>
            <a:off x="935166" y="3461838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7305B3-04F2-E5DB-FE75-ED85B330489A}"/>
              </a:ext>
            </a:extLst>
          </p:cNvPr>
          <p:cNvCxnSpPr/>
          <p:nvPr/>
        </p:nvCxnSpPr>
        <p:spPr>
          <a:xfrm flipH="1">
            <a:off x="1106088" y="3060105"/>
            <a:ext cx="650221" cy="40173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E280C4-B75A-8926-245F-9B35F35EFCBA}"/>
              </a:ext>
            </a:extLst>
          </p:cNvPr>
          <p:cNvCxnSpPr/>
          <p:nvPr/>
        </p:nvCxnSpPr>
        <p:spPr>
          <a:xfrm>
            <a:off x="581945" y="3182065"/>
            <a:ext cx="524143" cy="27977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C2207B-2F9A-3396-38C6-D77876C64D31}"/>
              </a:ext>
            </a:extLst>
          </p:cNvPr>
          <p:cNvSpPr txBox="1"/>
          <p:nvPr/>
        </p:nvSpPr>
        <p:spPr>
          <a:xfrm>
            <a:off x="39488" y="449695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5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9F1C9-1A95-9141-00A8-4B6A6377CB1D}"/>
              </a:ext>
            </a:extLst>
          </p:cNvPr>
          <p:cNvSpPr txBox="1"/>
          <p:nvPr/>
        </p:nvSpPr>
        <p:spPr>
          <a:xfrm>
            <a:off x="0" y="1697123"/>
            <a:ext cx="314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Alice Local Revision: 5</a:t>
            </a:r>
          </a:p>
          <a:p>
            <a:r>
              <a:rPr lang="en-US" dirty="0">
                <a:solidFill>
                  <a:srgbClr val="FFFFFF"/>
                </a:solidFill>
              </a:rPr>
              <a:t>Bob Local    Revision: 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9BB215-364F-CD22-49E4-33126FFFA80F}"/>
              </a:ext>
            </a:extLst>
          </p:cNvPr>
          <p:cNvSpPr txBox="1"/>
          <p:nvPr/>
        </p:nvSpPr>
        <p:spPr>
          <a:xfrm>
            <a:off x="1756542" y="2985861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Both checkout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Time:  12 pm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A855EE-E3F4-E471-A2F1-E51320B3A055}"/>
              </a:ext>
            </a:extLst>
          </p:cNvPr>
          <p:cNvSpPr txBox="1"/>
          <p:nvPr/>
        </p:nvSpPr>
        <p:spPr>
          <a:xfrm>
            <a:off x="240388" y="1587303"/>
            <a:ext cx="353151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Alice Local  Revision: 5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Local    Revision: 5 </a:t>
            </a:r>
          </a:p>
        </p:txBody>
      </p:sp>
      <p:pic>
        <p:nvPicPr>
          <p:cNvPr id="3" name="Picture 2" descr="skd181973sdc.png">
            <a:extLst>
              <a:ext uri="{FF2B5EF4-FFF2-40B4-BE49-F238E27FC236}">
                <a16:creationId xmlns:a16="http://schemas.microsoft.com/office/drawing/2014/main" id="{C44E6C35-1FDB-22BF-0F55-E0C10D0B98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036" y="1761975"/>
            <a:ext cx="681692" cy="878111"/>
          </a:xfrm>
          <a:prstGeom prst="rect">
            <a:avLst/>
          </a:prstGeom>
        </p:spPr>
      </p:pic>
      <p:sp>
        <p:nvSpPr>
          <p:cNvPr id="9" name="Magnetic Disk 8">
            <a:extLst>
              <a:ext uri="{FF2B5EF4-FFF2-40B4-BE49-F238E27FC236}">
                <a16:creationId xmlns:a16="http://schemas.microsoft.com/office/drawing/2014/main" id="{23CC8EC0-A895-B8AD-2B5B-0FBF1A30FBF2}"/>
              </a:ext>
            </a:extLst>
          </p:cNvPr>
          <p:cNvSpPr/>
          <p:nvPr/>
        </p:nvSpPr>
        <p:spPr>
          <a:xfrm>
            <a:off x="5864769" y="2563483"/>
            <a:ext cx="1025974" cy="1068709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306975-8A11-B33F-14C4-948F84D4DD1A}"/>
              </a:ext>
            </a:extLst>
          </p:cNvPr>
          <p:cNvCxnSpPr>
            <a:endCxn id="3" idx="3"/>
          </p:cNvCxnSpPr>
          <p:nvPr/>
        </p:nvCxnSpPr>
        <p:spPr>
          <a:xfrm flipH="1" flipV="1">
            <a:off x="5099728" y="2201031"/>
            <a:ext cx="840424" cy="435881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3108597-9DC2-ED4A-5D3B-E3FEA6C169C5}"/>
              </a:ext>
            </a:extLst>
          </p:cNvPr>
          <p:cNvSpPr txBox="1"/>
          <p:nvPr/>
        </p:nvSpPr>
        <p:spPr>
          <a:xfrm>
            <a:off x="4009498" y="2662696"/>
            <a:ext cx="185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</a:t>
            </a:r>
            <a:r>
              <a:rPr lang="en-US" dirty="0">
                <a:solidFill>
                  <a:srgbClr val="FFFFFF"/>
                </a:solidFill>
              </a:rPr>
              <a:t>Alice</a:t>
            </a:r>
          </a:p>
          <a:p>
            <a:r>
              <a:rPr lang="en-US" dirty="0">
                <a:solidFill>
                  <a:srgbClr val="FFFFFF"/>
                </a:solidFill>
              </a:rPr>
              <a:t>Local Revision 6</a:t>
            </a:r>
          </a:p>
        </p:txBody>
      </p:sp>
      <p:pic>
        <p:nvPicPr>
          <p:cNvPr id="13" name="Picture 12" descr="skd182040sdc.png">
            <a:extLst>
              <a:ext uri="{FF2B5EF4-FFF2-40B4-BE49-F238E27FC236}">
                <a16:creationId xmlns:a16="http://schemas.microsoft.com/office/drawing/2014/main" id="{A6039CF9-A996-1C32-CB08-15B35ECBA1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910" y="2437165"/>
            <a:ext cx="699606" cy="838611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F30006F0-C973-D5E3-D284-DEAEC30D3EAE}"/>
              </a:ext>
            </a:extLst>
          </p:cNvPr>
          <p:cNvSpPr/>
          <p:nvPr/>
        </p:nvSpPr>
        <p:spPr>
          <a:xfrm>
            <a:off x="4185647" y="3088768"/>
            <a:ext cx="672059" cy="187008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11CF7-7A11-C3EE-729D-6375212A623F}"/>
              </a:ext>
            </a:extLst>
          </p:cNvPr>
          <p:cNvSpPr txBox="1"/>
          <p:nvPr/>
        </p:nvSpPr>
        <p:spPr>
          <a:xfrm>
            <a:off x="5293335" y="1502321"/>
            <a:ext cx="363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Alice changes </a:t>
            </a:r>
            <a:r>
              <a:rPr lang="en-US" dirty="0" err="1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file</a:t>
            </a:r>
          </a:p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 and commit first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43922A-8234-4800-2A86-7BFEE6E01F89}"/>
              </a:ext>
            </a:extLst>
          </p:cNvPr>
          <p:cNvSpPr/>
          <p:nvPr/>
        </p:nvSpPr>
        <p:spPr>
          <a:xfrm>
            <a:off x="5204666" y="2184641"/>
            <a:ext cx="575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835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sz="3600" dirty="0">
              <a:solidFill>
                <a:srgbClr val="F835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0290DA-B018-31C5-7E07-FD337DEA413F}"/>
              </a:ext>
            </a:extLst>
          </p:cNvPr>
          <p:cNvSpPr txBox="1"/>
          <p:nvPr/>
        </p:nvSpPr>
        <p:spPr>
          <a:xfrm>
            <a:off x="7056184" y="3311765"/>
            <a:ext cx="186827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EBCAAF-4B19-FA70-C55A-97D9805BC8F2}"/>
              </a:ext>
            </a:extLst>
          </p:cNvPr>
          <p:cNvSpPr txBox="1"/>
          <p:nvPr/>
        </p:nvSpPr>
        <p:spPr>
          <a:xfrm>
            <a:off x="2813882" y="4365774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Bob changes </a:t>
            </a:r>
            <a:r>
              <a:rPr lang="en-US" dirty="0" err="1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 file in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the same place and tries to commit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CB8D86-E334-05BF-4C7E-1A6858B8CF2E}"/>
              </a:ext>
            </a:extLst>
          </p:cNvPr>
          <p:cNvSpPr txBox="1"/>
          <p:nvPr/>
        </p:nvSpPr>
        <p:spPr>
          <a:xfrm>
            <a:off x="3394280" y="6208572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6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46006E-7974-4F00-0648-2720F8B9F39A}"/>
              </a:ext>
            </a:extLst>
          </p:cNvPr>
          <p:cNvSpPr txBox="1"/>
          <p:nvPr/>
        </p:nvSpPr>
        <p:spPr>
          <a:xfrm>
            <a:off x="7439591" y="4939602"/>
            <a:ext cx="1704409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0685F32-C127-196D-E856-9AED8242664D}"/>
              </a:ext>
            </a:extLst>
          </p:cNvPr>
          <p:cNvSpPr/>
          <p:nvPr/>
        </p:nvSpPr>
        <p:spPr>
          <a:xfrm rot="5400000">
            <a:off x="6297098" y="4186998"/>
            <a:ext cx="816595" cy="177163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Magnetic Disk 26">
            <a:extLst>
              <a:ext uri="{FF2B5EF4-FFF2-40B4-BE49-F238E27FC236}">
                <a16:creationId xmlns:a16="http://schemas.microsoft.com/office/drawing/2014/main" id="{3E44668E-8F39-F889-56CD-5CBC480416D5}"/>
              </a:ext>
            </a:extLst>
          </p:cNvPr>
          <p:cNvSpPr/>
          <p:nvPr/>
        </p:nvSpPr>
        <p:spPr>
          <a:xfrm>
            <a:off x="4987093" y="5282940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pic>
        <p:nvPicPr>
          <p:cNvPr id="28" name="Picture 27" descr="skd182040sdc.png">
            <a:extLst>
              <a:ext uri="{FF2B5EF4-FFF2-40B4-BE49-F238E27FC236}">
                <a16:creationId xmlns:a16="http://schemas.microsoft.com/office/drawing/2014/main" id="{FEBEC20F-14B3-636A-8C97-3CBCD1FDA7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594" y="5084608"/>
            <a:ext cx="699606" cy="83861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AD1972-0652-69B8-FD85-C20099284EFF}"/>
              </a:ext>
            </a:extLst>
          </p:cNvPr>
          <p:cNvCxnSpPr/>
          <p:nvPr/>
        </p:nvCxnSpPr>
        <p:spPr>
          <a:xfrm>
            <a:off x="6084168" y="5661248"/>
            <a:ext cx="806575" cy="0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67481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6232-6062-8511-BB53-EFF9ACF1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2B48-71DD-50FB-C930-54148228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Merge Conflict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B83D2CC8-F4B6-142D-39E7-C00BEBDB9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1E4341FF-3AF7-E052-DF06-13261018AD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skd181973sdc.png">
            <a:extLst>
              <a:ext uri="{FF2B5EF4-FFF2-40B4-BE49-F238E27FC236}">
                <a16:creationId xmlns:a16="http://schemas.microsoft.com/office/drawing/2014/main" id="{386D649E-2B6C-2144-49AB-9663C1FD78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17" y="2303954"/>
            <a:ext cx="681692" cy="878111"/>
          </a:xfrm>
          <a:prstGeom prst="rect">
            <a:avLst/>
          </a:prstGeom>
        </p:spPr>
      </p:pic>
      <p:pic>
        <p:nvPicPr>
          <p:cNvPr id="7" name="Picture 6" descr="skd182040sdc.png">
            <a:extLst>
              <a:ext uri="{FF2B5EF4-FFF2-40B4-BE49-F238E27FC236}">
                <a16:creationId xmlns:a16="http://schemas.microsoft.com/office/drawing/2014/main" id="{77CFEF6B-EA6B-1491-507A-35919A3F76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34" y="2343454"/>
            <a:ext cx="699606" cy="838611"/>
          </a:xfrm>
          <a:prstGeom prst="rect">
            <a:avLst/>
          </a:prstGeom>
        </p:spPr>
      </p:pic>
      <p:sp>
        <p:nvSpPr>
          <p:cNvPr id="8" name="Magnetic Disk 7">
            <a:extLst>
              <a:ext uri="{FF2B5EF4-FFF2-40B4-BE49-F238E27FC236}">
                <a16:creationId xmlns:a16="http://schemas.microsoft.com/office/drawing/2014/main" id="{967FCABE-0B78-B862-3EE4-33E89093E70B}"/>
              </a:ext>
            </a:extLst>
          </p:cNvPr>
          <p:cNvSpPr/>
          <p:nvPr/>
        </p:nvSpPr>
        <p:spPr>
          <a:xfrm>
            <a:off x="935166" y="3461838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1F4988-23F2-D06D-52DD-58778C84C835}"/>
              </a:ext>
            </a:extLst>
          </p:cNvPr>
          <p:cNvCxnSpPr/>
          <p:nvPr/>
        </p:nvCxnSpPr>
        <p:spPr>
          <a:xfrm flipH="1">
            <a:off x="1106088" y="3060105"/>
            <a:ext cx="650221" cy="40173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B301D0-5251-CA47-1BED-52461075A08E}"/>
              </a:ext>
            </a:extLst>
          </p:cNvPr>
          <p:cNvCxnSpPr/>
          <p:nvPr/>
        </p:nvCxnSpPr>
        <p:spPr>
          <a:xfrm>
            <a:off x="581945" y="3182065"/>
            <a:ext cx="524143" cy="27977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FDB0D2-5142-4FF0-763E-0E9229D68A96}"/>
              </a:ext>
            </a:extLst>
          </p:cNvPr>
          <p:cNvSpPr txBox="1"/>
          <p:nvPr/>
        </p:nvSpPr>
        <p:spPr>
          <a:xfrm>
            <a:off x="39488" y="449695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5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D6CC09-3B33-22C4-592B-4CD0BCB43546}"/>
              </a:ext>
            </a:extLst>
          </p:cNvPr>
          <p:cNvSpPr txBox="1"/>
          <p:nvPr/>
        </p:nvSpPr>
        <p:spPr>
          <a:xfrm>
            <a:off x="0" y="1697123"/>
            <a:ext cx="314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Alice Local Revision: 5</a:t>
            </a:r>
          </a:p>
          <a:p>
            <a:r>
              <a:rPr lang="en-US" dirty="0">
                <a:solidFill>
                  <a:srgbClr val="FFFFFF"/>
                </a:solidFill>
              </a:rPr>
              <a:t>Bob Local    Revision: 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1D12ED-014F-2292-79F9-DADCC191A173}"/>
              </a:ext>
            </a:extLst>
          </p:cNvPr>
          <p:cNvSpPr txBox="1"/>
          <p:nvPr/>
        </p:nvSpPr>
        <p:spPr>
          <a:xfrm>
            <a:off x="1756542" y="2985861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Both checkout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Time:  12 pm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84141-0863-3231-66A6-5306317C86E0}"/>
              </a:ext>
            </a:extLst>
          </p:cNvPr>
          <p:cNvSpPr txBox="1"/>
          <p:nvPr/>
        </p:nvSpPr>
        <p:spPr>
          <a:xfrm>
            <a:off x="240388" y="1587303"/>
            <a:ext cx="353151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Alice Local  Revision: 5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Local    Revision: 5 </a:t>
            </a:r>
          </a:p>
        </p:txBody>
      </p:sp>
      <p:pic>
        <p:nvPicPr>
          <p:cNvPr id="3" name="Picture 2" descr="skd181973sdc.png">
            <a:extLst>
              <a:ext uri="{FF2B5EF4-FFF2-40B4-BE49-F238E27FC236}">
                <a16:creationId xmlns:a16="http://schemas.microsoft.com/office/drawing/2014/main" id="{F88565F8-6E46-5C5F-AF9E-FC19727473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036" y="1761975"/>
            <a:ext cx="681692" cy="878111"/>
          </a:xfrm>
          <a:prstGeom prst="rect">
            <a:avLst/>
          </a:prstGeom>
        </p:spPr>
      </p:pic>
      <p:sp>
        <p:nvSpPr>
          <p:cNvPr id="9" name="Magnetic Disk 8">
            <a:extLst>
              <a:ext uri="{FF2B5EF4-FFF2-40B4-BE49-F238E27FC236}">
                <a16:creationId xmlns:a16="http://schemas.microsoft.com/office/drawing/2014/main" id="{0B4098CD-7D56-EDA3-D8EC-EDB5BF5E6402}"/>
              </a:ext>
            </a:extLst>
          </p:cNvPr>
          <p:cNvSpPr/>
          <p:nvPr/>
        </p:nvSpPr>
        <p:spPr>
          <a:xfrm>
            <a:off x="5864769" y="2563483"/>
            <a:ext cx="1025974" cy="1068709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819BC1-D34D-CE95-59EE-4F7064EC282E}"/>
              </a:ext>
            </a:extLst>
          </p:cNvPr>
          <p:cNvCxnSpPr>
            <a:endCxn id="3" idx="3"/>
          </p:cNvCxnSpPr>
          <p:nvPr/>
        </p:nvCxnSpPr>
        <p:spPr>
          <a:xfrm flipH="1" flipV="1">
            <a:off x="5099728" y="2201031"/>
            <a:ext cx="840424" cy="435881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E0E458-6831-E415-37AB-9524A6000A46}"/>
              </a:ext>
            </a:extLst>
          </p:cNvPr>
          <p:cNvSpPr txBox="1"/>
          <p:nvPr/>
        </p:nvSpPr>
        <p:spPr>
          <a:xfrm>
            <a:off x="4009498" y="2662696"/>
            <a:ext cx="185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</a:t>
            </a:r>
            <a:r>
              <a:rPr lang="en-US" dirty="0">
                <a:solidFill>
                  <a:srgbClr val="FFFFFF"/>
                </a:solidFill>
              </a:rPr>
              <a:t>Alice</a:t>
            </a:r>
          </a:p>
          <a:p>
            <a:r>
              <a:rPr lang="en-US" dirty="0">
                <a:solidFill>
                  <a:srgbClr val="FFFFFF"/>
                </a:solidFill>
              </a:rPr>
              <a:t>Local Revision 6</a:t>
            </a:r>
          </a:p>
        </p:txBody>
      </p:sp>
      <p:pic>
        <p:nvPicPr>
          <p:cNvPr id="13" name="Picture 12" descr="skd182040sdc.png">
            <a:extLst>
              <a:ext uri="{FF2B5EF4-FFF2-40B4-BE49-F238E27FC236}">
                <a16:creationId xmlns:a16="http://schemas.microsoft.com/office/drawing/2014/main" id="{01BC8D7E-CEF7-EDF3-A1EF-8C8077FDB0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910" y="2437165"/>
            <a:ext cx="699606" cy="838611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FD8E1D7C-4CB7-3AEA-7CDB-4813C1BE4278}"/>
              </a:ext>
            </a:extLst>
          </p:cNvPr>
          <p:cNvSpPr/>
          <p:nvPr/>
        </p:nvSpPr>
        <p:spPr>
          <a:xfrm>
            <a:off x="4185647" y="3088768"/>
            <a:ext cx="672059" cy="187008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A75E3D-7CCA-3904-6C27-2B1D7F7D8082}"/>
              </a:ext>
            </a:extLst>
          </p:cNvPr>
          <p:cNvSpPr txBox="1"/>
          <p:nvPr/>
        </p:nvSpPr>
        <p:spPr>
          <a:xfrm>
            <a:off x="5293335" y="1502321"/>
            <a:ext cx="363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Alice changes </a:t>
            </a:r>
            <a:r>
              <a:rPr lang="en-US" dirty="0" err="1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file</a:t>
            </a:r>
          </a:p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 and commit first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9D6E7A-247A-7B85-B923-F4C5B23E062D}"/>
              </a:ext>
            </a:extLst>
          </p:cNvPr>
          <p:cNvSpPr/>
          <p:nvPr/>
        </p:nvSpPr>
        <p:spPr>
          <a:xfrm>
            <a:off x="5204666" y="2184641"/>
            <a:ext cx="575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835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sz="3600" dirty="0">
              <a:solidFill>
                <a:srgbClr val="F835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7EE555-1775-E5C9-810B-49235CFF014C}"/>
              </a:ext>
            </a:extLst>
          </p:cNvPr>
          <p:cNvSpPr txBox="1"/>
          <p:nvPr/>
        </p:nvSpPr>
        <p:spPr>
          <a:xfrm>
            <a:off x="7056184" y="3311765"/>
            <a:ext cx="186827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799F3F-B766-8CFB-0C07-9271BD3D33D2}"/>
              </a:ext>
            </a:extLst>
          </p:cNvPr>
          <p:cNvSpPr txBox="1"/>
          <p:nvPr/>
        </p:nvSpPr>
        <p:spPr>
          <a:xfrm>
            <a:off x="2813882" y="4365774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Bob changes </a:t>
            </a:r>
            <a:r>
              <a:rPr lang="en-US" dirty="0" err="1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 file in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the same place and tries to commit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E8247-265B-D27E-6AFB-EDA8698C1A7A}"/>
              </a:ext>
            </a:extLst>
          </p:cNvPr>
          <p:cNvSpPr txBox="1"/>
          <p:nvPr/>
        </p:nvSpPr>
        <p:spPr>
          <a:xfrm>
            <a:off x="3394280" y="6208572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6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DB5AA6-14BB-E06C-254E-5DB37716B543}"/>
              </a:ext>
            </a:extLst>
          </p:cNvPr>
          <p:cNvSpPr txBox="1"/>
          <p:nvPr/>
        </p:nvSpPr>
        <p:spPr>
          <a:xfrm>
            <a:off x="7439591" y="4939602"/>
            <a:ext cx="1704409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897E756E-7EBC-8E55-62CD-5A193430EE4C}"/>
              </a:ext>
            </a:extLst>
          </p:cNvPr>
          <p:cNvSpPr/>
          <p:nvPr/>
        </p:nvSpPr>
        <p:spPr>
          <a:xfrm rot="5400000">
            <a:off x="6297098" y="4186998"/>
            <a:ext cx="816595" cy="177163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Magnetic Disk 26">
            <a:extLst>
              <a:ext uri="{FF2B5EF4-FFF2-40B4-BE49-F238E27FC236}">
                <a16:creationId xmlns:a16="http://schemas.microsoft.com/office/drawing/2014/main" id="{6911AD13-8E11-EE11-BA16-E54B47B30291}"/>
              </a:ext>
            </a:extLst>
          </p:cNvPr>
          <p:cNvSpPr/>
          <p:nvPr/>
        </p:nvSpPr>
        <p:spPr>
          <a:xfrm>
            <a:off x="4987093" y="5282940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pic>
        <p:nvPicPr>
          <p:cNvPr id="28" name="Picture 27" descr="skd182040sdc.png">
            <a:extLst>
              <a:ext uri="{FF2B5EF4-FFF2-40B4-BE49-F238E27FC236}">
                <a16:creationId xmlns:a16="http://schemas.microsoft.com/office/drawing/2014/main" id="{F4F238BF-8437-D3BB-2E23-CE06D19FD9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594" y="5084608"/>
            <a:ext cx="699606" cy="83861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A8178A-7E77-7FE5-2DEA-F9C7AD2C6AAD}"/>
              </a:ext>
            </a:extLst>
          </p:cNvPr>
          <p:cNvCxnSpPr/>
          <p:nvPr/>
        </p:nvCxnSpPr>
        <p:spPr>
          <a:xfrm>
            <a:off x="6084168" y="5661248"/>
            <a:ext cx="806575" cy="0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2B14894-4D6E-BD19-66F7-A1FEFD1A36E4}"/>
              </a:ext>
            </a:extLst>
          </p:cNvPr>
          <p:cNvSpPr/>
          <p:nvPr/>
        </p:nvSpPr>
        <p:spPr>
          <a:xfrm>
            <a:off x="6259485" y="5355679"/>
            <a:ext cx="850702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83500"/>
                </a:solidFill>
                <a:latin typeface="Webdings"/>
                <a:ea typeface="Webdings"/>
                <a:cs typeface="Webdings"/>
              </a:rPr>
              <a:t></a:t>
            </a:r>
            <a:endParaRPr lang="en-US" sz="3200" dirty="0">
              <a:solidFill>
                <a:srgbClr val="F835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5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2B3A-625F-CB21-6AD7-D9A4B17C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9075-CC57-62AA-F4D6-BBED4537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591"/>
            <a:ext cx="9144000" cy="1062446"/>
          </a:xfrm>
          <a:solidFill>
            <a:srgbClr val="002060">
              <a:alpha val="90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Merge Conflict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AutoShape 2" descr="Image result for zju logo">
            <a:extLst>
              <a:ext uri="{FF2B5EF4-FFF2-40B4-BE49-F238E27FC236}">
                <a16:creationId xmlns:a16="http://schemas.microsoft.com/office/drawing/2014/main" id="{F1A3B9C2-0439-A962-91BC-9302353D7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Image result for zju logo">
            <a:extLst>
              <a:ext uri="{FF2B5EF4-FFF2-40B4-BE49-F238E27FC236}">
                <a16:creationId xmlns:a16="http://schemas.microsoft.com/office/drawing/2014/main" id="{F8524F47-E40D-57BA-C1C8-6E1F4257CD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skd181973sdc.png">
            <a:extLst>
              <a:ext uri="{FF2B5EF4-FFF2-40B4-BE49-F238E27FC236}">
                <a16:creationId xmlns:a16="http://schemas.microsoft.com/office/drawing/2014/main" id="{CA775711-5D4B-9754-C4A2-0AEE897599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17" y="2303954"/>
            <a:ext cx="681692" cy="878111"/>
          </a:xfrm>
          <a:prstGeom prst="rect">
            <a:avLst/>
          </a:prstGeom>
        </p:spPr>
      </p:pic>
      <p:pic>
        <p:nvPicPr>
          <p:cNvPr id="7" name="Picture 6" descr="skd182040sdc.png">
            <a:extLst>
              <a:ext uri="{FF2B5EF4-FFF2-40B4-BE49-F238E27FC236}">
                <a16:creationId xmlns:a16="http://schemas.microsoft.com/office/drawing/2014/main" id="{2A2552A6-7ECE-F89A-1D56-7C88B61322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34" y="2343454"/>
            <a:ext cx="699606" cy="838611"/>
          </a:xfrm>
          <a:prstGeom prst="rect">
            <a:avLst/>
          </a:prstGeom>
        </p:spPr>
      </p:pic>
      <p:sp>
        <p:nvSpPr>
          <p:cNvPr id="8" name="Magnetic Disk 7">
            <a:extLst>
              <a:ext uri="{FF2B5EF4-FFF2-40B4-BE49-F238E27FC236}">
                <a16:creationId xmlns:a16="http://schemas.microsoft.com/office/drawing/2014/main" id="{A6C9BBA1-8FA4-07A0-FA05-1E145039B308}"/>
              </a:ext>
            </a:extLst>
          </p:cNvPr>
          <p:cNvSpPr/>
          <p:nvPr/>
        </p:nvSpPr>
        <p:spPr>
          <a:xfrm>
            <a:off x="935166" y="3461838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06080-3D13-F379-AE41-CD14FCD49092}"/>
              </a:ext>
            </a:extLst>
          </p:cNvPr>
          <p:cNvCxnSpPr/>
          <p:nvPr/>
        </p:nvCxnSpPr>
        <p:spPr>
          <a:xfrm flipH="1">
            <a:off x="1106088" y="3060105"/>
            <a:ext cx="650221" cy="40173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51CDBD-BF5F-564A-C3F5-64240AD15EB7}"/>
              </a:ext>
            </a:extLst>
          </p:cNvPr>
          <p:cNvCxnSpPr/>
          <p:nvPr/>
        </p:nvCxnSpPr>
        <p:spPr>
          <a:xfrm>
            <a:off x="581945" y="3182065"/>
            <a:ext cx="524143" cy="279773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E94BA2-25B2-797D-440F-73882A32EDEE}"/>
              </a:ext>
            </a:extLst>
          </p:cNvPr>
          <p:cNvSpPr txBox="1"/>
          <p:nvPr/>
        </p:nvSpPr>
        <p:spPr>
          <a:xfrm>
            <a:off x="39488" y="449695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5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DB34D0-5AE9-6EAE-D378-9D34760CEEE5}"/>
              </a:ext>
            </a:extLst>
          </p:cNvPr>
          <p:cNvSpPr txBox="1"/>
          <p:nvPr/>
        </p:nvSpPr>
        <p:spPr>
          <a:xfrm>
            <a:off x="0" y="1697123"/>
            <a:ext cx="3146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Alice Local Revision: 5</a:t>
            </a:r>
          </a:p>
          <a:p>
            <a:r>
              <a:rPr lang="en-US" dirty="0">
                <a:solidFill>
                  <a:srgbClr val="FFFFFF"/>
                </a:solidFill>
              </a:rPr>
              <a:t>Bob Local    Revision: 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31CBBF-66B1-9A2A-960B-7CCC319D35C5}"/>
              </a:ext>
            </a:extLst>
          </p:cNvPr>
          <p:cNvSpPr txBox="1"/>
          <p:nvPr/>
        </p:nvSpPr>
        <p:spPr>
          <a:xfrm>
            <a:off x="1756542" y="2985861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Both checkout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Time:  12 pm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8432A4-551A-81E9-03A2-D2E6BC21D682}"/>
              </a:ext>
            </a:extLst>
          </p:cNvPr>
          <p:cNvSpPr txBox="1"/>
          <p:nvPr/>
        </p:nvSpPr>
        <p:spPr>
          <a:xfrm>
            <a:off x="240388" y="1587303"/>
            <a:ext cx="353151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Alice Local  Revision: 5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Local    Revision: 5 </a:t>
            </a:r>
          </a:p>
        </p:txBody>
      </p:sp>
      <p:pic>
        <p:nvPicPr>
          <p:cNvPr id="3" name="Picture 2" descr="skd181973sdc.png">
            <a:extLst>
              <a:ext uri="{FF2B5EF4-FFF2-40B4-BE49-F238E27FC236}">
                <a16:creationId xmlns:a16="http://schemas.microsoft.com/office/drawing/2014/main" id="{5E3A3C22-8281-8592-7F89-222224BD9B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036" y="1761975"/>
            <a:ext cx="681692" cy="878111"/>
          </a:xfrm>
          <a:prstGeom prst="rect">
            <a:avLst/>
          </a:prstGeom>
        </p:spPr>
      </p:pic>
      <p:sp>
        <p:nvSpPr>
          <p:cNvPr id="9" name="Magnetic Disk 8">
            <a:extLst>
              <a:ext uri="{FF2B5EF4-FFF2-40B4-BE49-F238E27FC236}">
                <a16:creationId xmlns:a16="http://schemas.microsoft.com/office/drawing/2014/main" id="{556F4C0F-EE46-DE05-1C2E-F8230F1FCDBB}"/>
              </a:ext>
            </a:extLst>
          </p:cNvPr>
          <p:cNvSpPr/>
          <p:nvPr/>
        </p:nvSpPr>
        <p:spPr>
          <a:xfrm>
            <a:off x="5864769" y="2563483"/>
            <a:ext cx="1025974" cy="1068709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DE4E45-14A1-C847-A457-E89B7402E492}"/>
              </a:ext>
            </a:extLst>
          </p:cNvPr>
          <p:cNvCxnSpPr>
            <a:endCxn id="3" idx="3"/>
          </p:cNvCxnSpPr>
          <p:nvPr/>
        </p:nvCxnSpPr>
        <p:spPr>
          <a:xfrm flipH="1" flipV="1">
            <a:off x="5099728" y="2201031"/>
            <a:ext cx="840424" cy="435881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8D7BFA-6043-3575-F625-9029A30F292D}"/>
              </a:ext>
            </a:extLst>
          </p:cNvPr>
          <p:cNvSpPr txBox="1"/>
          <p:nvPr/>
        </p:nvSpPr>
        <p:spPr>
          <a:xfrm>
            <a:off x="4009498" y="2662696"/>
            <a:ext cx="185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</a:t>
            </a:r>
            <a:r>
              <a:rPr lang="en-US" dirty="0">
                <a:solidFill>
                  <a:srgbClr val="FFFFFF"/>
                </a:solidFill>
              </a:rPr>
              <a:t>Alice</a:t>
            </a:r>
          </a:p>
          <a:p>
            <a:r>
              <a:rPr lang="en-US" dirty="0">
                <a:solidFill>
                  <a:srgbClr val="FFFFFF"/>
                </a:solidFill>
              </a:rPr>
              <a:t>Local Revision 6</a:t>
            </a:r>
          </a:p>
        </p:txBody>
      </p:sp>
      <p:pic>
        <p:nvPicPr>
          <p:cNvPr id="13" name="Picture 12" descr="skd182040sdc.png">
            <a:extLst>
              <a:ext uri="{FF2B5EF4-FFF2-40B4-BE49-F238E27FC236}">
                <a16:creationId xmlns:a16="http://schemas.microsoft.com/office/drawing/2014/main" id="{21635636-A467-C38E-C65E-3EF9B9B9B3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910" y="2437165"/>
            <a:ext cx="699606" cy="838611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EB66BD9E-F45B-A3FC-864A-DD6A935AB6E1}"/>
              </a:ext>
            </a:extLst>
          </p:cNvPr>
          <p:cNvSpPr/>
          <p:nvPr/>
        </p:nvSpPr>
        <p:spPr>
          <a:xfrm>
            <a:off x="4185647" y="3088768"/>
            <a:ext cx="672059" cy="187008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DE7AED-49E9-048C-92F5-BAE6133F6926}"/>
              </a:ext>
            </a:extLst>
          </p:cNvPr>
          <p:cNvSpPr txBox="1"/>
          <p:nvPr/>
        </p:nvSpPr>
        <p:spPr>
          <a:xfrm>
            <a:off x="5293335" y="1502321"/>
            <a:ext cx="3631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Alice changes </a:t>
            </a:r>
            <a:r>
              <a:rPr lang="en-US" dirty="0" err="1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file</a:t>
            </a:r>
          </a:p>
          <a:p>
            <a:r>
              <a:rPr lang="en-US" dirty="0">
                <a:solidFill>
                  <a:schemeClr val="accent2"/>
                </a:solidFill>
                <a:latin typeface="Roboto Mono" pitchFamily="49" charset="0"/>
                <a:ea typeface="Roboto Mono" pitchFamily="49" charset="0"/>
              </a:rPr>
              <a:t>  and commit first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47BDF3-452C-B444-87C7-B548F493000A}"/>
              </a:ext>
            </a:extLst>
          </p:cNvPr>
          <p:cNvSpPr/>
          <p:nvPr/>
        </p:nvSpPr>
        <p:spPr>
          <a:xfrm>
            <a:off x="5204666" y="2184641"/>
            <a:ext cx="575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835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sz="3600" dirty="0">
              <a:solidFill>
                <a:srgbClr val="F835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AF6ECC-065E-EC48-1CA8-6E80661EC6B9}"/>
              </a:ext>
            </a:extLst>
          </p:cNvPr>
          <p:cNvSpPr txBox="1"/>
          <p:nvPr/>
        </p:nvSpPr>
        <p:spPr>
          <a:xfrm>
            <a:off x="7056184" y="3311765"/>
            <a:ext cx="1868273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8B62CF-3562-DFDA-405F-A2FB01C2E921}"/>
              </a:ext>
            </a:extLst>
          </p:cNvPr>
          <p:cNvSpPr txBox="1"/>
          <p:nvPr/>
        </p:nvSpPr>
        <p:spPr>
          <a:xfrm>
            <a:off x="2813882" y="4365774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Bob changes </a:t>
            </a:r>
            <a:r>
              <a:rPr lang="en-US" dirty="0" err="1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A.java</a:t>
            </a:r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 file in </a:t>
            </a:r>
          </a:p>
          <a:p>
            <a:r>
              <a:rPr lang="en-US" dirty="0">
                <a:solidFill>
                  <a:srgbClr val="F88600"/>
                </a:solidFill>
                <a:latin typeface="Roboto Mono" pitchFamily="49" charset="0"/>
                <a:ea typeface="Roboto Mono" pitchFamily="49" charset="0"/>
              </a:rPr>
              <a:t>the same place and tries to commit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E79ABE-588C-978C-E89E-52DB62684071}"/>
              </a:ext>
            </a:extLst>
          </p:cNvPr>
          <p:cNvSpPr txBox="1"/>
          <p:nvPr/>
        </p:nvSpPr>
        <p:spPr>
          <a:xfrm>
            <a:off x="3394280" y="6208572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 Revision 6</a:t>
            </a:r>
            <a:endParaRPr lang="en-US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2E36C8-1CE7-4F19-CDB4-E6BCDF3D7877}"/>
              </a:ext>
            </a:extLst>
          </p:cNvPr>
          <p:cNvSpPr txBox="1"/>
          <p:nvPr/>
        </p:nvSpPr>
        <p:spPr>
          <a:xfrm>
            <a:off x="7439591" y="4939602"/>
            <a:ext cx="1704409" cy="9233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Bob </a:t>
            </a:r>
          </a:p>
          <a:p>
            <a:r>
              <a:rPr lang="en-US" dirty="0">
                <a:solidFill>
                  <a:srgbClr val="FFFFFF"/>
                </a:solidFill>
                <a:latin typeface="Roboto Mono" pitchFamily="49" charset="0"/>
                <a:ea typeface="Roboto Mono" pitchFamily="49" charset="0"/>
              </a:rPr>
              <a:t>Local Revision 5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5B0069B-0BBD-00EE-3939-48B2FC34D7E2}"/>
              </a:ext>
            </a:extLst>
          </p:cNvPr>
          <p:cNvSpPr/>
          <p:nvPr/>
        </p:nvSpPr>
        <p:spPr>
          <a:xfrm rot="5400000">
            <a:off x="6297098" y="4186998"/>
            <a:ext cx="816595" cy="177163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Magnetic Disk 26">
            <a:extLst>
              <a:ext uri="{FF2B5EF4-FFF2-40B4-BE49-F238E27FC236}">
                <a16:creationId xmlns:a16="http://schemas.microsoft.com/office/drawing/2014/main" id="{06406968-0FFF-28DB-C5CD-7BD70216B586}"/>
              </a:ext>
            </a:extLst>
          </p:cNvPr>
          <p:cNvSpPr/>
          <p:nvPr/>
        </p:nvSpPr>
        <p:spPr>
          <a:xfrm>
            <a:off x="4987093" y="5282940"/>
            <a:ext cx="1025974" cy="965185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Roboto Mono" pitchFamily="49" charset="0"/>
                <a:ea typeface="Roboto Mono" pitchFamily="49" charset="0"/>
              </a:rPr>
              <a:t>Server</a:t>
            </a:r>
          </a:p>
        </p:txBody>
      </p:sp>
      <p:pic>
        <p:nvPicPr>
          <p:cNvPr id="28" name="Picture 27" descr="skd182040sdc.png">
            <a:extLst>
              <a:ext uri="{FF2B5EF4-FFF2-40B4-BE49-F238E27FC236}">
                <a16:creationId xmlns:a16="http://schemas.microsoft.com/office/drawing/2014/main" id="{611032BC-0A5C-8570-D9ED-4B77BD0CA1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594" y="5084608"/>
            <a:ext cx="699606" cy="83861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F31DE3-DC02-3635-CC4C-4C266B6EAC9E}"/>
              </a:ext>
            </a:extLst>
          </p:cNvPr>
          <p:cNvCxnSpPr/>
          <p:nvPr/>
        </p:nvCxnSpPr>
        <p:spPr>
          <a:xfrm>
            <a:off x="6084168" y="5661248"/>
            <a:ext cx="806575" cy="0"/>
          </a:xfrm>
          <a:prstGeom prst="line">
            <a:avLst/>
          </a:prstGeom>
          <a:ln>
            <a:headEnd type="arrow"/>
            <a:tailEnd type="non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E44824C-4125-E3F8-CCB4-3EB0656FE543}"/>
              </a:ext>
            </a:extLst>
          </p:cNvPr>
          <p:cNvSpPr/>
          <p:nvPr/>
        </p:nvSpPr>
        <p:spPr>
          <a:xfrm>
            <a:off x="6259485" y="5355679"/>
            <a:ext cx="850702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83500"/>
                </a:solidFill>
                <a:latin typeface="Webdings"/>
                <a:ea typeface="Webdings"/>
                <a:cs typeface="Webdings"/>
              </a:rPr>
              <a:t></a:t>
            </a:r>
            <a:endParaRPr lang="en-US" sz="3200" dirty="0">
              <a:solidFill>
                <a:srgbClr val="F83500"/>
              </a:solidFill>
            </a:endParaRPr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08729C36-1933-5618-2963-792FF09C87F2}"/>
              </a:ext>
            </a:extLst>
          </p:cNvPr>
          <p:cNvSpPr/>
          <p:nvPr/>
        </p:nvSpPr>
        <p:spPr>
          <a:xfrm>
            <a:off x="981634" y="4852831"/>
            <a:ext cx="2893747" cy="2020202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Roboto Mono" pitchFamily="49" charset="0"/>
                <a:ea typeface="Roboto Mono" pitchFamily="49" charset="0"/>
              </a:rPr>
              <a:t>Conflict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10450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.8|3.9|8.1|27.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14254</TotalTime>
  <Words>1381</Words>
  <Application>Microsoft Macintosh PowerPoint</Application>
  <PresentationFormat>On-screen Show (4:3)</PresentationFormat>
  <Paragraphs>279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Courier</vt:lpstr>
      <vt:lpstr>Roboto Mono</vt:lpstr>
      <vt:lpstr>Webdings</vt:lpstr>
      <vt:lpstr>Wingdings</vt:lpstr>
      <vt:lpstr>Zapf Dingbats</vt:lpstr>
      <vt:lpstr>Office Theme</vt:lpstr>
      <vt:lpstr>Branching and Merging (Git) </vt:lpstr>
      <vt:lpstr>Git Model</vt:lpstr>
      <vt:lpstr>Git Model</vt:lpstr>
      <vt:lpstr>Git Model</vt:lpstr>
      <vt:lpstr>Git Model</vt:lpstr>
      <vt:lpstr>Git Branching</vt:lpstr>
      <vt:lpstr>Git Branching</vt:lpstr>
      <vt:lpstr>Git Branching</vt:lpstr>
      <vt:lpstr>Git Branching</vt:lpstr>
      <vt:lpstr>Git Branching</vt:lpstr>
      <vt:lpstr>Git Branching</vt:lpstr>
      <vt:lpstr>How to switch branches?</vt:lpstr>
      <vt:lpstr>What if I make new changes</vt:lpstr>
      <vt:lpstr>What if I make new changes</vt:lpstr>
      <vt:lpstr>Let’s switch to the master branch</vt:lpstr>
      <vt:lpstr>Let’s switch to the master branch</vt:lpstr>
      <vt:lpstr>Let’s switch to the master branch</vt:lpstr>
      <vt:lpstr>Let’s make a divergent change</vt:lpstr>
      <vt:lpstr>You can see divergent history easily</vt:lpstr>
      <vt:lpstr>Basic Branching Example</vt:lpstr>
      <vt:lpstr>Basic Branching Example</vt:lpstr>
      <vt:lpstr>Basic Branching Example</vt:lpstr>
      <vt:lpstr>Basic Branching Example</vt:lpstr>
      <vt:lpstr>Basic Branching Example</vt:lpstr>
      <vt:lpstr>Basic Branching Example</vt:lpstr>
      <vt:lpstr>Basic Branching Example</vt:lpstr>
      <vt:lpstr>Basic Branching Example</vt:lpstr>
      <vt:lpstr>Basic Branching Example</vt:lpstr>
      <vt:lpstr>Basic Branching Example</vt:lpstr>
      <vt:lpstr>Merge Conflict</vt:lpstr>
      <vt:lpstr>Merge Conflict</vt:lpstr>
      <vt:lpstr>Merge Conflict</vt:lpstr>
      <vt:lpstr>Merge Conflict</vt:lpstr>
      <vt:lpstr>Merge Conflict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Effectively Leveraging the Knowledge of the Crowd</dc:title>
  <dc:creator>wang shaowei</dc:creator>
  <cp:lastModifiedBy>Muhammad Asaduzzaman</cp:lastModifiedBy>
  <cp:revision>195</cp:revision>
  <cp:lastPrinted>2019-05-13T13:48:02Z</cp:lastPrinted>
  <dcterms:created xsi:type="dcterms:W3CDTF">2019-02-16T23:57:07Z</dcterms:created>
  <dcterms:modified xsi:type="dcterms:W3CDTF">2025-09-17T20:08:56Z</dcterms:modified>
</cp:coreProperties>
</file>