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84"/>
  </p:notesMasterIdLst>
  <p:handoutMasterIdLst>
    <p:handoutMasterId r:id="rId85"/>
  </p:handoutMasterIdLst>
  <p:sldIdLst>
    <p:sldId id="256" r:id="rId2"/>
    <p:sldId id="295" r:id="rId3"/>
    <p:sldId id="267" r:id="rId4"/>
    <p:sldId id="387" r:id="rId5"/>
    <p:sldId id="268" r:id="rId6"/>
    <p:sldId id="388" r:id="rId7"/>
    <p:sldId id="329" r:id="rId8"/>
    <p:sldId id="328" r:id="rId9"/>
    <p:sldId id="340" r:id="rId10"/>
    <p:sldId id="341" r:id="rId11"/>
    <p:sldId id="342" r:id="rId12"/>
    <p:sldId id="343" r:id="rId13"/>
    <p:sldId id="345" r:id="rId14"/>
    <p:sldId id="346" r:id="rId15"/>
    <p:sldId id="347" r:id="rId16"/>
    <p:sldId id="296" r:id="rId17"/>
    <p:sldId id="348" r:id="rId18"/>
    <p:sldId id="349" r:id="rId19"/>
    <p:sldId id="350" r:id="rId20"/>
    <p:sldId id="351" r:id="rId21"/>
    <p:sldId id="297" r:id="rId22"/>
    <p:sldId id="352" r:id="rId23"/>
    <p:sldId id="354" r:id="rId24"/>
    <p:sldId id="298" r:id="rId25"/>
    <p:sldId id="353" r:id="rId26"/>
    <p:sldId id="355" r:id="rId27"/>
    <p:sldId id="258" r:id="rId28"/>
    <p:sldId id="356" r:id="rId29"/>
    <p:sldId id="357" r:id="rId30"/>
    <p:sldId id="358" r:id="rId31"/>
    <p:sldId id="359" r:id="rId32"/>
    <p:sldId id="360" r:id="rId33"/>
    <p:sldId id="299" r:id="rId34"/>
    <p:sldId id="362" r:id="rId35"/>
    <p:sldId id="361" r:id="rId36"/>
    <p:sldId id="303" r:id="rId37"/>
    <p:sldId id="363" r:id="rId38"/>
    <p:sldId id="364" r:id="rId39"/>
    <p:sldId id="386" r:id="rId40"/>
    <p:sldId id="366" r:id="rId41"/>
    <p:sldId id="304" r:id="rId42"/>
    <p:sldId id="368" r:id="rId43"/>
    <p:sldId id="367" r:id="rId44"/>
    <p:sldId id="305" r:id="rId45"/>
    <p:sldId id="369" r:id="rId46"/>
    <p:sldId id="330" r:id="rId47"/>
    <p:sldId id="300" r:id="rId48"/>
    <p:sldId id="371" r:id="rId49"/>
    <p:sldId id="372" r:id="rId50"/>
    <p:sldId id="373" r:id="rId51"/>
    <p:sldId id="306" r:id="rId52"/>
    <p:sldId id="307" r:id="rId53"/>
    <p:sldId id="308" r:id="rId54"/>
    <p:sldId id="374" r:id="rId55"/>
    <p:sldId id="309" r:id="rId56"/>
    <p:sldId id="301" r:id="rId57"/>
    <p:sldId id="375" r:id="rId58"/>
    <p:sldId id="311" r:id="rId59"/>
    <p:sldId id="310" r:id="rId60"/>
    <p:sldId id="331" r:id="rId61"/>
    <p:sldId id="335" r:id="rId62"/>
    <p:sldId id="284" r:id="rId63"/>
    <p:sldId id="376" r:id="rId64"/>
    <p:sldId id="377" r:id="rId65"/>
    <p:sldId id="378" r:id="rId66"/>
    <p:sldId id="285" r:id="rId67"/>
    <p:sldId id="286" r:id="rId68"/>
    <p:sldId id="287" r:id="rId69"/>
    <p:sldId id="315" r:id="rId70"/>
    <p:sldId id="259" r:id="rId71"/>
    <p:sldId id="316" r:id="rId72"/>
    <p:sldId id="380" r:id="rId73"/>
    <p:sldId id="381" r:id="rId74"/>
    <p:sldId id="382" r:id="rId75"/>
    <p:sldId id="383" r:id="rId76"/>
    <p:sldId id="384" r:id="rId77"/>
    <p:sldId id="379" r:id="rId78"/>
    <p:sldId id="385" r:id="rId79"/>
    <p:sldId id="389" r:id="rId80"/>
    <p:sldId id="390" r:id="rId81"/>
    <p:sldId id="332" r:id="rId82"/>
    <p:sldId id="333" r:id="rId83"/>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53"/>
    <p:restoredTop sz="94640"/>
  </p:normalViewPr>
  <p:slideViewPr>
    <p:cSldViewPr snapToGrid="0" snapToObjects="1">
      <p:cViewPr varScale="1">
        <p:scale>
          <a:sx n="102" d="100"/>
          <a:sy n="102" d="100"/>
        </p:scale>
        <p:origin x="3040" y="184"/>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9/21/26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9/21/26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9958A-7F8A-EA9C-9CF5-704B4D4E7ED2}"/>
            </a:ext>
          </a:extLst>
        </p:cNvPr>
        <p:cNvGrpSpPr/>
        <p:nvPr/>
      </p:nvGrpSpPr>
      <p:grpSpPr>
        <a:xfrm>
          <a:off x="0" y="0"/>
          <a:ext cx="0" cy="0"/>
          <a:chOff x="0" y="0"/>
          <a:chExt cx="0" cy="0"/>
        </a:xfrm>
      </p:grpSpPr>
      <p:sp>
        <p:nvSpPr>
          <p:cNvPr id="67586" name="Rectangle 1026">
            <a:extLst>
              <a:ext uri="{FF2B5EF4-FFF2-40B4-BE49-F238E27FC236}">
                <a16:creationId xmlns:a16="http://schemas.microsoft.com/office/drawing/2014/main" id="{9DAD3419-41E8-DD45-26F3-8E930D527331}"/>
              </a:ext>
            </a:extLst>
          </p:cNvPr>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a:extLst>
              <a:ext uri="{FF2B5EF4-FFF2-40B4-BE49-F238E27FC236}">
                <a16:creationId xmlns:a16="http://schemas.microsoft.com/office/drawing/2014/main" id="{1359E56A-6800-9444-C327-4F1FE40468C5}"/>
              </a:ext>
            </a:extLst>
          </p:cNvPr>
          <p:cNvSpPr>
            <a:spLocks noGrp="1" noRot="1" noChangeAspect="1" noChangeArrowheads="1" noTextEdit="1"/>
          </p:cNvSpPr>
          <p:nvPr>
            <p:ph type="sldImg"/>
          </p:nvPr>
        </p:nvSpPr>
        <p:spPr>
          <a:xfrm>
            <a:off x="1295400" y="798513"/>
            <a:ext cx="4267200" cy="3200400"/>
          </a:xfrm>
          <a:ln cap="flat"/>
        </p:spPr>
      </p:sp>
    </p:spTree>
    <p:extLst>
      <p:ext uri="{BB962C8B-B14F-4D97-AF65-F5344CB8AC3E}">
        <p14:creationId xmlns:p14="http://schemas.microsoft.com/office/powerpoint/2010/main" val="635138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88945BCA-281A-EF46-B30C-E533711A96A6}"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D7D775D0-E1A2-294B-A354-26DFF9F52175}"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B01F110D-6BEE-6C42-A0C4-079F6836ADD7}" type="datetime1">
              <a:rPr lang="en-CA" smtClean="0"/>
              <a:t>2026-09-21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08A3263-6749-FC40-AC65-321467E9F8BC}" type="datetime1">
              <a:rPr lang="en-CA" smtClean="0"/>
              <a:t>2026-09-21</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8ADC60F-1512-6641-8966-BC25359E815B}" type="datetime1">
              <a:rPr lang="en-CA" smtClean="0"/>
              <a:t>2026-09-21</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38EFC593-F4DF-5247-971D-0C3186F5E366}" type="datetime1">
              <a:rPr lang="en-CA" smtClean="0"/>
              <a:t>2026-09-21</a:t>
            </a:fld>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77EDCEC-5971-4F4A-90FC-254613B0DE21}" type="datetime1">
              <a:rPr lang="en-CA" smtClean="0"/>
              <a:t>2026-09-21</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51A77E94-331F-9A4F-AA47-66187DFB0C0E}" type="datetime1">
              <a:rPr lang="en-CA" smtClean="0"/>
              <a:t>2026-09-21</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68E83E6D-EC33-A443-AC29-64356A2574A3}" type="datetime1">
              <a:rPr lang="en-CA" smtClean="0"/>
              <a:t>2026-09-21</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07D5561C-153F-854B-8218-9FFBDD6B3A65}" type="datetime1">
              <a:rPr lang="en-CA" smtClean="0"/>
              <a:t>2026-09-21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2C4FB2B8-5DA0-1642-B343-45EA72D3FE68}" type="datetime1">
              <a:rPr lang="en-CA" smtClean="0"/>
              <a:t>2026-09-21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099776-FF0B-9A41-98F2-68F7C6D7185F}" type="datetime1">
              <a:rPr lang="en-CA" smtClean="0"/>
              <a:t>2026-09-21</a:t>
            </a:fld>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Chapter 1- Introduction</a:t>
            </a:r>
          </a:p>
        </p:txBody>
      </p:sp>
      <p:sp>
        <p:nvSpPr>
          <p:cNvPr id="2" name="Footer Placeholder 1"/>
          <p:cNvSpPr>
            <a:spLocks noGrp="1"/>
          </p:cNvSpPr>
          <p:nvPr>
            <p:ph type="ftr" sz="quarter" idx="10"/>
          </p:nvPr>
        </p:nvSpPr>
        <p:spPr/>
        <p:txBody>
          <a:bodyPr/>
          <a:lstStyle/>
          <a:p>
            <a:r>
              <a:rPr lang="en-US"/>
              <a:t>Chapter 1 Introduction</a:t>
            </a:r>
            <a:endParaRPr lang="en-US" dirty="0"/>
          </a:p>
        </p:txBody>
      </p:sp>
      <p:sp>
        <p:nvSpPr>
          <p:cNvPr id="4" name="Date Placeholder 3"/>
          <p:cNvSpPr>
            <a:spLocks noGrp="1"/>
          </p:cNvSpPr>
          <p:nvPr>
            <p:ph type="dt" sz="half" idx="11"/>
          </p:nvPr>
        </p:nvSpPr>
        <p:spPr/>
        <p:txBody>
          <a:bodyPr/>
          <a:lstStyle/>
          <a:p>
            <a:r>
              <a:rPr lang="en-CA" dirty="0"/>
              <a:t>2024-09-11</a:t>
            </a:r>
            <a:endParaRPr lang="en-US" dirty="0"/>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08599235-991E-0B4C-994A-167DB4FE5187}"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a:t>Software engineering</a:t>
            </a:r>
          </a:p>
        </p:txBody>
      </p:sp>
      <p:sp>
        <p:nvSpPr>
          <p:cNvPr id="64517" name="Rectangle 5"/>
          <p:cNvSpPr>
            <a:spLocks noGrp="1" noChangeArrowheads="1"/>
          </p:cNvSpPr>
          <p:nvPr>
            <p:ph idx="1"/>
          </p:nvPr>
        </p:nvSpPr>
        <p:spPr/>
        <p:txBody>
          <a:bodyPr/>
          <a:lstStyle/>
          <a:p>
            <a:r>
              <a:rPr lang="en-GB" dirty="0"/>
              <a:t>The economies of ALL developed nations are </a:t>
            </a:r>
            <a:br>
              <a:rPr lang="en-GB" dirty="0"/>
            </a:br>
            <a:r>
              <a:rPr lang="en-GB" dirty="0"/>
              <a:t>dependent on software.</a:t>
            </a:r>
          </a:p>
          <a:p>
            <a:r>
              <a:rPr lang="en-GB" dirty="0"/>
              <a:t>More and more systems are software controlled</a:t>
            </a:r>
          </a:p>
          <a:p>
            <a:r>
              <a:rPr lang="en-GB" dirty="0"/>
              <a:t>Software engineering is concerned with theories, methods and tools for professional software development.</a:t>
            </a:r>
          </a:p>
          <a:p>
            <a:r>
              <a:rPr lang="en-GB" dirty="0"/>
              <a:t>Expenditure on software represents a </a:t>
            </a:r>
            <a:br>
              <a:rPr lang="en-GB" dirty="0"/>
            </a:br>
            <a:r>
              <a:rPr lang="en-GB" dirty="0"/>
              <a:t>significant fraction of GNP in all developed countries.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D379CF3E-5251-9042-B3F0-D62777606F23}"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E1BFE-102A-7CCA-FA1F-E99E2201ABF5}"/>
            </a:ext>
          </a:extLst>
        </p:cNvPr>
        <p:cNvGrpSpPr/>
        <p:nvPr/>
      </p:nvGrpSpPr>
      <p:grpSpPr>
        <a:xfrm>
          <a:off x="0" y="0"/>
          <a:ext cx="0" cy="0"/>
          <a:chOff x="0" y="0"/>
          <a:chExt cx="0" cy="0"/>
        </a:xfrm>
      </p:grpSpPr>
      <p:sp>
        <p:nvSpPr>
          <p:cNvPr id="66564" name="Rectangle 4">
            <a:extLst>
              <a:ext uri="{FF2B5EF4-FFF2-40B4-BE49-F238E27FC236}">
                <a16:creationId xmlns:a16="http://schemas.microsoft.com/office/drawing/2014/main" id="{59B96870-0B26-9164-B5DC-82BC49F1C61F}"/>
              </a:ext>
            </a:extLst>
          </p:cNvPr>
          <p:cNvSpPr>
            <a:spLocks noGrp="1" noChangeArrowheads="1"/>
          </p:cNvSpPr>
          <p:nvPr>
            <p:ph type="title"/>
          </p:nvPr>
        </p:nvSpPr>
        <p:spPr/>
        <p:txBody>
          <a:bodyPr/>
          <a:lstStyle/>
          <a:p>
            <a:r>
              <a:rPr lang="en-GB"/>
              <a:t>Software costs</a:t>
            </a:r>
          </a:p>
        </p:txBody>
      </p:sp>
      <p:sp>
        <p:nvSpPr>
          <p:cNvPr id="5" name="Footer Placeholder 4">
            <a:extLst>
              <a:ext uri="{FF2B5EF4-FFF2-40B4-BE49-F238E27FC236}">
                <a16:creationId xmlns:a16="http://schemas.microsoft.com/office/drawing/2014/main" id="{0DFB1AE7-4D5E-3CA5-7227-CEB255CD6D50}"/>
              </a:ext>
            </a:extLst>
          </p:cNvPr>
          <p:cNvSpPr>
            <a:spLocks noGrp="1"/>
          </p:cNvSpPr>
          <p:nvPr>
            <p:ph type="ftr" sz="quarter" idx="10"/>
          </p:nvPr>
        </p:nvSpPr>
        <p:spPr/>
        <p:txBody>
          <a:bodyPr/>
          <a:lstStyle/>
          <a:p>
            <a:r>
              <a:rPr lang="en-US"/>
              <a:t>Chapter 1 Introduction</a:t>
            </a:r>
            <a:endParaRPr lang="en-US" dirty="0"/>
          </a:p>
        </p:txBody>
      </p:sp>
      <p:sp>
        <p:nvSpPr>
          <p:cNvPr id="6" name="Date Placeholder 5">
            <a:extLst>
              <a:ext uri="{FF2B5EF4-FFF2-40B4-BE49-F238E27FC236}">
                <a16:creationId xmlns:a16="http://schemas.microsoft.com/office/drawing/2014/main" id="{1331DA38-721B-04E1-658C-D871A8852076}"/>
              </a:ext>
            </a:extLst>
          </p:cNvPr>
          <p:cNvSpPr>
            <a:spLocks noGrp="1"/>
          </p:cNvSpPr>
          <p:nvPr>
            <p:ph type="dt" sz="half" idx="11"/>
          </p:nvPr>
        </p:nvSpPr>
        <p:spPr/>
        <p:txBody>
          <a:bodyPr/>
          <a:lstStyle/>
          <a:p>
            <a:fld id="{005B6B24-A37D-4A45-9BA2-FB7A7D98210B}" type="datetime1">
              <a:rPr lang="en-CA" smtClean="0"/>
              <a:t>2026-09-21</a:t>
            </a:fld>
            <a:endParaRPr lang="en-US"/>
          </a:p>
        </p:txBody>
      </p:sp>
      <p:sp>
        <p:nvSpPr>
          <p:cNvPr id="7" name="Slide Number Placeholder 6">
            <a:extLst>
              <a:ext uri="{FF2B5EF4-FFF2-40B4-BE49-F238E27FC236}">
                <a16:creationId xmlns:a16="http://schemas.microsoft.com/office/drawing/2014/main" id="{D5FF1EFE-B90A-6301-C673-FBB8D0318299}"/>
              </a:ext>
            </a:extLst>
          </p:cNvPr>
          <p:cNvSpPr>
            <a:spLocks noGrp="1"/>
          </p:cNvSpPr>
          <p:nvPr>
            <p:ph type="sldNum" sz="quarter" idx="12"/>
          </p:nvPr>
        </p:nvSpPr>
        <p:spPr/>
        <p:txBody>
          <a:bodyPr/>
          <a:lstStyle/>
          <a:p>
            <a:fld id="{1D5CD492-2BC6-F348-9965-EC1D86DF57A8}" type="slidenum">
              <a:rPr lang="en-US" smtClean="0"/>
              <a:t>4</a:t>
            </a:fld>
            <a:endParaRPr lang="en-US"/>
          </a:p>
        </p:txBody>
      </p:sp>
    </p:spTree>
    <p:extLst>
      <p:ext uri="{BB962C8B-B14F-4D97-AF65-F5344CB8AC3E}">
        <p14:creationId xmlns:p14="http://schemas.microsoft.com/office/powerpoint/2010/main" val="1102897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005B6B24-A37D-4A45-9BA2-FB7A7D98210B}"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5</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278DC-3C74-68FC-EA4F-2E00BC855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A2897-7748-F4F9-8A77-D083ADFEA15F}"/>
              </a:ext>
            </a:extLst>
          </p:cNvPr>
          <p:cNvSpPr>
            <a:spLocks noGrp="1"/>
          </p:cNvSpPr>
          <p:nvPr>
            <p:ph type="title"/>
          </p:nvPr>
        </p:nvSpPr>
        <p:spPr/>
        <p:txBody>
          <a:bodyPr/>
          <a:lstStyle/>
          <a:p>
            <a:r>
              <a:rPr lang="en-US" dirty="0"/>
              <a:t>Software project failure</a:t>
            </a:r>
          </a:p>
        </p:txBody>
      </p:sp>
      <p:sp>
        <p:nvSpPr>
          <p:cNvPr id="7" name="Footer Placeholder 6">
            <a:extLst>
              <a:ext uri="{FF2B5EF4-FFF2-40B4-BE49-F238E27FC236}">
                <a16:creationId xmlns:a16="http://schemas.microsoft.com/office/drawing/2014/main" id="{61E0FE3E-AFA9-EB99-B7C2-2487AD5CC537}"/>
              </a:ext>
            </a:extLst>
          </p:cNvPr>
          <p:cNvSpPr>
            <a:spLocks noGrp="1"/>
          </p:cNvSpPr>
          <p:nvPr>
            <p:ph type="ftr" sz="quarter" idx="10"/>
          </p:nvPr>
        </p:nvSpPr>
        <p:spPr/>
        <p:txBody>
          <a:bodyPr/>
          <a:lstStyle/>
          <a:p>
            <a:r>
              <a:rPr lang="en-US"/>
              <a:t>Chapter 1 Introduction</a:t>
            </a:r>
            <a:endParaRPr lang="en-US" dirty="0"/>
          </a:p>
        </p:txBody>
      </p:sp>
      <p:sp>
        <p:nvSpPr>
          <p:cNvPr id="8" name="Date Placeholder 7">
            <a:extLst>
              <a:ext uri="{FF2B5EF4-FFF2-40B4-BE49-F238E27FC236}">
                <a16:creationId xmlns:a16="http://schemas.microsoft.com/office/drawing/2014/main" id="{7EF406C0-7070-EECB-24D9-34557496D403}"/>
              </a:ext>
            </a:extLst>
          </p:cNvPr>
          <p:cNvSpPr>
            <a:spLocks noGrp="1"/>
          </p:cNvSpPr>
          <p:nvPr>
            <p:ph type="dt" sz="half" idx="11"/>
          </p:nvPr>
        </p:nvSpPr>
        <p:spPr/>
        <p:txBody>
          <a:bodyPr/>
          <a:lstStyle/>
          <a:p>
            <a:fld id="{16EEFD19-33A2-F442-B648-C12167075D27}" type="datetime1">
              <a:rPr lang="en-CA" smtClean="0"/>
              <a:t>2026-09-21</a:t>
            </a:fld>
            <a:endParaRPr lang="en-US"/>
          </a:p>
        </p:txBody>
      </p:sp>
      <p:sp>
        <p:nvSpPr>
          <p:cNvPr id="9" name="Slide Number Placeholder 8">
            <a:extLst>
              <a:ext uri="{FF2B5EF4-FFF2-40B4-BE49-F238E27FC236}">
                <a16:creationId xmlns:a16="http://schemas.microsoft.com/office/drawing/2014/main" id="{DAD9EB57-1FB0-ACF2-2EA9-A31EB7322A11}"/>
              </a:ext>
            </a:extLst>
          </p:cNvPr>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1308131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project failure</a:t>
            </a:r>
          </a:p>
        </p:txBody>
      </p:sp>
      <p:sp>
        <p:nvSpPr>
          <p:cNvPr id="3" name="Content Placeholder 2"/>
          <p:cNvSpPr>
            <a:spLocks noGrp="1"/>
          </p:cNvSpPr>
          <p:nvPr>
            <p:ph idx="1"/>
          </p:nvPr>
        </p:nvSpPr>
        <p:spPr/>
        <p:txBody>
          <a:bodyPr/>
          <a:lstStyle/>
          <a:p>
            <a:r>
              <a:rPr lang="en-GB" i="1" dirty="0"/>
              <a:t>Increasing system complexity</a:t>
            </a:r>
            <a:r>
              <a:rPr lang="en-GB" dirty="0"/>
              <a:t> </a:t>
            </a:r>
          </a:p>
          <a:p>
            <a:pPr lvl="1"/>
            <a:r>
              <a:rPr lang="en-GB" dirty="0"/>
              <a:t>As new software engineering techniques help us to build larger, more complex systems, the demands change. Systems have to be built and delivered more quickly; larger, even more complex systems are required; systems have to have new capabilities that were previously thought to be impossible. </a:t>
            </a:r>
          </a:p>
          <a:p>
            <a:r>
              <a:rPr lang="en-GB" i="1" dirty="0"/>
              <a:t>Failure to use software engineering methods</a:t>
            </a:r>
            <a:r>
              <a:rPr lang="en-GB" dirty="0"/>
              <a:t> </a:t>
            </a:r>
          </a:p>
          <a:p>
            <a:pPr lvl="1"/>
            <a:r>
              <a:rPr lang="en-GB" dirty="0"/>
              <a:t>It is fairly easy to write computer programs without using software engineering methods and techniques. 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16EEFD19-33A2-F442-B648-C12167075D27}"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7</a:t>
            </a:fld>
            <a:endParaRPr lang="en-US"/>
          </a:p>
        </p:txBody>
      </p:sp>
    </p:spTree>
    <p:extLst>
      <p:ext uri="{BB962C8B-B14F-4D97-AF65-F5344CB8AC3E}">
        <p14:creationId xmlns:p14="http://schemas.microsoft.com/office/powerpoint/2010/main" val="1121805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a:t>Professional software development</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548646AA-236F-1B4C-865B-6E7DD6A535C6}"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8</a:t>
            </a:fld>
            <a:endParaRPr lang="en-US"/>
          </a:p>
        </p:txBody>
      </p:sp>
    </p:spTree>
    <p:extLst>
      <p:ext uri="{BB962C8B-B14F-4D97-AF65-F5344CB8AC3E}">
        <p14:creationId xmlns:p14="http://schemas.microsoft.com/office/powerpoint/2010/main" val="2036704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CD822DE5-349F-5548-AC6B-077AA0DF245D}"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9</a:t>
            </a:fld>
            <a:endParaRPr lang="en-US"/>
          </a:p>
        </p:txBody>
      </p:sp>
      <p:sp>
        <p:nvSpPr>
          <p:cNvPr id="4" name="Rectangle 3">
            <a:extLst>
              <a:ext uri="{FF2B5EF4-FFF2-40B4-BE49-F238E27FC236}">
                <a16:creationId xmlns:a16="http://schemas.microsoft.com/office/drawing/2014/main" id="{EF8EE871-C71E-F94F-B21C-48DFECA42732}"/>
              </a:ext>
            </a:extLst>
          </p:cNvPr>
          <p:cNvSpPr/>
          <p:nvPr/>
        </p:nvSpPr>
        <p:spPr>
          <a:xfrm>
            <a:off x="3970751" y="2129425"/>
            <a:ext cx="4576425" cy="4019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3237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EB55394E-045A-D340-BDA4-A46E54DEAF0C}"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10</a:t>
            </a:fld>
            <a:endParaRPr lang="en-US"/>
          </a:p>
        </p:txBody>
      </p:sp>
      <p:sp>
        <p:nvSpPr>
          <p:cNvPr id="9" name="Rectangle 8">
            <a:extLst>
              <a:ext uri="{FF2B5EF4-FFF2-40B4-BE49-F238E27FC236}">
                <a16:creationId xmlns:a16="http://schemas.microsoft.com/office/drawing/2014/main" id="{771B4E87-E01E-2145-A3D2-1AFB3B5C02D9}"/>
              </a:ext>
            </a:extLst>
          </p:cNvPr>
          <p:cNvSpPr/>
          <p:nvPr/>
        </p:nvSpPr>
        <p:spPr>
          <a:xfrm>
            <a:off x="3970751" y="2818356"/>
            <a:ext cx="4576425" cy="33302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498934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C9724D45-9688-9A47-A11D-C4977ED3BD3F}"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11</a:t>
            </a:fld>
            <a:endParaRPr lang="en-US"/>
          </a:p>
        </p:txBody>
      </p:sp>
      <p:sp>
        <p:nvSpPr>
          <p:cNvPr id="9" name="Rectangle 8">
            <a:extLst>
              <a:ext uri="{FF2B5EF4-FFF2-40B4-BE49-F238E27FC236}">
                <a16:creationId xmlns:a16="http://schemas.microsoft.com/office/drawing/2014/main" id="{771B4E87-E01E-2145-A3D2-1AFB3B5C02D9}"/>
              </a:ext>
            </a:extLst>
          </p:cNvPr>
          <p:cNvSpPr/>
          <p:nvPr/>
        </p:nvSpPr>
        <p:spPr>
          <a:xfrm>
            <a:off x="3970751" y="3532340"/>
            <a:ext cx="4576425" cy="261630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883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867ABA29-CCCB-7945-8E33-DC5EF8464BFA}"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12</a:t>
            </a:fld>
            <a:endParaRPr lang="en-US"/>
          </a:p>
        </p:txBody>
      </p:sp>
      <p:sp>
        <p:nvSpPr>
          <p:cNvPr id="9" name="Rectangle 8">
            <a:extLst>
              <a:ext uri="{FF2B5EF4-FFF2-40B4-BE49-F238E27FC236}">
                <a16:creationId xmlns:a16="http://schemas.microsoft.com/office/drawing/2014/main" id="{771B4E87-E01E-2145-A3D2-1AFB3B5C02D9}"/>
              </a:ext>
            </a:extLst>
          </p:cNvPr>
          <p:cNvSpPr/>
          <p:nvPr/>
        </p:nvSpPr>
        <p:spPr>
          <a:xfrm>
            <a:off x="3970751" y="4033380"/>
            <a:ext cx="4576425" cy="21152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20717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F98135F7-2577-A54F-BBD3-496F3F694599}"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13</a:t>
            </a:fld>
            <a:endParaRPr lang="en-US"/>
          </a:p>
        </p:txBody>
      </p:sp>
      <p:sp>
        <p:nvSpPr>
          <p:cNvPr id="9" name="Rectangle 8">
            <a:extLst>
              <a:ext uri="{FF2B5EF4-FFF2-40B4-BE49-F238E27FC236}">
                <a16:creationId xmlns:a16="http://schemas.microsoft.com/office/drawing/2014/main" id="{771B4E87-E01E-2145-A3D2-1AFB3B5C02D9}"/>
              </a:ext>
            </a:extLst>
          </p:cNvPr>
          <p:cNvSpPr/>
          <p:nvPr/>
        </p:nvSpPr>
        <p:spPr>
          <a:xfrm>
            <a:off x="3970751" y="4534422"/>
            <a:ext cx="4576425" cy="1614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97758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074AB962-2B08-8549-9B5C-483A46E66FAB}"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14</a:t>
            </a:fld>
            <a:endParaRPr lang="en-US"/>
          </a:p>
        </p:txBody>
      </p:sp>
      <p:sp>
        <p:nvSpPr>
          <p:cNvPr id="9" name="Rectangle 8">
            <a:extLst>
              <a:ext uri="{FF2B5EF4-FFF2-40B4-BE49-F238E27FC236}">
                <a16:creationId xmlns:a16="http://schemas.microsoft.com/office/drawing/2014/main" id="{771B4E87-E01E-2145-A3D2-1AFB3B5C02D9}"/>
              </a:ext>
            </a:extLst>
          </p:cNvPr>
          <p:cNvSpPr/>
          <p:nvPr/>
        </p:nvSpPr>
        <p:spPr>
          <a:xfrm>
            <a:off x="3970751" y="5221806"/>
            <a:ext cx="4576425" cy="9268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82904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46A09F68-C00D-734F-8C0B-C783C21E88D5}"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15</a:t>
            </a:fld>
            <a:endParaRPr lang="en-US"/>
          </a:p>
        </p:txBody>
      </p:sp>
    </p:spTree>
    <p:extLst>
      <p:ext uri="{BB962C8B-B14F-4D97-AF65-F5344CB8AC3E}">
        <p14:creationId xmlns:p14="http://schemas.microsoft.com/office/powerpoint/2010/main" val="3773536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38AC6DA8-7D33-3E44-9514-2836821618BF}"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
        <p:nvSpPr>
          <p:cNvPr id="10" name="Rectangle 9">
            <a:extLst>
              <a:ext uri="{FF2B5EF4-FFF2-40B4-BE49-F238E27FC236}">
                <a16:creationId xmlns:a16="http://schemas.microsoft.com/office/drawing/2014/main" id="{85CF903A-0DC8-1940-A6B0-AA2DBB514AD0}"/>
              </a:ext>
            </a:extLst>
          </p:cNvPr>
          <p:cNvSpPr/>
          <p:nvPr/>
        </p:nvSpPr>
        <p:spPr>
          <a:xfrm>
            <a:off x="3933173" y="2091847"/>
            <a:ext cx="4753627" cy="412909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9E28A220-8452-964C-8267-0D081D0A3D07}"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
        <p:nvSpPr>
          <p:cNvPr id="10" name="Rectangle 9">
            <a:extLst>
              <a:ext uri="{FF2B5EF4-FFF2-40B4-BE49-F238E27FC236}">
                <a16:creationId xmlns:a16="http://schemas.microsoft.com/office/drawing/2014/main" id="{85CF903A-0DC8-1940-A6B0-AA2DBB514AD0}"/>
              </a:ext>
            </a:extLst>
          </p:cNvPr>
          <p:cNvSpPr/>
          <p:nvPr/>
        </p:nvSpPr>
        <p:spPr>
          <a:xfrm>
            <a:off x="3933173" y="2617940"/>
            <a:ext cx="4753627" cy="3603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49775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3C1CE0CF-D87E-094B-9182-3779E9486EAE}"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
        <p:nvSpPr>
          <p:cNvPr id="10" name="Rectangle 9">
            <a:extLst>
              <a:ext uri="{FF2B5EF4-FFF2-40B4-BE49-F238E27FC236}">
                <a16:creationId xmlns:a16="http://schemas.microsoft.com/office/drawing/2014/main" id="{85CF903A-0DC8-1940-A6B0-AA2DBB514AD0}"/>
              </a:ext>
            </a:extLst>
          </p:cNvPr>
          <p:cNvSpPr/>
          <p:nvPr/>
        </p:nvSpPr>
        <p:spPr>
          <a:xfrm>
            <a:off x="3933173" y="3306871"/>
            <a:ext cx="4753627" cy="29140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3492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BC27FF77-92B0-4146-9BAE-E0198EE6064B}"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
        <p:nvSpPr>
          <p:cNvPr id="10" name="Rectangle 9">
            <a:extLst>
              <a:ext uri="{FF2B5EF4-FFF2-40B4-BE49-F238E27FC236}">
                <a16:creationId xmlns:a16="http://schemas.microsoft.com/office/drawing/2014/main" id="{85CF903A-0DC8-1940-A6B0-AA2DBB514AD0}"/>
              </a:ext>
            </a:extLst>
          </p:cNvPr>
          <p:cNvSpPr/>
          <p:nvPr/>
        </p:nvSpPr>
        <p:spPr>
          <a:xfrm>
            <a:off x="3933173" y="5047989"/>
            <a:ext cx="4753627" cy="117295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45746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590B1F7F-B70B-ED4E-A34B-5DEC3A6CCED3}"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extLst>
      <p:ext uri="{BB962C8B-B14F-4D97-AF65-F5344CB8AC3E}">
        <p14:creationId xmlns:p14="http://schemas.microsoft.com/office/powerpoint/2010/main" val="3599377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08626828-0F24-9C44-8D5F-D766D19468C2}"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a:p>
            <a:r>
              <a:rPr lang="en-US" dirty="0"/>
              <a:t>Customized products</a:t>
            </a:r>
          </a:p>
          <a:p>
            <a:pPr lvl="1"/>
            <a:r>
              <a:rPr lang="en-US" dirty="0"/>
              <a:t>Software that is commissioned by a specific customer to meet their own needs. </a:t>
            </a:r>
          </a:p>
          <a:p>
            <a:pPr lvl="1"/>
            <a:r>
              <a:rPr lang="en-US" dirty="0"/>
              <a:t>Examples –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438B5B4C-4F09-B149-9FF2-C9EBEFFB6662}"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a:p>
        </p:txBody>
      </p:sp>
    </p:spTree>
    <p:extLst>
      <p:ext uri="{BB962C8B-B14F-4D97-AF65-F5344CB8AC3E}">
        <p14:creationId xmlns:p14="http://schemas.microsoft.com/office/powerpoint/2010/main" val="20853127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B1956050-3ADC-0A45-93C2-984A4450C217}"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extLst>
      <p:ext uri="{BB962C8B-B14F-4D97-AF65-F5344CB8AC3E}">
        <p14:creationId xmlns:p14="http://schemas.microsoft.com/office/powerpoint/2010/main" val="23767785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 products</a:t>
            </a:r>
          </a:p>
          <a:p>
            <a:pPr lvl="1"/>
            <a:r>
              <a:rPr lang="en-US" dirty="0"/>
              <a:t>The specification of what the software should do is owned by the software developer and decisions on software change are made by the developer.</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C08CCF1B-BAA7-AE44-BEFA-E6C1294E17F3}"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 products</a:t>
            </a:r>
          </a:p>
          <a:p>
            <a:pPr lvl="1"/>
            <a:r>
              <a:rPr lang="en-US" dirty="0"/>
              <a:t>The specification of what the software should do is owned by the software developer and decisions on software change are made by the developer.</a:t>
            </a:r>
          </a:p>
          <a:p>
            <a:r>
              <a:rPr lang="en-US" dirty="0"/>
              <a:t>Customized products</a:t>
            </a:r>
          </a:p>
          <a:p>
            <a:pPr lvl="1"/>
            <a:r>
              <a:rPr lang="en-US" dirty="0"/>
              <a:t>The specification of what the software should do is owned by the customer for the software and they make decisions on software changes that are required.</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CD089AA2-FC72-E44A-8479-84906F443CFA}"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25</a:t>
            </a:fld>
            <a:endParaRPr lang="en-US"/>
          </a:p>
        </p:txBody>
      </p:sp>
    </p:spTree>
    <p:extLst>
      <p:ext uri="{BB962C8B-B14F-4D97-AF65-F5344CB8AC3E}">
        <p14:creationId xmlns:p14="http://schemas.microsoft.com/office/powerpoint/2010/main" val="3603334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86B19506-2D3A-DC41-9D26-B7250CF04F14}"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1795372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D1031BE5-DB14-224D-9474-0EED45D632E2}"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27</a:t>
            </a:fld>
            <a:endParaRPr lang="en-US"/>
          </a:p>
        </p:txBody>
      </p:sp>
      <p:sp>
        <p:nvSpPr>
          <p:cNvPr id="9" name="Rectangle 8">
            <a:extLst>
              <a:ext uri="{FF2B5EF4-FFF2-40B4-BE49-F238E27FC236}">
                <a16:creationId xmlns:a16="http://schemas.microsoft.com/office/drawing/2014/main" id="{60790F44-35E3-4349-AB75-62A8D770E4CE}"/>
              </a:ext>
            </a:extLst>
          </p:cNvPr>
          <p:cNvSpPr/>
          <p:nvPr/>
        </p:nvSpPr>
        <p:spPr>
          <a:xfrm>
            <a:off x="892175" y="3250753"/>
            <a:ext cx="7485040" cy="272254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2CB74BE0-A364-664E-87B3-4AD1446A3866}"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28</a:t>
            </a:fld>
            <a:endParaRPr lang="en-US"/>
          </a:p>
        </p:txBody>
      </p:sp>
      <p:sp>
        <p:nvSpPr>
          <p:cNvPr id="9" name="Rectangle 8">
            <a:extLst>
              <a:ext uri="{FF2B5EF4-FFF2-40B4-BE49-F238E27FC236}">
                <a16:creationId xmlns:a16="http://schemas.microsoft.com/office/drawing/2014/main" id="{60790F44-35E3-4349-AB75-62A8D770E4CE}"/>
              </a:ext>
            </a:extLst>
          </p:cNvPr>
          <p:cNvSpPr/>
          <p:nvPr/>
        </p:nvSpPr>
        <p:spPr>
          <a:xfrm>
            <a:off x="892175" y="4396636"/>
            <a:ext cx="7485040" cy="15766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618677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6244C056-00D3-DB42-B3D1-A4BEC1769C6B}"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29</a:t>
            </a:fld>
            <a:endParaRPr lang="en-US"/>
          </a:p>
        </p:txBody>
      </p:sp>
      <p:sp>
        <p:nvSpPr>
          <p:cNvPr id="9" name="Rectangle 8">
            <a:extLst>
              <a:ext uri="{FF2B5EF4-FFF2-40B4-BE49-F238E27FC236}">
                <a16:creationId xmlns:a16="http://schemas.microsoft.com/office/drawing/2014/main" id="{60790F44-35E3-4349-AB75-62A8D770E4CE}"/>
              </a:ext>
            </a:extLst>
          </p:cNvPr>
          <p:cNvSpPr/>
          <p:nvPr/>
        </p:nvSpPr>
        <p:spPr>
          <a:xfrm>
            <a:off x="892175" y="5248405"/>
            <a:ext cx="7485040" cy="72488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7747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1B190B0C-BACD-704E-B7BB-E449270B0A02}"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30</a:t>
            </a:fld>
            <a:endParaRPr lang="en-US"/>
          </a:p>
        </p:txBody>
      </p:sp>
    </p:spTree>
    <p:extLst>
      <p:ext uri="{BB962C8B-B14F-4D97-AF65-F5344CB8AC3E}">
        <p14:creationId xmlns:p14="http://schemas.microsoft.com/office/powerpoint/2010/main" val="7418777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engineering discipline that is concerned with all aspects of software production from the early stages of system specification through to maintaining the system after it has gone into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CFADFB23-F88E-3344-8976-1205042108C4}"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31</a:t>
            </a:fld>
            <a:endParaRPr lang="en-US"/>
          </a:p>
        </p:txBody>
      </p:sp>
    </p:spTree>
    <p:extLst>
      <p:ext uri="{BB962C8B-B14F-4D97-AF65-F5344CB8AC3E}">
        <p14:creationId xmlns:p14="http://schemas.microsoft.com/office/powerpoint/2010/main" val="801749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a:t>
            </a:r>
            <a:r>
              <a:rPr lang="en-US" b="1" dirty="0">
                <a:solidFill>
                  <a:srgbClr val="FF0000"/>
                </a:solidFill>
              </a:rPr>
              <a:t>engineering discipline</a:t>
            </a:r>
            <a:r>
              <a:rPr lang="en-US" dirty="0"/>
              <a:t> that is concerned with all aspects of software production from the early stages of system specification through to maintaining the system after it has gone into use.</a:t>
            </a:r>
          </a:p>
          <a:p>
            <a:r>
              <a:rPr lang="en-US" b="1" dirty="0"/>
              <a:t>Engineering discipline</a:t>
            </a:r>
          </a:p>
          <a:p>
            <a:pPr lvl="1"/>
            <a:r>
              <a:rPr lang="en-US" b="1" dirty="0"/>
              <a:t>Using appropriate theories and methods to solve problems bearing in mind organizational and financial constraints.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7593D06C-8F8E-7248-8AE2-4C18570C5505}"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32</a:t>
            </a:fld>
            <a:endParaRPr lang="en-US"/>
          </a:p>
        </p:txBody>
      </p:sp>
    </p:spTree>
    <p:extLst>
      <p:ext uri="{BB962C8B-B14F-4D97-AF65-F5344CB8AC3E}">
        <p14:creationId xmlns:p14="http://schemas.microsoft.com/office/powerpoint/2010/main" val="2298499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engineering discipline that is concerned with </a:t>
            </a:r>
            <a:r>
              <a:rPr lang="en-US" b="1" dirty="0">
                <a:solidFill>
                  <a:srgbClr val="FF0000"/>
                </a:solidFill>
              </a:rPr>
              <a:t>all aspects of software production</a:t>
            </a:r>
            <a:r>
              <a:rPr lang="en-US" dirty="0"/>
              <a:t>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p>
          <a:p>
            <a:r>
              <a:rPr lang="en-US" b="1" dirty="0"/>
              <a:t>All aspects of software production</a:t>
            </a:r>
          </a:p>
          <a:p>
            <a:pPr lvl="1"/>
            <a:r>
              <a:rPr lang="en-US" b="1" dirty="0"/>
              <a:t>Not just technical process of development. Also project management and the development of tools, methods etc. to support software production.</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8341427D-4499-464E-A77B-23513E9DD464}"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33</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6CDC3927-8B8C-2248-B606-A398DD440E8D}"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34</a:t>
            </a:fld>
            <a:endParaRPr lang="en-US"/>
          </a:p>
        </p:txBody>
      </p:sp>
    </p:spTree>
    <p:extLst>
      <p:ext uri="{BB962C8B-B14F-4D97-AF65-F5344CB8AC3E}">
        <p14:creationId xmlns:p14="http://schemas.microsoft.com/office/powerpoint/2010/main" val="9058866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pPr marL="0" indent="0">
              <a:buNone/>
            </a:pP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94FD69EE-7C67-834B-B6CA-B8E9FDA9CDE2}"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35</a:t>
            </a:fld>
            <a:endParaRPr lang="en-US"/>
          </a:p>
        </p:txBody>
      </p:sp>
    </p:spTree>
    <p:extLst>
      <p:ext uri="{BB962C8B-B14F-4D97-AF65-F5344CB8AC3E}">
        <p14:creationId xmlns:p14="http://schemas.microsoft.com/office/powerpoint/2010/main" val="2538153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773273C4-8A67-8242-BB4E-5C8BCF6C4084}"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36</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52D816F5-A8C9-DD40-9497-278A291197DD}"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37</a:t>
            </a:fld>
            <a:endParaRPr lang="en-US"/>
          </a:p>
        </p:txBody>
      </p:sp>
    </p:spTree>
    <p:extLst>
      <p:ext uri="{BB962C8B-B14F-4D97-AF65-F5344CB8AC3E}">
        <p14:creationId xmlns:p14="http://schemas.microsoft.com/office/powerpoint/2010/main" val="2522558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b="1" dirty="0"/>
              <a:t>Software specification</a:t>
            </a:r>
            <a:r>
              <a:rPr lang="en-GB" dirty="0"/>
              <a:t>, where customers and engineers define the software that is to be produced and the constraints on its operation.</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FC920054-9EA3-5649-883F-AFCB1CFEFFDD}"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38</a:t>
            </a:fld>
            <a:endParaRPr lang="en-US"/>
          </a:p>
        </p:txBody>
      </p:sp>
    </p:spTree>
    <p:extLst>
      <p:ext uri="{BB962C8B-B14F-4D97-AF65-F5344CB8AC3E}">
        <p14:creationId xmlns:p14="http://schemas.microsoft.com/office/powerpoint/2010/main" val="789091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b="1" dirty="0"/>
              <a:t>Software specification</a:t>
            </a:r>
            <a:r>
              <a:rPr lang="en-GB" dirty="0"/>
              <a:t>, where customers and engineers define the software that is to be produced and the constraints on its operation.</a:t>
            </a:r>
          </a:p>
          <a:p>
            <a:r>
              <a:rPr lang="en-GB" b="1" dirty="0"/>
              <a:t>Software development</a:t>
            </a:r>
            <a:r>
              <a:rPr lang="en-GB" dirty="0"/>
              <a:t>, where the software is designed and programmed.</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A732C836-2D26-8647-B0EF-3438CAAD3D1D}"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39</a:t>
            </a:fld>
            <a:endParaRPr lang="en-US"/>
          </a:p>
        </p:txBody>
      </p:sp>
    </p:spTree>
    <p:extLst>
      <p:ext uri="{BB962C8B-B14F-4D97-AF65-F5344CB8AC3E}">
        <p14:creationId xmlns:p14="http://schemas.microsoft.com/office/powerpoint/2010/main" val="24162164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b="1" dirty="0"/>
              <a:t>Software specification</a:t>
            </a:r>
            <a:r>
              <a:rPr lang="en-GB" dirty="0"/>
              <a:t>, where customers and engineers define the software that is to be produced and the constraints on its operation.</a:t>
            </a:r>
          </a:p>
          <a:p>
            <a:r>
              <a:rPr lang="en-GB" b="1" dirty="0"/>
              <a:t>Software development</a:t>
            </a:r>
            <a:r>
              <a:rPr lang="en-GB" dirty="0"/>
              <a:t>, where the software is designed and programmed.</a:t>
            </a:r>
          </a:p>
          <a:p>
            <a:r>
              <a:rPr lang="en-GB" b="1" dirty="0"/>
              <a:t>Software validation</a:t>
            </a:r>
            <a:r>
              <a:rPr lang="en-GB" dirty="0"/>
              <a:t>, where the software is checked to ensure that it is what the customer requires.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20DC6230-4ADE-B149-A076-5CE892495D12}"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40</a:t>
            </a:fld>
            <a:endParaRPr lang="en-US"/>
          </a:p>
        </p:txBody>
      </p:sp>
    </p:spTree>
    <p:extLst>
      <p:ext uri="{BB962C8B-B14F-4D97-AF65-F5344CB8AC3E}">
        <p14:creationId xmlns:p14="http://schemas.microsoft.com/office/powerpoint/2010/main" val="1060481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b="1" dirty="0"/>
              <a:t>Software specification</a:t>
            </a:r>
            <a:r>
              <a:rPr lang="en-GB" dirty="0"/>
              <a:t>, where customers and engineers define the software that is to be produced and the constraints on its operation.</a:t>
            </a:r>
          </a:p>
          <a:p>
            <a:r>
              <a:rPr lang="en-GB" b="1" dirty="0"/>
              <a:t>Software development</a:t>
            </a:r>
            <a:r>
              <a:rPr lang="en-GB" dirty="0"/>
              <a:t>, where the software is designed and programmed.</a:t>
            </a:r>
          </a:p>
          <a:p>
            <a:r>
              <a:rPr lang="en-GB" b="1" dirty="0"/>
              <a:t>Software validation</a:t>
            </a:r>
            <a:r>
              <a:rPr lang="en-GB" dirty="0"/>
              <a:t>, where the software is checked to ensure that it is what the customer requires.</a:t>
            </a:r>
          </a:p>
          <a:p>
            <a:r>
              <a:rPr lang="en-GB" b="1" dirty="0"/>
              <a:t>Software evolution</a:t>
            </a:r>
            <a:r>
              <a:rPr lang="en-GB" dirty="0"/>
              <a:t>, where the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67D8B9EA-BFCA-F441-A513-878A2E8718A1}"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41</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6FBFA5C4-CD68-474A-8219-3B879205D274}"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42</a:t>
            </a:fld>
            <a:endParaRPr lang="en-US"/>
          </a:p>
        </p:txBody>
      </p:sp>
    </p:spTree>
    <p:extLst>
      <p:ext uri="{BB962C8B-B14F-4D97-AF65-F5344CB8AC3E}">
        <p14:creationId xmlns:p14="http://schemas.microsoft.com/office/powerpoint/2010/main" val="31834641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Heterogeneity </a:t>
            </a:r>
          </a:p>
          <a:p>
            <a:pPr lvl="1"/>
            <a:r>
              <a:rPr lang="en-GB" dirty="0"/>
              <a:t>Increasingly, systems are required to operate as distributed systems across networks that include different types of computer and mobile devices.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2C911D3A-4FD1-AD48-9829-B998A322EA1C}"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43</a:t>
            </a:fld>
            <a:endParaRPr lang="en-US"/>
          </a:p>
        </p:txBody>
      </p:sp>
    </p:spTree>
    <p:extLst>
      <p:ext uri="{BB962C8B-B14F-4D97-AF65-F5344CB8AC3E}">
        <p14:creationId xmlns:p14="http://schemas.microsoft.com/office/powerpoint/2010/main" val="3919088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Business and social change </a:t>
            </a:r>
          </a:p>
          <a:p>
            <a:pPr lvl="1"/>
            <a:r>
              <a:rPr lang="en-GB" dirty="0"/>
              <a:t>Business and society are changing incredibly quickly as emerging economies develop and new technologies become available. They need to be able to change their existing software and to rapidly develop new software.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C9043028-A5E7-FE44-A024-65854439CC82}"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44</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Security and trust </a:t>
            </a:r>
          </a:p>
          <a:p>
            <a:pPr lvl="1"/>
            <a:r>
              <a:rPr lang="en-GB" dirty="0"/>
              <a:t>As software is intertwined with all aspects of our lives, it is essential that we can trust that software. </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E84FA54A-43F9-9947-A2C5-3B25C057A4FA}"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45</a:t>
            </a:fld>
            <a:endParaRPr lang="en-US"/>
          </a:p>
        </p:txBody>
      </p:sp>
    </p:spTree>
    <p:extLst>
      <p:ext uri="{BB962C8B-B14F-4D97-AF65-F5344CB8AC3E}">
        <p14:creationId xmlns:p14="http://schemas.microsoft.com/office/powerpoint/2010/main" val="1672071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Scale</a:t>
            </a:r>
          </a:p>
          <a:p>
            <a:pPr lvl="1"/>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59D28650-117D-6442-994D-3C7CC424DECB}"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46</a:t>
            </a:fld>
            <a:endParaRPr lang="en-US"/>
          </a:p>
        </p:txBody>
      </p:sp>
    </p:spTree>
    <p:extLst>
      <p:ext uri="{BB962C8B-B14F-4D97-AF65-F5344CB8AC3E}">
        <p14:creationId xmlns:p14="http://schemas.microsoft.com/office/powerpoint/2010/main" val="39189758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r>
              <a:rPr lang="en-US" dirty="0"/>
              <a:t>There are many different types of software system and there is no universal set of software techniques that is applicable to all of these.</a:t>
            </a:r>
          </a:p>
          <a:p>
            <a:r>
              <a:rPr lang="en-US" dirty="0"/>
              <a:t>The software engineering methods and tools used depend on the type of application being developed, the requirements of the customer and the background of the development team.</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A23C2F53-EF00-214B-A4ED-E6B446DDD880}"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47</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A3ED324A-53A7-EF4C-8B2C-B189A0EB86D1}"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48</a:t>
            </a:fld>
            <a:endParaRPr lang="en-US"/>
          </a:p>
        </p:txBody>
      </p:sp>
    </p:spTree>
    <p:extLst>
      <p:ext uri="{BB962C8B-B14F-4D97-AF65-F5344CB8AC3E}">
        <p14:creationId xmlns:p14="http://schemas.microsoft.com/office/powerpoint/2010/main" val="3144971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7575780B-24EF-2346-BD67-C9794560F2B4}"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49</a:t>
            </a:fld>
            <a:endParaRPr lang="en-US"/>
          </a:p>
        </p:txBody>
      </p:sp>
    </p:spTree>
    <p:extLst>
      <p:ext uri="{BB962C8B-B14F-4D97-AF65-F5344CB8AC3E}">
        <p14:creationId xmlns:p14="http://schemas.microsoft.com/office/powerpoint/2010/main" val="3724606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a:p>
            <a:r>
              <a:rPr lang="en-GB" dirty="0"/>
              <a:t>Interactive transaction-based applications</a:t>
            </a:r>
            <a:r>
              <a:rPr lang="en-GB" i="1" dirty="0"/>
              <a:t> </a:t>
            </a:r>
          </a:p>
          <a:p>
            <a:pPr lvl="1"/>
            <a:r>
              <a:rPr lang="en-GB" dirty="0"/>
              <a:t>Applications that execute on a remote computer and are accessed by users from their own PCs or terminals. These include web applications such as e-commerce applications. </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77805C27-A8F5-2D41-AFC9-FD459B4ADCC4}"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50</a:t>
            </a:fld>
            <a:endParaRPr lang="en-US"/>
          </a:p>
        </p:txBody>
      </p:sp>
    </p:spTree>
    <p:extLst>
      <p:ext uri="{BB962C8B-B14F-4D97-AF65-F5344CB8AC3E}">
        <p14:creationId xmlns:p14="http://schemas.microsoft.com/office/powerpoint/2010/main" val="815286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a:p>
            <a:r>
              <a:rPr lang="en-GB" dirty="0"/>
              <a:t>Interactive transaction-based applications</a:t>
            </a:r>
            <a:r>
              <a:rPr lang="en-GB" i="1" dirty="0"/>
              <a:t> </a:t>
            </a:r>
          </a:p>
          <a:p>
            <a:pPr lvl="1"/>
            <a:r>
              <a:rPr lang="en-GB" dirty="0"/>
              <a:t>Applications that execute on a remote computer and are accessed by users from their own PCs or terminals. These include web applications such as </a:t>
            </a:r>
            <a:r>
              <a:rPr lang="en-GB" dirty="0" err="1"/>
              <a:t>e</a:t>
            </a:r>
            <a:r>
              <a:rPr lang="en-GB" dirty="0"/>
              <a:t>-commerce applications. </a:t>
            </a:r>
          </a:p>
          <a:p>
            <a:r>
              <a:rPr lang="en-GB" dirty="0"/>
              <a:t>Embedded control systems </a:t>
            </a:r>
          </a:p>
          <a:p>
            <a:pPr lvl="1"/>
            <a:r>
              <a:rPr lang="en-GB" dirty="0"/>
              <a:t>These are software control systems that control and manage hardware devices.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4A29B01B-6096-344C-BEDC-1E5B524EBDAE}"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51</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Batch processing systems </a:t>
            </a:r>
          </a:p>
          <a:p>
            <a:pPr lvl="1"/>
            <a:r>
              <a:rPr lang="en-GB" dirty="0"/>
              <a:t>These are business systems that are designed to process data in large batches. They process large numbers of individual inputs to create corresponding outputs. </a:t>
            </a:r>
          </a:p>
          <a:p>
            <a:r>
              <a:rPr lang="en-GB" dirty="0"/>
              <a:t>Entertainment systems </a:t>
            </a:r>
          </a:p>
          <a:p>
            <a:pPr lvl="1"/>
            <a:r>
              <a:rPr lang="en-GB" dirty="0"/>
              <a:t>These are systems that are primarily for personal use and which are intended to entertain the user. </a:t>
            </a:r>
          </a:p>
          <a:p>
            <a:r>
              <a:rPr lang="en-GB" dirty="0"/>
              <a:t>Systems for </a:t>
            </a:r>
            <a:r>
              <a:rPr lang="en-GB" dirty="0" err="1"/>
              <a:t>modeling</a:t>
            </a:r>
            <a:r>
              <a:rPr lang="en-GB" dirty="0"/>
              <a:t> and simulation </a:t>
            </a:r>
          </a:p>
          <a:p>
            <a:pPr lvl="1"/>
            <a:r>
              <a:rPr lang="en-GB" dirty="0"/>
              <a:t>These are systems that are 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84447D8C-8C5D-484B-AE0A-11220CB5DC06}"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52</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These are systems that collect data from their environment using a set of sensors and send that data to other systems for processing. </a:t>
            </a:r>
          </a:p>
          <a:p>
            <a:r>
              <a:rPr lang="en-GB" dirty="0"/>
              <a:t>Systems of systems </a:t>
            </a:r>
          </a:p>
          <a:p>
            <a:pPr lvl="1"/>
            <a:r>
              <a:rPr lang="en-GB" dirty="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92695197-1DD3-F840-B31C-8B98A8643F6E}"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53</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1C3D2C3D-15DE-CE4F-989E-1D5EC52EC4A8}"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54</a:t>
            </a:fld>
            <a:endParaRPr lang="en-US"/>
          </a:p>
        </p:txBody>
      </p:sp>
    </p:spTree>
    <p:extLst>
      <p:ext uri="{BB962C8B-B14F-4D97-AF65-F5344CB8AC3E}">
        <p14:creationId xmlns:p14="http://schemas.microsoft.com/office/powerpoint/2010/main" val="38905203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t>Some fundamental principles apply to all types of software system, irrespective of the development techniques used:</a:t>
            </a:r>
          </a:p>
          <a:p>
            <a:pPr lvl="1"/>
            <a:r>
              <a:rPr lang="en-GB" dirty="0"/>
              <a:t>Systems should be developed using a managed and understood development process. Of course, different processes are used for different types of software.</a:t>
            </a:r>
          </a:p>
          <a:p>
            <a:pPr lvl="1"/>
            <a:r>
              <a:rPr lang="en-GB" dirty="0"/>
              <a:t>Dependability and performance are important for all types of system. </a:t>
            </a:r>
          </a:p>
          <a:p>
            <a:pPr lvl="1"/>
            <a:r>
              <a:rPr lang="en-GB" dirty="0"/>
              <a:t>Understanding and managing the software specification and requirements (what the software should do) are important. </a:t>
            </a:r>
          </a:p>
          <a:p>
            <a:pPr lvl="1"/>
            <a:r>
              <a:rPr lang="en-GB" dirty="0"/>
              <a:t>Where appropriate, you should reuse software that has already been developed rather than write new software.</a:t>
            </a:r>
          </a:p>
          <a:p>
            <a:pPr lvl="1"/>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FACB9BBF-B180-9640-B7BE-7F61458F53B5}"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55</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US" dirty="0"/>
              <a:t>The Web is now a platform for running application and organizations are increasingly developing web-based systems rather than local systems.</a:t>
            </a:r>
          </a:p>
          <a:p>
            <a:r>
              <a:rPr lang="en-US" dirty="0"/>
              <a:t>Web services (discussed in Chapter 19) allow application functionality to be accessed over the web.</a:t>
            </a:r>
          </a:p>
          <a:p>
            <a:r>
              <a:rPr lang="en-US" dirty="0"/>
              <a:t>Cloud computing is an approach to the provision of computer services where applications run remotely on the ‘cloud’. </a:t>
            </a:r>
          </a:p>
          <a:p>
            <a:pPr lvl="1"/>
            <a:r>
              <a:rPr lang="en-US" dirty="0"/>
              <a:t>Users do not buy software buy pay according 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98D68F4F-1FDC-F648-9059-570D0250DB53}"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56</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19A76A84-B635-834E-ADD6-000C0FF6D9E6}"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57</a:t>
            </a:fld>
            <a:endParaRPr lang="en-US"/>
          </a:p>
        </p:txBody>
      </p:sp>
    </p:spTree>
    <p:extLst>
      <p:ext uri="{BB962C8B-B14F-4D97-AF65-F5344CB8AC3E}">
        <p14:creationId xmlns:p14="http://schemas.microsoft.com/office/powerpoint/2010/main" val="303986130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3" name="Content Placeholder 2"/>
          <p:cNvSpPr>
            <a:spLocks noGrp="1"/>
          </p:cNvSpPr>
          <p:nvPr>
            <p:ph idx="1"/>
          </p:nvPr>
        </p:nvSpPr>
        <p:spPr/>
        <p:txBody>
          <a:bodyPr/>
          <a:lstStyle/>
          <a:p>
            <a:r>
              <a:rPr lang="en-US" dirty="0"/>
              <a:t>Web-based systems are complex distributed systems but the fundamental principles of software engineering discussed previously are as applicable to them as they are to any other types of system.</a:t>
            </a:r>
          </a:p>
          <a:p>
            <a:r>
              <a:rPr lang="en-GB" dirty="0"/>
              <a:t>The fundamental ideas of software engineering apply to web-based software in the same way that they apply to other types of software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A857DB51-566A-BA44-BFD0-C5AE282DC943}"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58</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256721" y="1559670"/>
            <a:ext cx="8660959" cy="4525963"/>
          </a:xfrm>
        </p:spPr>
        <p:txBody>
          <a:bodyPr/>
          <a:lstStyle/>
          <a:p>
            <a:r>
              <a:rPr lang="en-GB" dirty="0"/>
              <a:t>Software reuse</a:t>
            </a:r>
          </a:p>
          <a:p>
            <a:pPr lvl="1"/>
            <a:r>
              <a:rPr lang="en-GB" dirty="0"/>
              <a:t>Software reuse is the dominant approach for constructing web-based systems. 	When building these systems, you think about how you can assemble them from pre-existing software components and systems.</a:t>
            </a:r>
          </a:p>
          <a:p>
            <a:r>
              <a:rPr lang="en-GB" dirty="0"/>
              <a:t>Incremental and agile development</a:t>
            </a:r>
          </a:p>
          <a:p>
            <a:pPr lvl="1"/>
            <a:r>
              <a:rPr lang="en-GB" dirty="0"/>
              <a:t>Web-based systems should be developed and delivered incrementally. It is now generally recognized that it is impractical to specify all the requirements for such systems in advance.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15D1AFE5-ABB5-2246-86B9-BA9495FA8636}"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59</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p:txBody>
          <a:bodyPr/>
          <a:lstStyle/>
          <a:p>
            <a:r>
              <a:rPr lang="en-GB" dirty="0"/>
              <a:t>Service-oriented systems</a:t>
            </a:r>
          </a:p>
          <a:p>
            <a:pPr lvl="1"/>
            <a:r>
              <a:rPr lang="en-GB" dirty="0"/>
              <a:t>Software may be implemented using service-oriented software engineering, where the software components are stand-alone web services.  </a:t>
            </a:r>
          </a:p>
          <a:p>
            <a:r>
              <a:rPr lang="en-GB" dirty="0"/>
              <a:t>Rich interfaces</a:t>
            </a:r>
          </a:p>
          <a:p>
            <a:pPr lvl="1"/>
            <a:r>
              <a:rPr lang="en-GB" dirty="0"/>
              <a:t>Interface development technologies such as AJAX and HTML5 have emerged that support the creation of rich interfaces within a web browser.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4174309D-5C22-DE42-B087-85F8D9D8AE9D}"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60</a:t>
            </a:fld>
            <a:endParaRPr lang="en-US"/>
          </a:p>
        </p:txBody>
      </p:sp>
    </p:spTree>
    <p:extLst>
      <p:ext uri="{BB962C8B-B14F-4D97-AF65-F5344CB8AC3E}">
        <p14:creationId xmlns:p14="http://schemas.microsoft.com/office/powerpoint/2010/main" val="309048533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a:t>Software engineering ethics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0BFE9A53-936C-3A4E-9186-E1884A6D9CBE}"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61</a:t>
            </a:fld>
            <a:endParaRPr lang="en-US"/>
          </a:p>
        </p:txBody>
      </p:sp>
    </p:spTree>
    <p:extLst>
      <p:ext uri="{BB962C8B-B14F-4D97-AF65-F5344CB8AC3E}">
        <p14:creationId xmlns:p14="http://schemas.microsoft.com/office/powerpoint/2010/main" val="16361612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0A7A394C-410C-9E45-B2EE-FF68F42A3EF5}"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62</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BFC3634A-8873-3944-A4CC-48D6FEAF551A}"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63</a:t>
            </a:fld>
            <a:endParaRPr lang="en-US"/>
          </a:p>
        </p:txBody>
      </p:sp>
    </p:spTree>
    <p:extLst>
      <p:ext uri="{BB962C8B-B14F-4D97-AF65-F5344CB8AC3E}">
        <p14:creationId xmlns:p14="http://schemas.microsoft.com/office/powerpoint/2010/main" val="3497451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law but involves following a set of principles that are morally correct.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8195339E-A92A-A243-8513-E1F94303B157}"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64</a:t>
            </a:fld>
            <a:endParaRPr lang="en-US"/>
          </a:p>
        </p:txBody>
      </p:sp>
    </p:spTree>
    <p:extLst>
      <p:ext uri="{BB962C8B-B14F-4D97-AF65-F5344CB8AC3E}">
        <p14:creationId xmlns:p14="http://schemas.microsoft.com/office/powerpoint/2010/main" val="15792176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CA55808F-1F28-8648-9F86-FF8386169166}"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65</a:t>
            </a:fld>
            <a:endParaRPr lang="en-US"/>
          </a:p>
        </p:txBody>
      </p:sp>
    </p:spTree>
    <p:extLst>
      <p:ext uri="{BB962C8B-B14F-4D97-AF65-F5344CB8AC3E}">
        <p14:creationId xmlns:p14="http://schemas.microsoft.com/office/powerpoint/2010/main" val="827712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1E520723-2DA4-D649-AD31-58F628DED54F}"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66</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C7DA8937-4249-DB44-96BD-A600EC5EEB9E}"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67</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fld id="{35A7A6BB-21BD-A74D-98D0-657427FA22CA}" type="datetime1">
              <a:rPr lang="en-CA" smtClean="0"/>
              <a:t>2026-09-21</a:t>
            </a:fld>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68</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code of ethics</a:t>
            </a:r>
          </a:p>
        </p:txBody>
      </p:sp>
      <p:sp>
        <p:nvSpPr>
          <p:cNvPr id="3" name="Content Placeholder 2"/>
          <p:cNvSpPr>
            <a:spLocks noGrp="1"/>
          </p:cNvSpPr>
          <p:nvPr>
            <p:ph idx="1"/>
          </p:nvPr>
        </p:nvSpPr>
        <p:spPr/>
        <p:txBody>
          <a:bodyPr/>
          <a:lstStyle/>
          <a:p>
            <a:pPr lvl="1"/>
            <a:r>
              <a:rPr lang="en-GB" i="1" dirty="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r>
              <a:rPr lang="en-GB" i="1" dirty="0"/>
              <a:t>Because of their roles in developing software systems, software engineers have significant</a:t>
            </a:r>
            <a:r>
              <a:rPr lang="en-GB" dirty="0"/>
              <a:t> </a:t>
            </a:r>
            <a:r>
              <a:rPr lang="en-GB" i="1" dirty="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0D2CA88B-ECD1-BD47-A5CE-CAE51704F4C6}"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69</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The ACM/IEEE Code of Ethics </a:t>
            </a:r>
            <a:endParaRPr lang="en-US" dirty="0"/>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a:t>Software Engineering Code of Ethics and Professional Practice</a:t>
            </a:r>
          </a:p>
          <a:p>
            <a:endParaRPr lang="en-GB" sz="1600" dirty="0"/>
          </a:p>
          <a:p>
            <a:r>
              <a:rPr lang="en-US" sz="1600" dirty="0"/>
              <a:t>ACM/IEEE-CS Joint Task Force on Software Engineering Ethics and Professional Practices</a:t>
            </a:r>
          </a:p>
          <a:p>
            <a:r>
              <a:rPr lang="en-US" sz="1600" b="1" dirty="0"/>
              <a:t> </a:t>
            </a:r>
            <a:endParaRPr lang="en-GB" sz="1600" dirty="0"/>
          </a:p>
          <a:p>
            <a:r>
              <a:rPr lang="en-US" sz="1600" b="1" dirty="0"/>
              <a:t>PREAMBLE</a:t>
            </a:r>
            <a:endParaRPr lang="en-GB" sz="1600" dirty="0"/>
          </a:p>
          <a:p>
            <a:pPr>
              <a:spcAft>
                <a:spcPts val="600"/>
              </a:spcAft>
            </a:pPr>
            <a:r>
              <a:rPr lang="en-US" sz="1600" dirty="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a:p>
          <a:p>
            <a:r>
              <a:rPr lang="en-US" sz="1600" dirty="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a:p>
          <a:p>
            <a:r>
              <a:rPr lang="en-US" sz="1200" dirty="0"/>
              <a:t> </a:t>
            </a:r>
            <a:endParaRPr lang="en-GB" sz="1200" dirty="0"/>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FF5D3A78-E1CF-694E-9C8C-E4F22B3AA1BF}"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70</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523220"/>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64443197-C3A3-EA40-8102-401539817732}"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71</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109260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F5679717-96FD-E44A-827C-1BBF1E3F033B}"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72</a:t>
            </a:fld>
            <a:endParaRPr lang="en-US"/>
          </a:p>
        </p:txBody>
      </p:sp>
    </p:spTree>
    <p:extLst>
      <p:ext uri="{BB962C8B-B14F-4D97-AF65-F5344CB8AC3E}">
        <p14:creationId xmlns:p14="http://schemas.microsoft.com/office/powerpoint/2010/main" val="33724032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1661993"/>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643927B0-CD6A-9D49-89CC-03238516F748}"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73</a:t>
            </a:fld>
            <a:endParaRPr lang="en-US"/>
          </a:p>
        </p:txBody>
      </p:sp>
    </p:spTree>
    <p:extLst>
      <p:ext uri="{BB962C8B-B14F-4D97-AF65-F5344CB8AC3E}">
        <p14:creationId xmlns:p14="http://schemas.microsoft.com/office/powerpoint/2010/main" val="13543709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2231380"/>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D5927ED0-A145-3B46-BDAB-6CBDAD226CE2}"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74</a:t>
            </a:fld>
            <a:endParaRPr lang="en-US"/>
          </a:p>
        </p:txBody>
      </p:sp>
    </p:spTree>
    <p:extLst>
      <p:ext uri="{BB962C8B-B14F-4D97-AF65-F5344CB8AC3E}">
        <p14:creationId xmlns:p14="http://schemas.microsoft.com/office/powerpoint/2010/main" val="1581964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3046988"/>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353431A9-B657-664E-BA27-9D41C8A3096C}"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75</a:t>
            </a:fld>
            <a:endParaRPr lang="en-US"/>
          </a:p>
        </p:txBody>
      </p:sp>
    </p:spTree>
    <p:extLst>
      <p:ext uri="{BB962C8B-B14F-4D97-AF65-F5344CB8AC3E}">
        <p14:creationId xmlns:p14="http://schemas.microsoft.com/office/powerpoint/2010/main" val="25997384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3616375"/>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612EEE1B-EED3-9446-8217-7A780CC30E13}"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76</a:t>
            </a:fld>
            <a:endParaRPr lang="en-US"/>
          </a:p>
        </p:txBody>
      </p:sp>
    </p:spTree>
    <p:extLst>
      <p:ext uri="{BB962C8B-B14F-4D97-AF65-F5344CB8AC3E}">
        <p14:creationId xmlns:p14="http://schemas.microsoft.com/office/powerpoint/2010/main" val="462244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3939540"/>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6C6607E2-CF7B-F547-8E94-8624ADA9F18B}"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77</a:t>
            </a:fld>
            <a:endParaRPr lang="en-US"/>
          </a:p>
        </p:txBody>
      </p:sp>
    </p:spTree>
    <p:extLst>
      <p:ext uri="{BB962C8B-B14F-4D97-AF65-F5344CB8AC3E}">
        <p14:creationId xmlns:p14="http://schemas.microsoft.com/office/powerpoint/2010/main" val="10828100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fld id="{A550FAF9-3A9E-ED48-9B70-237046E90739}" type="datetime1">
              <a:rPr lang="en-CA" smtClean="0"/>
              <a:t>2026-09-21</a:t>
            </a:fld>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78</a:t>
            </a:fld>
            <a:endParaRPr lang="en-US"/>
          </a:p>
        </p:txBody>
      </p:sp>
    </p:spTree>
    <p:extLst>
      <p:ext uri="{BB962C8B-B14F-4D97-AF65-F5344CB8AC3E}">
        <p14:creationId xmlns:p14="http://schemas.microsoft.com/office/powerpoint/2010/main" val="4268882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72EF-2EAF-7422-BBEF-C0C592015BD6}"/>
              </a:ext>
            </a:extLst>
          </p:cNvPr>
          <p:cNvSpPr>
            <a:spLocks noGrp="1"/>
          </p:cNvSpPr>
          <p:nvPr>
            <p:ph type="title"/>
          </p:nvPr>
        </p:nvSpPr>
        <p:spPr/>
        <p:txBody>
          <a:bodyPr/>
          <a:lstStyle/>
          <a:p>
            <a:r>
              <a:rPr lang="en-US" dirty="0"/>
              <a:t>What should you do if the employer acts in an unethical way?</a:t>
            </a:r>
          </a:p>
        </p:txBody>
      </p:sp>
      <p:sp>
        <p:nvSpPr>
          <p:cNvPr id="4" name="Footer Placeholder 3">
            <a:extLst>
              <a:ext uri="{FF2B5EF4-FFF2-40B4-BE49-F238E27FC236}">
                <a16:creationId xmlns:a16="http://schemas.microsoft.com/office/drawing/2014/main" id="{3F5875B4-72D0-660B-60A6-D7FC751AAAC1}"/>
              </a:ext>
            </a:extLst>
          </p:cNvPr>
          <p:cNvSpPr>
            <a:spLocks noGrp="1"/>
          </p:cNvSpPr>
          <p:nvPr>
            <p:ph type="ftr" sz="quarter" idx="10"/>
          </p:nvPr>
        </p:nvSpPr>
        <p:spPr/>
        <p:txBody>
          <a:bodyPr/>
          <a:lstStyle/>
          <a:p>
            <a:r>
              <a:rPr lang="en-US"/>
              <a:t>Chapter 1 Introduction</a:t>
            </a:r>
            <a:endParaRPr lang="en-US" dirty="0"/>
          </a:p>
        </p:txBody>
      </p:sp>
      <p:sp>
        <p:nvSpPr>
          <p:cNvPr id="5" name="Date Placeholder 4">
            <a:extLst>
              <a:ext uri="{FF2B5EF4-FFF2-40B4-BE49-F238E27FC236}">
                <a16:creationId xmlns:a16="http://schemas.microsoft.com/office/drawing/2014/main" id="{35A006F4-00CE-BB02-BD2A-39A645871116}"/>
              </a:ext>
            </a:extLst>
          </p:cNvPr>
          <p:cNvSpPr>
            <a:spLocks noGrp="1"/>
          </p:cNvSpPr>
          <p:nvPr>
            <p:ph type="dt" sz="half" idx="11"/>
          </p:nvPr>
        </p:nvSpPr>
        <p:spPr/>
        <p:txBody>
          <a:bodyPr/>
          <a:lstStyle/>
          <a:p>
            <a:fld id="{D7D775D0-E1A2-294B-A354-26DFF9F52175}" type="datetime1">
              <a:rPr lang="en-CA" smtClean="0"/>
              <a:t>2026-09-21</a:t>
            </a:fld>
            <a:endParaRPr lang="en-US"/>
          </a:p>
        </p:txBody>
      </p:sp>
      <p:sp>
        <p:nvSpPr>
          <p:cNvPr id="6" name="Slide Number Placeholder 5">
            <a:extLst>
              <a:ext uri="{FF2B5EF4-FFF2-40B4-BE49-F238E27FC236}">
                <a16:creationId xmlns:a16="http://schemas.microsoft.com/office/drawing/2014/main" id="{A1A91CAE-3632-3D09-1D92-352F8AE98AA2}"/>
              </a:ext>
            </a:extLst>
          </p:cNvPr>
          <p:cNvSpPr>
            <a:spLocks noGrp="1"/>
          </p:cNvSpPr>
          <p:nvPr>
            <p:ph type="sldNum" sz="quarter" idx="12"/>
          </p:nvPr>
        </p:nvSpPr>
        <p:spPr/>
        <p:txBody>
          <a:bodyPr/>
          <a:lstStyle/>
          <a:p>
            <a:fld id="{1D5CD492-2BC6-F348-9965-EC1D86DF57A8}" type="slidenum">
              <a:rPr lang="en-US" smtClean="0"/>
              <a:t>79</a:t>
            </a:fld>
            <a:endParaRPr lang="en-US"/>
          </a:p>
        </p:txBody>
      </p:sp>
      <p:pic>
        <p:nvPicPr>
          <p:cNvPr id="8" name="Picture 7" descr="A screenshot of a book&#10;&#10;Description automatically generated">
            <a:extLst>
              <a:ext uri="{FF2B5EF4-FFF2-40B4-BE49-F238E27FC236}">
                <a16:creationId xmlns:a16="http://schemas.microsoft.com/office/drawing/2014/main" id="{E138831B-F701-C719-AC85-3BF34644ABEA}"/>
              </a:ext>
            </a:extLst>
          </p:cNvPr>
          <p:cNvPicPr>
            <a:picLocks noChangeAspect="1"/>
          </p:cNvPicPr>
          <p:nvPr/>
        </p:nvPicPr>
        <p:blipFill>
          <a:blip r:embed="rId2"/>
          <a:stretch>
            <a:fillRect/>
          </a:stretch>
        </p:blipFill>
        <p:spPr>
          <a:xfrm>
            <a:off x="457200" y="1887888"/>
            <a:ext cx="3978998" cy="4103147"/>
          </a:xfrm>
          <a:prstGeom prst="rect">
            <a:avLst/>
          </a:prstGeom>
        </p:spPr>
      </p:pic>
      <p:pic>
        <p:nvPicPr>
          <p:cNvPr id="10" name="Picture 9" descr="A screenshot of a news article&#10;&#10;Description automatically generated">
            <a:extLst>
              <a:ext uri="{FF2B5EF4-FFF2-40B4-BE49-F238E27FC236}">
                <a16:creationId xmlns:a16="http://schemas.microsoft.com/office/drawing/2014/main" id="{B8AB4F84-2A07-684C-E61A-E6D88C93A65D}"/>
              </a:ext>
            </a:extLst>
          </p:cNvPr>
          <p:cNvPicPr>
            <a:picLocks noChangeAspect="1"/>
          </p:cNvPicPr>
          <p:nvPr/>
        </p:nvPicPr>
        <p:blipFill>
          <a:blip r:embed="rId3"/>
          <a:stretch>
            <a:fillRect/>
          </a:stretch>
        </p:blipFill>
        <p:spPr>
          <a:xfrm>
            <a:off x="4572000" y="1499142"/>
            <a:ext cx="4399574" cy="3936874"/>
          </a:xfrm>
          <a:prstGeom prst="rect">
            <a:avLst/>
          </a:prstGeom>
        </p:spPr>
      </p:pic>
      <p:sp>
        <p:nvSpPr>
          <p:cNvPr id="12" name="TextBox 11">
            <a:extLst>
              <a:ext uri="{FF2B5EF4-FFF2-40B4-BE49-F238E27FC236}">
                <a16:creationId xmlns:a16="http://schemas.microsoft.com/office/drawing/2014/main" id="{7CEE88D9-1E7F-3DDE-7283-32F7BF9F1E97}"/>
              </a:ext>
            </a:extLst>
          </p:cNvPr>
          <p:cNvSpPr txBox="1"/>
          <p:nvPr/>
        </p:nvSpPr>
        <p:spPr>
          <a:xfrm>
            <a:off x="7912729" y="2390115"/>
            <a:ext cx="1140736" cy="2553077"/>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314046983"/>
      </p:ext>
    </p:extLst>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01F94-A59B-9466-CED6-EF5DE2A65F95}"/>
              </a:ext>
            </a:extLst>
          </p:cNvPr>
          <p:cNvSpPr>
            <a:spLocks noGrp="1"/>
          </p:cNvSpPr>
          <p:nvPr>
            <p:ph type="title"/>
          </p:nvPr>
        </p:nvSpPr>
        <p:spPr/>
        <p:txBody>
          <a:bodyPr/>
          <a:lstStyle/>
          <a:p>
            <a:r>
              <a:rPr lang="en-US" dirty="0"/>
              <a:t>How should you react if you disagree with the policies of senior management in the company?</a:t>
            </a:r>
          </a:p>
        </p:txBody>
      </p:sp>
      <p:sp>
        <p:nvSpPr>
          <p:cNvPr id="4" name="Footer Placeholder 3">
            <a:extLst>
              <a:ext uri="{FF2B5EF4-FFF2-40B4-BE49-F238E27FC236}">
                <a16:creationId xmlns:a16="http://schemas.microsoft.com/office/drawing/2014/main" id="{0A293682-470A-794D-1BA9-9172E1D26017}"/>
              </a:ext>
            </a:extLst>
          </p:cNvPr>
          <p:cNvSpPr>
            <a:spLocks noGrp="1"/>
          </p:cNvSpPr>
          <p:nvPr>
            <p:ph type="ftr" sz="quarter" idx="10"/>
          </p:nvPr>
        </p:nvSpPr>
        <p:spPr/>
        <p:txBody>
          <a:bodyPr/>
          <a:lstStyle/>
          <a:p>
            <a:r>
              <a:rPr lang="en-US"/>
              <a:t>Chapter 1 Introduction</a:t>
            </a:r>
            <a:endParaRPr lang="en-US" dirty="0"/>
          </a:p>
        </p:txBody>
      </p:sp>
      <p:sp>
        <p:nvSpPr>
          <p:cNvPr id="5" name="Date Placeholder 4">
            <a:extLst>
              <a:ext uri="{FF2B5EF4-FFF2-40B4-BE49-F238E27FC236}">
                <a16:creationId xmlns:a16="http://schemas.microsoft.com/office/drawing/2014/main" id="{9936C7C9-A72E-5DA2-8A24-5A5A7EAAC2FB}"/>
              </a:ext>
            </a:extLst>
          </p:cNvPr>
          <p:cNvSpPr>
            <a:spLocks noGrp="1"/>
          </p:cNvSpPr>
          <p:nvPr>
            <p:ph type="dt" sz="half" idx="11"/>
          </p:nvPr>
        </p:nvSpPr>
        <p:spPr/>
        <p:txBody>
          <a:bodyPr/>
          <a:lstStyle/>
          <a:p>
            <a:fld id="{D7D775D0-E1A2-294B-A354-26DFF9F52175}" type="datetime1">
              <a:rPr lang="en-CA" smtClean="0"/>
              <a:t>2026-09-21</a:t>
            </a:fld>
            <a:endParaRPr lang="en-US"/>
          </a:p>
        </p:txBody>
      </p:sp>
      <p:sp>
        <p:nvSpPr>
          <p:cNvPr id="6" name="Slide Number Placeholder 5">
            <a:extLst>
              <a:ext uri="{FF2B5EF4-FFF2-40B4-BE49-F238E27FC236}">
                <a16:creationId xmlns:a16="http://schemas.microsoft.com/office/drawing/2014/main" id="{EF579856-6910-3B72-643E-9F872AE9BA27}"/>
              </a:ext>
            </a:extLst>
          </p:cNvPr>
          <p:cNvSpPr>
            <a:spLocks noGrp="1"/>
          </p:cNvSpPr>
          <p:nvPr>
            <p:ph type="sldNum" sz="quarter" idx="12"/>
          </p:nvPr>
        </p:nvSpPr>
        <p:spPr/>
        <p:txBody>
          <a:bodyPr/>
          <a:lstStyle/>
          <a:p>
            <a:fld id="{1D5CD492-2BC6-F348-9965-EC1D86DF57A8}" type="slidenum">
              <a:rPr lang="en-US" smtClean="0"/>
              <a:t>80</a:t>
            </a:fld>
            <a:endParaRPr lang="en-US"/>
          </a:p>
        </p:txBody>
      </p:sp>
      <p:pic>
        <p:nvPicPr>
          <p:cNvPr id="8" name="Picture 7" descr="A screenshot of a computer&#10;&#10;Description automatically generated">
            <a:extLst>
              <a:ext uri="{FF2B5EF4-FFF2-40B4-BE49-F238E27FC236}">
                <a16:creationId xmlns:a16="http://schemas.microsoft.com/office/drawing/2014/main" id="{09738DC1-AE1B-6026-3933-9C2ACC039C43}"/>
              </a:ext>
            </a:extLst>
          </p:cNvPr>
          <p:cNvPicPr>
            <a:picLocks noChangeAspect="1"/>
          </p:cNvPicPr>
          <p:nvPr/>
        </p:nvPicPr>
        <p:blipFill>
          <a:blip r:embed="rId2"/>
          <a:stretch>
            <a:fillRect/>
          </a:stretch>
        </p:blipFill>
        <p:spPr>
          <a:xfrm>
            <a:off x="235391" y="2571185"/>
            <a:ext cx="4473778" cy="2441237"/>
          </a:xfrm>
          <a:prstGeom prst="rect">
            <a:avLst/>
          </a:prstGeom>
        </p:spPr>
      </p:pic>
      <p:pic>
        <p:nvPicPr>
          <p:cNvPr id="10" name="Picture 9" descr="A screenshot of a web page&#10;&#10;Description automatically generated">
            <a:extLst>
              <a:ext uri="{FF2B5EF4-FFF2-40B4-BE49-F238E27FC236}">
                <a16:creationId xmlns:a16="http://schemas.microsoft.com/office/drawing/2014/main" id="{6151D423-3AB4-A3E7-EFFD-D7C041A9A43C}"/>
              </a:ext>
            </a:extLst>
          </p:cNvPr>
          <p:cNvPicPr>
            <a:picLocks noChangeAspect="1"/>
          </p:cNvPicPr>
          <p:nvPr/>
        </p:nvPicPr>
        <p:blipFill>
          <a:blip r:embed="rId3"/>
          <a:stretch>
            <a:fillRect/>
          </a:stretch>
        </p:blipFill>
        <p:spPr>
          <a:xfrm>
            <a:off x="4988460" y="1648956"/>
            <a:ext cx="3851953" cy="2441237"/>
          </a:xfrm>
          <a:prstGeom prst="rect">
            <a:avLst/>
          </a:prstGeom>
        </p:spPr>
      </p:pic>
    </p:spTree>
    <p:extLst>
      <p:ext uri="{BB962C8B-B14F-4D97-AF65-F5344CB8AC3E}">
        <p14:creationId xmlns:p14="http://schemas.microsoft.com/office/powerpoint/2010/main" val="2568990457"/>
      </p:ext>
    </p:extLst>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Software engineering is an engineering discipline that is concerned with all aspects of software production.</a:t>
            </a:r>
          </a:p>
          <a:p>
            <a:r>
              <a:rPr lang="en-GB" dirty="0"/>
              <a:t>Essential software product attributes are maintainability, dependability and security, efficiency and acceptability.</a:t>
            </a:r>
          </a:p>
          <a:p>
            <a:r>
              <a:rPr lang="en-GB" dirty="0"/>
              <a:t>The high-level activities of specification, development, validation and evolution are part of all software processes.</a:t>
            </a:r>
          </a:p>
          <a:p>
            <a:r>
              <a:rPr lang="en-GB" dirty="0"/>
              <a:t>The fundamental notions of software engineering are universally applicable to all types of system development.  </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B8E577F3-4C90-D745-BBE4-A317DDE2C264}"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81</a:t>
            </a:fld>
            <a:endParaRPr lang="en-US"/>
          </a:p>
        </p:txBody>
      </p:sp>
    </p:spTree>
    <p:extLst>
      <p:ext uri="{BB962C8B-B14F-4D97-AF65-F5344CB8AC3E}">
        <p14:creationId xmlns:p14="http://schemas.microsoft.com/office/powerpoint/2010/main" val="1610917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There are many different types of system and each requires appropriate software engineering tools and techniques for their development. </a:t>
            </a:r>
          </a:p>
          <a:p>
            <a:r>
              <a:rPr lang="en-GB" dirty="0"/>
              <a:t>The fundamental ideas of software engineering are applicable to all types of software system. </a:t>
            </a:r>
          </a:p>
          <a:p>
            <a:r>
              <a:rPr lang="en-GB" dirty="0"/>
              <a:t>Software engineers have responsibilities to the engineering profession and society. They should not simply be concerned with technical issues.</a:t>
            </a:r>
          </a:p>
          <a:p>
            <a:r>
              <a:rPr lang="en-GB" dirty="0"/>
              <a:t>Professional societies publish codes of conduct which set out the standards of behaviour expected of their members.</a:t>
            </a:r>
          </a:p>
          <a:p>
            <a:endParaRPr lang="en-US" dirty="0"/>
          </a:p>
          <a:p>
            <a:pPr>
              <a:buNone/>
            </a:pP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fld id="{1C66BD53-3E68-5146-8A36-5D4E241EC19C}" type="datetime1">
              <a:rPr lang="en-CA" smtClean="0"/>
              <a:t>2026-09-21</a:t>
            </a:fld>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82</a:t>
            </a:fld>
            <a:endParaRPr lang="en-US"/>
          </a:p>
        </p:txBody>
      </p:sp>
    </p:spTree>
    <p:extLst>
      <p:ext uri="{BB962C8B-B14F-4D97-AF65-F5344CB8AC3E}">
        <p14:creationId xmlns:p14="http://schemas.microsoft.com/office/powerpoint/2010/main" val="2137521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4094</TotalTime>
  <Words>6674</Words>
  <Application>Microsoft Macintosh PowerPoint</Application>
  <PresentationFormat>On-screen Show (4:3)</PresentationFormat>
  <Paragraphs>698</Paragraphs>
  <Slides>82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82</vt:i4>
      </vt:variant>
    </vt:vector>
  </HeadingPairs>
  <TitlesOfParts>
    <vt:vector size="86" baseType="lpstr">
      <vt:lpstr>Arial</vt:lpstr>
      <vt:lpstr>Calibri</vt:lpstr>
      <vt:lpstr>Wingdings</vt:lpstr>
      <vt:lpstr>SE10 slides</vt:lpstr>
      <vt:lpstr>Chapter 1- Introduction</vt:lpstr>
      <vt:lpstr>Topics covered</vt:lpstr>
      <vt:lpstr>Software engineering</vt:lpstr>
      <vt:lpstr>Software costs</vt:lpstr>
      <vt:lpstr>Software costs</vt:lpstr>
      <vt:lpstr>Software project failure</vt:lpstr>
      <vt:lpstr>Software project failure</vt:lpstr>
      <vt:lpstr>Professional software development</vt:lpstr>
      <vt:lpstr>Frequently asked questions about software engineering </vt:lpstr>
      <vt:lpstr>Frequently asked questions about software engineering </vt:lpstr>
      <vt:lpstr>Frequently asked questions about software engineering </vt:lpstr>
      <vt:lpstr>Frequently asked questions about software engineering </vt:lpstr>
      <vt:lpstr>Frequently asked questions about software engineering </vt:lpstr>
      <vt:lpstr>Frequently asked questions about software engineering </vt:lpstr>
      <vt:lpstr>Frequently asked questions about software engineering </vt:lpstr>
      <vt:lpstr>Frequently asked questions about software engineering</vt:lpstr>
      <vt:lpstr>Frequently asked questions about software engineering</vt:lpstr>
      <vt:lpstr>Frequently asked questions about software engineering</vt:lpstr>
      <vt:lpstr>Frequently asked questions about software engineering</vt:lpstr>
      <vt:lpstr>Frequently asked questions about software engineering</vt:lpstr>
      <vt:lpstr>Software products</vt:lpstr>
      <vt:lpstr>Software products</vt:lpstr>
      <vt:lpstr>Product specification</vt:lpstr>
      <vt:lpstr>Product specification</vt:lpstr>
      <vt:lpstr>Product specification</vt:lpstr>
      <vt:lpstr>Essential attributes of good software</vt:lpstr>
      <vt:lpstr>Essential attributes of good software</vt:lpstr>
      <vt:lpstr>Essential attributes of good software</vt:lpstr>
      <vt:lpstr>Essential attributes of good software</vt:lpstr>
      <vt:lpstr>Essential attributes of good software</vt:lpstr>
      <vt:lpstr>Software engineering</vt:lpstr>
      <vt:lpstr>Software engineering</vt:lpstr>
      <vt:lpstr>Software engineering</vt:lpstr>
      <vt:lpstr>Importance of software engineering</vt:lpstr>
      <vt:lpstr>Importance of software engineering</vt:lpstr>
      <vt:lpstr>Importance of software engineering</vt:lpstr>
      <vt:lpstr>Software process activities</vt:lpstr>
      <vt:lpstr>Software process activities</vt:lpstr>
      <vt:lpstr>Software process activities</vt:lpstr>
      <vt:lpstr>Software process activities</vt:lpstr>
      <vt:lpstr>Software process activities</vt:lpstr>
      <vt:lpstr>General issues that affect software</vt:lpstr>
      <vt:lpstr>General issues that affect software</vt:lpstr>
      <vt:lpstr>General issues that affect software</vt:lpstr>
      <vt:lpstr>General issues that affect software</vt:lpstr>
      <vt:lpstr>General issues that affect software</vt:lpstr>
      <vt:lpstr>Software engineering diversity</vt:lpstr>
      <vt:lpstr>Application types</vt:lpstr>
      <vt:lpstr>Application types</vt:lpstr>
      <vt:lpstr>Application types</vt:lpstr>
      <vt:lpstr>Application types</vt:lpstr>
      <vt:lpstr>Application types</vt:lpstr>
      <vt:lpstr>Application types</vt:lpstr>
      <vt:lpstr>Software engineering fundamentals</vt:lpstr>
      <vt:lpstr>Software engineering fundamentals</vt:lpstr>
      <vt:lpstr>Internet software engineering</vt:lpstr>
      <vt:lpstr>Web-based software engineering</vt:lpstr>
      <vt:lpstr>Web-based software engineering</vt:lpstr>
      <vt:lpstr>Web software engineering</vt:lpstr>
      <vt:lpstr>Web software engineering</vt:lpstr>
      <vt:lpstr>Software engineering ethics</vt:lpstr>
      <vt:lpstr>Software engineering ethics</vt:lpstr>
      <vt:lpstr>Software engineering ethics</vt:lpstr>
      <vt:lpstr>Software engineering ethics</vt:lpstr>
      <vt:lpstr>Issues of professional responsibility</vt:lpstr>
      <vt:lpstr>Issues of professional responsibility</vt:lpstr>
      <vt:lpstr>Issues of professional responsibility</vt:lpstr>
      <vt:lpstr>ACM/IEEE Code of Ethics</vt:lpstr>
      <vt:lpstr>Rationale for the code of ethics</vt:lpstr>
      <vt:lpstr>The ACM/IEEE Code of Ethics </vt:lpstr>
      <vt:lpstr>Ethical principles</vt:lpstr>
      <vt:lpstr>Ethical principles</vt:lpstr>
      <vt:lpstr>Ethical principles</vt:lpstr>
      <vt:lpstr>Ethical principles</vt:lpstr>
      <vt:lpstr>Ethical principles</vt:lpstr>
      <vt:lpstr>Ethical principles</vt:lpstr>
      <vt:lpstr>Ethical principles</vt:lpstr>
      <vt:lpstr>Ethical principles</vt:lpstr>
      <vt:lpstr>What should you do if the employer acts in an unethical way?</vt:lpstr>
      <vt:lpstr>How should you react if you disagree with the policies of senior management in the company?</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Asaduzzaman</cp:lastModifiedBy>
  <cp:revision>41</cp:revision>
  <dcterms:created xsi:type="dcterms:W3CDTF">2009-12-29T10:39:27Z</dcterms:created>
  <dcterms:modified xsi:type="dcterms:W3CDTF">2026-09-22T15:36:22Z</dcterms:modified>
</cp:coreProperties>
</file>