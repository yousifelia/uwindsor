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49" r:id="rId2"/>
  </p:sldMasterIdLst>
  <p:notesMasterIdLst>
    <p:notesMasterId r:id="rId48"/>
  </p:notesMasterIdLst>
  <p:sldIdLst>
    <p:sldId id="256" r:id="rId3"/>
    <p:sldId id="423" r:id="rId4"/>
    <p:sldId id="424" r:id="rId5"/>
    <p:sldId id="425" r:id="rId6"/>
    <p:sldId id="427" r:id="rId7"/>
    <p:sldId id="428" r:id="rId8"/>
    <p:sldId id="429" r:id="rId9"/>
    <p:sldId id="431" r:id="rId10"/>
    <p:sldId id="434" r:id="rId11"/>
    <p:sldId id="435" r:id="rId12"/>
    <p:sldId id="433" r:id="rId13"/>
    <p:sldId id="400" r:id="rId14"/>
    <p:sldId id="386" r:id="rId15"/>
    <p:sldId id="401" r:id="rId16"/>
    <p:sldId id="403" r:id="rId17"/>
    <p:sldId id="388" r:id="rId18"/>
    <p:sldId id="392" r:id="rId19"/>
    <p:sldId id="436" r:id="rId20"/>
    <p:sldId id="393" r:id="rId21"/>
    <p:sldId id="394" r:id="rId22"/>
    <p:sldId id="351" r:id="rId23"/>
    <p:sldId id="352" r:id="rId24"/>
    <p:sldId id="407" r:id="rId25"/>
    <p:sldId id="409" r:id="rId26"/>
    <p:sldId id="410" r:id="rId27"/>
    <p:sldId id="406" r:id="rId28"/>
    <p:sldId id="353" r:id="rId29"/>
    <p:sldId id="354" r:id="rId30"/>
    <p:sldId id="355" r:id="rId31"/>
    <p:sldId id="356" r:id="rId32"/>
    <p:sldId id="371" r:id="rId33"/>
    <p:sldId id="358" r:id="rId34"/>
    <p:sldId id="359" r:id="rId35"/>
    <p:sldId id="360" r:id="rId36"/>
    <p:sldId id="361" r:id="rId37"/>
    <p:sldId id="362" r:id="rId38"/>
    <p:sldId id="363" r:id="rId39"/>
    <p:sldId id="416" r:id="rId40"/>
    <p:sldId id="417" r:id="rId41"/>
    <p:sldId id="418" r:id="rId42"/>
    <p:sldId id="437" r:id="rId43"/>
    <p:sldId id="419" r:id="rId44"/>
    <p:sldId id="421" r:id="rId45"/>
    <p:sldId id="384" r:id="rId46"/>
    <p:sldId id="422" r:id="rId47"/>
  </p:sldIdLst>
  <p:sldSz cx="9144000" cy="6858000" type="screen4x3"/>
  <p:notesSz cx="7315200" cy="96012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7"/>
    <p:restoredTop sz="94410"/>
  </p:normalViewPr>
  <p:slideViewPr>
    <p:cSldViewPr>
      <p:cViewPr varScale="1">
        <p:scale>
          <a:sx n="102" d="100"/>
          <a:sy n="102" d="100"/>
        </p:scale>
        <p:origin x="2048" y="17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691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943"/>
        <p:guide pos="23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1">
            <a:extLst>
              <a:ext uri="{FF2B5EF4-FFF2-40B4-BE49-F238E27FC236}">
                <a16:creationId xmlns:a16="http://schemas.microsoft.com/office/drawing/2014/main" id="{AD6A06E6-05DE-3D98-5104-149E97C7B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lIns="95226" tIns="47613" rIns="95226" bIns="47613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29699" name="AutoShape 2">
            <a:extLst>
              <a:ext uri="{FF2B5EF4-FFF2-40B4-BE49-F238E27FC236}">
                <a16:creationId xmlns:a16="http://schemas.microsoft.com/office/drawing/2014/main" id="{45A2F1DA-046C-BBB1-CEB7-4F529B7C3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lIns="95226" tIns="47613" rIns="95226" bIns="47613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29700" name="AutoShape 3">
            <a:extLst>
              <a:ext uri="{FF2B5EF4-FFF2-40B4-BE49-F238E27FC236}">
                <a16:creationId xmlns:a16="http://schemas.microsoft.com/office/drawing/2014/main" id="{CFDEB283-2D86-1A98-C2CE-219EB5349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lIns="95226" tIns="47613" rIns="95226" bIns="47613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29701" name="AutoShape 4">
            <a:extLst>
              <a:ext uri="{FF2B5EF4-FFF2-40B4-BE49-F238E27FC236}">
                <a16:creationId xmlns:a16="http://schemas.microsoft.com/office/drawing/2014/main" id="{B802C82C-87A5-C803-1BEF-06A2EAA6A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lIns="95226" tIns="47613" rIns="95226" bIns="47613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29702" name="AutoShape 5">
            <a:extLst>
              <a:ext uri="{FF2B5EF4-FFF2-40B4-BE49-F238E27FC236}">
                <a16:creationId xmlns:a16="http://schemas.microsoft.com/office/drawing/2014/main" id="{C394B6B4-D38F-E300-17AB-C4C6AA8C2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lIns="95226" tIns="47613" rIns="95226" bIns="47613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29703" name="AutoShape 6">
            <a:extLst>
              <a:ext uri="{FF2B5EF4-FFF2-40B4-BE49-F238E27FC236}">
                <a16:creationId xmlns:a16="http://schemas.microsoft.com/office/drawing/2014/main" id="{9CE1308B-C7A7-D2E6-6E38-CC4DAE2C6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lIns="95226" tIns="47613" rIns="95226" bIns="47613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29704" name="AutoShape 7">
            <a:extLst>
              <a:ext uri="{FF2B5EF4-FFF2-40B4-BE49-F238E27FC236}">
                <a16:creationId xmlns:a16="http://schemas.microsoft.com/office/drawing/2014/main" id="{61011AEA-0B68-8DE7-B272-22DC41200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lIns="95226" tIns="47613" rIns="95226" bIns="47613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69FC925D-097F-DDFE-7558-9C9D66BD6BA5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157538" cy="4683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477" tIns="45738" rIns="91477" bIns="45738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ct val="100000"/>
              <a:buFont typeface="Wingdings" charset="2"/>
              <a:buNone/>
              <a:tabLst>
                <a:tab pos="753869" algn="l"/>
                <a:tab pos="1507739" algn="l"/>
                <a:tab pos="2261608" algn="l"/>
                <a:tab pos="3015478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Sans" charset="0"/>
                <a:cs typeface="DejaVuSans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E206E344-BCD6-07C8-76E7-65D8D3AE8A3D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141788" y="0"/>
            <a:ext cx="3157537" cy="4683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477" tIns="45738" rIns="91477" bIns="45738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Wingdings" charset="2"/>
              <a:buNone/>
              <a:tabLst>
                <a:tab pos="753869" algn="l"/>
                <a:tab pos="1507739" algn="l"/>
                <a:tab pos="2261608" algn="l"/>
                <a:tab pos="3015478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Sans" charset="0"/>
                <a:cs typeface="DejaVuSans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9707" name="Rectangle 10">
            <a:extLst>
              <a:ext uri="{FF2B5EF4-FFF2-40B4-BE49-F238E27FC236}">
                <a16:creationId xmlns:a16="http://schemas.microsoft.com/office/drawing/2014/main" id="{E9C87E62-0D21-9639-5775-4743A0CBCC8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786313" cy="35893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83" name="Rectangle 11">
            <a:extLst>
              <a:ext uri="{FF2B5EF4-FFF2-40B4-BE49-F238E27FC236}">
                <a16:creationId xmlns:a16="http://schemas.microsoft.com/office/drawing/2014/main" id="{A76AD025-2B56-9DA5-184B-66C6F12BD2B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30250" y="4560888"/>
            <a:ext cx="5840413" cy="4308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477" tIns="45738" rIns="91477" bIns="4573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995E16B6-D5EF-A16C-7F00-D4EE97CE919F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9118600"/>
            <a:ext cx="3157538" cy="4683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477" tIns="45738" rIns="91477" bIns="45738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ct val="100000"/>
              <a:buFont typeface="Wingdings" charset="2"/>
              <a:buNone/>
              <a:tabLst>
                <a:tab pos="753869" algn="l"/>
                <a:tab pos="1507739" algn="l"/>
                <a:tab pos="2261608" algn="l"/>
                <a:tab pos="3015478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Sans" charset="0"/>
                <a:cs typeface="DejaVuSans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9B98F338-AAC2-73EC-20BA-3E61AEEF11D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141788" y="9118600"/>
            <a:ext cx="3157537" cy="4683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477" tIns="45738" rIns="91477" bIns="45738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Wingdings" pitchFamily="2" charset="2"/>
              <a:buNone/>
              <a:tabLst>
                <a:tab pos="752475" algn="l"/>
                <a:tab pos="1506538" algn="l"/>
                <a:tab pos="2260600" algn="l"/>
                <a:tab pos="3014663" algn="l"/>
              </a:tabLst>
              <a:defRPr sz="1200" smtClean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4217FD7-50F5-894F-B008-9A402ADAD9F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ＭＳ Ｐゴシック" charset="0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3">
            <a:extLst>
              <a:ext uri="{FF2B5EF4-FFF2-40B4-BE49-F238E27FC236}">
                <a16:creationId xmlns:a16="http://schemas.microsoft.com/office/drawing/2014/main" id="{FE662FE7-6FA4-85C4-C07C-82638FCAC93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52475" algn="l"/>
                <a:tab pos="1506538" algn="l"/>
                <a:tab pos="2260600" algn="l"/>
                <a:tab pos="3014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52475" algn="l"/>
                <a:tab pos="1506538" algn="l"/>
                <a:tab pos="2260600" algn="l"/>
                <a:tab pos="3014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52475" algn="l"/>
                <a:tab pos="1506538" algn="l"/>
                <a:tab pos="2260600" algn="l"/>
                <a:tab pos="3014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52475" algn="l"/>
                <a:tab pos="1506538" algn="l"/>
                <a:tab pos="2260600" algn="l"/>
                <a:tab pos="3014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52475" algn="l"/>
                <a:tab pos="1506538" algn="l"/>
                <a:tab pos="2260600" algn="l"/>
                <a:tab pos="3014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52475" algn="l"/>
                <a:tab pos="1506538" algn="l"/>
                <a:tab pos="2260600" algn="l"/>
                <a:tab pos="3014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52475" algn="l"/>
                <a:tab pos="1506538" algn="l"/>
                <a:tab pos="2260600" algn="l"/>
                <a:tab pos="3014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52475" algn="l"/>
                <a:tab pos="1506538" algn="l"/>
                <a:tab pos="2260600" algn="l"/>
                <a:tab pos="3014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52475" algn="l"/>
                <a:tab pos="1506538" algn="l"/>
                <a:tab pos="2260600" algn="l"/>
                <a:tab pos="3014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Wingdings" pitchFamily="2" charset="2"/>
              <a:buNone/>
            </a:pPr>
            <a:fld id="{748EB4A2-4643-BC42-A286-3E13B4650E64}" type="slidenum">
              <a:rPr lang="en-GB" altLang="en-US"/>
              <a:pPr>
                <a:spcBef>
                  <a:spcPct val="0"/>
                </a:spcBef>
                <a:buFont typeface="Wingdings" pitchFamily="2" charset="2"/>
                <a:buNone/>
              </a:pPr>
              <a:t>1</a:t>
            </a:fld>
            <a:endParaRPr lang="en-GB" altLang="en-US"/>
          </a:p>
        </p:txBody>
      </p:sp>
      <p:sp>
        <p:nvSpPr>
          <p:cNvPr id="31747" name="Text Box 1">
            <a:extLst>
              <a:ext uri="{FF2B5EF4-FFF2-40B4-BE49-F238E27FC236}">
                <a16:creationId xmlns:a16="http://schemas.microsoft.com/office/drawing/2014/main" id="{A5F22A7C-7F40-A39D-3937-4576ED55E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175" y="720725"/>
            <a:ext cx="5021263" cy="36004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5226" tIns="47613" rIns="95226" bIns="47613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6DB08B72-C7C3-69C4-A56C-A3BF50F8DA7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730250" y="4560888"/>
            <a:ext cx="5842000" cy="43116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B665274A-6B2A-7857-7461-4F55A03B74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5B9320C4-6D31-84D6-CA38-11B3740B0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E894D01D-E195-6D7E-6110-4323182E7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1BDC0241-61AA-6547-C4E0-80241364B4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4AB27B31-33FC-4EC4-F959-D5211C0404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B6D74DCE-E4E2-A0ED-0BC6-FE5CC5AE7B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A3F45E72-29FF-15DC-7162-E8CDB5F089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7ABFF68A-783D-190D-8BA8-69758F8F93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F4A9CF60-E157-EA14-8981-D2EABA51D8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408E246C-169D-1550-2A1B-3808682D7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D6A61279-8FF9-C58A-D179-E0F7A21ADF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8000B8D0-A6EC-9917-2D5F-559882F70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F0952DB5-9081-71B1-CCB9-D6AF1E866F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2870C1DA-E6C9-2078-61B5-650F03652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D454BE7C-1760-BBCB-B52F-32BC06E24E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38288DBB-9891-5044-BA74-3BF8A44C26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72AE4-4493-D535-75A3-6EFABBDCD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A14C414F-6DA3-7801-0E89-73504B9426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FA1A0BC5-E0E8-BEA8-6857-ED39FF4E7A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20554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AFE86ABD-C4A4-DFF6-4B93-FAF1B9E0E7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3C0077F1-E6E3-3F23-04FF-012F726AAA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6354D4AC-81A2-5261-EA67-32A8F1220A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969D1433-A00E-49DF-B9DF-26329C4AC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CA61C5C5-B8EB-4249-D725-F3C44B8407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F12A50CD-48BA-3EC2-14DE-188FC48F67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D015B7E0-E81E-FD6C-ACE6-A0670CBBE2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3E23B359-C0B4-F543-D9FF-037EE2DF0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B97984F0-5A5E-4E1D-F7DE-81D617B764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A780B7C8-EA52-8DBC-50AB-B097A999C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4189D32D-C202-84F5-01C2-C4FED78A6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677533BE-54B9-D1DC-96FD-64EE748C7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0CF00F3-5D48-23A3-B9F1-C94E50B53A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619FB9C6-DAA8-9B3D-7993-D18ED9869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1200" dirty="0">
                <a:ea typeface="ＭＳ Ｐゴシック" panose="020B0600070205080204" pitchFamily="34" charset="-128"/>
              </a:rPr>
              <a:t>(if, switch, while, etc.)  are places where you make decisions</a:t>
            </a: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D458-C3C1-800D-22E1-EC4BF33C6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915054B8-10DE-5782-682E-6A58BF679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FC9CAAD0-8DA7-BC88-32B5-49C205E68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85866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E066E1DB-B22D-D767-67A6-B76CBBCB84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5C5C014F-9DF5-0310-1EEE-7ACCE313B3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BC6BED40-4315-14D8-3567-98EFA990D6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F39F0964-3E62-2C0D-C48A-8E2507380D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957B5E76-9390-0AE4-275A-307B243936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CD380FDF-16CE-0A6E-C2A4-B76EAE7F8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70216D8F-7FD0-2B44-451C-6C0FCA30A0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ACD7484A-DD5E-F86C-0789-668F65C2C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7DD4EF07-65C4-73FA-AC75-A3F7DBFB17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5A4ECC92-573B-366C-E817-E0253EAEC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08E77D9A-1090-F6FA-BAD0-F6A5E704B2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85A9DB05-EE5A-B63E-4FE7-B2082D250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3EC6F678-E5A1-1073-C211-C1737926F6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715AEC1A-5B73-53E0-7BCB-0CC3E555F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7C94CB62-5FCF-248F-2F82-78A9938D84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5E0932F7-4318-7ED3-EC56-FF01ACECF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 lIns="96661" tIns="48331" rIns="96661" bIns="48331"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01790EEF-F84D-6625-6024-123D84B074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F5805629-B7EA-BE74-95B3-844127FCA0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88E9E0D0-E705-A1C8-D8CA-0436C7F18B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12BF349D-D9E8-EB57-5FAB-F122E2EDE7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61E8FD3E-B567-D061-5C56-8AE7134C23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7E64460E-D310-CEB8-9063-1861E2C3C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02361E47-0C1A-AC1E-2F45-61C5B1FF71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672EDED7-B23D-4970-9F4C-CAE498F689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DBC22B05-962F-F317-61D2-67661EFC38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2D45558C-336C-1CFF-2D99-962EC9DD5D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2CB3552E-841B-CCD8-A4AB-7C24FF034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8B6BF8D0-44CB-18B2-CAF0-009C01B78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D3BAE4ED-E08E-2153-1D1E-B9D8A43A37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BB4B29FF-92A5-BF86-E241-CECD11BE1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5EB43DA2-AB1A-12BD-0227-E5CC8F954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4" name="Rectangle 3">
            <a:extLst>
              <a:ext uri="{FF2B5EF4-FFF2-40B4-BE49-F238E27FC236}">
                <a16:creationId xmlns:a16="http://schemas.microsoft.com/office/drawing/2014/main" id="{466625ED-5BD0-68FF-E5A8-6B659CB8A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3C07EF2C-0215-5770-0F5B-839FD79F91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2" name="Rectangle 3">
            <a:extLst>
              <a:ext uri="{FF2B5EF4-FFF2-40B4-BE49-F238E27FC236}">
                <a16:creationId xmlns:a16="http://schemas.microsoft.com/office/drawing/2014/main" id="{717F8B4A-0F31-49E9-4B18-2024751DF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>
            <a:extLst>
              <a:ext uri="{FF2B5EF4-FFF2-40B4-BE49-F238E27FC236}">
                <a16:creationId xmlns:a16="http://schemas.microsoft.com/office/drawing/2014/main" id="{0249ED10-6C7C-55B0-4852-39C6104E6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0" name="Rectangle 3">
            <a:extLst>
              <a:ext uri="{FF2B5EF4-FFF2-40B4-BE49-F238E27FC236}">
                <a16:creationId xmlns:a16="http://schemas.microsoft.com/office/drawing/2014/main" id="{EC8ED569-49B9-AB15-3985-71B283078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>
            <a:extLst>
              <a:ext uri="{FF2B5EF4-FFF2-40B4-BE49-F238E27FC236}">
                <a16:creationId xmlns:a16="http://schemas.microsoft.com/office/drawing/2014/main" id="{80D03401-9187-809D-F05F-19C06C173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id="{3C03A8E6-EB96-D55C-CDCE-BC41AF0688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1026">
            <a:extLst>
              <a:ext uri="{FF2B5EF4-FFF2-40B4-BE49-F238E27FC236}">
                <a16:creationId xmlns:a16="http://schemas.microsoft.com/office/drawing/2014/main" id="{50E47D55-4237-D1EB-750D-8C85AC5EB7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2" name="Rectangle 1027">
            <a:extLst>
              <a:ext uri="{FF2B5EF4-FFF2-40B4-BE49-F238E27FC236}">
                <a16:creationId xmlns:a16="http://schemas.microsoft.com/office/drawing/2014/main" id="{2EBF01C3-34F9-1BAF-7A18-55F454F3B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>
            <a:extLst>
              <a:ext uri="{FF2B5EF4-FFF2-40B4-BE49-F238E27FC236}">
                <a16:creationId xmlns:a16="http://schemas.microsoft.com/office/drawing/2014/main" id="{A0FD34C5-A47D-23F6-CF1A-7808A6F56F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0" name="Rectangle 3">
            <a:extLst>
              <a:ext uri="{FF2B5EF4-FFF2-40B4-BE49-F238E27FC236}">
                <a16:creationId xmlns:a16="http://schemas.microsoft.com/office/drawing/2014/main" id="{A0123E01-DA47-40A3-7E94-F0C913ABB1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>
            <a:extLst>
              <a:ext uri="{FF2B5EF4-FFF2-40B4-BE49-F238E27FC236}">
                <a16:creationId xmlns:a16="http://schemas.microsoft.com/office/drawing/2014/main" id="{BD33D237-A767-324C-1600-1DE130D4A6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8" name="Rectangle 3">
            <a:extLst>
              <a:ext uri="{FF2B5EF4-FFF2-40B4-BE49-F238E27FC236}">
                <a16:creationId xmlns:a16="http://schemas.microsoft.com/office/drawing/2014/main" id="{49572B11-3A38-82AC-4103-4ABE5EA2BE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D52E946-559F-5B2C-CC44-0705D1BA039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AF6B6B-2633-694D-935F-05C82CB19DCA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CDEF70E-1D90-E259-4EA7-0C8B3F1F52A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F8642DA-C4D0-CB49-9CC7-915CDC44051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888CAC-4272-2049-B117-F1731549980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1894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EA483BF7-5B0A-06E7-302B-E27D1B0441F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71095-66AF-B547-A0F6-ACF3DCE23C51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E8C11E3-E9FC-2DFE-C1C4-AF64E5D57A9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4841340-D5CE-9D59-1CC7-46CF74EC56D6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3425E-5457-3D41-8507-A90D11F5FA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21099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17172845-3077-5063-1022-F7958EDD8FE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1EEDD-26DE-5B47-B33C-8C1695BC356B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E07CEFA-45AF-FC44-28C0-C40FE5A457C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5946EB7-5652-6816-1CEB-56435BBE7A3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318EE4-DDB7-2D41-AAA2-4EAABCEE71E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136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09537DF5-B681-E591-325E-B7B23D53B2B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9DA4C-BC5E-D34E-B2E5-AB756CB121E7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1A207C3-29C7-E69A-7AEE-B55DDC3C1BC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4AF513C-ED77-CE49-72BA-F6F9A3198D26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4306F8-93A7-3C4B-8181-A2B50665054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4106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03650" cy="4103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8738" y="2017713"/>
            <a:ext cx="3805237" cy="4103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02EB4051-67D2-78CB-17C8-421E31007F1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CC9216-18A2-1E4A-98DD-CB15CCB976F8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15E692B8-14B6-30E6-C8F1-5B2C2483DA8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1211FFBA-944B-6BD8-61EB-CE447F911E0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7A0149-DA8D-C849-A00A-1D42C7A3599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5087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C642850-4D0E-F20C-489A-318B68B2932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597FB-30A0-FD44-9D3F-7251654A7D93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0DF64BFB-614C-4C2C-C734-525D5E1F9110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17A47B8B-3A08-27FA-2DCE-7CB5C53A041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A65FB-1FF1-7E4B-90B0-1E7E69A2A6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2944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15B1888D-74C5-D3E1-2A0F-ECAB93377A4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C6952F-A96E-294C-996E-9C116AB6358D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810F362-BDD5-DBBE-48BC-D4B26C51812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BBF8C15-B354-A169-9B07-114CA7175C2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7E1F4-8267-234B-B6B9-83C74CEBFCF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05632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E5432FF3-1EBC-305E-8F34-94A43D1C2FF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119D3-D76F-1E4F-AF03-0533BDA57162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870CC2C-E56A-153D-3F4D-A32DAAB2562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002B9CC-1AE6-3BDB-2801-12EADC98737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76DB7-2036-A048-9F6B-DC35585DEA3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3566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D342341B-9D16-E7F8-CA75-6FD5848EDE5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BE0E34-EBC1-C24A-9BFB-5846451E7927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4C4F9D6-5F3B-48A5-457D-86546897FBA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C5C7F4AA-A2F5-2004-8514-E9E45DEABFF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34E13A-8285-1D4D-842B-BE85542BABE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04581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E958E6FB-5E4B-A943-C001-A0B4AC660FF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A8E828-A273-C24E-B1A2-181591A6EB03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466FFAB5-5FCD-AA37-441A-ED3970AD80A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95B5D60D-C5B7-80EF-ED8A-786743F3FEF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79E20-FADD-EE47-801C-CD063B16F1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6405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F025F962-9D44-6D80-7646-04C9008DC7E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DF0DFF-A663-3746-B669-65EF25880A9E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70BE050-602D-A975-2C65-C6C2E4E1429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251487A-9150-EF58-8783-0B5A29EE088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6CC16-8B7B-D34C-858A-F50FD605D7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89387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6113" y="315913"/>
            <a:ext cx="1947862" cy="58054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315913"/>
            <a:ext cx="5692775" cy="58054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91C07CD4-1218-7C4D-9D00-B8D6AF4A3C4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9D779-98F5-3C4A-9CDB-A02BD3BE8753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D3EEE79-E74C-C075-C239-0FA9A529BE3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1487BA8-620F-D856-7094-BA85312FDFE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83FFF-D628-AD4F-9297-C2FC66D0100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80262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5400"/>
            <a:ext cx="7781925" cy="1433513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676400"/>
            <a:ext cx="3803650" cy="4419600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22850" y="1676400"/>
            <a:ext cx="3805238" cy="2133600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22850" y="3962400"/>
            <a:ext cx="3805238" cy="2133600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DAC1588-4252-030B-AA55-E545B4BD47C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E6EFA-8318-4F44-802F-B8EE1C4A324E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4EEC284-7AD1-D145-B0BA-EE031ED9884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C317F002-1B4B-796C-1BCE-6D99D54AFED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21AA5-5AC6-9B4C-9EE4-F15642D5683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46052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5400"/>
            <a:ext cx="7781925" cy="1433513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066800" y="1676400"/>
            <a:ext cx="7761288" cy="4419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AC3ED98D-CD29-372E-EDB4-766E56F77BB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ED506-9BAF-0F44-B6B7-5D7179C755B4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27D846E-06CF-846C-E30E-6BBB0064670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419BE64-3782-1057-5D63-393562CF7661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50352-D73F-3745-8FC8-138B5967AF7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9339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F7FC9ECE-EBB9-5475-D7C1-825C3B9B141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4C7F6-87C3-0E4C-B411-8CDA53B953EF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8B034A0-2A16-419A-2F1C-1D2687604E60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EBB83CF-F232-A5EB-5155-2A9ECC83D8FC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63B752-965B-C44D-A731-D39B51B34C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62556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EF0432A-EC34-51E6-D781-4C5860ECB2A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BD9B1-51AD-314E-8CBB-8394718C8BF9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1538064-EA3A-0CC5-90FE-F508121EFA60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E62E592-5D0A-D6E9-BB3F-3534A4EA1BC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796AE-D4BE-9745-93E9-BB7089412A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903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FF50D486-7E1D-B901-F57E-EDBAEAC0080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AE5C7-4F3A-7640-9743-98C57A8820FF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CEA9427-EBDA-A9ED-61A2-A6F97909717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E3474AD-85D2-3324-6B81-77CD0BAEB75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C7CA4-4E42-1444-9BA6-D3BAA6A5352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56063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2250" cy="4514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850" y="1604963"/>
            <a:ext cx="4033838" cy="4514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5E6D7894-DC25-DC9C-2B30-21934940A4A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618E9-9BE9-104B-9580-983EFBE4E8FA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908F0637-E0DB-0079-2392-737FBBC59DA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0142A57-47CD-7140-4891-58D6B4507CC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79FC2-303E-6949-B2D6-C6FF42023F9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50043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25E1CF21-E2EA-FAE5-554F-6D1142A4400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BD79A2-5B7E-6A4D-ABDD-8FA7BF413197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2C429DD9-85CB-F97A-204C-C122FCB85D9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2797ECF-D6DC-3E8D-45C5-BF1A4743CD7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5AAFD-7E03-4644-9953-797B7C69943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52066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494179B1-CE99-B00E-A76D-71F6177C14B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B7157-9A33-8D44-B339-BFA250D92BA2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8568723-FD66-68AA-B903-F84EF823204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60808EF-59CD-AC90-CEE1-6D5F14B1F95C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7317A-18C5-4448-A6E8-B9CEFAF8F0C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267767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E4228C1C-9158-5827-81A5-CF89B5598E8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82E77-B3BA-DF46-ADFC-48E6540E64B9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0EBD7C8-F512-92AE-3E8A-9642CE31B9F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E71A9724-AC1D-165A-1EB9-146546E06ECA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6E2E9-B0A1-454F-AE89-7B0C8AE79D7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2237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BF96FA2-33E2-4EE5-8DD6-E9B5C568F7A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825CB-7582-0B44-AFD5-19D626E6EFD5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256B967-342F-FCA1-778D-A49E572AC94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60EA6DC2-F211-16BE-B94C-19045DCD477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AE87B-0BA2-494E-B4A2-A8E8F61761D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228143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A6430AE-A4DD-4BAC-DD07-3A1BABE3948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C66B09-F711-554D-8C5A-6F535EDB6D4A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876637D-F4CB-1300-DFA7-580B5695734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DF4457C6-856F-517D-ACFB-50481B5BC3B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84E912-FB42-5847-8AC3-B7A821825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13849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0C38B056-59E7-6225-99D6-112F834759A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5C59FD-C183-7D4D-A494-02AD2A916860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0C4CC58-1866-BD31-4AF0-56497653BB0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D702693-B56B-5886-A385-3228758E41A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E90AC-00F7-964F-B666-E48CB2284B9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586180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8613" y="1527175"/>
            <a:ext cx="2073275" cy="45926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7175"/>
            <a:ext cx="6069013" cy="45926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ED36EE22-1E73-3A5F-1F01-BBADD9A35B1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2862D-6E2E-CA4B-A8FC-BD24FCA22118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02595CA-30F2-882B-0378-6E7E50AAA03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54D10DF-02D7-6D31-D61E-5BAB90519E1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E7CA0-100B-9446-9DCA-C8C4C2841D7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2107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7175"/>
            <a:ext cx="7761288" cy="14335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B73F45AD-3776-04A0-A255-FB61FF88E7B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B384A-22CE-E446-A84C-6D2D1DB33588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2B90855-E2EF-1137-2D2B-6EECB58C106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B6BE7A5-7A8B-D5F8-F724-3CFD806A710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6AC4C-1107-EB4E-9532-52F64834A2C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9314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601C8936-ECC6-8FF9-3EBC-01B2FC8B8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3" y="808038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055EA002-71CF-9BE1-45EC-17EF64160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808038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36A33083-DE0C-A0F0-3444-CF1E1F8A7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1230313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9AEAF3B7-6514-3AF2-1742-EE296AD7D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" y="1230313"/>
            <a:ext cx="368300" cy="474662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1030" name="Rectangle 5">
            <a:extLst>
              <a:ext uri="{FF2B5EF4-FFF2-40B4-BE49-F238E27FC236}">
                <a16:creationId xmlns:a16="http://schemas.microsoft.com/office/drawing/2014/main" id="{E1AE2395-FE3A-C4F4-10AE-81231DE82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1157288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1031" name="Rectangle 6">
            <a:extLst>
              <a:ext uri="{FF2B5EF4-FFF2-40B4-BE49-F238E27FC236}">
                <a16:creationId xmlns:a16="http://schemas.microsoft.com/office/drawing/2014/main" id="{D365DE16-2683-9A7D-9EBE-D75222B5C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700088"/>
            <a:ext cx="31750" cy="105251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1032" name="Rectangle 7">
            <a:extLst>
              <a:ext uri="{FF2B5EF4-FFF2-40B4-BE49-F238E27FC236}">
                <a16:creationId xmlns:a16="http://schemas.microsoft.com/office/drawing/2014/main" id="{BBD9DB2A-186E-C015-EC39-86130390A7D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60375" y="1538288"/>
            <a:ext cx="8683625" cy="46037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rot="10800000"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1033" name="Rectangle 8">
            <a:extLst>
              <a:ext uri="{FF2B5EF4-FFF2-40B4-BE49-F238E27FC236}">
                <a16:creationId xmlns:a16="http://schemas.microsoft.com/office/drawing/2014/main" id="{F2BB6414-5DA4-898B-E8A0-03D7F12E00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5400"/>
            <a:ext cx="7781925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34" name="Rectangle 9">
            <a:extLst>
              <a:ext uri="{FF2B5EF4-FFF2-40B4-BE49-F238E27FC236}">
                <a16:creationId xmlns:a16="http://schemas.microsoft.com/office/drawing/2014/main" id="{13E9798A-03DC-9E13-1FB1-CBCC44998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676400"/>
            <a:ext cx="776128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0104D4BE-4C49-CB5C-F088-E26C4231937E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914400" y="6323013"/>
            <a:ext cx="1893888" cy="44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 sz="14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09747F79-01D1-3043-B5A4-3AA003856C02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id="{5D351FA9-5D30-D795-D7DA-DAECE798044B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352800" y="6323013"/>
            <a:ext cx="2884488" cy="44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>
                <a:srgbClr val="000000"/>
              </a:buClr>
              <a:buSzPct val="100000"/>
              <a:buFont typeface="Arial" charset="0"/>
              <a:buNone/>
              <a:defRPr sz="1400">
                <a:solidFill>
                  <a:srgbClr val="000000"/>
                </a:solidFill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7C3708FA-7914-4347-647F-AD37FBB136E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781800" y="6323013"/>
            <a:ext cx="1893888" cy="44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 sz="14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B3C59A45-55A1-AE44-A49B-A07BC571BD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hdr="0" ftr="0" dt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anose="020B0604020202020204" pitchFamily="34" charset="0"/>
        <a:defRPr sz="4400">
          <a:solidFill>
            <a:srgbClr val="333399"/>
          </a:solidFill>
          <a:latin typeface="+mj-lt"/>
          <a:ea typeface="ＭＳ Ｐゴシック" charset="0"/>
          <a:cs typeface="ＭＳ Ｐゴシック" charset="0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anose="020B0604020202020204" pitchFamily="34" charset="0"/>
        <a:defRPr sz="4400">
          <a:solidFill>
            <a:srgbClr val="333399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anose="020B0604020202020204" pitchFamily="34" charset="0"/>
        <a:defRPr sz="4400">
          <a:solidFill>
            <a:srgbClr val="333399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anose="020B0604020202020204" pitchFamily="34" charset="0"/>
        <a:defRPr sz="4400">
          <a:solidFill>
            <a:srgbClr val="333399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anose="020B0604020202020204" pitchFamily="34" charset="0"/>
        <a:defRPr sz="4400">
          <a:solidFill>
            <a:srgbClr val="333399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4400">
          <a:solidFill>
            <a:srgbClr val="333399"/>
          </a:solidFill>
          <a:latin typeface="Arial" charset="0"/>
          <a:ea typeface="AR PL ShanHeiSun Uni" charset="0"/>
          <a:cs typeface="AR PL ShanHeiSun Uni" charset="0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4400">
          <a:solidFill>
            <a:srgbClr val="333399"/>
          </a:solidFill>
          <a:latin typeface="Arial" charset="0"/>
          <a:ea typeface="AR PL ShanHeiSun Uni" charset="0"/>
          <a:cs typeface="AR PL ShanHeiSun Uni" charset="0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4400">
          <a:solidFill>
            <a:srgbClr val="333399"/>
          </a:solidFill>
          <a:latin typeface="Arial" charset="0"/>
          <a:ea typeface="AR PL ShanHeiSun Uni" charset="0"/>
          <a:cs typeface="AR PL ShanHeiSun Uni" charset="0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4400">
          <a:solidFill>
            <a:srgbClr val="333399"/>
          </a:solidFill>
          <a:latin typeface="Arial" charset="0"/>
          <a:ea typeface="AR PL ShanHeiSun Uni" charset="0"/>
          <a:cs typeface="AR PL ShanHeiSun Uni" charset="0"/>
        </a:defRPr>
      </a:lvl9pPr>
    </p:titleStyle>
    <p:bodyStyle>
      <a:lvl1pPr marL="331788" indent="-331788" algn="l" defTabSz="449263" rtl="0" eaLnBrk="0" fontAlgn="base" hangingPunct="0">
        <a:spcBef>
          <a:spcPts val="800"/>
        </a:spcBef>
        <a:spcAft>
          <a:spcPct val="0"/>
        </a:spcAft>
        <a:buClr>
          <a:srgbClr val="3333CC"/>
        </a:buClr>
        <a:buSzPct val="60000"/>
        <a:buFont typeface="Wingdings" pitchFamily="2" charset="2"/>
        <a:buChar char=""/>
        <a:defRPr sz="3200">
          <a:solidFill>
            <a:srgbClr val="000000"/>
          </a:solidFill>
          <a:latin typeface="+mn-lt"/>
          <a:ea typeface="ＭＳ Ｐゴシック" charset="0"/>
          <a:cs typeface="ＭＳ Ｐゴシック" charset="0"/>
        </a:defRPr>
      </a:lvl1pPr>
      <a:lvl2pPr marL="731838" indent="-274638" algn="l" defTabSz="449263" rtl="0" eaLnBrk="0" fontAlgn="base" hangingPunct="0">
        <a:spcBef>
          <a:spcPts val="700"/>
        </a:spcBef>
        <a:spcAft>
          <a:spcPct val="0"/>
        </a:spcAft>
        <a:buClr>
          <a:srgbClr val="FF0000"/>
        </a:buClr>
        <a:buSzPct val="55000"/>
        <a:buFont typeface="Wingdings" pitchFamily="2" charset="2"/>
        <a:buChar char=""/>
        <a:defRPr sz="2800">
          <a:solidFill>
            <a:srgbClr val="000000"/>
          </a:solidFill>
          <a:latin typeface="+mn-lt"/>
          <a:ea typeface="ＭＳ Ｐゴシック" charset="0"/>
          <a:cs typeface="ＭＳ Ｐゴシック" charset="0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3333CC"/>
        </a:buClr>
        <a:buSzPct val="50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ＭＳ Ｐゴシック" charset="0"/>
          <a:cs typeface="ＭＳ Ｐゴシック" charset="0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FFCF01"/>
        </a:buClr>
        <a:buSzPct val="55000"/>
        <a:buFont typeface="Wingdings" pitchFamily="2" charset="2"/>
        <a:buChar char=""/>
        <a:defRPr sz="2000">
          <a:solidFill>
            <a:srgbClr val="000000"/>
          </a:solidFill>
          <a:latin typeface="+mn-lt"/>
          <a:ea typeface="ＭＳ Ｐゴシック" charset="0"/>
          <a:cs typeface="ＭＳ Ｐゴシック" charset="0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FFCF01"/>
        </a:buClr>
        <a:buSzPct val="50000"/>
        <a:buFont typeface="Wingdings" pitchFamily="2" charset="2"/>
        <a:buChar char=""/>
        <a:defRPr sz="2000">
          <a:solidFill>
            <a:srgbClr val="000000"/>
          </a:solidFill>
          <a:latin typeface="+mn-lt"/>
          <a:ea typeface="ＭＳ Ｐゴシック" charset="0"/>
          <a:cs typeface="ＭＳ Ｐゴシック" charset="0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FFCF01"/>
        </a:buClr>
        <a:buSzPct val="50000"/>
        <a:buFont typeface="Wingdings" charset="2"/>
        <a:buChar char="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FFCF01"/>
        </a:buClr>
        <a:buSzPct val="50000"/>
        <a:buFont typeface="Wingdings" charset="2"/>
        <a:buChar char="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FFCF01"/>
        </a:buClr>
        <a:buSzPct val="50000"/>
        <a:buFont typeface="Wingdings" charset="2"/>
        <a:buChar char="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FFCF01"/>
        </a:buClr>
        <a:buSzPct val="50000"/>
        <a:buFont typeface="Wingdings" charset="2"/>
        <a:buChar char="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1">
            <a:extLst>
              <a:ext uri="{FF2B5EF4-FFF2-40B4-BE49-F238E27FC236}">
                <a16:creationId xmlns:a16="http://schemas.microsoft.com/office/drawing/2014/main" id="{87487AF5-E801-6C09-5D98-FE756B836FC0}"/>
              </a:ext>
            </a:extLst>
          </p:cNvPr>
          <p:cNvGrpSpPr>
            <a:grpSpLocks/>
          </p:cNvGrpSpPr>
          <p:nvPr/>
        </p:nvGrpSpPr>
        <p:grpSpPr bwMode="auto">
          <a:xfrm>
            <a:off x="290513" y="2546350"/>
            <a:ext cx="706437" cy="471488"/>
            <a:chOff x="183" y="1604"/>
            <a:chExt cx="445" cy="297"/>
          </a:xfrm>
        </p:grpSpPr>
        <p:sp>
          <p:nvSpPr>
            <p:cNvPr id="16398" name="Rectangle 2">
              <a:extLst>
                <a:ext uri="{FF2B5EF4-FFF2-40B4-BE49-F238E27FC236}">
                  <a16:creationId xmlns:a16="http://schemas.microsoft.com/office/drawing/2014/main" id="{1713D4D9-2FB5-B72A-22A9-AEF7051FB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" y="1604"/>
              <a:ext cx="275" cy="298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endParaRPr lang="en-US" altLang="en-US"/>
            </a:p>
          </p:txBody>
        </p:sp>
        <p:sp>
          <p:nvSpPr>
            <p:cNvPr id="16399" name="Rectangle 3">
              <a:extLst>
                <a:ext uri="{FF2B5EF4-FFF2-40B4-BE49-F238E27FC236}">
                  <a16:creationId xmlns:a16="http://schemas.microsoft.com/office/drawing/2014/main" id="{82454AD2-8749-194D-0370-C52F6F81E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" y="1604"/>
              <a:ext cx="206" cy="298"/>
            </a:xfrm>
            <a:prstGeom prst="rect">
              <a:avLst/>
            </a:prstGeom>
            <a:gradFill rotWithShape="0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endParaRPr lang="en-US" altLang="en-US"/>
            </a:p>
          </p:txBody>
        </p:sp>
      </p:grpSp>
      <p:grpSp>
        <p:nvGrpSpPr>
          <p:cNvPr id="16387" name="Group 4">
            <a:extLst>
              <a:ext uri="{FF2B5EF4-FFF2-40B4-BE49-F238E27FC236}">
                <a16:creationId xmlns:a16="http://schemas.microsoft.com/office/drawing/2014/main" id="{F8C280E7-C34D-C039-84CE-FC9816988D7B}"/>
              </a:ext>
            </a:extLst>
          </p:cNvPr>
          <p:cNvGrpSpPr>
            <a:grpSpLocks/>
          </p:cNvGrpSpPr>
          <p:nvPr/>
        </p:nvGrpSpPr>
        <p:grpSpPr bwMode="auto">
          <a:xfrm>
            <a:off x="414338" y="2968625"/>
            <a:ext cx="735012" cy="471488"/>
            <a:chOff x="261" y="1870"/>
            <a:chExt cx="463" cy="297"/>
          </a:xfrm>
        </p:grpSpPr>
        <p:sp>
          <p:nvSpPr>
            <p:cNvPr id="16396" name="Rectangle 5">
              <a:extLst>
                <a:ext uri="{FF2B5EF4-FFF2-40B4-BE49-F238E27FC236}">
                  <a16:creationId xmlns:a16="http://schemas.microsoft.com/office/drawing/2014/main" id="{B1250519-3EEE-6EFC-F757-76A432AE6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" y="1870"/>
              <a:ext cx="265" cy="298"/>
            </a:xfrm>
            <a:prstGeom prst="rect">
              <a:avLst/>
            </a:prstGeom>
            <a:solidFill>
              <a:srgbClr val="FFCF0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endParaRPr lang="en-US" altLang="en-US"/>
            </a:p>
          </p:txBody>
        </p:sp>
        <p:sp>
          <p:nvSpPr>
            <p:cNvPr id="16397" name="Rectangle 6">
              <a:extLst>
                <a:ext uri="{FF2B5EF4-FFF2-40B4-BE49-F238E27FC236}">
                  <a16:creationId xmlns:a16="http://schemas.microsoft.com/office/drawing/2014/main" id="{2B4B4160-1707-9D12-0226-E8815D158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" y="1870"/>
              <a:ext cx="232" cy="298"/>
            </a:xfrm>
            <a:prstGeom prst="rect">
              <a:avLst/>
            </a:prstGeom>
            <a:gradFill rotWithShape="0">
              <a:gsLst>
                <a:gs pos="0">
                  <a:srgbClr val="FFCF01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endParaRPr lang="en-US" altLang="en-US"/>
            </a:p>
          </p:txBody>
        </p:sp>
      </p:grpSp>
      <p:sp>
        <p:nvSpPr>
          <p:cNvPr id="16388" name="Rectangle 7">
            <a:extLst>
              <a:ext uri="{FF2B5EF4-FFF2-40B4-BE49-F238E27FC236}">
                <a16:creationId xmlns:a16="http://schemas.microsoft.com/office/drawing/2014/main" id="{6F2954CA-7B10-3DA8-D1E5-4A1C4378E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95600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FD50C4B8-99D6-0530-2702-31156C581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2438400"/>
            <a:ext cx="31750" cy="1052513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16390" name="Rectangle 9">
            <a:extLst>
              <a:ext uri="{FF2B5EF4-FFF2-40B4-BE49-F238E27FC236}">
                <a16:creationId xmlns:a16="http://schemas.microsoft.com/office/drawing/2014/main" id="{9C1CC6F6-45B0-5340-DD14-2115EF919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1527175"/>
            <a:ext cx="7761288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2883D56D-8267-B2C6-D752-3E9B0065642A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990600" y="6248400"/>
            <a:ext cx="1893888" cy="446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1C1C1C"/>
              </a:buClr>
              <a:buSzPct val="100000"/>
              <a:buFont typeface="Arial" panose="020B0604020202020204" pitchFamily="34" charset="0"/>
              <a:buNone/>
              <a:defRPr sz="1400" smtClean="0">
                <a:solidFill>
                  <a:srgbClr val="1C1C1C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DE82277-E522-F044-84D9-E0A2974773DF}" type="datetime1">
              <a:rPr lang="en-US" altLang="en-US"/>
              <a:pPr>
                <a:defRPr/>
              </a:pPr>
              <a:t>9/23/26</a:t>
            </a:fld>
            <a:endParaRPr lang="en-US" altLang="en-US"/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72D40167-1E8F-D011-4722-C100F1D6F879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429000" y="6248400"/>
            <a:ext cx="2884488" cy="446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>
                <a:srgbClr val="1C1C1C"/>
              </a:buClr>
              <a:buSzPct val="100000"/>
              <a:buFont typeface="Arial" charset="0"/>
              <a:buNone/>
              <a:defRPr sz="1400">
                <a:solidFill>
                  <a:srgbClr val="1C1C1C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A85C4A76-343A-82D2-DA80-7ABB3BD1809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858000" y="6248400"/>
            <a:ext cx="1893888" cy="446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1C1C1C"/>
              </a:buClr>
              <a:buSzPct val="100000"/>
              <a:buFont typeface="Arial" panose="020B0604020202020204" pitchFamily="34" charset="0"/>
              <a:buNone/>
              <a:defRPr sz="1400" smtClean="0">
                <a:solidFill>
                  <a:srgbClr val="1C1C1C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9807CE9-9D65-2442-B51A-498AD88E104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6394" name="Rectangle 13">
            <a:extLst>
              <a:ext uri="{FF2B5EF4-FFF2-40B4-BE49-F238E27FC236}">
                <a16:creationId xmlns:a16="http://schemas.microsoft.com/office/drawing/2014/main" id="{3B5F1643-D412-EC50-31F8-2123FE4AB2A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5913" y="3265488"/>
            <a:ext cx="8683625" cy="46037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rot="10800000"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16395" name="Rectangle 14">
            <a:extLst>
              <a:ext uri="{FF2B5EF4-FFF2-40B4-BE49-F238E27FC236}">
                <a16:creationId xmlns:a16="http://schemas.microsoft.com/office/drawing/2014/main" id="{2E51D05C-818B-51AB-CC83-61915B6A8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18488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hdr="0" ftr="0" dt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anose="020B0604020202020204" pitchFamily="34" charset="0"/>
        <a:defRPr sz="4400">
          <a:solidFill>
            <a:srgbClr val="333399"/>
          </a:solidFill>
          <a:latin typeface="+mj-lt"/>
          <a:ea typeface="ＭＳ Ｐゴシック" charset="0"/>
          <a:cs typeface="ＭＳ Ｐゴシック" charset="0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anose="020B0604020202020204" pitchFamily="34" charset="0"/>
        <a:defRPr sz="4400">
          <a:solidFill>
            <a:srgbClr val="333399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anose="020B0604020202020204" pitchFamily="34" charset="0"/>
        <a:defRPr sz="4400">
          <a:solidFill>
            <a:srgbClr val="333399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anose="020B0604020202020204" pitchFamily="34" charset="0"/>
        <a:defRPr sz="4400">
          <a:solidFill>
            <a:srgbClr val="333399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anose="020B0604020202020204" pitchFamily="34" charset="0"/>
        <a:defRPr sz="4400">
          <a:solidFill>
            <a:srgbClr val="333399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4400">
          <a:solidFill>
            <a:srgbClr val="333399"/>
          </a:solidFill>
          <a:latin typeface="Arial" charset="0"/>
          <a:ea typeface="AR PL ShanHeiSun Uni" charset="0"/>
          <a:cs typeface="AR PL ShanHeiSun Uni" charset="0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4400">
          <a:solidFill>
            <a:srgbClr val="333399"/>
          </a:solidFill>
          <a:latin typeface="Arial" charset="0"/>
          <a:ea typeface="AR PL ShanHeiSun Uni" charset="0"/>
          <a:cs typeface="AR PL ShanHeiSun Uni" charset="0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4400">
          <a:solidFill>
            <a:srgbClr val="333399"/>
          </a:solidFill>
          <a:latin typeface="Arial" charset="0"/>
          <a:ea typeface="AR PL ShanHeiSun Uni" charset="0"/>
          <a:cs typeface="AR PL ShanHeiSun Uni" charset="0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4400">
          <a:solidFill>
            <a:srgbClr val="333399"/>
          </a:solidFill>
          <a:latin typeface="Arial" charset="0"/>
          <a:ea typeface="AR PL ShanHeiSun Uni" charset="0"/>
          <a:cs typeface="AR PL ShanHeiSun Uni" charset="0"/>
        </a:defRPr>
      </a:lvl9pPr>
    </p:titleStyle>
    <p:bodyStyle>
      <a:lvl1pPr marL="331788" indent="-331788" algn="l" defTabSz="449263" rtl="0" eaLnBrk="0" fontAlgn="base" hangingPunct="0">
        <a:spcBef>
          <a:spcPts val="800"/>
        </a:spcBef>
        <a:spcAft>
          <a:spcPct val="0"/>
        </a:spcAft>
        <a:buClr>
          <a:srgbClr val="3333CC"/>
        </a:buClr>
        <a:buSzPct val="60000"/>
        <a:buFont typeface="Wingdings" pitchFamily="2" charset="2"/>
        <a:buChar char=""/>
        <a:defRPr sz="3200">
          <a:solidFill>
            <a:srgbClr val="000000"/>
          </a:solidFill>
          <a:latin typeface="+mn-lt"/>
          <a:ea typeface="ＭＳ Ｐゴシック" charset="0"/>
          <a:cs typeface="ＭＳ Ｐゴシック" charset="0"/>
        </a:defRPr>
      </a:lvl1pPr>
      <a:lvl2pPr marL="731838" indent="-274638" algn="l" defTabSz="449263" rtl="0" eaLnBrk="0" fontAlgn="base" hangingPunct="0">
        <a:spcBef>
          <a:spcPts val="700"/>
        </a:spcBef>
        <a:spcAft>
          <a:spcPct val="0"/>
        </a:spcAft>
        <a:buClr>
          <a:srgbClr val="FF0000"/>
        </a:buClr>
        <a:buSzPct val="55000"/>
        <a:buFont typeface="Wingdings" pitchFamily="2" charset="2"/>
        <a:buChar char=""/>
        <a:defRPr sz="2800">
          <a:solidFill>
            <a:srgbClr val="000000"/>
          </a:solidFill>
          <a:latin typeface="+mn-lt"/>
          <a:ea typeface="ＭＳ Ｐゴシック" charset="0"/>
          <a:cs typeface="ＭＳ Ｐゴシック" charset="0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3333CC"/>
        </a:buClr>
        <a:buSzPct val="50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ＭＳ Ｐゴシック" charset="0"/>
          <a:cs typeface="ＭＳ Ｐゴシック" charset="0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FFCF01"/>
        </a:buClr>
        <a:buSzPct val="55000"/>
        <a:buFont typeface="Wingdings" pitchFamily="2" charset="2"/>
        <a:buChar char=""/>
        <a:defRPr sz="2000">
          <a:solidFill>
            <a:srgbClr val="000000"/>
          </a:solidFill>
          <a:latin typeface="+mn-lt"/>
          <a:ea typeface="ＭＳ Ｐゴシック" charset="0"/>
          <a:cs typeface="ＭＳ Ｐゴシック" charset="0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FFCF01"/>
        </a:buClr>
        <a:buSzPct val="50000"/>
        <a:buFont typeface="Wingdings" pitchFamily="2" charset="2"/>
        <a:buChar char=""/>
        <a:defRPr sz="2000">
          <a:solidFill>
            <a:srgbClr val="000000"/>
          </a:solidFill>
          <a:latin typeface="+mn-lt"/>
          <a:ea typeface="ＭＳ Ｐゴシック" charset="0"/>
          <a:cs typeface="ＭＳ Ｐゴシック" charset="0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FFCF01"/>
        </a:buClr>
        <a:buSzPct val="50000"/>
        <a:buFont typeface="Wingdings" charset="2"/>
        <a:buChar char="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FFCF01"/>
        </a:buClr>
        <a:buSzPct val="50000"/>
        <a:buFont typeface="Wingdings" charset="2"/>
        <a:buChar char="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FFCF01"/>
        </a:buClr>
        <a:buSzPct val="50000"/>
        <a:buFont typeface="Wingdings" charset="2"/>
        <a:buChar char="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FFCF01"/>
        </a:buClr>
        <a:buSzPct val="50000"/>
        <a:buFont typeface="Wingdings" charset="2"/>
        <a:buChar char="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java-source.net/open-source/testing-tools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s.gmu.edu/~offutt/mujava/" TargetMode="External"/><Relationship Id="rId4" Type="http://schemas.openxmlformats.org/officeDocument/2006/relationships/hyperlink" Target="http://sourceforge.net/projects/jmute/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2">
            <a:extLst>
              <a:ext uri="{FF2B5EF4-FFF2-40B4-BE49-F238E27FC236}">
                <a16:creationId xmlns:a16="http://schemas.microsoft.com/office/drawing/2014/main" id="{C75671B0-6C51-8C84-5E5E-928F374DFE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1C1C1C"/>
              </a:buClr>
              <a:buSzPct val="100000"/>
              <a:buFont typeface="Arial" panose="020B0604020202020204" pitchFamily="34" charset="0"/>
              <a:buNone/>
            </a:pPr>
            <a:fld id="{E59D7DD7-C22C-B34B-B5C6-9064AD79E77E}" type="slidenum">
              <a:rPr lang="en-GB" altLang="en-US" sz="1400">
                <a:solidFill>
                  <a:srgbClr val="1C1C1C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>
                  <a:srgbClr val="1C1C1C"/>
                </a:buClr>
                <a:buSzPct val="100000"/>
                <a:buFont typeface="Arial" panose="020B0604020202020204" pitchFamily="34" charset="0"/>
                <a:buNone/>
              </a:pPr>
              <a:t>1</a:t>
            </a:fld>
            <a:endParaRPr lang="en-GB" altLang="en-US" sz="1400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2" name="Rectangle 1">
            <a:extLst>
              <a:ext uri="{FF2B5EF4-FFF2-40B4-BE49-F238E27FC236}">
                <a16:creationId xmlns:a16="http://schemas.microsoft.com/office/drawing/2014/main" id="{687B1BCA-D3B2-77DC-4981-962A91FFD0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765175"/>
            <a:ext cx="7740650" cy="1979613"/>
          </a:xfrm>
        </p:spPr>
        <p:txBody>
          <a:bodyPr/>
          <a:lstStyle/>
          <a:p>
            <a:pPr eaLnBrk="1" hangingPunct="1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en-US" sz="4300" b="1" dirty="0">
                <a:ea typeface="ＭＳ Ｐゴシック" panose="020B0600070205080204" pitchFamily="34" charset="-128"/>
              </a:rPr>
              <a:t>        Software Testing</a:t>
            </a:r>
            <a:br>
              <a:rPr lang="en-GB" altLang="en-US" sz="4300" b="1" dirty="0">
                <a:ea typeface="ＭＳ Ｐゴシック" panose="020B0600070205080204" pitchFamily="34" charset="-128"/>
              </a:rPr>
            </a:br>
            <a:endParaRPr lang="en-GB" altLang="en-US" sz="4000" b="1" dirty="0">
              <a:ea typeface="ＭＳ Ｐゴシック" panose="020B0600070205080204" pitchFamily="34" charset="-128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9FFF3C0C-95F6-DE94-45F8-2047EFE1716E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57338" y="3500438"/>
            <a:ext cx="6400800" cy="1752600"/>
          </a:xfrm>
        </p:spPr>
        <p:txBody>
          <a:bodyPr lIns="90000" tIns="46800" rIns="90000" bIns="46800"/>
          <a:lstStyle/>
          <a:p>
            <a:pPr algn="ctr" eaLnBrk="1" hangingPunct="1">
              <a:lnSpc>
                <a:spcPct val="80000"/>
              </a:lnSpc>
              <a:spcBef>
                <a:spcPts val="700"/>
              </a:spcBef>
              <a:buFont typeface="Wingdings" pitchFamily="2" charset="2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en-US" sz="2800" b="1" dirty="0">
                <a:ea typeface="ＭＳ Ｐゴシック" panose="020B0600070205080204" pitchFamily="34" charset="-128"/>
              </a:rPr>
              <a:t>Muhammad Asaduzzaman</a:t>
            </a:r>
            <a:br>
              <a:rPr lang="en-GB" altLang="en-US" sz="2800" b="1" dirty="0">
                <a:ea typeface="ＭＳ Ｐゴシック" panose="020B0600070205080204" pitchFamily="34" charset="-128"/>
              </a:rPr>
            </a:br>
            <a:r>
              <a:rPr lang="en-GB" altLang="en-US" sz="2800" b="1" dirty="0">
                <a:ea typeface="ＭＳ Ｐゴシック" panose="020B0600070205080204" pitchFamily="34" charset="-128"/>
              </a:rPr>
              <a:t>University of Windsor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E41F00-235B-852E-4D3B-917832486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5661025"/>
            <a:ext cx="7988300" cy="1185863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/>
          <a:lstStyle>
            <a:lvl1pPr marL="331788" indent="-331788" algn="l" defTabSz="449263" rtl="0" eaLnBrk="0" fontAlgn="base" hangingPunct="0">
              <a:spcBef>
                <a:spcPts val="8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31838" indent="-274638" algn="l" defTabSz="449263" rtl="0" eaLnBrk="0" fontAlgn="base" hangingPunct="0">
              <a:spcBef>
                <a:spcPts val="7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defRPr>
            </a:lvl2pPr>
            <a:lvl3pPr marL="1143000" indent="-228600" algn="l" defTabSz="449263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defRPr>
            </a:lvl5pPr>
            <a:lvl6pPr marL="25146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charset="2"/>
              <a:buChar char="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charset="2"/>
              <a:buChar char="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charset="2"/>
              <a:buChar char="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charset="2"/>
              <a:buChar char="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ts val="700"/>
              </a:spcBef>
              <a:buFont typeface="Wingdings" pitchFamily="2" charset="2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altLang="en-US" sz="1800" kern="0" dirty="0">
                <a:ea typeface="ＭＳ Ｐゴシック" panose="020B0600070205080204" pitchFamily="34" charset="-128"/>
              </a:rPr>
              <a:t>Special thanks to </a:t>
            </a:r>
            <a:r>
              <a:rPr lang="en-GB" altLang="en-US" sz="1800" b="1" kern="0" dirty="0">
                <a:ea typeface="ＭＳ Ｐゴシック" panose="020B0600070205080204" pitchFamily="34" charset="-128"/>
              </a:rPr>
              <a:t>Chanchal Roy (University of Saskatchewan) </a:t>
            </a:r>
            <a:r>
              <a:rPr lang="en-GB" altLang="en-US" sz="1800" kern="0" dirty="0">
                <a:ea typeface="ＭＳ Ｐゴシック" panose="020B0600070205080204" pitchFamily="34" charset="-128"/>
              </a:rPr>
              <a:t>for granting access to the content of this slides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2">
            <a:extLst>
              <a:ext uri="{FF2B5EF4-FFF2-40B4-BE49-F238E27FC236}">
                <a16:creationId xmlns:a16="http://schemas.microsoft.com/office/drawing/2014/main" id="{DBBB844D-E731-15C7-8E2D-D0A8F3B027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7B42D5AE-B00D-4943-AEB3-D2F48771FE40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2</a:t>
            </a:fld>
            <a:endParaRPr lang="en-GB" altLang="en-US" sz="140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D409B15-8BBB-7B9C-5E85-480DF47EB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Testing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3A5B4C8-B75A-1277-03AB-7A14B00C5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4188"/>
            <a:ext cx="8153400" cy="45704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Testing is the process of executing software in a controlled manner to answer the question: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ea typeface="ＭＳ Ｐゴシック" panose="020B0600070205080204" pitchFamily="34" charset="-128"/>
              </a:rPr>
              <a:t>     “</a:t>
            </a:r>
            <a:r>
              <a:rPr lang="en-US" altLang="ja-JP" sz="2400" b="1">
                <a:solidFill>
                  <a:srgbClr val="0000FF"/>
                </a:solidFill>
                <a:ea typeface="ＭＳ Ｐゴシック" panose="020B0600070205080204" pitchFamily="34" charset="-128"/>
              </a:rPr>
              <a:t>does the software behave as specified</a:t>
            </a:r>
            <a:r>
              <a:rPr lang="en-US" altLang="ja-JP" sz="2400">
                <a:ea typeface="ＭＳ Ｐゴシック" panose="020B0600070205080204" pitchFamily="34" charset="-128"/>
              </a:rPr>
              <a:t>?</a:t>
            </a:r>
            <a:r>
              <a:rPr lang="en-US" altLang="en-US" sz="2400">
                <a:ea typeface="ＭＳ Ｐゴシック" panose="020B0600070205080204" pitchFamily="34" charset="-128"/>
              </a:rPr>
              <a:t>”</a:t>
            </a:r>
            <a:endParaRPr lang="en-US" altLang="ja-JP" sz="24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ja-JP" sz="2400">
              <a:ea typeface="ＭＳ Ｐゴシック" panose="020B0600070205080204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Implies that there must be </a:t>
            </a:r>
            <a:r>
              <a:rPr lang="en-US" altLang="en-US" sz="2000" b="1">
                <a:solidFill>
                  <a:srgbClr val="0000FF"/>
                </a:solidFill>
                <a:ea typeface="ＭＳ Ｐゴシック" panose="020B0600070205080204" pitchFamily="34" charset="-128"/>
              </a:rPr>
              <a:t>a specification</a:t>
            </a:r>
            <a:r>
              <a:rPr lang="en-US" altLang="en-US" sz="2000">
                <a:ea typeface="ＭＳ Ｐゴシック" panose="020B0600070205080204" pitchFamily="34" charset="-128"/>
              </a:rPr>
              <a:t> before there can be meaningful testing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Or implies that we have </a:t>
            </a:r>
            <a:r>
              <a:rPr lang="en-US" altLang="en-US" sz="2000" b="1">
                <a:solidFill>
                  <a:srgbClr val="0000FF"/>
                </a:solidFill>
                <a:ea typeface="ＭＳ Ｐゴシック" panose="020B0600070205080204" pitchFamily="34" charset="-128"/>
              </a:rPr>
              <a:t>some property</a:t>
            </a:r>
            <a:r>
              <a:rPr lang="en-US" altLang="en-US" sz="2000">
                <a:ea typeface="ＭＳ Ｐゴシック" panose="020B0600070205080204" pitchFamily="34" charset="-128"/>
              </a:rPr>
              <a:t> we wish to test for</a:t>
            </a:r>
          </a:p>
          <a:p>
            <a:pPr lvl="2">
              <a:lnSpc>
                <a:spcPct val="80000"/>
              </a:lnSpc>
            </a:pPr>
            <a:r>
              <a:rPr lang="en-US" altLang="en-US" sz="1700">
                <a:ea typeface="ＭＳ Ｐゴシック" panose="020B0600070205080204" pitchFamily="34" charset="-128"/>
              </a:rPr>
              <a:t>“all paths in the code are reachable (no dead code)”</a:t>
            </a:r>
          </a:p>
          <a:p>
            <a:pPr lvl="2">
              <a:lnSpc>
                <a:spcPct val="80000"/>
              </a:lnSpc>
            </a:pPr>
            <a:endParaRPr lang="en-US" altLang="en-US" sz="17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Testing is often associated with the words “</a:t>
            </a:r>
            <a:r>
              <a:rPr lang="en-US" altLang="ja-JP" sz="2400" u="sng">
                <a:solidFill>
                  <a:srgbClr val="0000FF"/>
                </a:solidFill>
                <a:ea typeface="ＭＳ Ｐゴシック" panose="020B0600070205080204" pitchFamily="34" charset="-128"/>
              </a:rPr>
              <a:t>validation</a:t>
            </a:r>
            <a:r>
              <a:rPr lang="en-US" altLang="en-US" sz="2400">
                <a:ea typeface="ＭＳ Ｐゴシック" panose="020B0600070205080204" pitchFamily="34" charset="-128"/>
              </a:rPr>
              <a:t>”</a:t>
            </a:r>
            <a:r>
              <a:rPr lang="en-US" altLang="ja-JP" sz="2400">
                <a:ea typeface="ＭＳ Ｐゴシック" panose="020B0600070205080204" pitchFamily="34" charset="-128"/>
              </a:rPr>
              <a:t> and </a:t>
            </a:r>
            <a:r>
              <a:rPr lang="en-US" altLang="en-US" sz="2400">
                <a:ea typeface="ＭＳ Ｐゴシック" panose="020B0600070205080204" pitchFamily="34" charset="-128"/>
              </a:rPr>
              <a:t>“</a:t>
            </a:r>
            <a:r>
              <a:rPr lang="en-US" altLang="ja-JP" sz="2400" u="sng">
                <a:solidFill>
                  <a:srgbClr val="0000FF"/>
                </a:solidFill>
                <a:ea typeface="ＭＳ Ｐゴシック" panose="020B0600070205080204" pitchFamily="34" charset="-128"/>
              </a:rPr>
              <a:t>verification</a:t>
            </a:r>
            <a:r>
              <a:rPr lang="en-US" altLang="en-US" sz="2400">
                <a:ea typeface="ＭＳ Ｐゴシック" panose="020B0600070205080204" pitchFamily="34" charset="-128"/>
              </a:rPr>
              <a:t>”</a:t>
            </a:r>
            <a:endParaRPr lang="en-US" altLang="ja-JP" sz="2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2">
            <a:extLst>
              <a:ext uri="{FF2B5EF4-FFF2-40B4-BE49-F238E27FC236}">
                <a16:creationId xmlns:a16="http://schemas.microsoft.com/office/drawing/2014/main" id="{A3AAA656-60CB-9A94-828F-804A73295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BE17101F-9EF3-1D47-8AE9-6595EB56CA5A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3</a:t>
            </a:fld>
            <a:endParaRPr lang="en-GB" altLang="en-US" sz="14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ADAFBCA2-9F3C-5709-7F01-2B83ACA045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Validation and Verification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FFA5CE7-8C94-A484-A2D5-F2B2C220AD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54200"/>
            <a:ext cx="7989888" cy="4648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Validation 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does the software system meets the user's real needs?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it-IT" altLang="en-US" sz="2000" b="1" i="1">
                <a:solidFill>
                  <a:srgbClr val="0000FF"/>
                </a:solidFill>
                <a:ea typeface="ＭＳ Ｐゴシック" panose="020B0600070205080204" pitchFamily="34" charset="-128"/>
              </a:rPr>
              <a:t>are we building the right software</a:t>
            </a:r>
            <a:r>
              <a:rPr lang="it-IT" altLang="en-US" sz="2000" i="1">
                <a:solidFill>
                  <a:srgbClr val="FF0066"/>
                </a:solidFill>
                <a:ea typeface="ＭＳ Ｐゴシック" panose="020B0600070205080204" pitchFamily="34" charset="-128"/>
              </a:rPr>
              <a:t>?</a:t>
            </a:r>
          </a:p>
          <a:p>
            <a:pPr lvl="1">
              <a:lnSpc>
                <a:spcPct val="80000"/>
              </a:lnSpc>
            </a:pPr>
            <a:r>
              <a:rPr lang="it-IT" altLang="en-US" sz="2000">
                <a:ea typeface="ＭＳ Ｐゴシック" panose="020B0600070205080204" pitchFamily="34" charset="-128"/>
              </a:rPr>
              <a:t>Validation usually involves meetings, reviews and discussions, to check that what has been specified is what was intended</a:t>
            </a:r>
            <a:endParaRPr lang="it-IT" altLang="en-US" sz="2000" i="1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Verification 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does the software system meets the requirements specifications?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ea typeface="ＭＳ Ｐゴシック" panose="020B0600070205080204" pitchFamily="34" charset="-128"/>
              </a:rPr>
              <a:t> </a:t>
            </a:r>
            <a:r>
              <a:rPr lang="it-IT" altLang="en-US" sz="2000" b="1" i="1">
                <a:solidFill>
                  <a:srgbClr val="0000FF"/>
                </a:solidFill>
                <a:ea typeface="ＭＳ Ｐゴシック" panose="020B0600070205080204" pitchFamily="34" charset="-128"/>
              </a:rPr>
              <a:t>are we building the software right?</a:t>
            </a:r>
            <a:endParaRPr lang="en-US" altLang="en-US" sz="2000" b="1" i="1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Verification is the checking or testing of software (or anything else) for conformance and consistency with a given specification</a:t>
            </a:r>
            <a:endParaRPr lang="en-US" altLang="en-US" sz="2000" i="1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2">
            <a:extLst>
              <a:ext uri="{FF2B5EF4-FFF2-40B4-BE49-F238E27FC236}">
                <a16:creationId xmlns:a16="http://schemas.microsoft.com/office/drawing/2014/main" id="{B8CBB69D-031E-7635-2F2B-1FD5CF02C5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E2742647-624E-664D-B960-B8D07AD0B1BA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4</a:t>
            </a:fld>
            <a:endParaRPr lang="en-GB" altLang="en-US" sz="14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26A6315-8D31-27F2-0268-27A20160BA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Validation and Verification</a:t>
            </a:r>
          </a:p>
        </p:txBody>
      </p:sp>
      <p:sp>
        <p:nvSpPr>
          <p:cNvPr id="36867" name="Rectangle 5">
            <a:extLst>
              <a:ext uri="{FF2B5EF4-FFF2-40B4-BE49-F238E27FC236}">
                <a16:creationId xmlns:a16="http://schemas.microsoft.com/office/drawing/2014/main" id="{69F02FCF-ECEA-8527-D715-D98C4A6CB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1600200"/>
            <a:ext cx="4994275" cy="2133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870" name="Freeform 6">
            <a:extLst>
              <a:ext uri="{FF2B5EF4-FFF2-40B4-BE49-F238E27FC236}">
                <a16:creationId xmlns:a16="http://schemas.microsoft.com/office/drawing/2014/main" id="{7175FB7F-5D41-15E4-1091-8CB01D7117AF}"/>
              </a:ext>
            </a:extLst>
          </p:cNvPr>
          <p:cNvSpPr>
            <a:spLocks/>
          </p:cNvSpPr>
          <p:nvPr/>
        </p:nvSpPr>
        <p:spPr bwMode="auto">
          <a:xfrm>
            <a:off x="304800" y="1852613"/>
            <a:ext cx="2687638" cy="1511300"/>
          </a:xfrm>
          <a:custGeom>
            <a:avLst/>
            <a:gdLst>
              <a:gd name="T0" fmla="*/ 422275 w 1693"/>
              <a:gd name="T1" fmla="*/ 203200 h 952"/>
              <a:gd name="T2" fmla="*/ 276225 w 1693"/>
              <a:gd name="T3" fmla="*/ 203200 h 952"/>
              <a:gd name="T4" fmla="*/ 109538 w 1693"/>
              <a:gd name="T5" fmla="*/ 312738 h 952"/>
              <a:gd name="T6" fmla="*/ 73025 w 1693"/>
              <a:gd name="T7" fmla="*/ 477838 h 952"/>
              <a:gd name="T8" fmla="*/ 165100 w 1693"/>
              <a:gd name="T9" fmla="*/ 608013 h 952"/>
              <a:gd name="T10" fmla="*/ 92075 w 1693"/>
              <a:gd name="T11" fmla="*/ 681038 h 952"/>
              <a:gd name="T12" fmla="*/ 17463 w 1693"/>
              <a:gd name="T13" fmla="*/ 828675 h 952"/>
              <a:gd name="T14" fmla="*/ 53975 w 1693"/>
              <a:gd name="T15" fmla="*/ 1012825 h 952"/>
              <a:gd name="T16" fmla="*/ 201613 w 1693"/>
              <a:gd name="T17" fmla="*/ 1104900 h 952"/>
              <a:gd name="T18" fmla="*/ 349250 w 1693"/>
              <a:gd name="T19" fmla="*/ 1085850 h 952"/>
              <a:gd name="T20" fmla="*/ 385763 w 1693"/>
              <a:gd name="T21" fmla="*/ 1012825 h 952"/>
              <a:gd name="T22" fmla="*/ 368300 w 1693"/>
              <a:gd name="T23" fmla="*/ 1177925 h 952"/>
              <a:gd name="T24" fmla="*/ 441325 w 1693"/>
              <a:gd name="T25" fmla="*/ 1325563 h 952"/>
              <a:gd name="T26" fmla="*/ 606425 w 1693"/>
              <a:gd name="T27" fmla="*/ 1381125 h 952"/>
              <a:gd name="T28" fmla="*/ 773113 w 1693"/>
              <a:gd name="T29" fmla="*/ 1362075 h 952"/>
              <a:gd name="T30" fmla="*/ 919163 w 1693"/>
              <a:gd name="T31" fmla="*/ 1343025 h 952"/>
              <a:gd name="T32" fmla="*/ 1085850 w 1693"/>
              <a:gd name="T33" fmla="*/ 1454150 h 952"/>
              <a:gd name="T34" fmla="*/ 1231900 w 1693"/>
              <a:gd name="T35" fmla="*/ 1473200 h 952"/>
              <a:gd name="T36" fmla="*/ 1362075 w 1693"/>
              <a:gd name="T37" fmla="*/ 1381125 h 952"/>
              <a:gd name="T38" fmla="*/ 1416050 w 1693"/>
              <a:gd name="T39" fmla="*/ 1233488 h 952"/>
              <a:gd name="T40" fmla="*/ 1435100 w 1693"/>
              <a:gd name="T41" fmla="*/ 1306513 h 952"/>
              <a:gd name="T42" fmla="*/ 1563688 w 1693"/>
              <a:gd name="T43" fmla="*/ 1454150 h 952"/>
              <a:gd name="T44" fmla="*/ 1766888 w 1693"/>
              <a:gd name="T45" fmla="*/ 1509713 h 952"/>
              <a:gd name="T46" fmla="*/ 1931988 w 1693"/>
              <a:gd name="T47" fmla="*/ 1473200 h 952"/>
              <a:gd name="T48" fmla="*/ 2005013 w 1693"/>
              <a:gd name="T49" fmla="*/ 1325563 h 952"/>
              <a:gd name="T50" fmla="*/ 1987550 w 1693"/>
              <a:gd name="T51" fmla="*/ 1250950 h 952"/>
              <a:gd name="T52" fmla="*/ 2116138 w 1693"/>
              <a:gd name="T53" fmla="*/ 1362075 h 952"/>
              <a:gd name="T54" fmla="*/ 2263775 w 1693"/>
              <a:gd name="T55" fmla="*/ 1454150 h 952"/>
              <a:gd name="T56" fmla="*/ 2428875 w 1693"/>
              <a:gd name="T57" fmla="*/ 1490663 h 952"/>
              <a:gd name="T58" fmla="*/ 2593975 w 1693"/>
              <a:gd name="T59" fmla="*/ 1435100 h 952"/>
              <a:gd name="T60" fmla="*/ 2632075 w 1693"/>
              <a:gd name="T61" fmla="*/ 1289050 h 952"/>
              <a:gd name="T62" fmla="*/ 2501900 w 1693"/>
              <a:gd name="T63" fmla="*/ 1177925 h 952"/>
              <a:gd name="T64" fmla="*/ 2632075 w 1693"/>
              <a:gd name="T65" fmla="*/ 1141413 h 952"/>
              <a:gd name="T66" fmla="*/ 2686050 w 1693"/>
              <a:gd name="T67" fmla="*/ 993775 h 952"/>
              <a:gd name="T68" fmla="*/ 2632075 w 1693"/>
              <a:gd name="T69" fmla="*/ 846138 h 952"/>
              <a:gd name="T70" fmla="*/ 2484438 w 1693"/>
              <a:gd name="T71" fmla="*/ 773113 h 952"/>
              <a:gd name="T72" fmla="*/ 2593975 w 1693"/>
              <a:gd name="T73" fmla="*/ 700088 h 952"/>
              <a:gd name="T74" fmla="*/ 2576513 w 1693"/>
              <a:gd name="T75" fmla="*/ 496888 h 952"/>
              <a:gd name="T76" fmla="*/ 2484438 w 1693"/>
              <a:gd name="T77" fmla="*/ 349250 h 952"/>
              <a:gd name="T78" fmla="*/ 2336800 w 1693"/>
              <a:gd name="T79" fmla="*/ 293688 h 952"/>
              <a:gd name="T80" fmla="*/ 2189163 w 1693"/>
              <a:gd name="T81" fmla="*/ 276225 h 952"/>
              <a:gd name="T82" fmla="*/ 2116138 w 1693"/>
              <a:gd name="T83" fmla="*/ 239713 h 952"/>
              <a:gd name="T84" fmla="*/ 2079625 w 1693"/>
              <a:gd name="T85" fmla="*/ 111125 h 952"/>
              <a:gd name="T86" fmla="*/ 1931988 w 1693"/>
              <a:gd name="T87" fmla="*/ 19050 h 952"/>
              <a:gd name="T88" fmla="*/ 1766888 w 1693"/>
              <a:gd name="T89" fmla="*/ 0 h 952"/>
              <a:gd name="T90" fmla="*/ 1655763 w 1693"/>
              <a:gd name="T91" fmla="*/ 111125 h 952"/>
              <a:gd name="T92" fmla="*/ 1546225 w 1693"/>
              <a:gd name="T93" fmla="*/ 55563 h 952"/>
              <a:gd name="T94" fmla="*/ 1398588 w 1693"/>
              <a:gd name="T95" fmla="*/ 19050 h 952"/>
              <a:gd name="T96" fmla="*/ 1231900 w 1693"/>
              <a:gd name="T97" fmla="*/ 36513 h 952"/>
              <a:gd name="T98" fmla="*/ 1103313 w 1693"/>
              <a:gd name="T99" fmla="*/ 147638 h 952"/>
              <a:gd name="T100" fmla="*/ 1011238 w 1693"/>
              <a:gd name="T101" fmla="*/ 111125 h 952"/>
              <a:gd name="T102" fmla="*/ 865188 w 1693"/>
              <a:gd name="T103" fmla="*/ 92075 h 952"/>
              <a:gd name="T104" fmla="*/ 773113 w 1693"/>
              <a:gd name="T105" fmla="*/ 239713 h 952"/>
              <a:gd name="T106" fmla="*/ 642938 w 1693"/>
              <a:gd name="T107" fmla="*/ 184150 h 952"/>
              <a:gd name="T108" fmla="*/ 514350 w 1693"/>
              <a:gd name="T109" fmla="*/ 239713 h 952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1693" h="952">
                <a:moveTo>
                  <a:pt x="336" y="162"/>
                </a:moveTo>
                <a:lnTo>
                  <a:pt x="313" y="162"/>
                </a:lnTo>
                <a:lnTo>
                  <a:pt x="290" y="151"/>
                </a:lnTo>
                <a:lnTo>
                  <a:pt x="266" y="128"/>
                </a:lnTo>
                <a:lnTo>
                  <a:pt x="243" y="128"/>
                </a:lnTo>
                <a:lnTo>
                  <a:pt x="220" y="128"/>
                </a:lnTo>
                <a:lnTo>
                  <a:pt x="197" y="116"/>
                </a:lnTo>
                <a:lnTo>
                  <a:pt x="174" y="128"/>
                </a:lnTo>
                <a:lnTo>
                  <a:pt x="150" y="128"/>
                </a:lnTo>
                <a:lnTo>
                  <a:pt x="127" y="139"/>
                </a:lnTo>
                <a:lnTo>
                  <a:pt x="104" y="151"/>
                </a:lnTo>
                <a:lnTo>
                  <a:pt x="69" y="197"/>
                </a:lnTo>
                <a:lnTo>
                  <a:pt x="58" y="220"/>
                </a:lnTo>
                <a:lnTo>
                  <a:pt x="58" y="243"/>
                </a:lnTo>
                <a:lnTo>
                  <a:pt x="46" y="267"/>
                </a:lnTo>
                <a:lnTo>
                  <a:pt x="46" y="301"/>
                </a:lnTo>
                <a:lnTo>
                  <a:pt x="46" y="325"/>
                </a:lnTo>
                <a:lnTo>
                  <a:pt x="58" y="348"/>
                </a:lnTo>
                <a:lnTo>
                  <a:pt x="81" y="371"/>
                </a:lnTo>
                <a:lnTo>
                  <a:pt x="104" y="383"/>
                </a:lnTo>
                <a:lnTo>
                  <a:pt x="127" y="394"/>
                </a:lnTo>
                <a:lnTo>
                  <a:pt x="92" y="383"/>
                </a:lnTo>
                <a:lnTo>
                  <a:pt x="69" y="406"/>
                </a:lnTo>
                <a:lnTo>
                  <a:pt x="58" y="429"/>
                </a:lnTo>
                <a:lnTo>
                  <a:pt x="34" y="452"/>
                </a:lnTo>
                <a:lnTo>
                  <a:pt x="23" y="475"/>
                </a:lnTo>
                <a:lnTo>
                  <a:pt x="11" y="499"/>
                </a:lnTo>
                <a:lnTo>
                  <a:pt x="11" y="522"/>
                </a:lnTo>
                <a:lnTo>
                  <a:pt x="0" y="568"/>
                </a:lnTo>
                <a:lnTo>
                  <a:pt x="11" y="591"/>
                </a:lnTo>
                <a:lnTo>
                  <a:pt x="23" y="614"/>
                </a:lnTo>
                <a:lnTo>
                  <a:pt x="34" y="638"/>
                </a:lnTo>
                <a:lnTo>
                  <a:pt x="46" y="661"/>
                </a:lnTo>
                <a:lnTo>
                  <a:pt x="81" y="684"/>
                </a:lnTo>
                <a:lnTo>
                  <a:pt x="104" y="696"/>
                </a:lnTo>
                <a:lnTo>
                  <a:pt x="127" y="696"/>
                </a:lnTo>
                <a:lnTo>
                  <a:pt x="150" y="696"/>
                </a:lnTo>
                <a:lnTo>
                  <a:pt x="174" y="696"/>
                </a:lnTo>
                <a:lnTo>
                  <a:pt x="197" y="696"/>
                </a:lnTo>
                <a:lnTo>
                  <a:pt x="220" y="684"/>
                </a:lnTo>
                <a:lnTo>
                  <a:pt x="232" y="661"/>
                </a:lnTo>
                <a:lnTo>
                  <a:pt x="243" y="638"/>
                </a:lnTo>
                <a:lnTo>
                  <a:pt x="255" y="614"/>
                </a:lnTo>
                <a:lnTo>
                  <a:pt x="243" y="638"/>
                </a:lnTo>
                <a:lnTo>
                  <a:pt x="232" y="661"/>
                </a:lnTo>
                <a:lnTo>
                  <a:pt x="232" y="696"/>
                </a:lnTo>
                <a:lnTo>
                  <a:pt x="232" y="719"/>
                </a:lnTo>
                <a:lnTo>
                  <a:pt x="232" y="742"/>
                </a:lnTo>
                <a:lnTo>
                  <a:pt x="232" y="765"/>
                </a:lnTo>
                <a:lnTo>
                  <a:pt x="243" y="788"/>
                </a:lnTo>
                <a:lnTo>
                  <a:pt x="255" y="812"/>
                </a:lnTo>
                <a:lnTo>
                  <a:pt x="278" y="835"/>
                </a:lnTo>
                <a:lnTo>
                  <a:pt x="313" y="858"/>
                </a:lnTo>
                <a:lnTo>
                  <a:pt x="336" y="870"/>
                </a:lnTo>
                <a:lnTo>
                  <a:pt x="359" y="870"/>
                </a:lnTo>
                <a:lnTo>
                  <a:pt x="382" y="870"/>
                </a:lnTo>
                <a:lnTo>
                  <a:pt x="417" y="870"/>
                </a:lnTo>
                <a:lnTo>
                  <a:pt x="440" y="870"/>
                </a:lnTo>
                <a:lnTo>
                  <a:pt x="463" y="870"/>
                </a:lnTo>
                <a:lnTo>
                  <a:pt x="487" y="858"/>
                </a:lnTo>
                <a:lnTo>
                  <a:pt x="533" y="742"/>
                </a:lnTo>
                <a:lnTo>
                  <a:pt x="556" y="800"/>
                </a:lnTo>
                <a:lnTo>
                  <a:pt x="568" y="823"/>
                </a:lnTo>
                <a:lnTo>
                  <a:pt x="579" y="846"/>
                </a:lnTo>
                <a:lnTo>
                  <a:pt x="603" y="870"/>
                </a:lnTo>
                <a:lnTo>
                  <a:pt x="626" y="893"/>
                </a:lnTo>
                <a:lnTo>
                  <a:pt x="661" y="904"/>
                </a:lnTo>
                <a:lnTo>
                  <a:pt x="684" y="916"/>
                </a:lnTo>
                <a:lnTo>
                  <a:pt x="707" y="916"/>
                </a:lnTo>
                <a:lnTo>
                  <a:pt x="730" y="916"/>
                </a:lnTo>
                <a:lnTo>
                  <a:pt x="753" y="928"/>
                </a:lnTo>
                <a:lnTo>
                  <a:pt x="776" y="928"/>
                </a:lnTo>
                <a:lnTo>
                  <a:pt x="800" y="916"/>
                </a:lnTo>
                <a:lnTo>
                  <a:pt x="823" y="904"/>
                </a:lnTo>
                <a:lnTo>
                  <a:pt x="846" y="893"/>
                </a:lnTo>
                <a:lnTo>
                  <a:pt x="858" y="870"/>
                </a:lnTo>
                <a:lnTo>
                  <a:pt x="869" y="846"/>
                </a:lnTo>
                <a:lnTo>
                  <a:pt x="892" y="823"/>
                </a:lnTo>
                <a:lnTo>
                  <a:pt x="892" y="800"/>
                </a:lnTo>
                <a:lnTo>
                  <a:pt x="892" y="777"/>
                </a:lnTo>
                <a:lnTo>
                  <a:pt x="892" y="754"/>
                </a:lnTo>
                <a:lnTo>
                  <a:pt x="892" y="777"/>
                </a:lnTo>
                <a:lnTo>
                  <a:pt x="904" y="800"/>
                </a:lnTo>
                <a:lnTo>
                  <a:pt x="904" y="823"/>
                </a:lnTo>
                <a:lnTo>
                  <a:pt x="916" y="846"/>
                </a:lnTo>
                <a:lnTo>
                  <a:pt x="939" y="870"/>
                </a:lnTo>
                <a:lnTo>
                  <a:pt x="962" y="893"/>
                </a:lnTo>
                <a:lnTo>
                  <a:pt x="985" y="916"/>
                </a:lnTo>
                <a:lnTo>
                  <a:pt x="1020" y="928"/>
                </a:lnTo>
                <a:lnTo>
                  <a:pt x="1055" y="939"/>
                </a:lnTo>
                <a:lnTo>
                  <a:pt x="1078" y="951"/>
                </a:lnTo>
                <a:lnTo>
                  <a:pt x="1113" y="951"/>
                </a:lnTo>
                <a:lnTo>
                  <a:pt x="1136" y="951"/>
                </a:lnTo>
                <a:lnTo>
                  <a:pt x="1159" y="951"/>
                </a:lnTo>
                <a:lnTo>
                  <a:pt x="1182" y="939"/>
                </a:lnTo>
                <a:lnTo>
                  <a:pt x="1217" y="928"/>
                </a:lnTo>
                <a:lnTo>
                  <a:pt x="1240" y="904"/>
                </a:lnTo>
                <a:lnTo>
                  <a:pt x="1252" y="881"/>
                </a:lnTo>
                <a:lnTo>
                  <a:pt x="1252" y="858"/>
                </a:lnTo>
                <a:lnTo>
                  <a:pt x="1263" y="835"/>
                </a:lnTo>
                <a:lnTo>
                  <a:pt x="1263" y="812"/>
                </a:lnTo>
                <a:lnTo>
                  <a:pt x="1252" y="788"/>
                </a:lnTo>
                <a:lnTo>
                  <a:pt x="1240" y="765"/>
                </a:lnTo>
                <a:lnTo>
                  <a:pt x="1252" y="788"/>
                </a:lnTo>
                <a:lnTo>
                  <a:pt x="1263" y="812"/>
                </a:lnTo>
                <a:lnTo>
                  <a:pt x="1287" y="823"/>
                </a:lnTo>
                <a:lnTo>
                  <a:pt x="1310" y="835"/>
                </a:lnTo>
                <a:lnTo>
                  <a:pt x="1333" y="858"/>
                </a:lnTo>
                <a:lnTo>
                  <a:pt x="1356" y="881"/>
                </a:lnTo>
                <a:lnTo>
                  <a:pt x="1379" y="893"/>
                </a:lnTo>
                <a:lnTo>
                  <a:pt x="1403" y="904"/>
                </a:lnTo>
                <a:lnTo>
                  <a:pt x="1426" y="916"/>
                </a:lnTo>
                <a:lnTo>
                  <a:pt x="1449" y="928"/>
                </a:lnTo>
                <a:lnTo>
                  <a:pt x="1472" y="928"/>
                </a:lnTo>
                <a:lnTo>
                  <a:pt x="1507" y="939"/>
                </a:lnTo>
                <a:lnTo>
                  <a:pt x="1530" y="939"/>
                </a:lnTo>
                <a:lnTo>
                  <a:pt x="1565" y="928"/>
                </a:lnTo>
                <a:lnTo>
                  <a:pt x="1588" y="928"/>
                </a:lnTo>
                <a:lnTo>
                  <a:pt x="1611" y="916"/>
                </a:lnTo>
                <a:lnTo>
                  <a:pt x="1634" y="904"/>
                </a:lnTo>
                <a:lnTo>
                  <a:pt x="1646" y="881"/>
                </a:lnTo>
                <a:lnTo>
                  <a:pt x="1658" y="858"/>
                </a:lnTo>
                <a:lnTo>
                  <a:pt x="1658" y="835"/>
                </a:lnTo>
                <a:lnTo>
                  <a:pt x="1658" y="812"/>
                </a:lnTo>
                <a:lnTo>
                  <a:pt x="1646" y="788"/>
                </a:lnTo>
                <a:lnTo>
                  <a:pt x="1623" y="777"/>
                </a:lnTo>
                <a:lnTo>
                  <a:pt x="1600" y="754"/>
                </a:lnTo>
                <a:lnTo>
                  <a:pt x="1576" y="742"/>
                </a:lnTo>
                <a:lnTo>
                  <a:pt x="1588" y="730"/>
                </a:lnTo>
                <a:lnTo>
                  <a:pt x="1611" y="730"/>
                </a:lnTo>
                <a:lnTo>
                  <a:pt x="1634" y="719"/>
                </a:lnTo>
                <a:lnTo>
                  <a:pt x="1658" y="719"/>
                </a:lnTo>
                <a:lnTo>
                  <a:pt x="1681" y="696"/>
                </a:lnTo>
                <a:lnTo>
                  <a:pt x="1692" y="672"/>
                </a:lnTo>
                <a:lnTo>
                  <a:pt x="1692" y="649"/>
                </a:lnTo>
                <a:lnTo>
                  <a:pt x="1692" y="626"/>
                </a:lnTo>
                <a:lnTo>
                  <a:pt x="1692" y="603"/>
                </a:lnTo>
                <a:lnTo>
                  <a:pt x="1692" y="580"/>
                </a:lnTo>
                <a:lnTo>
                  <a:pt x="1669" y="557"/>
                </a:lnTo>
                <a:lnTo>
                  <a:pt x="1658" y="533"/>
                </a:lnTo>
                <a:lnTo>
                  <a:pt x="1634" y="522"/>
                </a:lnTo>
                <a:lnTo>
                  <a:pt x="1611" y="510"/>
                </a:lnTo>
                <a:lnTo>
                  <a:pt x="1588" y="499"/>
                </a:lnTo>
                <a:lnTo>
                  <a:pt x="1565" y="487"/>
                </a:lnTo>
                <a:lnTo>
                  <a:pt x="1588" y="487"/>
                </a:lnTo>
                <a:lnTo>
                  <a:pt x="1611" y="475"/>
                </a:lnTo>
                <a:lnTo>
                  <a:pt x="1634" y="464"/>
                </a:lnTo>
                <a:lnTo>
                  <a:pt x="1634" y="441"/>
                </a:lnTo>
                <a:lnTo>
                  <a:pt x="1634" y="417"/>
                </a:lnTo>
                <a:lnTo>
                  <a:pt x="1634" y="394"/>
                </a:lnTo>
                <a:lnTo>
                  <a:pt x="1634" y="336"/>
                </a:lnTo>
                <a:lnTo>
                  <a:pt x="1623" y="313"/>
                </a:lnTo>
                <a:lnTo>
                  <a:pt x="1611" y="290"/>
                </a:lnTo>
                <a:lnTo>
                  <a:pt x="1600" y="267"/>
                </a:lnTo>
                <a:lnTo>
                  <a:pt x="1588" y="243"/>
                </a:lnTo>
                <a:lnTo>
                  <a:pt x="1565" y="220"/>
                </a:lnTo>
                <a:lnTo>
                  <a:pt x="1542" y="209"/>
                </a:lnTo>
                <a:lnTo>
                  <a:pt x="1518" y="197"/>
                </a:lnTo>
                <a:lnTo>
                  <a:pt x="1495" y="185"/>
                </a:lnTo>
                <a:lnTo>
                  <a:pt x="1472" y="185"/>
                </a:lnTo>
                <a:lnTo>
                  <a:pt x="1449" y="174"/>
                </a:lnTo>
                <a:lnTo>
                  <a:pt x="1426" y="174"/>
                </a:lnTo>
                <a:lnTo>
                  <a:pt x="1403" y="174"/>
                </a:lnTo>
                <a:lnTo>
                  <a:pt x="1379" y="174"/>
                </a:lnTo>
                <a:lnTo>
                  <a:pt x="1356" y="197"/>
                </a:lnTo>
                <a:lnTo>
                  <a:pt x="1333" y="209"/>
                </a:lnTo>
                <a:lnTo>
                  <a:pt x="1333" y="174"/>
                </a:lnTo>
                <a:lnTo>
                  <a:pt x="1333" y="151"/>
                </a:lnTo>
                <a:lnTo>
                  <a:pt x="1333" y="128"/>
                </a:lnTo>
                <a:lnTo>
                  <a:pt x="1333" y="104"/>
                </a:lnTo>
                <a:lnTo>
                  <a:pt x="1333" y="81"/>
                </a:lnTo>
                <a:lnTo>
                  <a:pt x="1310" y="70"/>
                </a:lnTo>
                <a:lnTo>
                  <a:pt x="1287" y="46"/>
                </a:lnTo>
                <a:lnTo>
                  <a:pt x="1263" y="35"/>
                </a:lnTo>
                <a:lnTo>
                  <a:pt x="1240" y="23"/>
                </a:lnTo>
                <a:lnTo>
                  <a:pt x="1217" y="12"/>
                </a:lnTo>
                <a:lnTo>
                  <a:pt x="1194" y="12"/>
                </a:lnTo>
                <a:lnTo>
                  <a:pt x="1171" y="0"/>
                </a:lnTo>
                <a:lnTo>
                  <a:pt x="1147" y="0"/>
                </a:lnTo>
                <a:lnTo>
                  <a:pt x="1113" y="0"/>
                </a:lnTo>
                <a:lnTo>
                  <a:pt x="1090" y="12"/>
                </a:lnTo>
                <a:lnTo>
                  <a:pt x="1066" y="23"/>
                </a:lnTo>
                <a:lnTo>
                  <a:pt x="1055" y="46"/>
                </a:lnTo>
                <a:lnTo>
                  <a:pt x="1043" y="70"/>
                </a:lnTo>
                <a:lnTo>
                  <a:pt x="1032" y="93"/>
                </a:lnTo>
                <a:lnTo>
                  <a:pt x="1008" y="70"/>
                </a:lnTo>
                <a:lnTo>
                  <a:pt x="997" y="46"/>
                </a:lnTo>
                <a:lnTo>
                  <a:pt x="974" y="35"/>
                </a:lnTo>
                <a:lnTo>
                  <a:pt x="950" y="23"/>
                </a:lnTo>
                <a:lnTo>
                  <a:pt x="927" y="23"/>
                </a:lnTo>
                <a:lnTo>
                  <a:pt x="904" y="23"/>
                </a:lnTo>
                <a:lnTo>
                  <a:pt x="881" y="12"/>
                </a:lnTo>
                <a:lnTo>
                  <a:pt x="858" y="12"/>
                </a:lnTo>
                <a:lnTo>
                  <a:pt x="834" y="12"/>
                </a:lnTo>
                <a:lnTo>
                  <a:pt x="800" y="23"/>
                </a:lnTo>
                <a:lnTo>
                  <a:pt x="776" y="23"/>
                </a:lnTo>
                <a:lnTo>
                  <a:pt x="753" y="35"/>
                </a:lnTo>
                <a:lnTo>
                  <a:pt x="730" y="46"/>
                </a:lnTo>
                <a:lnTo>
                  <a:pt x="707" y="70"/>
                </a:lnTo>
                <a:lnTo>
                  <a:pt x="695" y="93"/>
                </a:lnTo>
                <a:lnTo>
                  <a:pt x="684" y="116"/>
                </a:lnTo>
                <a:lnTo>
                  <a:pt x="684" y="93"/>
                </a:lnTo>
                <a:lnTo>
                  <a:pt x="661" y="81"/>
                </a:lnTo>
                <a:lnTo>
                  <a:pt x="637" y="70"/>
                </a:lnTo>
                <a:lnTo>
                  <a:pt x="614" y="70"/>
                </a:lnTo>
                <a:lnTo>
                  <a:pt x="591" y="58"/>
                </a:lnTo>
                <a:lnTo>
                  <a:pt x="568" y="58"/>
                </a:lnTo>
                <a:lnTo>
                  <a:pt x="545" y="58"/>
                </a:lnTo>
                <a:lnTo>
                  <a:pt x="521" y="70"/>
                </a:lnTo>
                <a:lnTo>
                  <a:pt x="498" y="104"/>
                </a:lnTo>
                <a:lnTo>
                  <a:pt x="487" y="128"/>
                </a:lnTo>
                <a:lnTo>
                  <a:pt x="487" y="151"/>
                </a:lnTo>
                <a:lnTo>
                  <a:pt x="463" y="139"/>
                </a:lnTo>
                <a:lnTo>
                  <a:pt x="452" y="116"/>
                </a:lnTo>
                <a:lnTo>
                  <a:pt x="429" y="116"/>
                </a:lnTo>
                <a:lnTo>
                  <a:pt x="405" y="116"/>
                </a:lnTo>
                <a:lnTo>
                  <a:pt x="382" y="104"/>
                </a:lnTo>
                <a:lnTo>
                  <a:pt x="359" y="116"/>
                </a:lnTo>
                <a:lnTo>
                  <a:pt x="336" y="128"/>
                </a:lnTo>
                <a:lnTo>
                  <a:pt x="324" y="151"/>
                </a:lnTo>
                <a:lnTo>
                  <a:pt x="336" y="162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/>
          </a:p>
        </p:txBody>
      </p:sp>
      <p:sp>
        <p:nvSpPr>
          <p:cNvPr id="36869" name="Rectangle 7">
            <a:extLst>
              <a:ext uri="{FF2B5EF4-FFF2-40B4-BE49-F238E27FC236}">
                <a16:creationId xmlns:a16="http://schemas.microsoft.com/office/drawing/2014/main" id="{D6FB1878-4A41-B503-DB17-13258043D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" y="2178050"/>
            <a:ext cx="2078038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>
              <a:buClrTx/>
              <a:buSzTx/>
              <a:buFontTx/>
              <a:buNone/>
            </a:pPr>
            <a:r>
              <a:rPr lang="en-US" altLang="en-US">
                <a:solidFill>
                  <a:schemeClr val="bg2"/>
                </a:solidFill>
              </a:rPr>
              <a:t>Actual</a:t>
            </a:r>
          </a:p>
          <a:p>
            <a:pPr defTabSz="914400">
              <a:buClrTx/>
              <a:buSzTx/>
              <a:buFontTx/>
              <a:buNone/>
            </a:pPr>
            <a:r>
              <a:rPr lang="en-US" altLang="en-US">
                <a:solidFill>
                  <a:schemeClr val="bg2"/>
                </a:solidFill>
              </a:rPr>
              <a:t>Requirements</a:t>
            </a:r>
          </a:p>
        </p:txBody>
      </p:sp>
      <p:sp>
        <p:nvSpPr>
          <p:cNvPr id="36870" name="AutoShape 8">
            <a:extLst>
              <a:ext uri="{FF2B5EF4-FFF2-40B4-BE49-F238E27FC236}">
                <a16:creationId xmlns:a16="http://schemas.microsoft.com/office/drawing/2014/main" id="{F5BD4FB0-789E-B12E-87F5-82BA291C5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438400"/>
            <a:ext cx="685800" cy="336550"/>
          </a:xfrm>
          <a:prstGeom prst="rightArrow">
            <a:avLst>
              <a:gd name="adj1" fmla="val 50000"/>
              <a:gd name="adj2" fmla="val 101934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1" name="AutoShape 9">
            <a:extLst>
              <a:ext uri="{FF2B5EF4-FFF2-40B4-BE49-F238E27FC236}">
                <a16:creationId xmlns:a16="http://schemas.microsoft.com/office/drawing/2014/main" id="{84806259-9985-F32F-F773-B5219A764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7088" y="2438400"/>
            <a:ext cx="646112" cy="334963"/>
          </a:xfrm>
          <a:prstGeom prst="rightArrow">
            <a:avLst>
              <a:gd name="adj1" fmla="val 50000"/>
              <a:gd name="adj2" fmla="val 96490"/>
            </a:avLst>
          </a:prstGeom>
          <a:solidFill>
            <a:srgbClr val="C0FEF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2" name="AutoShape 10">
            <a:extLst>
              <a:ext uri="{FF2B5EF4-FFF2-40B4-BE49-F238E27FC236}">
                <a16:creationId xmlns:a16="http://schemas.microsoft.com/office/drawing/2014/main" id="{0CB1CB12-E122-E3B7-52F6-0E1A28632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5" y="2060575"/>
            <a:ext cx="1846263" cy="944563"/>
          </a:xfrm>
          <a:prstGeom prst="cube">
            <a:avLst>
              <a:gd name="adj" fmla="val 24977"/>
            </a:avLst>
          </a:prstGeom>
          <a:solidFill>
            <a:srgbClr val="A9FF84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3" name="Rectangle 11">
            <a:extLst>
              <a:ext uri="{FF2B5EF4-FFF2-40B4-BE49-F238E27FC236}">
                <a16:creationId xmlns:a16="http://schemas.microsoft.com/office/drawing/2014/main" id="{9E1560C3-8CC7-0234-3123-589B02623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650" y="2590800"/>
            <a:ext cx="1098550" cy="677863"/>
          </a:xfrm>
          <a:prstGeom prst="rect">
            <a:avLst/>
          </a:prstGeom>
          <a:solidFill>
            <a:srgbClr val="C0FEF9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4" name="Rectangle 12">
            <a:extLst>
              <a:ext uri="{FF2B5EF4-FFF2-40B4-BE49-F238E27FC236}">
                <a16:creationId xmlns:a16="http://schemas.microsoft.com/office/drawing/2014/main" id="{9C178498-D7B2-C27F-C3FB-DF0A0B507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0" y="2438400"/>
            <a:ext cx="1174750" cy="677863"/>
          </a:xfrm>
          <a:prstGeom prst="rect">
            <a:avLst/>
          </a:prstGeom>
          <a:solidFill>
            <a:srgbClr val="C0FEF9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5" name="Rectangle 13">
            <a:extLst>
              <a:ext uri="{FF2B5EF4-FFF2-40B4-BE49-F238E27FC236}">
                <a16:creationId xmlns:a16="http://schemas.microsoft.com/office/drawing/2014/main" id="{BF01C4A9-0C96-3CAF-3C71-CCD1CBD65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286000"/>
            <a:ext cx="1143000" cy="708025"/>
          </a:xfrm>
          <a:prstGeom prst="rect">
            <a:avLst/>
          </a:prstGeom>
          <a:solidFill>
            <a:srgbClr val="C0FEF9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6" name="Rectangle 14">
            <a:extLst>
              <a:ext uri="{FF2B5EF4-FFF2-40B4-BE49-F238E27FC236}">
                <a16:creationId xmlns:a16="http://schemas.microsoft.com/office/drawing/2014/main" id="{9CE24AC0-6676-06F0-7CA5-E486E60D4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057400"/>
            <a:ext cx="1143000" cy="754063"/>
          </a:xfrm>
          <a:prstGeom prst="rect">
            <a:avLst/>
          </a:prstGeom>
          <a:solidFill>
            <a:srgbClr val="C0FEF9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7" name="Rectangle 15">
            <a:extLst>
              <a:ext uri="{FF2B5EF4-FFF2-40B4-BE49-F238E27FC236}">
                <a16:creationId xmlns:a16="http://schemas.microsoft.com/office/drawing/2014/main" id="{A5A26FF3-4D5F-E082-40A3-1A1003DBB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905000"/>
            <a:ext cx="1143000" cy="754063"/>
          </a:xfrm>
          <a:prstGeom prst="rect">
            <a:avLst/>
          </a:prstGeom>
          <a:solidFill>
            <a:srgbClr val="C0FEF9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8" name="Rectangle 16">
            <a:extLst>
              <a:ext uri="{FF2B5EF4-FFF2-40B4-BE49-F238E27FC236}">
                <a16:creationId xmlns:a16="http://schemas.microsoft.com/office/drawing/2014/main" id="{28256A92-EE37-95F1-CF17-CB165DABC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1752600"/>
            <a:ext cx="1204913" cy="762000"/>
          </a:xfrm>
          <a:prstGeom prst="rect">
            <a:avLst/>
          </a:prstGeom>
          <a:solidFill>
            <a:srgbClr val="C0FEF9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914400" eaLnBrk="1" hangingPunct="1">
              <a:buClrTx/>
              <a:buSzTx/>
              <a:buFontTx/>
              <a:buNone/>
            </a:pPr>
            <a:r>
              <a:rPr lang="it-IT" altLang="en-US">
                <a:solidFill>
                  <a:schemeClr val="tx1"/>
                </a:solidFill>
              </a:rPr>
              <a:t>SW</a:t>
            </a:r>
            <a:br>
              <a:rPr lang="it-IT" altLang="en-US">
                <a:solidFill>
                  <a:schemeClr val="tx1"/>
                </a:solidFill>
              </a:rPr>
            </a:br>
            <a:r>
              <a:rPr lang="it-IT" altLang="en-US">
                <a:solidFill>
                  <a:schemeClr val="tx1"/>
                </a:solidFill>
              </a:rPr>
              <a:t>Specs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6879" name="Rectangle 17">
            <a:extLst>
              <a:ext uri="{FF2B5EF4-FFF2-40B4-BE49-F238E27FC236}">
                <a16:creationId xmlns:a16="http://schemas.microsoft.com/office/drawing/2014/main" id="{1CA79F56-5EF6-68CE-F18A-370995E1F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417763"/>
            <a:ext cx="11969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>
              <a:buClrTx/>
              <a:buSzTx/>
              <a:buFontTx/>
              <a:buNone/>
            </a:pPr>
            <a:r>
              <a:rPr lang="en-US" altLang="en-US">
                <a:solidFill>
                  <a:srgbClr val="00279F"/>
                </a:solidFill>
              </a:rPr>
              <a:t>System</a:t>
            </a:r>
          </a:p>
        </p:txBody>
      </p:sp>
      <p:sp>
        <p:nvSpPr>
          <p:cNvPr id="164882" name="Freeform 18">
            <a:extLst>
              <a:ext uri="{FF2B5EF4-FFF2-40B4-BE49-F238E27FC236}">
                <a16:creationId xmlns:a16="http://schemas.microsoft.com/office/drawing/2014/main" id="{57AEF03B-1B15-9F80-158E-303A48C3D13F}"/>
              </a:ext>
            </a:extLst>
          </p:cNvPr>
          <p:cNvSpPr>
            <a:spLocks/>
          </p:cNvSpPr>
          <p:nvPr/>
        </p:nvSpPr>
        <p:spPr bwMode="auto">
          <a:xfrm>
            <a:off x="1676400" y="3429000"/>
            <a:ext cx="1905000" cy="609600"/>
          </a:xfrm>
          <a:custGeom>
            <a:avLst/>
            <a:gdLst>
              <a:gd name="T0" fmla="*/ 0 w 1740"/>
              <a:gd name="T1" fmla="*/ 44234 h 882"/>
              <a:gd name="T2" fmla="*/ 901043 w 1740"/>
              <a:gd name="T3" fmla="*/ 608909 h 882"/>
              <a:gd name="T4" fmla="*/ 1903905 w 1740"/>
              <a:gd name="T5" fmla="*/ 0 h 8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40" h="882">
                <a:moveTo>
                  <a:pt x="0" y="64"/>
                </a:moveTo>
                <a:lnTo>
                  <a:pt x="823" y="881"/>
                </a:lnTo>
                <a:lnTo>
                  <a:pt x="1739" y="0"/>
                </a:lnTo>
              </a:path>
            </a:pathLst>
          </a:custGeom>
          <a:noFill/>
          <a:ln w="25400" cap="rnd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/>
          </a:p>
        </p:txBody>
      </p:sp>
      <p:sp>
        <p:nvSpPr>
          <p:cNvPr id="164883" name="Freeform 19">
            <a:extLst>
              <a:ext uri="{FF2B5EF4-FFF2-40B4-BE49-F238E27FC236}">
                <a16:creationId xmlns:a16="http://schemas.microsoft.com/office/drawing/2014/main" id="{44C7BA02-7B27-1EEE-A656-B0462D5C098C}"/>
              </a:ext>
            </a:extLst>
          </p:cNvPr>
          <p:cNvSpPr>
            <a:spLocks/>
          </p:cNvSpPr>
          <p:nvPr/>
        </p:nvSpPr>
        <p:spPr bwMode="auto">
          <a:xfrm>
            <a:off x="5486400" y="3200400"/>
            <a:ext cx="2533650" cy="762000"/>
          </a:xfrm>
          <a:custGeom>
            <a:avLst/>
            <a:gdLst>
              <a:gd name="T0" fmla="*/ 0 w 1740"/>
              <a:gd name="T1" fmla="*/ 55675 h 917"/>
              <a:gd name="T2" fmla="*/ 1198387 w 1740"/>
              <a:gd name="T3" fmla="*/ 761169 h 917"/>
              <a:gd name="T4" fmla="*/ 2532194 w 1740"/>
              <a:gd name="T5" fmla="*/ 0 h 9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40" h="917">
                <a:moveTo>
                  <a:pt x="0" y="67"/>
                </a:moveTo>
                <a:lnTo>
                  <a:pt x="823" y="916"/>
                </a:lnTo>
                <a:lnTo>
                  <a:pt x="1739" y="0"/>
                </a:lnTo>
              </a:path>
            </a:pathLst>
          </a:custGeom>
          <a:noFill/>
          <a:ln w="25400" cap="rnd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/>
          </a:p>
        </p:txBody>
      </p:sp>
      <p:sp>
        <p:nvSpPr>
          <p:cNvPr id="36882" name="Rectangle 20">
            <a:extLst>
              <a:ext uri="{FF2B5EF4-FFF2-40B4-BE49-F238E27FC236}">
                <a16:creationId xmlns:a16="http://schemas.microsoft.com/office/drawing/2014/main" id="{B6AFAA12-9FAC-EB36-96A1-774C3F479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962400"/>
            <a:ext cx="174307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>
              <a:buClrTx/>
              <a:buSzTx/>
              <a:buFontTx/>
              <a:buNone/>
            </a:pPr>
            <a:r>
              <a:rPr lang="en-US" altLang="en-US" sz="2800">
                <a:solidFill>
                  <a:schemeClr val="accent2"/>
                </a:solidFill>
              </a:rPr>
              <a:t>Validation</a:t>
            </a:r>
          </a:p>
        </p:txBody>
      </p:sp>
      <p:sp>
        <p:nvSpPr>
          <p:cNvPr id="36883" name="Rectangle 21">
            <a:extLst>
              <a:ext uri="{FF2B5EF4-FFF2-40B4-BE49-F238E27FC236}">
                <a16:creationId xmlns:a16="http://schemas.microsoft.com/office/drawing/2014/main" id="{7BD321D7-D1E9-3867-5D58-5C58AD1D2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114800"/>
            <a:ext cx="193992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>
              <a:buClrTx/>
              <a:buSzTx/>
              <a:buFontTx/>
              <a:buNone/>
            </a:pPr>
            <a:r>
              <a:rPr lang="en-US" altLang="en-US" sz="2800">
                <a:solidFill>
                  <a:schemeClr val="accent2"/>
                </a:solidFill>
              </a:rPr>
              <a:t>Verification</a:t>
            </a:r>
          </a:p>
        </p:txBody>
      </p:sp>
      <p:sp>
        <p:nvSpPr>
          <p:cNvPr id="36884" name="Rectangle 22">
            <a:extLst>
              <a:ext uri="{FF2B5EF4-FFF2-40B4-BE49-F238E27FC236}">
                <a16:creationId xmlns:a16="http://schemas.microsoft.com/office/drawing/2014/main" id="{CD3E07D0-DCC2-A771-7C8C-9DBAACA18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495800"/>
            <a:ext cx="3016250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accent2"/>
                </a:solidFill>
              </a:rPr>
              <a:t>Includes usability testing, user feedback</a:t>
            </a:r>
          </a:p>
        </p:txBody>
      </p:sp>
      <p:sp>
        <p:nvSpPr>
          <p:cNvPr id="36885" name="Rectangle 23">
            <a:extLst>
              <a:ext uri="{FF2B5EF4-FFF2-40B4-BE49-F238E27FC236}">
                <a16:creationId xmlns:a16="http://schemas.microsoft.com/office/drawing/2014/main" id="{A0D1F622-6FC5-247A-A772-216C66802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72000"/>
            <a:ext cx="3016250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accent2"/>
                </a:solidFill>
              </a:rPr>
              <a:t>Includes testing, inspections, static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2">
            <a:extLst>
              <a:ext uri="{FF2B5EF4-FFF2-40B4-BE49-F238E27FC236}">
                <a16:creationId xmlns:a16="http://schemas.microsoft.com/office/drawing/2014/main" id="{1DA03CB7-3B61-2827-9E6E-79D55EB8FA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6962A1C6-B77A-374E-9FCD-7412D22EDC85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5</a:t>
            </a:fld>
            <a:endParaRPr lang="en-GB" altLang="en-US" sz="140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354A647F-ADAE-87EB-0DE3-2D5415F77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Cost of Testing</a:t>
            </a:r>
            <a:endParaRPr lang="en-US" altLang="en-US" sz="4000">
              <a:ea typeface="ＭＳ Ｐゴシック" panose="020B0600070205080204" pitchFamily="34" charset="-128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4A728B3-9D82-9710-7B1C-3E69AD9DE4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7761288" cy="4419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600">
                <a:solidFill>
                  <a:schemeClr val="tx1"/>
                </a:solidFill>
                <a:ea typeface="ＭＳ Ｐゴシック" panose="020B0600070205080204" pitchFamily="34" charset="-128"/>
              </a:rPr>
              <a:t>Testing is expensive</a:t>
            </a:r>
          </a:p>
          <a:p>
            <a:pPr>
              <a:lnSpc>
                <a:spcPct val="90000"/>
              </a:lnSpc>
            </a:pPr>
            <a:r>
              <a:rPr lang="en-US" altLang="en-US" sz="2600">
                <a:solidFill>
                  <a:schemeClr val="tx1"/>
                </a:solidFill>
                <a:ea typeface="ＭＳ Ｐゴシック" panose="020B0600070205080204" pitchFamily="34" charset="-128"/>
              </a:rPr>
              <a:t>The investment in testing should be based on the cost of errors that will occur if thorough testing is not done</a:t>
            </a:r>
          </a:p>
          <a:p>
            <a:pPr>
              <a:lnSpc>
                <a:spcPct val="90000"/>
              </a:lnSpc>
            </a:pPr>
            <a:r>
              <a:rPr lang="en-US" altLang="en-US" sz="2600">
                <a:solidFill>
                  <a:schemeClr val="tx1"/>
                </a:solidFill>
                <a:ea typeface="ＭＳ Ｐゴシック" panose="020B0600070205080204" pitchFamily="34" charset="-128"/>
              </a:rPr>
              <a:t>Exhaustive testing is usually impossible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600">
                <a:solidFill>
                  <a:schemeClr val="tx1"/>
                </a:solidFill>
                <a:ea typeface="ＭＳ Ｐゴシック" panose="020B0600070205080204" pitchFamily="34" charset="-128"/>
              </a:rPr>
              <a:t>Testing may cost as much as system development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600">
                <a:solidFill>
                  <a:schemeClr val="tx1"/>
                </a:solidFill>
                <a:ea typeface="ＭＳ Ｐゴシック" panose="020B0600070205080204" pitchFamily="34" charset="-128"/>
              </a:rPr>
              <a:t>Often testing is carried out by a separate testing team</a:t>
            </a:r>
          </a:p>
          <a:p>
            <a:pPr>
              <a:lnSpc>
                <a:spcPct val="90000"/>
              </a:lnSpc>
            </a:pPr>
            <a:endParaRPr lang="en-US" altLang="en-US" sz="2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2">
            <a:extLst>
              <a:ext uri="{FF2B5EF4-FFF2-40B4-BE49-F238E27FC236}">
                <a16:creationId xmlns:a16="http://schemas.microsoft.com/office/drawing/2014/main" id="{004EA9FF-26DA-3718-5C13-2B5BE0CCDC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F3B54618-802C-564A-8535-6585F9DC0CC6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6</a:t>
            </a:fld>
            <a:endParaRPr lang="en-GB" altLang="en-US" sz="140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EED4515F-6C98-6307-2CE9-6393565F7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Classical Levels of Testing</a:t>
            </a:r>
          </a:p>
        </p:txBody>
      </p:sp>
      <p:grpSp>
        <p:nvGrpSpPr>
          <p:cNvPr id="40963" name="Group 3">
            <a:extLst>
              <a:ext uri="{FF2B5EF4-FFF2-40B4-BE49-F238E27FC236}">
                <a16:creationId xmlns:a16="http://schemas.microsoft.com/office/drawing/2014/main" id="{893C5354-3527-FC37-BA19-0709F151F766}"/>
              </a:ext>
            </a:extLst>
          </p:cNvPr>
          <p:cNvGrpSpPr>
            <a:grpSpLocks/>
          </p:cNvGrpSpPr>
          <p:nvPr/>
        </p:nvGrpSpPr>
        <p:grpSpPr bwMode="auto">
          <a:xfrm>
            <a:off x="379413" y="2770188"/>
            <a:ext cx="2665412" cy="2935287"/>
            <a:chOff x="697" y="1163"/>
            <a:chExt cx="1679" cy="1849"/>
          </a:xfrm>
        </p:grpSpPr>
        <p:sp>
          <p:nvSpPr>
            <p:cNvPr id="41001" name="Rectangle 4">
              <a:extLst>
                <a:ext uri="{FF2B5EF4-FFF2-40B4-BE49-F238E27FC236}">
                  <a16:creationId xmlns:a16="http://schemas.microsoft.com/office/drawing/2014/main" id="{A3236217-E166-771C-5209-F52CC4A6C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" y="1163"/>
              <a:ext cx="1679" cy="1849"/>
            </a:xfrm>
            <a:prstGeom prst="rect">
              <a:avLst/>
            </a:prstGeom>
            <a:solidFill>
              <a:srgbClr val="0000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91440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b="1">
                <a:solidFill>
                  <a:srgbClr val="FAFD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1002" name="Text Box 5">
              <a:extLst>
                <a:ext uri="{FF2B5EF4-FFF2-40B4-BE49-F238E27FC236}">
                  <a16:creationId xmlns:a16="http://schemas.microsoft.com/office/drawing/2014/main" id="{0C06FF11-02EA-11B7-9C43-7E4A98CA9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" y="1305"/>
              <a:ext cx="6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AFD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Class A</a:t>
              </a:r>
            </a:p>
          </p:txBody>
        </p:sp>
        <p:sp>
          <p:nvSpPr>
            <p:cNvPr id="41003" name="Text Box 6">
              <a:extLst>
                <a:ext uri="{FF2B5EF4-FFF2-40B4-BE49-F238E27FC236}">
                  <a16:creationId xmlns:a16="http://schemas.microsoft.com/office/drawing/2014/main" id="{D3D91B2E-2796-F1EB-9500-201D16E2B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6" y="1744"/>
              <a:ext cx="1123" cy="258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AFD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method mA1()</a:t>
              </a:r>
            </a:p>
          </p:txBody>
        </p:sp>
        <p:sp>
          <p:nvSpPr>
            <p:cNvPr id="41004" name="Text Box 7">
              <a:extLst>
                <a:ext uri="{FF2B5EF4-FFF2-40B4-BE49-F238E27FC236}">
                  <a16:creationId xmlns:a16="http://schemas.microsoft.com/office/drawing/2014/main" id="{1F7DFEF2-FEFF-C710-DDA8-9E652A449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6" y="2160"/>
              <a:ext cx="1144" cy="258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AFD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method mA2()</a:t>
              </a:r>
            </a:p>
          </p:txBody>
        </p:sp>
      </p:grpSp>
      <p:grpSp>
        <p:nvGrpSpPr>
          <p:cNvPr id="40964" name="Group 8">
            <a:extLst>
              <a:ext uri="{FF2B5EF4-FFF2-40B4-BE49-F238E27FC236}">
                <a16:creationId xmlns:a16="http://schemas.microsoft.com/office/drawing/2014/main" id="{7E0F89E0-59D6-9180-1EDB-3C9DE8FE432D}"/>
              </a:ext>
            </a:extLst>
          </p:cNvPr>
          <p:cNvGrpSpPr>
            <a:grpSpLocks/>
          </p:cNvGrpSpPr>
          <p:nvPr/>
        </p:nvGrpSpPr>
        <p:grpSpPr bwMode="auto">
          <a:xfrm>
            <a:off x="3605213" y="2770188"/>
            <a:ext cx="2665412" cy="2959100"/>
            <a:chOff x="2585" y="1163"/>
            <a:chExt cx="1679" cy="1864"/>
          </a:xfrm>
        </p:grpSpPr>
        <p:sp>
          <p:nvSpPr>
            <p:cNvPr id="40997" name="Rectangle 9">
              <a:extLst>
                <a:ext uri="{FF2B5EF4-FFF2-40B4-BE49-F238E27FC236}">
                  <a16:creationId xmlns:a16="http://schemas.microsoft.com/office/drawing/2014/main" id="{F6B89638-DC5D-4FC0-3BAD-B1C097615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5" y="1163"/>
              <a:ext cx="1679" cy="1864"/>
            </a:xfrm>
            <a:prstGeom prst="rect">
              <a:avLst/>
            </a:prstGeom>
            <a:solidFill>
              <a:srgbClr val="0000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91440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b="1">
                <a:solidFill>
                  <a:srgbClr val="FAFD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0998" name="Text Box 10">
              <a:extLst>
                <a:ext uri="{FF2B5EF4-FFF2-40B4-BE49-F238E27FC236}">
                  <a16:creationId xmlns:a16="http://schemas.microsoft.com/office/drawing/2014/main" id="{FB0E2D55-7C54-8CB8-8CE7-4F0987E14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1" y="1304"/>
              <a:ext cx="6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AFD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Class B</a:t>
              </a:r>
            </a:p>
          </p:txBody>
        </p:sp>
        <p:sp>
          <p:nvSpPr>
            <p:cNvPr id="40999" name="Text Box 11">
              <a:extLst>
                <a:ext uri="{FF2B5EF4-FFF2-40B4-BE49-F238E27FC236}">
                  <a16:creationId xmlns:a16="http://schemas.microsoft.com/office/drawing/2014/main" id="{E71136FE-D079-DF4E-A2BA-8C3E6E5AE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" y="1744"/>
              <a:ext cx="1109" cy="258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AFD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method mB1()</a:t>
              </a:r>
            </a:p>
          </p:txBody>
        </p:sp>
        <p:sp>
          <p:nvSpPr>
            <p:cNvPr id="41000" name="Text Box 12">
              <a:extLst>
                <a:ext uri="{FF2B5EF4-FFF2-40B4-BE49-F238E27FC236}">
                  <a16:creationId xmlns:a16="http://schemas.microsoft.com/office/drawing/2014/main" id="{145F818A-91A6-D9CE-9E5F-25EFB0F0B9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" y="2160"/>
              <a:ext cx="1151" cy="258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AFD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method mB2()</a:t>
              </a:r>
            </a:p>
          </p:txBody>
        </p:sp>
      </p:grpSp>
      <p:grpSp>
        <p:nvGrpSpPr>
          <p:cNvPr id="40965" name="Group 13">
            <a:extLst>
              <a:ext uri="{FF2B5EF4-FFF2-40B4-BE49-F238E27FC236}">
                <a16:creationId xmlns:a16="http://schemas.microsoft.com/office/drawing/2014/main" id="{32A9B9B3-903E-9E7C-0D69-BB8D2F994FA1}"/>
              </a:ext>
            </a:extLst>
          </p:cNvPr>
          <p:cNvGrpSpPr>
            <a:grpSpLocks/>
          </p:cNvGrpSpPr>
          <p:nvPr/>
        </p:nvGrpSpPr>
        <p:grpSpPr bwMode="auto">
          <a:xfrm>
            <a:off x="1839913" y="1566863"/>
            <a:ext cx="2968625" cy="836612"/>
            <a:chOff x="1159" y="910"/>
            <a:chExt cx="1870" cy="527"/>
          </a:xfrm>
        </p:grpSpPr>
        <p:sp>
          <p:nvSpPr>
            <p:cNvPr id="40995" name="Rectangle 14">
              <a:extLst>
                <a:ext uri="{FF2B5EF4-FFF2-40B4-BE49-F238E27FC236}">
                  <a16:creationId xmlns:a16="http://schemas.microsoft.com/office/drawing/2014/main" id="{41351361-C16C-07C3-CD3B-147C6A949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" y="910"/>
              <a:ext cx="1870" cy="527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b="1">
                <a:solidFill>
                  <a:srgbClr val="FAFD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96" name="Text Box 15">
              <a:extLst>
                <a:ext uri="{FF2B5EF4-FFF2-40B4-BE49-F238E27FC236}">
                  <a16:creationId xmlns:a16="http://schemas.microsoft.com/office/drawing/2014/main" id="{C7A1BB35-D314-CD77-5D8E-D343B2D7B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9" y="968"/>
              <a:ext cx="10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AFD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main Class P</a:t>
              </a:r>
            </a:p>
          </p:txBody>
        </p:sp>
      </p:grpSp>
      <p:sp>
        <p:nvSpPr>
          <p:cNvPr id="178192" name="Rectangle 16">
            <a:extLst>
              <a:ext uri="{FF2B5EF4-FFF2-40B4-BE49-F238E27FC236}">
                <a16:creationId xmlns:a16="http://schemas.microsoft.com/office/drawing/2014/main" id="{1D5A83DE-49D2-C5D5-BA93-93180499C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8888" y="1455738"/>
            <a:ext cx="2771775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Monotype Sorts" pitchFamily="2" charset="2"/>
              <a:buChar char="n"/>
            </a:pPr>
            <a:r>
              <a:rPr lang="en-US" altLang="en-US" sz="1800" b="1" u="sng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Acceptance testing</a:t>
            </a:r>
            <a:r>
              <a:rPr lang="en-US" altLang="en-US" sz="18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altLang="en-US"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Is the software acceptable to the user?</a:t>
            </a:r>
          </a:p>
        </p:txBody>
      </p:sp>
      <p:sp>
        <p:nvSpPr>
          <p:cNvPr id="40967" name="Line 17">
            <a:extLst>
              <a:ext uri="{FF2B5EF4-FFF2-40B4-BE49-F238E27FC236}">
                <a16:creationId xmlns:a16="http://schemas.microsoft.com/office/drawing/2014/main" id="{B6C185A7-FCF8-9494-EFA4-2DC4589389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0625" y="2401888"/>
            <a:ext cx="214313" cy="373062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8" name="Line 18">
            <a:extLst>
              <a:ext uri="{FF2B5EF4-FFF2-40B4-BE49-F238E27FC236}">
                <a16:creationId xmlns:a16="http://schemas.microsoft.com/office/drawing/2014/main" id="{5D7A4680-A0B8-5E76-C2EE-13798C5D69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03650" y="2401888"/>
            <a:ext cx="114300" cy="373062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9" name="Line 19">
            <a:extLst>
              <a:ext uri="{FF2B5EF4-FFF2-40B4-BE49-F238E27FC236}">
                <a16:creationId xmlns:a16="http://schemas.microsoft.com/office/drawing/2014/main" id="{4962B561-05FE-9C25-6ED3-CB26A1698B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1775" y="4106863"/>
            <a:ext cx="0" cy="249237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0" name="Line 20">
            <a:extLst>
              <a:ext uri="{FF2B5EF4-FFF2-40B4-BE49-F238E27FC236}">
                <a16:creationId xmlns:a16="http://schemas.microsoft.com/office/drawing/2014/main" id="{F112CDCC-9D2F-CB23-DED8-68D4991EF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0138" y="3903663"/>
            <a:ext cx="1366837" cy="655637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1" name="Line 21">
            <a:extLst>
              <a:ext uri="{FF2B5EF4-FFF2-40B4-BE49-F238E27FC236}">
                <a16:creationId xmlns:a16="http://schemas.microsoft.com/office/drawing/2014/main" id="{17691F27-1305-986F-D62F-84D3064426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6175" y="4570413"/>
            <a:ext cx="1320800" cy="44450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2" name="Line 22">
            <a:extLst>
              <a:ext uri="{FF2B5EF4-FFF2-40B4-BE49-F238E27FC236}">
                <a16:creationId xmlns:a16="http://schemas.microsoft.com/office/drawing/2014/main" id="{9A64522B-7544-3BBB-FD3E-C84791D86C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1250" y="3892550"/>
            <a:ext cx="1355725" cy="11113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23">
            <a:extLst>
              <a:ext uri="{FF2B5EF4-FFF2-40B4-BE49-F238E27FC236}">
                <a16:creationId xmlns:a16="http://schemas.microsoft.com/office/drawing/2014/main" id="{030AB7CD-7E4F-A494-F458-9DB5CEC70D9E}"/>
              </a:ext>
            </a:extLst>
          </p:cNvPr>
          <p:cNvGrpSpPr>
            <a:grpSpLocks/>
          </p:cNvGrpSpPr>
          <p:nvPr/>
        </p:nvGrpSpPr>
        <p:grpSpPr bwMode="auto">
          <a:xfrm>
            <a:off x="2597150" y="2605088"/>
            <a:ext cx="6513513" cy="2025650"/>
            <a:chOff x="1636" y="1564"/>
            <a:chExt cx="4103" cy="1276"/>
          </a:xfrm>
        </p:grpSpPr>
        <p:sp>
          <p:nvSpPr>
            <p:cNvPr id="40990" name="Rectangle 24">
              <a:extLst>
                <a:ext uri="{FF2B5EF4-FFF2-40B4-BE49-F238E27FC236}">
                  <a16:creationId xmlns:a16="http://schemas.microsoft.com/office/drawing/2014/main" id="{44670AA0-D1AF-1239-EF06-2520DAAA7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3" y="2145"/>
              <a:ext cx="1746" cy="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285750" indent="-285750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Monotype Sorts" pitchFamily="2" charset="2"/>
                <a:buChar char="n"/>
              </a:pPr>
              <a:r>
                <a:rPr lang="en-US" altLang="en-US" sz="1800" b="1" u="sng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Integration testing</a:t>
              </a:r>
              <a:r>
                <a:rPr lang="en-US" altLang="en-US" sz="18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: </a:t>
              </a:r>
              <a:r>
                <a:rPr lang="en-US" alt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Test how modules interact with each other</a:t>
              </a:r>
            </a:p>
          </p:txBody>
        </p:sp>
        <p:grpSp>
          <p:nvGrpSpPr>
            <p:cNvPr id="40991" name="Group 25">
              <a:extLst>
                <a:ext uri="{FF2B5EF4-FFF2-40B4-BE49-F238E27FC236}">
                  <a16:creationId xmlns:a16="http://schemas.microsoft.com/office/drawing/2014/main" id="{76543E59-604D-2C12-4FA8-2FACAA8E1D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6" y="1564"/>
              <a:ext cx="2406" cy="1053"/>
              <a:chOff x="1636" y="1564"/>
              <a:chExt cx="2406" cy="1053"/>
            </a:xfrm>
          </p:grpSpPr>
          <p:sp>
            <p:nvSpPr>
              <p:cNvPr id="40992" name="Line 26">
                <a:extLst>
                  <a:ext uri="{FF2B5EF4-FFF2-40B4-BE49-F238E27FC236}">
                    <a16:creationId xmlns:a16="http://schemas.microsoft.com/office/drawing/2014/main" id="{90A6E89E-6371-485D-F1B6-BC15645E14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75" y="1564"/>
                <a:ext cx="1565" cy="70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3" name="Line 27">
                <a:extLst>
                  <a:ext uri="{FF2B5EF4-FFF2-40B4-BE49-F238E27FC236}">
                    <a16:creationId xmlns:a16="http://schemas.microsoft.com/office/drawing/2014/main" id="{9A271A8F-E3EE-53D5-7579-F9DE11FF8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636" y="1586"/>
                <a:ext cx="2406" cy="682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4" name="Line 28">
                <a:extLst>
                  <a:ext uri="{FF2B5EF4-FFF2-40B4-BE49-F238E27FC236}">
                    <a16:creationId xmlns:a16="http://schemas.microsoft.com/office/drawing/2014/main" id="{303BE59B-9B93-C449-C321-212509DD6C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27" y="2263"/>
                <a:ext cx="1913" cy="35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29">
            <a:extLst>
              <a:ext uri="{FF2B5EF4-FFF2-40B4-BE49-F238E27FC236}">
                <a16:creationId xmlns:a16="http://schemas.microsoft.com/office/drawing/2014/main" id="{AF2956DB-A857-7AB6-5B54-23EA30863E2B}"/>
              </a:ext>
            </a:extLst>
          </p:cNvPr>
          <p:cNvGrpSpPr>
            <a:grpSpLocks/>
          </p:cNvGrpSpPr>
          <p:nvPr/>
        </p:nvGrpSpPr>
        <p:grpSpPr bwMode="auto">
          <a:xfrm>
            <a:off x="4108450" y="1087438"/>
            <a:ext cx="5002213" cy="2376487"/>
            <a:chOff x="2588" y="608"/>
            <a:chExt cx="3151" cy="1497"/>
          </a:xfrm>
        </p:grpSpPr>
        <p:sp>
          <p:nvSpPr>
            <p:cNvPr id="40988" name="Rectangle 30">
              <a:extLst>
                <a:ext uri="{FF2B5EF4-FFF2-40B4-BE49-F238E27FC236}">
                  <a16:creationId xmlns:a16="http://schemas.microsoft.com/office/drawing/2014/main" id="{D669E21A-57A3-39E5-7C08-03A2C17D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3" y="1439"/>
              <a:ext cx="1746" cy="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285750" indent="-285750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Monotype Sorts" pitchFamily="2" charset="2"/>
                <a:buChar char="n"/>
              </a:pPr>
              <a:r>
                <a:rPr lang="en-US" altLang="en-US" sz="1800" b="1" u="sng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System testing</a:t>
              </a:r>
              <a:r>
                <a:rPr lang="en-US" altLang="en-US" sz="18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: </a:t>
              </a:r>
              <a:r>
                <a:rPr lang="en-US" alt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Test the overall functionality of the system</a:t>
              </a:r>
            </a:p>
          </p:txBody>
        </p:sp>
        <p:sp>
          <p:nvSpPr>
            <p:cNvPr id="40989" name="Freeform 31">
              <a:extLst>
                <a:ext uri="{FF2B5EF4-FFF2-40B4-BE49-F238E27FC236}">
                  <a16:creationId xmlns:a16="http://schemas.microsoft.com/office/drawing/2014/main" id="{EC31C695-B14A-7DEC-2AE3-C6CEB9B56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608"/>
              <a:ext cx="1458" cy="892"/>
            </a:xfrm>
            <a:custGeom>
              <a:avLst/>
              <a:gdLst>
                <a:gd name="T0" fmla="*/ 1458 w 1458"/>
                <a:gd name="T1" fmla="*/ 892 h 892"/>
                <a:gd name="T2" fmla="*/ 1174 w 1458"/>
                <a:gd name="T3" fmla="*/ 231 h 892"/>
                <a:gd name="T4" fmla="*/ 825 w 1458"/>
                <a:gd name="T5" fmla="*/ 24 h 892"/>
                <a:gd name="T6" fmla="*/ 356 w 1458"/>
                <a:gd name="T7" fmla="*/ 89 h 892"/>
                <a:gd name="T8" fmla="*/ 171 w 1458"/>
                <a:gd name="T9" fmla="*/ 160 h 892"/>
                <a:gd name="T10" fmla="*/ 0 w 1458"/>
                <a:gd name="T11" fmla="*/ 302 h 8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58"/>
                <a:gd name="T19" fmla="*/ 0 h 892"/>
                <a:gd name="T20" fmla="*/ 1458 w 1458"/>
                <a:gd name="T21" fmla="*/ 892 h 8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58" h="892">
                  <a:moveTo>
                    <a:pt x="1458" y="892"/>
                  </a:moveTo>
                  <a:cubicBezTo>
                    <a:pt x="1411" y="782"/>
                    <a:pt x="1279" y="376"/>
                    <a:pt x="1174" y="231"/>
                  </a:cubicBezTo>
                  <a:cubicBezTo>
                    <a:pt x="1069" y="86"/>
                    <a:pt x="961" y="48"/>
                    <a:pt x="825" y="24"/>
                  </a:cubicBezTo>
                  <a:cubicBezTo>
                    <a:pt x="689" y="0"/>
                    <a:pt x="465" y="66"/>
                    <a:pt x="356" y="89"/>
                  </a:cubicBezTo>
                  <a:cubicBezTo>
                    <a:pt x="247" y="112"/>
                    <a:pt x="230" y="125"/>
                    <a:pt x="171" y="160"/>
                  </a:cubicBezTo>
                  <a:cubicBezTo>
                    <a:pt x="112" y="195"/>
                    <a:pt x="36" y="273"/>
                    <a:pt x="0" y="302"/>
                  </a:cubicBezTo>
                </a:path>
              </a:pathLst>
            </a:custGeom>
            <a:noFill/>
            <a:ln w="12700">
              <a:solidFill>
                <a:schemeClr val="hlink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2">
            <a:extLst>
              <a:ext uri="{FF2B5EF4-FFF2-40B4-BE49-F238E27FC236}">
                <a16:creationId xmlns:a16="http://schemas.microsoft.com/office/drawing/2014/main" id="{A2D2A958-1354-DD4C-3230-C7770A5B526C}"/>
              </a:ext>
            </a:extLst>
          </p:cNvPr>
          <p:cNvGrpSpPr>
            <a:grpSpLocks/>
          </p:cNvGrpSpPr>
          <p:nvPr/>
        </p:nvGrpSpPr>
        <p:grpSpPr bwMode="auto">
          <a:xfrm>
            <a:off x="3049588" y="2251075"/>
            <a:ext cx="6061075" cy="3275013"/>
            <a:chOff x="1921" y="1341"/>
            <a:chExt cx="3818" cy="2063"/>
          </a:xfrm>
        </p:grpSpPr>
        <p:grpSp>
          <p:nvGrpSpPr>
            <p:cNvPr id="40983" name="Group 33">
              <a:extLst>
                <a:ext uri="{FF2B5EF4-FFF2-40B4-BE49-F238E27FC236}">
                  <a16:creationId xmlns:a16="http://schemas.microsoft.com/office/drawing/2014/main" id="{7F1304A6-945B-3E0E-8A05-651EA7DC04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1" y="1341"/>
              <a:ext cx="2123" cy="1831"/>
              <a:chOff x="1921" y="1341"/>
              <a:chExt cx="2123" cy="1831"/>
            </a:xfrm>
          </p:grpSpPr>
          <p:sp>
            <p:nvSpPr>
              <p:cNvPr id="40985" name="Freeform 34">
                <a:extLst>
                  <a:ext uri="{FF2B5EF4-FFF2-40B4-BE49-F238E27FC236}">
                    <a16:creationId xmlns:a16="http://schemas.microsoft.com/office/drawing/2014/main" id="{7C0B5A1B-7D6D-A0AB-0836-9B6717D0B7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1" y="2041"/>
                <a:ext cx="2121" cy="959"/>
              </a:xfrm>
              <a:custGeom>
                <a:avLst/>
                <a:gdLst>
                  <a:gd name="T0" fmla="*/ 2121 w 2121"/>
                  <a:gd name="T1" fmla="*/ 959 h 959"/>
                  <a:gd name="T2" fmla="*/ 0 w 2121"/>
                  <a:gd name="T3" fmla="*/ 0 h 959"/>
                  <a:gd name="T4" fmla="*/ 0 60000 65536"/>
                  <a:gd name="T5" fmla="*/ 0 60000 65536"/>
                  <a:gd name="T6" fmla="*/ 0 w 2121"/>
                  <a:gd name="T7" fmla="*/ 0 h 959"/>
                  <a:gd name="T8" fmla="*/ 2121 w 2121"/>
                  <a:gd name="T9" fmla="*/ 959 h 95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21" h="959">
                    <a:moveTo>
                      <a:pt x="2121" y="959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86" name="Freeform 35">
                <a:extLst>
                  <a:ext uri="{FF2B5EF4-FFF2-40B4-BE49-F238E27FC236}">
                    <a16:creationId xmlns:a16="http://schemas.microsoft.com/office/drawing/2014/main" id="{C090A3C4-F2A5-34A6-547E-208D21449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2996"/>
                <a:ext cx="96" cy="176"/>
              </a:xfrm>
              <a:custGeom>
                <a:avLst/>
                <a:gdLst>
                  <a:gd name="T0" fmla="*/ 96 w 96"/>
                  <a:gd name="T1" fmla="*/ 0 h 176"/>
                  <a:gd name="T2" fmla="*/ 0 w 96"/>
                  <a:gd name="T3" fmla="*/ 176 h 176"/>
                  <a:gd name="T4" fmla="*/ 0 60000 65536"/>
                  <a:gd name="T5" fmla="*/ 0 60000 65536"/>
                  <a:gd name="T6" fmla="*/ 0 w 96"/>
                  <a:gd name="T7" fmla="*/ 0 h 176"/>
                  <a:gd name="T8" fmla="*/ 96 w 96"/>
                  <a:gd name="T9" fmla="*/ 176 h 17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176">
                    <a:moveTo>
                      <a:pt x="96" y="0"/>
                    </a:moveTo>
                    <a:lnTo>
                      <a:pt x="0" y="176"/>
                    </a:lnTo>
                  </a:path>
                </a:pathLst>
              </a:cu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87" name="Freeform 36">
                <a:extLst>
                  <a:ext uri="{FF2B5EF4-FFF2-40B4-BE49-F238E27FC236}">
                    <a16:creationId xmlns:a16="http://schemas.microsoft.com/office/drawing/2014/main" id="{B79BF353-C8B5-EE2A-899D-40338D5440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1341"/>
                <a:ext cx="1009" cy="1659"/>
              </a:xfrm>
              <a:custGeom>
                <a:avLst/>
                <a:gdLst>
                  <a:gd name="T0" fmla="*/ 1171 w 1003"/>
                  <a:gd name="T1" fmla="*/ 1426 h 1669"/>
                  <a:gd name="T2" fmla="*/ 0 w 1003"/>
                  <a:gd name="T3" fmla="*/ 0 h 1669"/>
                  <a:gd name="T4" fmla="*/ 0 60000 65536"/>
                  <a:gd name="T5" fmla="*/ 0 60000 65536"/>
                  <a:gd name="T6" fmla="*/ 0 w 1003"/>
                  <a:gd name="T7" fmla="*/ 0 h 1669"/>
                  <a:gd name="T8" fmla="*/ 1003 w 1003"/>
                  <a:gd name="T9" fmla="*/ 1669 h 166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03" h="1669">
                    <a:moveTo>
                      <a:pt x="1003" y="1669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0984" name="Rectangle 37">
              <a:extLst>
                <a:ext uri="{FF2B5EF4-FFF2-40B4-BE49-F238E27FC236}">
                  <a16:creationId xmlns:a16="http://schemas.microsoft.com/office/drawing/2014/main" id="{F18EA263-CF6C-6379-F72B-9457C0AF3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3" y="2880"/>
              <a:ext cx="1746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285750" indent="-285750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Monotype Sorts" pitchFamily="2" charset="2"/>
                <a:buChar char="n"/>
              </a:pPr>
              <a:r>
                <a:rPr lang="en-US" altLang="en-US" sz="1800" b="1" u="sng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Module testing</a:t>
              </a:r>
              <a:r>
                <a:rPr lang="en-US" altLang="en-US" sz="18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: </a:t>
              </a:r>
              <a:r>
                <a:rPr lang="en-US" alt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Test each class, file, module or component</a:t>
              </a:r>
            </a:p>
          </p:txBody>
        </p:sp>
      </p:grpSp>
      <p:grpSp>
        <p:nvGrpSpPr>
          <p:cNvPr id="10" name="Group 38">
            <a:extLst>
              <a:ext uri="{FF2B5EF4-FFF2-40B4-BE49-F238E27FC236}">
                <a16:creationId xmlns:a16="http://schemas.microsoft.com/office/drawing/2014/main" id="{97CE9E2F-035E-E2F7-B5B0-690C8CD14122}"/>
              </a:ext>
            </a:extLst>
          </p:cNvPr>
          <p:cNvGrpSpPr>
            <a:grpSpLocks/>
          </p:cNvGrpSpPr>
          <p:nvPr/>
        </p:nvGrpSpPr>
        <p:grpSpPr bwMode="auto">
          <a:xfrm>
            <a:off x="2235200" y="4051300"/>
            <a:ext cx="6875463" cy="2336800"/>
            <a:chOff x="1408" y="2475"/>
            <a:chExt cx="4331" cy="1472"/>
          </a:xfrm>
        </p:grpSpPr>
        <p:sp>
          <p:nvSpPr>
            <p:cNvPr id="40977" name="Rectangle 39">
              <a:extLst>
                <a:ext uri="{FF2B5EF4-FFF2-40B4-BE49-F238E27FC236}">
                  <a16:creationId xmlns:a16="http://schemas.microsoft.com/office/drawing/2014/main" id="{88917EA3-7B8B-14C7-C8CD-5B4FBBAB6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3" y="3444"/>
              <a:ext cx="174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285750" indent="-285750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Monotype Sorts" pitchFamily="2" charset="2"/>
                <a:buChar char="n"/>
              </a:pPr>
              <a:r>
                <a:rPr lang="en-US" altLang="en-US" sz="1800" b="1" u="sng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Unit testing</a:t>
              </a:r>
              <a:r>
                <a:rPr lang="en-US" altLang="en-US" sz="18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: </a:t>
              </a:r>
              <a:r>
                <a:rPr lang="en-US" alt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Test each unit (method) individually</a:t>
              </a:r>
            </a:p>
          </p:txBody>
        </p:sp>
        <p:grpSp>
          <p:nvGrpSpPr>
            <p:cNvPr id="40978" name="Group 40">
              <a:extLst>
                <a:ext uri="{FF2B5EF4-FFF2-40B4-BE49-F238E27FC236}">
                  <a16:creationId xmlns:a16="http://schemas.microsoft.com/office/drawing/2014/main" id="{F5319FC0-B7C3-E4D0-C5A8-F56A22AB25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2475"/>
              <a:ext cx="2626" cy="1079"/>
              <a:chOff x="1408" y="2475"/>
              <a:chExt cx="2626" cy="1079"/>
            </a:xfrm>
          </p:grpSpPr>
          <p:sp>
            <p:nvSpPr>
              <p:cNvPr id="40979" name="Line 41">
                <a:extLst>
                  <a:ext uri="{FF2B5EF4-FFF2-40B4-BE49-F238E27FC236}">
                    <a16:creationId xmlns:a16="http://schemas.microsoft.com/office/drawing/2014/main" id="{56E6B579-47E8-9B93-6E30-57A3DA5B94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08" y="2881"/>
                <a:ext cx="2626" cy="673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80" name="Line 42">
                <a:extLst>
                  <a:ext uri="{FF2B5EF4-FFF2-40B4-BE49-F238E27FC236}">
                    <a16:creationId xmlns:a16="http://schemas.microsoft.com/office/drawing/2014/main" id="{2710F992-441F-C4B0-3BE4-95485F5F07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44" y="2489"/>
                <a:ext cx="337" cy="488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81" name="Line 43">
                <a:extLst>
                  <a:ext uri="{FF2B5EF4-FFF2-40B4-BE49-F238E27FC236}">
                    <a16:creationId xmlns:a16="http://schemas.microsoft.com/office/drawing/2014/main" id="{114BCF93-A894-4D0A-E679-D22DBA5DD1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9" y="2475"/>
                <a:ext cx="256" cy="60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82" name="Line 44">
                <a:extLst>
                  <a:ext uri="{FF2B5EF4-FFF2-40B4-BE49-F238E27FC236}">
                    <a16:creationId xmlns:a16="http://schemas.microsoft.com/office/drawing/2014/main" id="{AE5D3D7E-CC45-3982-89F6-D55BB7736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2" y="2866"/>
                <a:ext cx="121" cy="27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9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2">
            <a:extLst>
              <a:ext uri="{FF2B5EF4-FFF2-40B4-BE49-F238E27FC236}">
                <a16:creationId xmlns:a16="http://schemas.microsoft.com/office/drawing/2014/main" id="{1A517AD4-DB87-B954-55A8-11EB1DADB0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C7AFC049-594D-E744-B8AA-2F459D7C85F0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7</a:t>
            </a:fld>
            <a:endParaRPr lang="en-GB" altLang="en-US" sz="140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2E07B72B-5282-02F1-6E57-DB2E1BA38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Poor (commonly used) testing Practices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340BAA8-53DF-23B6-8C5C-1C6DEDD84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761288" cy="4419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Major Poor Testing Practices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Testing to prove the system works, not to find what is wrong with it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No test plan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Poor test data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Proper testing tools not used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Poor testing of user’s understanding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Poor testing of surrounding context of use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We need to apply </a:t>
            </a:r>
            <a:r>
              <a:rPr lang="en-US" altLang="en-US" sz="2600">
                <a:solidFill>
                  <a:srgbClr val="0000FF"/>
                </a:solidFill>
                <a:ea typeface="ＭＳ Ｐゴシック" panose="020B0600070205080204" pitchFamily="34" charset="-128"/>
              </a:rPr>
              <a:t>systematic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2">
            <a:extLst>
              <a:ext uri="{FF2B5EF4-FFF2-40B4-BE49-F238E27FC236}">
                <a16:creationId xmlns:a16="http://schemas.microsoft.com/office/drawing/2014/main" id="{7D89645D-DA89-3C4B-D073-A4B9983983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CBBFF761-7684-664C-B6F0-EC4CC54B1085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8</a:t>
            </a:fld>
            <a:endParaRPr lang="en-GB" altLang="en-US" sz="14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D04D47C2-8A04-7E56-266F-DF10A65DB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Systematic Testing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638B2172-8300-23AC-CFDC-52DBE8415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283575" cy="4921250"/>
          </a:xfrm>
        </p:spPr>
        <p:txBody>
          <a:bodyPr/>
          <a:lstStyle/>
          <a:p>
            <a:r>
              <a:rPr lang="en-US" altLang="en-US" sz="2800">
                <a:ea typeface="ＭＳ Ｐゴシック" panose="020B0600070205080204" pitchFamily="34" charset="-128"/>
              </a:rPr>
              <a:t>A systematic test method must have</a:t>
            </a:r>
          </a:p>
          <a:p>
            <a:pPr lvl="1"/>
            <a:r>
              <a:rPr lang="en-US" altLang="en-US" sz="2400" b="1">
                <a:solidFill>
                  <a:srgbClr val="3366FF"/>
                </a:solidFill>
                <a:ea typeface="ＭＳ Ｐゴシック" panose="020B0600070205080204" pitchFamily="34" charset="-128"/>
              </a:rPr>
              <a:t>a system (rule) for creating tests</a:t>
            </a:r>
          </a:p>
          <a:p>
            <a:pPr lvl="1"/>
            <a:r>
              <a:rPr lang="en-US" altLang="en-US" sz="2400" b="1">
                <a:solidFill>
                  <a:srgbClr val="3366FF"/>
                </a:solidFill>
                <a:ea typeface="ＭＳ Ｐゴシック" panose="020B0600070205080204" pitchFamily="34" charset="-128"/>
              </a:rPr>
              <a:t>a measure of completeness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Need an easy, systematic way to create test cases </a:t>
            </a:r>
          </a:p>
          <a:p>
            <a:pPr lvl="2"/>
            <a:r>
              <a:rPr lang="en-US" altLang="en-US" b="1">
                <a:solidFill>
                  <a:srgbClr val="FF0000"/>
                </a:solidFill>
                <a:ea typeface="ＭＳ Ｐゴシック" panose="020B0600070205080204" pitchFamily="34" charset="-128"/>
              </a:rPr>
              <a:t>to know for sure what to test</a:t>
            </a:r>
          </a:p>
          <a:p>
            <a:pPr lvl="1"/>
            <a:r>
              <a:rPr lang="en-US" altLang="en-US" sz="2600">
                <a:ea typeface="ＭＳ Ｐゴシック" panose="020B0600070205080204" pitchFamily="34" charset="-128"/>
              </a:rPr>
              <a:t>need an easy, systematic way to run tests</a:t>
            </a:r>
          </a:p>
          <a:p>
            <a:pPr lvl="2"/>
            <a:r>
              <a:rPr lang="en-US" altLang="en-US" sz="2600" b="1">
                <a:solidFill>
                  <a:srgbClr val="FF0000"/>
                </a:solidFill>
                <a:ea typeface="ＭＳ Ｐゴシック" panose="020B0600070205080204" pitchFamily="34" charset="-128"/>
              </a:rPr>
              <a:t>to know how to test</a:t>
            </a:r>
          </a:p>
          <a:p>
            <a:pPr lvl="1"/>
            <a:r>
              <a:rPr lang="en-US" altLang="en-US" sz="2600">
                <a:ea typeface="ＭＳ Ｐゴシック" panose="020B0600070205080204" pitchFamily="34" charset="-128"/>
              </a:rPr>
              <a:t>need an easy, systematic way to decide when we are done </a:t>
            </a:r>
          </a:p>
          <a:p>
            <a:pPr lvl="2"/>
            <a:r>
              <a:rPr lang="en-US" altLang="en-US" b="1">
                <a:solidFill>
                  <a:srgbClr val="FF0000"/>
                </a:solidFill>
                <a:ea typeface="ＭＳ Ｐゴシック" panose="020B0600070205080204" pitchFamily="34" charset="-128"/>
              </a:rPr>
              <a:t>to know when we have enough tests</a:t>
            </a:r>
          </a:p>
          <a:p>
            <a:endParaRPr lang="en-US" altLang="en-US" sz="2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2">
            <a:extLst>
              <a:ext uri="{FF2B5EF4-FFF2-40B4-BE49-F238E27FC236}">
                <a16:creationId xmlns:a16="http://schemas.microsoft.com/office/drawing/2014/main" id="{5B0BEE88-E566-0E4C-4A71-FA9F8CBF82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020B0D8C-B5BD-D743-A753-304BBDDCB769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9</a:t>
            </a:fld>
            <a:endParaRPr lang="en-GB" altLang="en-US" sz="1400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6B3A4F05-D081-4F1F-EFB0-711A75E4C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Testing:  A few Definitions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62E87AFC-680C-A808-11FA-659952E44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>
                <a:ea typeface="ＭＳ Ｐゴシック" panose="020B0600070205080204" pitchFamily="34" charset="-128"/>
              </a:rPr>
              <a:t>“</a:t>
            </a:r>
            <a:r>
              <a:rPr lang="en-US" altLang="ja-JP" sz="2600" b="1">
                <a:ea typeface="ＭＳ Ｐゴシック" panose="020B0600070205080204" pitchFamily="34" charset="-128"/>
              </a:rPr>
              <a:t>Testing </a:t>
            </a:r>
            <a:r>
              <a:rPr lang="en-US" altLang="ja-JP" sz="2600">
                <a:ea typeface="ＭＳ Ｐゴシック" panose="020B0600070205080204" pitchFamily="34" charset="-128"/>
              </a:rPr>
              <a:t>is the process of executing a program with the intent of finding errors</a:t>
            </a:r>
            <a:r>
              <a:rPr lang="en-US" altLang="en-US" sz="2600">
                <a:ea typeface="ＭＳ Ｐゴシック" panose="020B0600070205080204" pitchFamily="34" charset="-128"/>
              </a:rPr>
              <a:t>“</a:t>
            </a:r>
            <a:r>
              <a:rPr lang="en-US" altLang="ja-JP" sz="2600">
                <a:ea typeface="ＭＳ Ｐゴシック" panose="020B0600070205080204" pitchFamily="34" charset="-128"/>
              </a:rPr>
              <a:t> [Myers]</a:t>
            </a:r>
          </a:p>
          <a:p>
            <a:r>
              <a:rPr lang="en-US" altLang="en-US" sz="2600" b="1">
                <a:ea typeface="ＭＳ Ｐゴシック" panose="020B0600070205080204" pitchFamily="34" charset="-128"/>
              </a:rPr>
              <a:t>Test coverage </a:t>
            </a:r>
            <a:r>
              <a:rPr lang="en-US" altLang="en-US" sz="2600">
                <a:ea typeface="ＭＳ Ｐゴシック" panose="020B0600070205080204" pitchFamily="34" charset="-128"/>
              </a:rPr>
              <a:t>is the degree to which the complete set of program elements is executed.</a:t>
            </a:r>
          </a:p>
          <a:p>
            <a:r>
              <a:rPr lang="en-US" altLang="en-US" sz="2600">
                <a:ea typeface="ＭＳ Ｐゴシック" panose="020B0600070205080204" pitchFamily="34" charset="-128"/>
              </a:rPr>
              <a:t>A </a:t>
            </a:r>
            <a:r>
              <a:rPr lang="en-US" altLang="en-US" sz="2600" b="1">
                <a:ea typeface="ＭＳ Ｐゴシック" panose="020B0600070205080204" pitchFamily="34" charset="-128"/>
              </a:rPr>
              <a:t>test case </a:t>
            </a:r>
            <a:r>
              <a:rPr lang="en-US" altLang="en-US" sz="2600">
                <a:ea typeface="ＭＳ Ｐゴシック" panose="020B0600070205080204" pitchFamily="34" charset="-128"/>
              </a:rPr>
              <a:t>consists of execution conditions, input data, and expected results.</a:t>
            </a:r>
          </a:p>
          <a:p>
            <a:r>
              <a:rPr lang="en-US" altLang="en-US" sz="2600">
                <a:ea typeface="ＭＳ Ｐゴシック" panose="020B0600070205080204" pitchFamily="34" charset="-128"/>
              </a:rPr>
              <a:t>A </a:t>
            </a:r>
            <a:r>
              <a:rPr lang="en-US" altLang="en-US" sz="2600" b="1">
                <a:ea typeface="ＭＳ Ｐゴシック" panose="020B0600070205080204" pitchFamily="34" charset="-128"/>
              </a:rPr>
              <a:t>test suite </a:t>
            </a:r>
            <a:r>
              <a:rPr lang="en-US" altLang="en-US" sz="2600">
                <a:ea typeface="ＭＳ Ｐゴシック" panose="020B0600070205080204" pitchFamily="34" charset="-128"/>
              </a:rPr>
              <a:t>is a set of test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3C10D-D4FB-A7B7-7CD7-D98E59A0D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2">
            <a:extLst>
              <a:ext uri="{FF2B5EF4-FFF2-40B4-BE49-F238E27FC236}">
                <a16:creationId xmlns:a16="http://schemas.microsoft.com/office/drawing/2014/main" id="{EA97F24A-4822-D394-EC30-3E905232E8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6AD53320-892F-AC4A-9227-BE52B7D6781F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10</a:t>
            </a:fld>
            <a:endParaRPr lang="en-GB" altLang="en-US" sz="14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ED8D8D46-F28C-5B6A-A0CF-C11E4DF5F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Systematic Testing Methods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08AF4347-9405-D488-8E13-E2687B01A4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Black box methods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White box methods</a:t>
            </a:r>
          </a:p>
          <a:p>
            <a:pPr>
              <a:lnSpc>
                <a:spcPct val="90000"/>
              </a:lnSpc>
            </a:pPr>
            <a:endParaRPr lang="en-US" altLang="en-US" sz="28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8348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2">
            <a:extLst>
              <a:ext uri="{FF2B5EF4-FFF2-40B4-BE49-F238E27FC236}">
                <a16:creationId xmlns:a16="http://schemas.microsoft.com/office/drawing/2014/main" id="{66E21DD0-2667-5FCA-CB2E-526A8B829E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6AD53320-892F-AC4A-9227-BE52B7D6781F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11</a:t>
            </a:fld>
            <a:endParaRPr lang="en-GB" altLang="en-US" sz="14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6053B308-85FE-2B15-B646-103CCDCE6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Systematic Testing Methods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F114577-AFF1-0F25-A88D-CF8F17737D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Black box methods</a:t>
            </a:r>
          </a:p>
          <a:p>
            <a:pPr lvl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Cannot see what software code to test</a:t>
            </a:r>
          </a:p>
          <a:p>
            <a:pPr lvl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Code may not exist yet </a:t>
            </a:r>
          </a:p>
          <a:p>
            <a:pPr lvl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So they can only base their tests on the </a:t>
            </a:r>
            <a:r>
              <a:rPr lang="en-US" altLang="en-US" sz="2600">
                <a:solidFill>
                  <a:srgbClr val="0000FF"/>
                </a:solidFill>
                <a:ea typeface="ＭＳ Ｐゴシック" panose="020B0600070205080204" pitchFamily="34" charset="-128"/>
              </a:rPr>
              <a:t>requirements</a:t>
            </a:r>
            <a:r>
              <a:rPr lang="en-US" altLang="en-US" sz="2600">
                <a:ea typeface="ＭＳ Ｐゴシック" panose="020B0600070205080204" pitchFamily="34" charset="-128"/>
              </a:rPr>
              <a:t> or </a:t>
            </a:r>
            <a:r>
              <a:rPr lang="en-US" altLang="en-US" sz="2600">
                <a:solidFill>
                  <a:srgbClr val="0000FF"/>
                </a:solidFill>
                <a:ea typeface="ＭＳ Ｐゴシック" panose="020B0600070205080204" pitchFamily="34" charset="-128"/>
              </a:rPr>
              <a:t>specifications</a:t>
            </a:r>
          </a:p>
          <a:p>
            <a:pPr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White box methods</a:t>
            </a:r>
          </a:p>
          <a:p>
            <a:pPr lvl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Can see what the software’s code to test </a:t>
            </a:r>
          </a:p>
          <a:p>
            <a:pPr lvl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So they can base their tests on the software’s </a:t>
            </a:r>
            <a:r>
              <a:rPr lang="en-US" altLang="en-US" sz="2600">
                <a:solidFill>
                  <a:srgbClr val="0000FF"/>
                </a:solidFill>
                <a:ea typeface="ＭＳ Ｐゴシック" panose="020B0600070205080204" pitchFamily="34" charset="-128"/>
              </a:rPr>
              <a:t>code itself</a:t>
            </a:r>
          </a:p>
          <a:p>
            <a:pPr>
              <a:lnSpc>
                <a:spcPct val="90000"/>
              </a:lnSpc>
            </a:pPr>
            <a:endParaRPr lang="en-US" altLang="en-US" sz="28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2">
            <a:extLst>
              <a:ext uri="{FF2B5EF4-FFF2-40B4-BE49-F238E27FC236}">
                <a16:creationId xmlns:a16="http://schemas.microsoft.com/office/drawing/2014/main" id="{EF3B20ED-B291-ABB0-779E-5D80EB8272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0C408B86-AF3A-7C45-85E3-37C8BE2A34FD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12</a:t>
            </a:fld>
            <a:endParaRPr lang="en-GB" altLang="en-US" sz="1400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2C09728A-35CE-7ABE-82E2-00399F04C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Kinds of White Box Testing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D5B9BDE-F580-6F1C-09B0-EDEDF33E6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676400"/>
            <a:ext cx="7761288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Code Coverage</a:t>
            </a:r>
            <a:endParaRPr lang="en-US" altLang="en-US" sz="2400" b="1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Code coverage methods design tests to cover (execute) </a:t>
            </a:r>
          </a:p>
          <a:p>
            <a:pPr lvl="2">
              <a:lnSpc>
                <a:spcPct val="90000"/>
              </a:lnSpc>
            </a:pP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every method</a:t>
            </a:r>
            <a:r>
              <a:rPr lang="en-US" altLang="en-US" sz="1800">
                <a:ea typeface="ＭＳ Ｐゴシック" panose="020B0600070205080204" pitchFamily="34" charset="-128"/>
              </a:rPr>
              <a:t>,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statement</a:t>
            </a:r>
            <a:r>
              <a:rPr lang="en-US" altLang="en-US" sz="1800">
                <a:ea typeface="ＭＳ Ｐゴシック" panose="020B0600070205080204" pitchFamily="34" charset="-128"/>
              </a:rPr>
              <a:t> or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 instruction</a:t>
            </a:r>
            <a:r>
              <a:rPr lang="en-US" altLang="en-US" sz="1800">
                <a:ea typeface="ＭＳ Ｐゴシック" panose="020B0600070205080204" pitchFamily="34" charset="-128"/>
              </a:rPr>
              <a:t> of the program at least once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Logic Path / Decision Point Coverage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Logic path methods design tests to cover </a:t>
            </a:r>
          </a:p>
          <a:p>
            <a:pPr lvl="2">
              <a:lnSpc>
                <a:spcPct val="90000"/>
              </a:lnSpc>
            </a:pP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every path</a:t>
            </a:r>
            <a:r>
              <a:rPr lang="en-US" altLang="en-US" sz="1800">
                <a:ea typeface="ＭＳ Ｐゴシック" panose="020B0600070205080204" pitchFamily="34" charset="-128"/>
              </a:rPr>
              <a:t> of execution in the program at least once</a:t>
            </a:r>
          </a:p>
          <a:p>
            <a:pPr lvl="2">
              <a:lnSpc>
                <a:spcPct val="90000"/>
              </a:lnSpc>
            </a:pPr>
            <a:r>
              <a:rPr lang="en-US" altLang="en-US" sz="1800">
                <a:ea typeface="ＭＳ Ｐゴシック" panose="020B0600070205080204" pitchFamily="34" charset="-128"/>
              </a:rPr>
              <a:t>E.g., true/false paths of an </a:t>
            </a:r>
            <a:r>
              <a:rPr lang="en-US" altLang="en-US" sz="1800" i="1">
                <a:ea typeface="ＭＳ Ｐゴシック" panose="020B0600070205080204" pitchFamily="34" charset="-128"/>
              </a:rPr>
              <a:t>if condition</a:t>
            </a:r>
            <a:r>
              <a:rPr lang="en-US" altLang="en-US" sz="1800"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Mutation Testing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Mutation testing involves creating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many slightly</a:t>
            </a:r>
            <a:r>
              <a:rPr lang="en-US" altLang="en-US" sz="2000">
                <a:ea typeface="ＭＳ Ｐゴシック" panose="020B0600070205080204" pitchFamily="34" charset="-128"/>
              </a:rPr>
              <a:t> different versions of the code by mutating (changing operations) in each version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Used to check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sufficiency</a:t>
            </a:r>
            <a:r>
              <a:rPr lang="en-US" altLang="en-US" sz="2000">
                <a:ea typeface="ＭＳ Ｐゴシック" panose="020B0600070205080204" pitchFamily="34" charset="-128"/>
              </a:rPr>
              <a:t> of test suites in detecting faults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Are the test suites sufficient enough? Need more test data?</a:t>
            </a:r>
          </a:p>
          <a:p>
            <a:pPr>
              <a:lnSpc>
                <a:spcPct val="90000"/>
              </a:lnSpc>
            </a:pPr>
            <a:endParaRPr lang="en-US" altLang="en-US" sz="2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2">
            <a:extLst>
              <a:ext uri="{FF2B5EF4-FFF2-40B4-BE49-F238E27FC236}">
                <a16:creationId xmlns:a16="http://schemas.microsoft.com/office/drawing/2014/main" id="{CC3F751B-C0DB-F071-059F-2E89B1921D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70FC0ED5-19E8-B84C-984E-92D71F1E7E36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13</a:t>
            </a:fld>
            <a:endParaRPr lang="en-GB" altLang="en-US" sz="1400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EADB9B34-F81F-003F-9550-79ED6C273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Statement Coverage Method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C079922-8FE4-2E2D-D8A1-918215517D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676400"/>
            <a:ext cx="7696200" cy="419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Causes every statement in the program to be executed at least once, 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giving us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confidence that every statement is at least capable of executing correctly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00FF"/>
                </a:solidFill>
                <a:ea typeface="ＭＳ Ｐゴシック" panose="020B0600070205080204" pitchFamily="34" charset="-128"/>
              </a:rPr>
              <a:t>System:</a:t>
            </a:r>
            <a:r>
              <a:rPr lang="en-US" altLang="en-US" sz="2400">
                <a:ea typeface="ＭＳ Ｐゴシック" panose="020B0600070205080204" pitchFamily="34" charset="-128"/>
              </a:rPr>
              <a:t> Make a test case for each statement in the program, independent of the others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Test must simply cause the statement to be run, ignoring its actions and substatements (but still must check that result of test is correct)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00FF"/>
                </a:solidFill>
                <a:ea typeface="ＭＳ Ｐゴシック" panose="020B0600070205080204" pitchFamily="34" charset="-128"/>
              </a:rPr>
              <a:t>Completion criterion:</a:t>
            </a:r>
            <a:r>
              <a:rPr lang="en-US" altLang="en-US" sz="2400">
                <a:ea typeface="ＭＳ Ｐゴシック" panose="020B0600070205080204" pitchFamily="34" charset="-128"/>
              </a:rPr>
              <a:t> A test case for every statement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Can be checked by instrumentation injection to track statement execution coverage</a:t>
            </a:r>
          </a:p>
          <a:p>
            <a:pPr>
              <a:lnSpc>
                <a:spcPct val="90000"/>
              </a:lnSpc>
            </a:pPr>
            <a:endParaRPr lang="en-US" altLang="en-US" sz="2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2">
            <a:extLst>
              <a:ext uri="{FF2B5EF4-FFF2-40B4-BE49-F238E27FC236}">
                <a16:creationId xmlns:a16="http://schemas.microsoft.com/office/drawing/2014/main" id="{D971F541-B47E-AC62-D2B1-75AFC04016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BA7EDD13-AA38-4D46-B7EF-3E8AA3A1F320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14</a:t>
            </a:fld>
            <a:endParaRPr lang="en-GB" altLang="en-US" sz="140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EB2B0CDB-0F90-2B72-A797-9DF6B0DFF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Example: Statement Coverage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55299" name="Object 3">
            <a:extLst>
              <a:ext uri="{FF2B5EF4-FFF2-40B4-BE49-F238E27FC236}">
                <a16:creationId xmlns:a16="http://schemas.microsoft.com/office/drawing/2014/main" id="{218BF161-ABAB-B338-8087-3EB582D666A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219200" y="1676400"/>
          <a:ext cx="5943600" cy="453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3435350" imgH="2622550" progId="Paint.Picture">
                  <p:embed/>
                </p:oleObj>
              </mc:Choice>
              <mc:Fallback>
                <p:oleObj name="Bitmap Image" r:id="rId3" imgW="3435350" imgH="262255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676400"/>
                        <a:ext cx="5943600" cy="453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2">
            <a:extLst>
              <a:ext uri="{FF2B5EF4-FFF2-40B4-BE49-F238E27FC236}">
                <a16:creationId xmlns:a16="http://schemas.microsoft.com/office/drawing/2014/main" id="{018D09E7-6A47-886B-05F2-7157E5B38F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5E334938-0CF1-BA4D-A9C4-4844005B0C4B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15</a:t>
            </a:fld>
            <a:endParaRPr lang="en-GB" altLang="en-US" sz="14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21478C1B-8176-6DDF-44D2-290D2F522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FF0000"/>
                </a:solidFill>
                <a:ea typeface="ＭＳ Ｐゴシック" panose="020B0600070205080204" pitchFamily="34" charset="-128"/>
              </a:rPr>
              <a:t>What is the Target? </a:t>
            </a:r>
            <a:br>
              <a:rPr lang="en-US" altLang="en-US" b="1">
                <a:ea typeface="ＭＳ Ｐゴシック" panose="020B0600070205080204" pitchFamily="34" charset="-128"/>
              </a:rPr>
            </a:br>
            <a:r>
              <a:rPr lang="en-US" altLang="en-US" b="1">
                <a:ea typeface="ＭＳ Ｐゴシック" panose="020B0600070205080204" pitchFamily="34" charset="-128"/>
              </a:rPr>
              <a:t>=&gt; Find the Test Suite.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7347" name="Content Placeholder 1">
            <a:extLst>
              <a:ext uri="{FF2B5EF4-FFF2-40B4-BE49-F238E27FC236}">
                <a16:creationId xmlns:a16="http://schemas.microsoft.com/office/drawing/2014/main" id="{590FCD55-3E87-0F0F-5456-5BBBBC5662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>
                <a:ea typeface="ＭＳ Ｐゴシック" panose="020B0600070205080204" pitchFamily="34" charset="-128"/>
              </a:rPr>
              <a:t>A set of input data that will cause every statement to execute. </a:t>
            </a:r>
          </a:p>
          <a:p>
            <a:r>
              <a:rPr lang="en-US" altLang="en-US" sz="2400">
                <a:ea typeface="ＭＳ Ｐゴシック" panose="020B0600070205080204" pitchFamily="34" charset="-128"/>
              </a:rPr>
              <a:t>What are the input variables in the program?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Declarations, global variables, function parameters</a:t>
            </a:r>
          </a:p>
          <a:p>
            <a:r>
              <a:rPr lang="en-US" altLang="en-US" sz="2400">
                <a:ea typeface="ＭＳ Ｐゴシック" panose="020B0600070205080204" pitchFamily="34" charset="-128"/>
              </a:rPr>
              <a:t>What are the statements? Line numbers?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Each line of code</a:t>
            </a:r>
          </a:p>
          <a:p>
            <a:r>
              <a:rPr lang="en-US" altLang="en-US" sz="2400">
                <a:ea typeface="ＭＳ Ｐゴシック" panose="020B0600070205080204" pitchFamily="34" charset="-128"/>
              </a:rPr>
              <a:t>Attempt to choose the atomic values such as 0, 1, -1 and so.</a:t>
            </a:r>
          </a:p>
          <a:p>
            <a:r>
              <a:rPr lang="en-US" altLang="en-US" sz="2400">
                <a:ea typeface="ＭＳ Ｐゴシック" panose="020B0600070205080204" pitchFamily="34" charset="-128"/>
              </a:rPr>
              <a:t>Get each unique set of inputs as test case.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Generate the test suite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2">
            <a:extLst>
              <a:ext uri="{FF2B5EF4-FFF2-40B4-BE49-F238E27FC236}">
                <a16:creationId xmlns:a16="http://schemas.microsoft.com/office/drawing/2014/main" id="{1810455A-353C-4D1D-39FB-3F97D75A29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1259B4AB-8735-8D43-9240-40E5CAF13AE4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16</a:t>
            </a:fld>
            <a:endParaRPr lang="en-GB" altLang="en-US" sz="14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20768ACF-4E6A-9A8A-D9FF-DA64798AF8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Example: Statement Coverage Tests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59395" name="Object 3">
            <a:extLst>
              <a:ext uri="{FF2B5EF4-FFF2-40B4-BE49-F238E27FC236}">
                <a16:creationId xmlns:a16="http://schemas.microsoft.com/office/drawing/2014/main" id="{522E15E4-6A6E-E6C4-94BD-B6D5C9B33B5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4716463" y="3573463"/>
          <a:ext cx="3994150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3460750" imgH="1847850" progId="Paint.Picture">
                  <p:embed/>
                </p:oleObj>
              </mc:Choice>
              <mc:Fallback>
                <p:oleObj name="Bitmap Image" r:id="rId3" imgW="3460750" imgH="184785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573463"/>
                        <a:ext cx="3994150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Rectangle 4">
            <a:extLst>
              <a:ext uri="{FF2B5EF4-FFF2-40B4-BE49-F238E27FC236}">
                <a16:creationId xmlns:a16="http://schemas.microsoft.com/office/drawing/2014/main" id="{5CB047F8-67F5-384F-E7F9-6BD9F2B46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00200"/>
            <a:ext cx="7620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31788" indent="-331788"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1838" indent="-274638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/>
              <a:t>We blindly make one test for each statement, </a:t>
            </a:r>
          </a:p>
          <a:p>
            <a:pPr lvl="1"/>
            <a:r>
              <a:rPr lang="en-US" altLang="en-US" sz="2000"/>
              <a:t>analyzing which inputs are needed to cause the statement to be executed</a:t>
            </a:r>
            <a:endParaRPr lang="en-US" altLang="en-US" sz="2400"/>
          </a:p>
          <a:p>
            <a:pPr lvl="1"/>
            <a:r>
              <a:rPr lang="en-US" altLang="en-US" sz="2000">
                <a:solidFill>
                  <a:srgbClr val="0000FF"/>
                </a:solidFill>
              </a:rPr>
              <a:t>Create test case for each unique set of inputs</a:t>
            </a:r>
          </a:p>
          <a:p>
            <a:pPr>
              <a:buFont typeface="Wingdings" pitchFamily="2" charset="2"/>
              <a:buNone/>
            </a:pPr>
            <a:endParaRPr lang="en-US" altLang="en-US" sz="2400"/>
          </a:p>
        </p:txBody>
      </p:sp>
      <p:graphicFrame>
        <p:nvGraphicFramePr>
          <p:cNvPr id="59397" name="Object 5">
            <a:extLst>
              <a:ext uri="{FF2B5EF4-FFF2-40B4-BE49-F238E27FC236}">
                <a16:creationId xmlns:a16="http://schemas.microsoft.com/office/drawing/2014/main" id="{70AF389A-4F30-4899-684E-E92C80054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9875" y="4943475"/>
          <a:ext cx="17463" cy="1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0" imgH="0" progId="Paint.Picture">
                  <p:embed/>
                </p:oleObj>
              </mc:Choice>
              <mc:Fallback>
                <p:oleObj name="Bitmap Image" r:id="rId5" imgW="0" imgH="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75" y="4943475"/>
                        <a:ext cx="17463" cy="1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3">
            <a:extLst>
              <a:ext uri="{FF2B5EF4-FFF2-40B4-BE49-F238E27FC236}">
                <a16:creationId xmlns:a16="http://schemas.microsoft.com/office/drawing/2014/main" id="{388C17AB-5972-784E-94E1-DF18BE8B4C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213100"/>
          <a:ext cx="4151312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3435350" imgH="2622550" progId="Paint.Picture">
                  <p:embed/>
                </p:oleObj>
              </mc:Choice>
              <mc:Fallback>
                <p:oleObj name="Bitmap Image" r:id="rId6" imgW="3435350" imgH="262255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213100"/>
                        <a:ext cx="4151312" cy="316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2">
            <a:extLst>
              <a:ext uri="{FF2B5EF4-FFF2-40B4-BE49-F238E27FC236}">
                <a16:creationId xmlns:a16="http://schemas.microsoft.com/office/drawing/2014/main" id="{F97FBD0F-8D2A-4D65-09AE-4E778D0088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B0582063-52C6-EC4B-8D75-DEFC2EE1B2A4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17</a:t>
            </a:fld>
            <a:endParaRPr lang="en-GB" altLang="en-US" sz="14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9D9DD627-D570-2857-FF7A-5B807A500D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Decision Coverage Method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8EA656F9-667B-F27F-B9C5-73A121016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676400"/>
            <a:ext cx="7761288" cy="4648200"/>
          </a:xfrm>
        </p:spPr>
        <p:txBody>
          <a:bodyPr/>
          <a:lstStyle/>
          <a:p>
            <a:r>
              <a:rPr lang="en-US" altLang="en-US" sz="2400" dirty="0">
                <a:ea typeface="ＭＳ Ｐゴシック" panose="020B0600070205080204" pitchFamily="34" charset="-128"/>
              </a:rPr>
              <a:t>Causes </a:t>
            </a:r>
            <a:r>
              <a:rPr lang="en-US" altLang="en-US" sz="24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every decision</a:t>
            </a:r>
            <a:r>
              <a:rPr lang="en-US" altLang="en-US" sz="2400" dirty="0">
                <a:ea typeface="ＭＳ Ｐゴシック" panose="020B0600070205080204" pitchFamily="34" charset="-128"/>
              </a:rPr>
              <a:t> in the program to be made both ways (or </a:t>
            </a:r>
            <a:r>
              <a:rPr lang="en-US" altLang="en-US" sz="24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every possible ways for switch)</a:t>
            </a:r>
          </a:p>
          <a:p>
            <a:r>
              <a:rPr lang="en-US" altLang="en-US" sz="24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System: </a:t>
            </a:r>
            <a:r>
              <a:rPr lang="en-US" altLang="en-US" sz="2400" dirty="0">
                <a:ea typeface="ＭＳ Ｐゴシック" panose="020B0600070205080204" pitchFamily="34" charset="-128"/>
              </a:rPr>
              <a:t>Design a test case to exercise each decision in the program each way (</a:t>
            </a:r>
            <a:r>
              <a:rPr lang="en-US" altLang="en-US" sz="24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true / false</a:t>
            </a:r>
            <a:r>
              <a:rPr lang="en-US" altLang="en-US" sz="2400" dirty="0">
                <a:ea typeface="ＭＳ Ｐゴシック" panose="020B0600070205080204" pitchFamily="34" charset="-128"/>
              </a:rPr>
              <a:t>)</a:t>
            </a:r>
          </a:p>
          <a:p>
            <a:r>
              <a:rPr lang="en-US" altLang="en-US" sz="24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Completion criterion</a:t>
            </a:r>
            <a:r>
              <a:rPr lang="en-US" altLang="en-US" sz="2400" dirty="0">
                <a:ea typeface="ＭＳ Ｐゴシック" panose="020B0600070205080204" pitchFamily="34" charset="-128"/>
              </a:rPr>
              <a:t>: A test case for each side of each decision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Can be checked by instrumentation injection to track branches taken in execution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30620-4B21-13A5-1A7A-2B5E8058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89" name="Group 2">
            <a:extLst>
              <a:ext uri="{FF2B5EF4-FFF2-40B4-BE49-F238E27FC236}">
                <a16:creationId xmlns:a16="http://schemas.microsoft.com/office/drawing/2014/main" id="{FD91F0A1-896E-41CC-34FB-CBBB7A515F4B}"/>
              </a:ext>
            </a:extLst>
          </p:cNvPr>
          <p:cNvGrpSpPr>
            <a:grpSpLocks/>
          </p:cNvGrpSpPr>
          <p:nvPr/>
        </p:nvGrpSpPr>
        <p:grpSpPr bwMode="auto">
          <a:xfrm>
            <a:off x="890588" y="1576388"/>
            <a:ext cx="6705600" cy="4876800"/>
            <a:chOff x="762000" y="1752600"/>
            <a:chExt cx="6705600" cy="4876800"/>
          </a:xfrm>
        </p:grpSpPr>
        <p:pic>
          <p:nvPicPr>
            <p:cNvPr id="63504" name="Picture 3" descr="slide8">
              <a:extLst>
                <a:ext uri="{FF2B5EF4-FFF2-40B4-BE49-F238E27FC236}">
                  <a16:creationId xmlns:a16="http://schemas.microsoft.com/office/drawing/2014/main" id="{F7E9D386-9BCF-03F1-A9B4-913375F8F0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752600"/>
              <a:ext cx="6705600" cy="487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505" name="TextBox 1">
              <a:extLst>
                <a:ext uri="{FF2B5EF4-FFF2-40B4-BE49-F238E27FC236}">
                  <a16:creationId xmlns:a16="http://schemas.microsoft.com/office/drawing/2014/main" id="{F2F24379-18D9-6ED7-0415-59BD397B7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088" y="3309938"/>
              <a:ext cx="720725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alpha val="96861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63490" name="Rectangle 12">
            <a:extLst>
              <a:ext uri="{FF2B5EF4-FFF2-40B4-BE49-F238E27FC236}">
                <a16:creationId xmlns:a16="http://schemas.microsoft.com/office/drawing/2014/main" id="{4A5F688C-8F23-5397-C007-C77B85ADF7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E9BC84CD-AB88-A349-8DAC-CBA1EFC4056B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18</a:t>
            </a:fld>
            <a:endParaRPr lang="en-GB" altLang="en-US" sz="14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09980A65-98D5-F4F0-FFF3-CABB40370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Decision Coverage: What are the decisions?</a:t>
            </a:r>
          </a:p>
        </p:txBody>
      </p:sp>
      <p:sp>
        <p:nvSpPr>
          <p:cNvPr id="63495" name="Text Box 16">
            <a:extLst>
              <a:ext uri="{FF2B5EF4-FFF2-40B4-BE49-F238E27FC236}">
                <a16:creationId xmlns:a16="http://schemas.microsoft.com/office/drawing/2014/main" id="{15A76CED-62E7-71AD-DA77-84F92F02A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1910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  <p:sp>
        <p:nvSpPr>
          <p:cNvPr id="63496" name="Text Box 17">
            <a:extLst>
              <a:ext uri="{FF2B5EF4-FFF2-40B4-BE49-F238E27FC236}">
                <a16:creationId xmlns:a16="http://schemas.microsoft.com/office/drawing/2014/main" id="{F201A33F-0F5D-1DBA-796F-0830E0993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175" y="4276725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  <p:sp>
        <p:nvSpPr>
          <p:cNvPr id="63497" name="Text Box 18">
            <a:extLst>
              <a:ext uri="{FF2B5EF4-FFF2-40B4-BE49-F238E27FC236}">
                <a16:creationId xmlns:a16="http://schemas.microsoft.com/office/drawing/2014/main" id="{B71D6322-C902-895D-5474-4A297BB09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75" y="5562600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8EE93-17E6-66DE-A7B5-5FE8B9B257B0}"/>
              </a:ext>
            </a:extLst>
          </p:cNvPr>
          <p:cNvSpPr txBox="1"/>
          <p:nvPr/>
        </p:nvSpPr>
        <p:spPr>
          <a:xfrm>
            <a:off x="1150938" y="3600451"/>
            <a:ext cx="449262" cy="2204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220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89" name="Group 2">
            <a:extLst>
              <a:ext uri="{FF2B5EF4-FFF2-40B4-BE49-F238E27FC236}">
                <a16:creationId xmlns:a16="http://schemas.microsoft.com/office/drawing/2014/main" id="{53F3C784-8E82-BFD6-E0C0-F77F27C457D8}"/>
              </a:ext>
            </a:extLst>
          </p:cNvPr>
          <p:cNvGrpSpPr>
            <a:grpSpLocks/>
          </p:cNvGrpSpPr>
          <p:nvPr/>
        </p:nvGrpSpPr>
        <p:grpSpPr bwMode="auto">
          <a:xfrm>
            <a:off x="890588" y="1576388"/>
            <a:ext cx="6705600" cy="4876800"/>
            <a:chOff x="762000" y="1752600"/>
            <a:chExt cx="6705600" cy="4876800"/>
          </a:xfrm>
        </p:grpSpPr>
        <p:pic>
          <p:nvPicPr>
            <p:cNvPr id="63504" name="Picture 3" descr="slide8">
              <a:extLst>
                <a:ext uri="{FF2B5EF4-FFF2-40B4-BE49-F238E27FC236}">
                  <a16:creationId xmlns:a16="http://schemas.microsoft.com/office/drawing/2014/main" id="{9E97CA9B-8B9A-6CE5-8411-27E50FEAEE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752600"/>
              <a:ext cx="6705600" cy="487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505" name="TextBox 1">
              <a:extLst>
                <a:ext uri="{FF2B5EF4-FFF2-40B4-BE49-F238E27FC236}">
                  <a16:creationId xmlns:a16="http://schemas.microsoft.com/office/drawing/2014/main" id="{FF2D1AB3-8D10-4485-5B6A-BD1F42E38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088" y="3309938"/>
              <a:ext cx="720725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alpha val="96861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63490" name="Rectangle 12">
            <a:extLst>
              <a:ext uri="{FF2B5EF4-FFF2-40B4-BE49-F238E27FC236}">
                <a16:creationId xmlns:a16="http://schemas.microsoft.com/office/drawing/2014/main" id="{C8AC36F4-28C5-04D8-DF64-FF63D0EB0A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E9BC84CD-AB88-A349-8DAC-CBA1EFC4056B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19</a:t>
            </a:fld>
            <a:endParaRPr lang="en-GB" altLang="en-US" sz="14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93FEA753-A154-CB18-139C-717C50DFB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Decision Coverage: What are the decisions?</a:t>
            </a:r>
          </a:p>
        </p:txBody>
      </p:sp>
      <p:grpSp>
        <p:nvGrpSpPr>
          <p:cNvPr id="51219" name="Group 19">
            <a:extLst>
              <a:ext uri="{FF2B5EF4-FFF2-40B4-BE49-F238E27FC236}">
                <a16:creationId xmlns:a16="http://schemas.microsoft.com/office/drawing/2014/main" id="{82E1C663-6579-880C-CBF2-8AF1C208A3E9}"/>
              </a:ext>
            </a:extLst>
          </p:cNvPr>
          <p:cNvGrpSpPr>
            <a:grpSpLocks/>
          </p:cNvGrpSpPr>
          <p:nvPr/>
        </p:nvGrpSpPr>
        <p:grpSpPr bwMode="auto">
          <a:xfrm>
            <a:off x="1247775" y="3141663"/>
            <a:ext cx="2686050" cy="457200"/>
            <a:chOff x="786" y="2190"/>
            <a:chExt cx="1692" cy="288"/>
          </a:xfrm>
        </p:grpSpPr>
        <p:sp>
          <p:nvSpPr>
            <p:cNvPr id="63502" name="AutoShape 6">
              <a:extLst>
                <a:ext uri="{FF2B5EF4-FFF2-40B4-BE49-F238E27FC236}">
                  <a16:creationId xmlns:a16="http://schemas.microsoft.com/office/drawing/2014/main" id="{95DDA6FF-4287-7F69-DE76-1617CE51C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" y="2238"/>
              <a:ext cx="1392" cy="210"/>
            </a:xfrm>
            <a:prstGeom prst="plaque">
              <a:avLst>
                <a:gd name="adj" fmla="val 16667"/>
              </a:avLst>
            </a:prstGeom>
            <a:noFill/>
            <a:ln w="412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3503" name="WordArt 11">
              <a:extLst>
                <a:ext uri="{FF2B5EF4-FFF2-40B4-BE49-F238E27FC236}">
                  <a16:creationId xmlns:a16="http://schemas.microsoft.com/office/drawing/2014/main" id="{8913D6A2-3D06-8069-CAB4-3422EE638CE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786" y="2190"/>
              <a:ext cx="192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 dirty="0"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B2B2B2">
                      <a:alpha val="50195"/>
                    </a:srgbClr>
                  </a:solidFill>
                  <a:effectLst>
                    <a:outerShdw dist="45791" dir="2021404" algn="ctr" rotWithShape="0">
                      <a:srgbClr val="9999FF"/>
                    </a:outerShdw>
                  </a:effectLst>
                  <a:latin typeface="Arial Black" panose="020B0604020202020204" pitchFamily="34" charset="0"/>
                  <a:cs typeface="Arial Black" panose="020B0604020202020204" pitchFamily="34" charset="0"/>
                </a:rPr>
                <a:t>1</a:t>
              </a:r>
            </a:p>
          </p:txBody>
        </p:sp>
      </p:grpSp>
      <p:grpSp>
        <p:nvGrpSpPr>
          <p:cNvPr id="51220" name="Group 20">
            <a:extLst>
              <a:ext uri="{FF2B5EF4-FFF2-40B4-BE49-F238E27FC236}">
                <a16:creationId xmlns:a16="http://schemas.microsoft.com/office/drawing/2014/main" id="{0CF2F502-A518-45CB-9CD8-382166260806}"/>
              </a:ext>
            </a:extLst>
          </p:cNvPr>
          <p:cNvGrpSpPr>
            <a:grpSpLocks/>
          </p:cNvGrpSpPr>
          <p:nvPr/>
        </p:nvGrpSpPr>
        <p:grpSpPr bwMode="auto">
          <a:xfrm>
            <a:off x="1657350" y="3856038"/>
            <a:ext cx="2686050" cy="457200"/>
            <a:chOff x="1044" y="2640"/>
            <a:chExt cx="1692" cy="288"/>
          </a:xfrm>
        </p:grpSpPr>
        <p:sp>
          <p:nvSpPr>
            <p:cNvPr id="63500" name="AutoShape 12">
              <a:extLst>
                <a:ext uri="{FF2B5EF4-FFF2-40B4-BE49-F238E27FC236}">
                  <a16:creationId xmlns:a16="http://schemas.microsoft.com/office/drawing/2014/main" id="{970AFFBD-1594-5D1C-37DF-2AEF719AE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688"/>
              <a:ext cx="1392" cy="210"/>
            </a:xfrm>
            <a:prstGeom prst="plaque">
              <a:avLst>
                <a:gd name="adj" fmla="val 16667"/>
              </a:avLst>
            </a:prstGeom>
            <a:noFill/>
            <a:ln w="412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3501" name="WordArt 13">
              <a:extLst>
                <a:ext uri="{FF2B5EF4-FFF2-40B4-BE49-F238E27FC236}">
                  <a16:creationId xmlns:a16="http://schemas.microsoft.com/office/drawing/2014/main" id="{A9BF9050-01AA-9F7D-D494-3F7A474D6DD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044" y="2640"/>
              <a:ext cx="192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B2B2B2">
                      <a:alpha val="50195"/>
                    </a:srgbClr>
                  </a:solidFill>
                  <a:effectLst>
                    <a:outerShdw dist="45791" dir="2021404" algn="ctr" rotWithShape="0">
                      <a:srgbClr val="9999FF"/>
                    </a:outerShdw>
                  </a:effectLst>
                  <a:latin typeface="Arial Black" panose="020B0604020202020204" pitchFamily="34" charset="0"/>
                  <a:cs typeface="Arial Black" panose="020B0604020202020204" pitchFamily="34" charset="0"/>
                </a:rPr>
                <a:t>2</a:t>
              </a:r>
            </a:p>
          </p:txBody>
        </p:sp>
      </p:grpSp>
      <p:grpSp>
        <p:nvGrpSpPr>
          <p:cNvPr id="51221" name="Group 21">
            <a:extLst>
              <a:ext uri="{FF2B5EF4-FFF2-40B4-BE49-F238E27FC236}">
                <a16:creationId xmlns:a16="http://schemas.microsoft.com/office/drawing/2014/main" id="{973D477D-43FA-22CE-D6FD-97E9B247888D}"/>
              </a:ext>
            </a:extLst>
          </p:cNvPr>
          <p:cNvGrpSpPr>
            <a:grpSpLocks/>
          </p:cNvGrpSpPr>
          <p:nvPr/>
        </p:nvGrpSpPr>
        <p:grpSpPr bwMode="auto">
          <a:xfrm>
            <a:off x="2940050" y="5275263"/>
            <a:ext cx="2686050" cy="457200"/>
            <a:chOff x="1852" y="3534"/>
            <a:chExt cx="1692" cy="288"/>
          </a:xfrm>
        </p:grpSpPr>
        <p:sp>
          <p:nvSpPr>
            <p:cNvPr id="63498" name="AutoShape 14">
              <a:extLst>
                <a:ext uri="{FF2B5EF4-FFF2-40B4-BE49-F238E27FC236}">
                  <a16:creationId xmlns:a16="http://schemas.microsoft.com/office/drawing/2014/main" id="{4B94A606-6D7B-4DAA-29F9-68FA98251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" y="3582"/>
              <a:ext cx="1392" cy="210"/>
            </a:xfrm>
            <a:prstGeom prst="plaque">
              <a:avLst>
                <a:gd name="adj" fmla="val 16667"/>
              </a:avLst>
            </a:prstGeom>
            <a:noFill/>
            <a:ln w="412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3499" name="WordArt 15">
              <a:extLst>
                <a:ext uri="{FF2B5EF4-FFF2-40B4-BE49-F238E27FC236}">
                  <a16:creationId xmlns:a16="http://schemas.microsoft.com/office/drawing/2014/main" id="{768C0DF2-6554-C58F-D783-3772A9B3C3B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852" y="3534"/>
              <a:ext cx="192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B2B2B2">
                      <a:alpha val="50195"/>
                    </a:srgbClr>
                  </a:solidFill>
                  <a:effectLst>
                    <a:outerShdw dist="45791" dir="2021404" algn="ctr" rotWithShape="0">
                      <a:srgbClr val="9999FF"/>
                    </a:outerShdw>
                  </a:effectLst>
                  <a:latin typeface="Arial Black" panose="020B0604020202020204" pitchFamily="34" charset="0"/>
                  <a:cs typeface="Arial Black" panose="020B0604020202020204" pitchFamily="34" charset="0"/>
                </a:rPr>
                <a:t>3</a:t>
              </a:r>
            </a:p>
          </p:txBody>
        </p:sp>
      </p:grpSp>
      <p:sp>
        <p:nvSpPr>
          <p:cNvPr id="63495" name="Text Box 16">
            <a:extLst>
              <a:ext uri="{FF2B5EF4-FFF2-40B4-BE49-F238E27FC236}">
                <a16:creationId xmlns:a16="http://schemas.microsoft.com/office/drawing/2014/main" id="{55DFC4F0-BA5F-7B67-C4DB-B7F137CCD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1910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  <p:sp>
        <p:nvSpPr>
          <p:cNvPr id="63496" name="Text Box 17">
            <a:extLst>
              <a:ext uri="{FF2B5EF4-FFF2-40B4-BE49-F238E27FC236}">
                <a16:creationId xmlns:a16="http://schemas.microsoft.com/office/drawing/2014/main" id="{C25C93D2-F398-19EF-67BB-B68D2AB1C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175" y="4276725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  <p:sp>
        <p:nvSpPr>
          <p:cNvPr id="63497" name="Text Box 18">
            <a:extLst>
              <a:ext uri="{FF2B5EF4-FFF2-40B4-BE49-F238E27FC236}">
                <a16:creationId xmlns:a16="http://schemas.microsoft.com/office/drawing/2014/main" id="{E6456D7B-6C29-430F-C47C-F9526999E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75" y="5562600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Number Placeholder 7">
            <a:extLst>
              <a:ext uri="{FF2B5EF4-FFF2-40B4-BE49-F238E27FC236}">
                <a16:creationId xmlns:a16="http://schemas.microsoft.com/office/drawing/2014/main" id="{E179D11B-7AD4-4938-8E5A-52BD4025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15CBD948-E52E-904A-B050-2C3222BBD401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20</a:t>
            </a:fld>
            <a:endParaRPr lang="en-GB" altLang="en-US" sz="14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AA476164-1317-70A4-72FC-453688195E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00" b="1">
                <a:ea typeface="ＭＳ Ｐゴシック" panose="020B0600070205080204" pitchFamily="34" charset="-128"/>
              </a:rPr>
              <a:t>Example: Decision Coverage</a:t>
            </a:r>
            <a:endParaRPr lang="en-US" altLang="en-US" b="1">
              <a:ea typeface="ＭＳ Ｐゴシック" panose="020B0600070205080204" pitchFamily="34" charset="-128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36E086D6-6447-CE26-61D8-D7B583F9415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676400"/>
            <a:ext cx="7239000" cy="129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ea typeface="ＭＳ Ｐゴシック" panose="020B0600070205080204" pitchFamily="34" charset="-128"/>
              </a:rPr>
              <a:t>Decision Coverage Tests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We make one test for each side of each decision (both for true and false cases)</a:t>
            </a:r>
          </a:p>
        </p:txBody>
      </p:sp>
      <p:pic>
        <p:nvPicPr>
          <p:cNvPr id="65540" name="Picture 4" descr="slide8">
            <a:extLst>
              <a:ext uri="{FF2B5EF4-FFF2-40B4-BE49-F238E27FC236}">
                <a16:creationId xmlns:a16="http://schemas.microsoft.com/office/drawing/2014/main" id="{3DE66662-8317-4200-C16F-EBEAABFBD9F4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048000"/>
            <a:ext cx="4038600" cy="2982913"/>
          </a:xfrm>
        </p:spPr>
      </p:pic>
      <p:sp>
        <p:nvSpPr>
          <p:cNvPr id="65541" name="Rectangle 5">
            <a:extLst>
              <a:ext uri="{FF2B5EF4-FFF2-40B4-BE49-F238E27FC236}">
                <a16:creationId xmlns:a16="http://schemas.microsoft.com/office/drawing/2014/main" id="{B9F0A7E7-B739-72B0-0442-FEBF7302C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200400"/>
            <a:ext cx="3276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31788" indent="-331788"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800"/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BD12713A-09C7-F204-FB0B-AF8E2153C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81400"/>
            <a:ext cx="3276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31788" indent="-331788"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800"/>
          </a:p>
        </p:txBody>
      </p:sp>
      <p:pic>
        <p:nvPicPr>
          <p:cNvPr id="65543" name="Picture 7" descr="slide9">
            <a:extLst>
              <a:ext uri="{FF2B5EF4-FFF2-40B4-BE49-F238E27FC236}">
                <a16:creationId xmlns:a16="http://schemas.microsoft.com/office/drawing/2014/main" id="{7850D3F9-6D82-7899-44D7-DF010A44ADC3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67200" y="3048000"/>
            <a:ext cx="4419600" cy="3035300"/>
          </a:xfrm>
        </p:spPr>
      </p:pic>
      <p:sp>
        <p:nvSpPr>
          <p:cNvPr id="65544" name="Text Box 11">
            <a:extLst>
              <a:ext uri="{FF2B5EF4-FFF2-40B4-BE49-F238E27FC236}">
                <a16:creationId xmlns:a16="http://schemas.microsoft.com/office/drawing/2014/main" id="{759DF607-ECFC-B324-53BD-77B10F70B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38600"/>
            <a:ext cx="609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  <p:sp>
        <p:nvSpPr>
          <p:cNvPr id="65545" name="Text Box 15">
            <a:extLst>
              <a:ext uri="{FF2B5EF4-FFF2-40B4-BE49-F238E27FC236}">
                <a16:creationId xmlns:a16="http://schemas.microsoft.com/office/drawing/2014/main" id="{2E33C3EF-D388-DFCF-0D50-CFD34289F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343400"/>
            <a:ext cx="609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  <p:sp>
        <p:nvSpPr>
          <p:cNvPr id="65546" name="Text Box 16">
            <a:extLst>
              <a:ext uri="{FF2B5EF4-FFF2-40B4-BE49-F238E27FC236}">
                <a16:creationId xmlns:a16="http://schemas.microsoft.com/office/drawing/2014/main" id="{D668E7C3-F703-5CC4-A0C0-43F56FED0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105400"/>
            <a:ext cx="609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  <p:sp>
        <p:nvSpPr>
          <p:cNvPr id="65547" name="AutoShape 9">
            <a:extLst>
              <a:ext uri="{FF2B5EF4-FFF2-40B4-BE49-F238E27FC236}">
                <a16:creationId xmlns:a16="http://schemas.microsoft.com/office/drawing/2014/main" id="{EEC2FB59-8262-FCC6-04FE-D8B5A3678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3886200"/>
            <a:ext cx="2209800" cy="333375"/>
          </a:xfrm>
          <a:prstGeom prst="plaque">
            <a:avLst>
              <a:gd name="adj" fmla="val 16667"/>
            </a:avLst>
          </a:prstGeom>
          <a:noFill/>
          <a:ln w="412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5548" name="WordArt 10">
            <a:extLst>
              <a:ext uri="{FF2B5EF4-FFF2-40B4-BE49-F238E27FC236}">
                <a16:creationId xmlns:a16="http://schemas.microsoft.com/office/drawing/2014/main" id="{55477F8E-520C-AC34-0DC3-9BA050E2151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8600" y="3810000"/>
            <a:ext cx="3048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1</a:t>
            </a:r>
          </a:p>
        </p:txBody>
      </p:sp>
      <p:sp>
        <p:nvSpPr>
          <p:cNvPr id="65549" name="AutoShape 18">
            <a:extLst>
              <a:ext uri="{FF2B5EF4-FFF2-40B4-BE49-F238E27FC236}">
                <a16:creationId xmlns:a16="http://schemas.microsoft.com/office/drawing/2014/main" id="{E4E9C62B-2931-D5CB-A4A2-75874A96A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387850"/>
            <a:ext cx="2209800" cy="333375"/>
          </a:xfrm>
          <a:prstGeom prst="plaque">
            <a:avLst>
              <a:gd name="adj" fmla="val 16667"/>
            </a:avLst>
          </a:prstGeom>
          <a:noFill/>
          <a:ln w="412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5550" name="WordArt 19">
            <a:extLst>
              <a:ext uri="{FF2B5EF4-FFF2-40B4-BE49-F238E27FC236}">
                <a16:creationId xmlns:a16="http://schemas.microsoft.com/office/drawing/2014/main" id="{05947730-2D87-342B-4161-46969F9D999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6250" y="4311650"/>
            <a:ext cx="3048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2</a:t>
            </a:r>
          </a:p>
        </p:txBody>
      </p:sp>
      <p:sp>
        <p:nvSpPr>
          <p:cNvPr id="65551" name="AutoShape 21">
            <a:extLst>
              <a:ext uri="{FF2B5EF4-FFF2-40B4-BE49-F238E27FC236}">
                <a16:creationId xmlns:a16="http://schemas.microsoft.com/office/drawing/2014/main" id="{09FF8152-4BB7-0272-79BF-CBD8C01FD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257800"/>
            <a:ext cx="2209800" cy="333375"/>
          </a:xfrm>
          <a:prstGeom prst="plaque">
            <a:avLst>
              <a:gd name="adj" fmla="val 16667"/>
            </a:avLst>
          </a:prstGeom>
          <a:noFill/>
          <a:ln w="412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5552" name="WordArt 22">
            <a:extLst>
              <a:ext uri="{FF2B5EF4-FFF2-40B4-BE49-F238E27FC236}">
                <a16:creationId xmlns:a16="http://schemas.microsoft.com/office/drawing/2014/main" id="{4C2B92BA-13A4-EC33-7144-DC522D57FC2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95350" y="5181600"/>
            <a:ext cx="3048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3</a:t>
            </a:r>
          </a:p>
        </p:txBody>
      </p:sp>
      <p:grpSp>
        <p:nvGrpSpPr>
          <p:cNvPr id="53273" name="Group 25">
            <a:extLst>
              <a:ext uri="{FF2B5EF4-FFF2-40B4-BE49-F238E27FC236}">
                <a16:creationId xmlns:a16="http://schemas.microsoft.com/office/drawing/2014/main" id="{B380ED7E-2985-26FE-5305-353E08E8C65B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4572000"/>
            <a:ext cx="2219325" cy="0"/>
            <a:chOff x="3984" y="2880"/>
            <a:chExt cx="1398" cy="0"/>
          </a:xfrm>
        </p:grpSpPr>
        <p:sp>
          <p:nvSpPr>
            <p:cNvPr id="65557" name="Line 23">
              <a:extLst>
                <a:ext uri="{FF2B5EF4-FFF2-40B4-BE49-F238E27FC236}">
                  <a16:creationId xmlns:a16="http://schemas.microsoft.com/office/drawing/2014/main" id="{B940B3DA-0193-9EB2-E152-1853D48058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00000">
              <a:off x="3984" y="2880"/>
              <a:ext cx="13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8" name="Line 24">
              <a:extLst>
                <a:ext uri="{FF2B5EF4-FFF2-40B4-BE49-F238E27FC236}">
                  <a16:creationId xmlns:a16="http://schemas.microsoft.com/office/drawing/2014/main" id="{F63DAEA7-A9F5-70F7-F0E9-76F80A1F22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00000">
              <a:off x="3990" y="2880"/>
              <a:ext cx="13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3274" name="Group 26">
            <a:extLst>
              <a:ext uri="{FF2B5EF4-FFF2-40B4-BE49-F238E27FC236}">
                <a16:creationId xmlns:a16="http://schemas.microsoft.com/office/drawing/2014/main" id="{337DDD56-7601-5F43-95E3-91F44F6CCFA8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410200"/>
            <a:ext cx="2219325" cy="0"/>
            <a:chOff x="3984" y="2880"/>
            <a:chExt cx="1398" cy="0"/>
          </a:xfrm>
        </p:grpSpPr>
        <p:sp>
          <p:nvSpPr>
            <p:cNvPr id="65555" name="Line 27">
              <a:extLst>
                <a:ext uri="{FF2B5EF4-FFF2-40B4-BE49-F238E27FC236}">
                  <a16:creationId xmlns:a16="http://schemas.microsoft.com/office/drawing/2014/main" id="{E3A124DB-39B7-52CB-4583-9EFBE0DC03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00000">
              <a:off x="3984" y="2880"/>
              <a:ext cx="13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6" name="Line 28">
              <a:extLst>
                <a:ext uri="{FF2B5EF4-FFF2-40B4-BE49-F238E27FC236}">
                  <a16:creationId xmlns:a16="http://schemas.microsoft.com/office/drawing/2014/main" id="{2A97B1C5-9FF4-5D43-186F-0D81547511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00000">
              <a:off x="3990" y="2880"/>
              <a:ext cx="13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12">
            <a:extLst>
              <a:ext uri="{FF2B5EF4-FFF2-40B4-BE49-F238E27FC236}">
                <a16:creationId xmlns:a16="http://schemas.microsoft.com/office/drawing/2014/main" id="{EE79CDEC-1805-DA4D-D309-16E2D5D11E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FC716F6F-AFA4-7948-A097-3451ADF7C9B9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21</a:t>
            </a:fld>
            <a:endParaRPr lang="en-GB" altLang="en-US" sz="1400"/>
          </a:p>
        </p:txBody>
      </p:sp>
      <p:sp>
        <p:nvSpPr>
          <p:cNvPr id="67586" name="Rectangle 1026">
            <a:extLst>
              <a:ext uri="{FF2B5EF4-FFF2-40B4-BE49-F238E27FC236}">
                <a16:creationId xmlns:a16="http://schemas.microsoft.com/office/drawing/2014/main" id="{6C493CC8-D852-7E89-9488-591F6286B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Mutation Testing?</a:t>
            </a:r>
          </a:p>
        </p:txBody>
      </p:sp>
      <p:sp>
        <p:nvSpPr>
          <p:cNvPr id="67587" name="Rectangle 1027">
            <a:extLst>
              <a:ext uri="{FF2B5EF4-FFF2-40B4-BE49-F238E27FC236}">
                <a16:creationId xmlns:a16="http://schemas.microsoft.com/office/drawing/2014/main" id="{BE4EA865-5765-BBB4-97DB-3C6C4F89DD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752600"/>
            <a:ext cx="7761288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Another kind of widely used white box testing is </a:t>
            </a:r>
            <a:r>
              <a:rPr lang="en-US" altLang="en-US" sz="2800">
                <a:solidFill>
                  <a:srgbClr val="0000FF"/>
                </a:solidFill>
                <a:ea typeface="ＭＳ Ｐゴシック" panose="020B0600070205080204" pitchFamily="34" charset="-128"/>
              </a:rPr>
              <a:t>Mutation Testing</a:t>
            </a:r>
            <a:endParaRPr lang="en-US" altLang="en-US" sz="280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Definition and role of mutation testing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what is a mutation?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how is mutation testing used?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mutation testing methods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value mutations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decision mutations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other mutations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examples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12">
            <a:extLst>
              <a:ext uri="{FF2B5EF4-FFF2-40B4-BE49-F238E27FC236}">
                <a16:creationId xmlns:a16="http://schemas.microsoft.com/office/drawing/2014/main" id="{6A6748A6-B4E5-D541-553B-135F3C61D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C8628442-3AA2-5147-BCA4-ECD4ACA10A47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22</a:t>
            </a:fld>
            <a:endParaRPr lang="en-GB" altLang="en-US" sz="1400"/>
          </a:p>
        </p:txBody>
      </p:sp>
      <p:sp>
        <p:nvSpPr>
          <p:cNvPr id="69634" name="Rectangle 1026">
            <a:extLst>
              <a:ext uri="{FF2B5EF4-FFF2-40B4-BE49-F238E27FC236}">
                <a16:creationId xmlns:a16="http://schemas.microsoft.com/office/drawing/2014/main" id="{9C932459-D383-C70C-B7C9-DB5B7B0F5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Why do we need Mutation Testing?</a:t>
            </a:r>
          </a:p>
        </p:txBody>
      </p:sp>
      <p:sp>
        <p:nvSpPr>
          <p:cNvPr id="69635" name="Rectangle 1027">
            <a:extLst>
              <a:ext uri="{FF2B5EF4-FFF2-40B4-BE49-F238E27FC236}">
                <a16:creationId xmlns:a16="http://schemas.microsoft.com/office/drawing/2014/main" id="{798883DD-12E1-C5AD-2C46-36A7686602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Mutation testing is a white box method 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for checking the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adequacy of a test suite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As you have already discovered, 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creating a test suite can be an </a:t>
            </a:r>
            <a:r>
              <a:rPr lang="en-US" altLang="en-US" sz="2000">
                <a:solidFill>
                  <a:srgbClr val="FF3300"/>
                </a:solidFill>
                <a:ea typeface="ＭＳ Ｐゴシック" panose="020B0600070205080204" pitchFamily="34" charset="-128"/>
              </a:rPr>
              <a:t>expensive and time consuming</a:t>
            </a:r>
            <a:r>
              <a:rPr lang="en-US" altLang="en-US" sz="2000">
                <a:ea typeface="ＭＳ Ｐゴシック" panose="020B0600070205080204" pitchFamily="34" charset="-128"/>
              </a:rPr>
              <a:t> effort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No matter what test method is used,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discovering if test suites are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adequate to uncover faults </a:t>
            </a:r>
            <a:r>
              <a:rPr lang="en-US" altLang="en-US" sz="2000">
                <a:ea typeface="ＭＳ Ｐゴシック" panose="020B0600070205080204" pitchFamily="34" charset="-128"/>
              </a:rPr>
              <a:t>is itself an even more difficult task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Mutation testing offers an </a:t>
            </a:r>
            <a:r>
              <a:rPr lang="en-US" altLang="en-US" sz="2400">
                <a:solidFill>
                  <a:srgbClr val="0000FF"/>
                </a:solidFill>
                <a:ea typeface="ＭＳ Ｐゴシック" panose="020B0600070205080204" pitchFamily="34" charset="-128"/>
              </a:rPr>
              <a:t>almost completely automated way 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to check the adequacy of a set of tests</a:t>
            </a:r>
            <a:r>
              <a:rPr lang="en-US" altLang="en-US" sz="2000">
                <a:ea typeface="ＭＳ Ｐゴシック" panose="020B0600070205080204" pitchFamily="34" charset="-128"/>
              </a:rPr>
              <a:t> in uncovering faults in the software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12">
            <a:extLst>
              <a:ext uri="{FF2B5EF4-FFF2-40B4-BE49-F238E27FC236}">
                <a16:creationId xmlns:a16="http://schemas.microsoft.com/office/drawing/2014/main" id="{6800520B-DDB7-0E81-A331-DDB12054914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781800" y="6323013"/>
            <a:ext cx="18938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E777B558-6665-9045-B0B7-54F0FB3434F2}" type="slidenum">
              <a:rPr lang="en-GB" altLang="en-US" sz="1400"/>
              <a:pPr algn="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23</a:t>
            </a:fld>
            <a:endParaRPr lang="en-GB" altLang="en-US" sz="1400"/>
          </a:p>
        </p:txBody>
      </p:sp>
      <p:sp>
        <p:nvSpPr>
          <p:cNvPr id="71682" name="Rectangle 1029">
            <a:extLst>
              <a:ext uri="{FF2B5EF4-FFF2-40B4-BE49-F238E27FC236}">
                <a16:creationId xmlns:a16="http://schemas.microsoft.com/office/drawing/2014/main" id="{A648EE81-50EB-55A1-27DB-AEB3B16FBC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Adequacy of a Test Suite</a:t>
            </a:r>
          </a:p>
        </p:txBody>
      </p:sp>
      <p:pic>
        <p:nvPicPr>
          <p:cNvPr id="71683" name="Picture 1028" descr="slide12">
            <a:extLst>
              <a:ext uri="{FF2B5EF4-FFF2-40B4-BE49-F238E27FC236}">
                <a16:creationId xmlns:a16="http://schemas.microsoft.com/office/drawing/2014/main" id="{EDB7FC06-C4FA-AF87-687B-AADFDA77936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676400"/>
            <a:ext cx="7543800" cy="4872038"/>
          </a:xfrm>
        </p:spPr>
      </p:pic>
      <p:grpSp>
        <p:nvGrpSpPr>
          <p:cNvPr id="137224" name="Group 8">
            <a:extLst>
              <a:ext uri="{FF2B5EF4-FFF2-40B4-BE49-F238E27FC236}">
                <a16:creationId xmlns:a16="http://schemas.microsoft.com/office/drawing/2014/main" id="{2B4C5DE9-8849-1BCC-2C6A-C2A7B6E602F8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743200"/>
            <a:ext cx="4800600" cy="3657600"/>
            <a:chOff x="2688" y="1728"/>
            <a:chExt cx="3024" cy="2304"/>
          </a:xfrm>
        </p:grpSpPr>
        <p:sp>
          <p:nvSpPr>
            <p:cNvPr id="71685" name="Rectangle 1027">
              <a:extLst>
                <a:ext uri="{FF2B5EF4-FFF2-40B4-BE49-F238E27FC236}">
                  <a16:creationId xmlns:a16="http://schemas.microsoft.com/office/drawing/2014/main" id="{EE9D01DB-A452-2257-CEC3-EDAB3B62E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552"/>
              <a:ext cx="3024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marL="331788" indent="-331788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2400">
                  <a:solidFill>
                    <a:srgbClr val="FF0000"/>
                  </a:solidFill>
                </a:rPr>
                <a:t>Is this test suite sufficient </a:t>
              </a:r>
            </a:p>
            <a:p>
              <a:pPr>
                <a:lnSpc>
                  <a:spcPct val="80000"/>
                </a:lnSpc>
                <a:buFont typeface="Wingdings" pitchFamily="2" charset="2"/>
                <a:buNone/>
              </a:pPr>
              <a:r>
                <a:rPr lang="en-US" altLang="en-US" sz="2400">
                  <a:solidFill>
                    <a:srgbClr val="FF0000"/>
                  </a:solidFill>
                </a:rPr>
                <a:t>enough to uncover hidden faults?</a:t>
              </a:r>
            </a:p>
          </p:txBody>
        </p:sp>
        <p:sp>
          <p:nvSpPr>
            <p:cNvPr id="71686" name="AutoShape 6">
              <a:extLst>
                <a:ext uri="{FF2B5EF4-FFF2-40B4-BE49-F238E27FC236}">
                  <a16:creationId xmlns:a16="http://schemas.microsoft.com/office/drawing/2014/main" id="{9CEB75F1-6A19-7CA7-B79D-34F57A063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728"/>
              <a:ext cx="2454" cy="1556"/>
            </a:xfrm>
            <a:prstGeom prst="octagon">
              <a:avLst>
                <a:gd name="adj" fmla="val 29287"/>
              </a:avLst>
            </a:prstGeom>
            <a:noFill/>
            <a:ln w="349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687" name="AutoShape 7">
              <a:extLst>
                <a:ext uri="{FF2B5EF4-FFF2-40B4-BE49-F238E27FC236}">
                  <a16:creationId xmlns:a16="http://schemas.microsoft.com/office/drawing/2014/main" id="{A328CDC6-B991-E162-7759-98F33133C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292"/>
              <a:ext cx="240" cy="288"/>
            </a:xfrm>
            <a:prstGeom prst="upArrow">
              <a:avLst>
                <a:gd name="adj1" fmla="val 50000"/>
                <a:gd name="adj2" fmla="val 30000"/>
              </a:avLst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73E08EEC-8940-7D63-7A47-2FF4305EF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>
                <a:solidFill>
                  <a:srgbClr val="6600FF"/>
                </a:solidFill>
                <a:ea typeface="ＭＳ Ｐゴシック" panose="020B0600070205080204" pitchFamily="34" charset="-128"/>
              </a:rPr>
              <a:t>What is a Mutant?</a:t>
            </a:r>
            <a:endParaRPr lang="en-US" altLang="en-US" sz="4000">
              <a:ea typeface="ＭＳ Ｐゴシック" panose="020B0600070205080204" pitchFamily="34" charset="-128"/>
            </a:endParaRPr>
          </a:p>
        </p:txBody>
      </p:sp>
      <p:sp>
        <p:nvSpPr>
          <p:cNvPr id="73730" name="Text Box 3">
            <a:extLst>
              <a:ext uri="{FF2B5EF4-FFF2-40B4-BE49-F238E27FC236}">
                <a16:creationId xmlns:a16="http://schemas.microsoft.com/office/drawing/2014/main" id="{69B1462C-2143-5294-B50C-2239F5CD2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2476500"/>
            <a:ext cx="1655762" cy="314642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if (x==5) 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{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  a=1; 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 }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else 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{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  a=0;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}</a:t>
            </a:r>
          </a:p>
        </p:txBody>
      </p:sp>
      <p:sp>
        <p:nvSpPr>
          <p:cNvPr id="73731" name="Text Box 4">
            <a:extLst>
              <a:ext uri="{FF2B5EF4-FFF2-40B4-BE49-F238E27FC236}">
                <a16:creationId xmlns:a16="http://schemas.microsoft.com/office/drawing/2014/main" id="{92368FC8-F967-E103-AB70-1FBD7F5C9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1989138"/>
            <a:ext cx="824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Line     Original                                      Mutant        Line </a:t>
            </a:r>
          </a:p>
        </p:txBody>
      </p:sp>
      <p:sp>
        <p:nvSpPr>
          <p:cNvPr id="73732" name="Text Box 5">
            <a:extLst>
              <a:ext uri="{FF2B5EF4-FFF2-40B4-BE49-F238E27FC236}">
                <a16:creationId xmlns:a16="http://schemas.microsoft.com/office/drawing/2014/main" id="{DDA073A9-C7D0-0583-25FE-BCCC8CFDD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2509838"/>
            <a:ext cx="395288" cy="314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1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2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3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4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5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6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7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142345" name="Group 9">
            <a:extLst>
              <a:ext uri="{FF2B5EF4-FFF2-40B4-BE49-F238E27FC236}">
                <a16:creationId xmlns:a16="http://schemas.microsoft.com/office/drawing/2014/main" id="{49C5E681-A6B5-C79E-0A31-D8218AE4486C}"/>
              </a:ext>
            </a:extLst>
          </p:cNvPr>
          <p:cNvGrpSpPr>
            <a:grpSpLocks/>
          </p:cNvGrpSpPr>
          <p:nvPr/>
        </p:nvGrpSpPr>
        <p:grpSpPr bwMode="auto">
          <a:xfrm>
            <a:off x="3313113" y="2454275"/>
            <a:ext cx="4876800" cy="3176588"/>
            <a:chOff x="2087" y="1546"/>
            <a:chExt cx="3072" cy="2001"/>
          </a:xfrm>
        </p:grpSpPr>
        <p:sp>
          <p:nvSpPr>
            <p:cNvPr id="73734" name="Text Box 6">
              <a:extLst>
                <a:ext uri="{FF2B5EF4-FFF2-40B4-BE49-F238E27FC236}">
                  <a16:creationId xmlns:a16="http://schemas.microsoft.com/office/drawing/2014/main" id="{709203B6-9DB9-10FB-6D6C-7869FDCBE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" y="1546"/>
              <a:ext cx="249" cy="1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1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2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3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4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5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6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7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3735" name="Text Box 7">
              <a:extLst>
                <a:ext uri="{FF2B5EF4-FFF2-40B4-BE49-F238E27FC236}">
                  <a16:creationId xmlns:a16="http://schemas.microsoft.com/office/drawing/2014/main" id="{334AF70A-AFA5-8351-C4F9-E0F22F638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565"/>
              <a:ext cx="1043" cy="198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if (x==5) 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{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  a=</a:t>
              </a:r>
              <a:r>
                <a:rPr lang="en-US" altLang="en-US" b="1">
                  <a:solidFill>
                    <a:srgbClr val="FF3300"/>
                  </a:solidFill>
                </a:rPr>
                <a:t>0</a:t>
              </a:r>
              <a:r>
                <a:rPr lang="en-US" altLang="en-US">
                  <a:solidFill>
                    <a:schemeClr val="tx1"/>
                  </a:solidFill>
                </a:rPr>
                <a:t>; 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 }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else 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{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  a=0;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}</a:t>
              </a:r>
            </a:p>
          </p:txBody>
        </p:sp>
        <p:sp>
          <p:nvSpPr>
            <p:cNvPr id="73736" name="AutoShape 8">
              <a:extLst>
                <a:ext uri="{FF2B5EF4-FFF2-40B4-BE49-F238E27FC236}">
                  <a16:creationId xmlns:a16="http://schemas.microsoft.com/office/drawing/2014/main" id="{63574ED4-CF64-AC7F-4376-8070D084A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7" y="2325"/>
              <a:ext cx="1497" cy="387"/>
            </a:xfrm>
            <a:prstGeom prst="rightArrow">
              <a:avLst>
                <a:gd name="adj1" fmla="val 50000"/>
                <a:gd name="adj2" fmla="val 96705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3300"/>
                  </a:solidFill>
                </a:rPr>
                <a:t>Single small change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1FA964AF-416D-759F-8E87-E1D98FF04A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>
                <a:solidFill>
                  <a:srgbClr val="6600FF"/>
                </a:solidFill>
                <a:ea typeface="ＭＳ Ｐゴシック" panose="020B0600070205080204" pitchFamily="34" charset="-128"/>
              </a:rPr>
              <a:t>What is “Killed a Mutant”?</a:t>
            </a:r>
            <a:endParaRPr lang="en-US" altLang="en-US" sz="4000">
              <a:ea typeface="ＭＳ Ｐゴシック" panose="020B0600070205080204" pitchFamily="34" charset="-128"/>
            </a:endParaRPr>
          </a:p>
        </p:txBody>
      </p:sp>
      <p:sp>
        <p:nvSpPr>
          <p:cNvPr id="75778" name="Text Box 3">
            <a:extLst>
              <a:ext uri="{FF2B5EF4-FFF2-40B4-BE49-F238E27FC236}">
                <a16:creationId xmlns:a16="http://schemas.microsoft.com/office/drawing/2014/main" id="{CBE29B13-95A2-FA59-77F2-609BD1C3A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2095500"/>
            <a:ext cx="1655762" cy="314642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if (x==5) 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{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  a=1; 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 }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else 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{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  a=0;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    }</a:t>
            </a:r>
          </a:p>
        </p:txBody>
      </p:sp>
      <p:sp>
        <p:nvSpPr>
          <p:cNvPr id="75779" name="Text Box 4">
            <a:extLst>
              <a:ext uri="{FF2B5EF4-FFF2-40B4-BE49-F238E27FC236}">
                <a16:creationId xmlns:a16="http://schemas.microsoft.com/office/drawing/2014/main" id="{1CD23B09-BC90-793D-3CDB-8C89AC752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1608138"/>
            <a:ext cx="824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Line     Original                                      Mutant        Line </a:t>
            </a:r>
          </a:p>
        </p:txBody>
      </p:sp>
      <p:sp>
        <p:nvSpPr>
          <p:cNvPr id="75780" name="Text Box 5">
            <a:extLst>
              <a:ext uri="{FF2B5EF4-FFF2-40B4-BE49-F238E27FC236}">
                <a16:creationId xmlns:a16="http://schemas.microsoft.com/office/drawing/2014/main" id="{D9356F8A-6886-B264-2B99-463F0053F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2128838"/>
            <a:ext cx="395288" cy="314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1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2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3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4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5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6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7</a:t>
            </a:r>
          </a:p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75781" name="Group 6">
            <a:extLst>
              <a:ext uri="{FF2B5EF4-FFF2-40B4-BE49-F238E27FC236}">
                <a16:creationId xmlns:a16="http://schemas.microsoft.com/office/drawing/2014/main" id="{63C5A28B-797E-723A-7078-E98E3D9DE879}"/>
              </a:ext>
            </a:extLst>
          </p:cNvPr>
          <p:cNvGrpSpPr>
            <a:grpSpLocks/>
          </p:cNvGrpSpPr>
          <p:nvPr/>
        </p:nvGrpSpPr>
        <p:grpSpPr bwMode="auto">
          <a:xfrm>
            <a:off x="3313113" y="2073275"/>
            <a:ext cx="4876800" cy="3176588"/>
            <a:chOff x="2087" y="1546"/>
            <a:chExt cx="3072" cy="2001"/>
          </a:xfrm>
        </p:grpSpPr>
        <p:sp>
          <p:nvSpPr>
            <p:cNvPr id="75783" name="Text Box 7">
              <a:extLst>
                <a:ext uri="{FF2B5EF4-FFF2-40B4-BE49-F238E27FC236}">
                  <a16:creationId xmlns:a16="http://schemas.microsoft.com/office/drawing/2014/main" id="{31500132-5BFD-3E04-76CF-034ED91C7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" y="1546"/>
              <a:ext cx="249" cy="1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1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2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3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4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5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6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7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5784" name="Text Box 8">
              <a:extLst>
                <a:ext uri="{FF2B5EF4-FFF2-40B4-BE49-F238E27FC236}">
                  <a16:creationId xmlns:a16="http://schemas.microsoft.com/office/drawing/2014/main" id="{72E34411-FEE5-A10B-4BF1-6E71E989B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565"/>
              <a:ext cx="1043" cy="198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if (x==5) 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{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  a=</a:t>
              </a:r>
              <a:r>
                <a:rPr lang="en-US" altLang="en-US" b="1">
                  <a:solidFill>
                    <a:srgbClr val="FF3300"/>
                  </a:solidFill>
                </a:rPr>
                <a:t>0</a:t>
              </a:r>
              <a:r>
                <a:rPr lang="en-US" altLang="en-US">
                  <a:solidFill>
                    <a:schemeClr val="tx1"/>
                  </a:solidFill>
                </a:rPr>
                <a:t>; 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 }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else 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{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  a=0;</a:t>
              </a:r>
            </a:p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    }</a:t>
              </a:r>
            </a:p>
          </p:txBody>
        </p:sp>
        <p:sp>
          <p:nvSpPr>
            <p:cNvPr id="75785" name="AutoShape 9">
              <a:extLst>
                <a:ext uri="{FF2B5EF4-FFF2-40B4-BE49-F238E27FC236}">
                  <a16:creationId xmlns:a16="http://schemas.microsoft.com/office/drawing/2014/main" id="{4738B937-48F7-8C86-D043-F523D153C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7" y="2325"/>
              <a:ext cx="1497" cy="387"/>
            </a:xfrm>
            <a:prstGeom prst="rightArrow">
              <a:avLst>
                <a:gd name="adj1" fmla="val 50000"/>
                <a:gd name="adj2" fmla="val 96705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3300"/>
                  </a:solidFill>
                </a:rPr>
                <a:t>Single small change</a:t>
              </a:r>
            </a:p>
          </p:txBody>
        </p:sp>
      </p:grpSp>
      <p:sp>
        <p:nvSpPr>
          <p:cNvPr id="75782" name="Rectangle 1027">
            <a:extLst>
              <a:ext uri="{FF2B5EF4-FFF2-40B4-BE49-F238E27FC236}">
                <a16:creationId xmlns:a16="http://schemas.microsoft.com/office/drawing/2014/main" id="{6CBA2936-3687-4911-B249-C10209CF5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410200"/>
            <a:ext cx="77612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31788" indent="-331788"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1838" indent="-274638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/>
              <a:t>Do they have the same set of output for the same set of input?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Yes, </a:t>
            </a:r>
            <a:r>
              <a:rPr lang="en-US" altLang="en-US" sz="2000">
                <a:solidFill>
                  <a:schemeClr val="accent2"/>
                </a:solidFill>
              </a:rPr>
              <a:t>NOT killed</a:t>
            </a:r>
            <a:r>
              <a:rPr lang="en-US" altLang="en-US" sz="2000"/>
              <a:t>.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No, </a:t>
            </a:r>
            <a:r>
              <a:rPr lang="en-US" altLang="en-US" sz="2000" b="1">
                <a:solidFill>
                  <a:srgbClr val="FF0000"/>
                </a:solidFill>
              </a:rPr>
              <a:t>KILLED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C840F9-E11D-B105-95BB-338FEB611FCA}"/>
              </a:ext>
            </a:extLst>
          </p:cNvPr>
          <p:cNvGrpSpPr>
            <a:grpSpLocks/>
          </p:cNvGrpSpPr>
          <p:nvPr/>
        </p:nvGrpSpPr>
        <p:grpSpPr bwMode="auto">
          <a:xfrm>
            <a:off x="2752725" y="2171700"/>
            <a:ext cx="2624138" cy="2012950"/>
            <a:chOff x="0" y="0"/>
            <a:chExt cx="2351" cy="1802"/>
          </a:xfrm>
        </p:grpSpPr>
        <p:sp>
          <p:nvSpPr>
            <p:cNvPr id="77865" name="Line 2">
              <a:extLst>
                <a:ext uri="{FF2B5EF4-FFF2-40B4-BE49-F238E27FC236}">
                  <a16:creationId xmlns:a16="http://schemas.microsoft.com/office/drawing/2014/main" id="{AFCF77E2-E1E4-CF44-027C-9C33F28C7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73" cy="18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77866" name="Rectangle 3">
              <a:extLst>
                <a:ext uri="{FF2B5EF4-FFF2-40B4-BE49-F238E27FC236}">
                  <a16:creationId xmlns:a16="http://schemas.microsoft.com/office/drawing/2014/main" id="{9E6848C2-1EB2-E8FA-10D5-038261DD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297"/>
              <a:ext cx="153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642938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642938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642938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642938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642938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74140F"/>
                  </a:solidFill>
                  <a:latin typeface="Gill Sans" panose="020B0502020104020203" pitchFamily="34" charset="-79"/>
                  <a:sym typeface="Gill Sans" panose="020B0502020104020203" pitchFamily="34" charset="-79"/>
                </a:rPr>
                <a:t>If program is not error-free, fix it</a:t>
              </a:r>
            </a:p>
          </p:txBody>
        </p:sp>
      </p:grpSp>
      <p:grpSp>
        <p:nvGrpSpPr>
          <p:cNvPr id="3" name="Group 4">
            <a:extLst>
              <a:ext uri="{FF2B5EF4-FFF2-40B4-BE49-F238E27FC236}">
                <a16:creationId xmlns:a16="http://schemas.microsoft.com/office/drawing/2014/main" id="{0078C00C-5AE4-9CCD-57E3-A479D137F4D0}"/>
              </a:ext>
            </a:extLst>
          </p:cNvPr>
          <p:cNvGrpSpPr>
            <a:grpSpLocks/>
          </p:cNvGrpSpPr>
          <p:nvPr/>
        </p:nvGrpSpPr>
        <p:grpSpPr bwMode="auto">
          <a:xfrm>
            <a:off x="2205038" y="4351338"/>
            <a:ext cx="2225675" cy="885825"/>
            <a:chOff x="0" y="0"/>
            <a:chExt cx="1994" cy="793"/>
          </a:xfrm>
        </p:grpSpPr>
        <p:sp>
          <p:nvSpPr>
            <p:cNvPr id="77861" name="Line 5">
              <a:extLst>
                <a:ext uri="{FF2B5EF4-FFF2-40B4-BE49-F238E27FC236}">
                  <a16:creationId xmlns:a16="http://schemas.microsoft.com/office/drawing/2014/main" id="{166BF893-F6DE-504E-B787-517911297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149"/>
              <a:ext cx="1034" cy="1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77862" name="Line 6">
              <a:extLst>
                <a:ext uri="{FF2B5EF4-FFF2-40B4-BE49-F238E27FC236}">
                  <a16:creationId xmlns:a16="http://schemas.microsoft.com/office/drawing/2014/main" id="{D0064B0F-4884-7366-D7C8-A28C381E3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2" y="149"/>
              <a:ext cx="1482" cy="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77863" name="Line 7">
              <a:extLst>
                <a:ext uri="{FF2B5EF4-FFF2-40B4-BE49-F238E27FC236}">
                  <a16:creationId xmlns:a16="http://schemas.microsoft.com/office/drawing/2014/main" id="{F7D6BB4D-B5E5-35D8-5242-C49717B145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0" y="0"/>
              <a:ext cx="1994" cy="1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77864" name="Rectangle 8">
              <a:extLst>
                <a:ext uri="{FF2B5EF4-FFF2-40B4-BE49-F238E27FC236}">
                  <a16:creationId xmlns:a16="http://schemas.microsoft.com/office/drawing/2014/main" id="{68DA4B5F-EB11-76CC-6CEB-388502B6C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" y="249"/>
              <a:ext cx="78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642938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642938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642938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642938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642938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3A7B1E"/>
                  </a:solidFill>
                  <a:latin typeface="Gill Sans" panose="020B0502020104020203" pitchFamily="34" charset="-79"/>
                  <a:sym typeface="Gill Sans" panose="020B0502020104020203" pitchFamily="34" charset="-79"/>
                </a:rPr>
                <a:t>Test Mutants</a:t>
              </a:r>
            </a:p>
          </p:txBody>
        </p:sp>
      </p:grpSp>
      <p:sp>
        <p:nvSpPr>
          <p:cNvPr id="26634" name="Rectangle 10">
            <a:extLst>
              <a:ext uri="{FF2B5EF4-FFF2-40B4-BE49-F238E27FC236}">
                <a16:creationId xmlns:a16="http://schemas.microsoft.com/office/drawing/2014/main" id="{5BBACB8E-616C-DD50-5692-54A28BFBFA13}"/>
              </a:ext>
            </a:extLst>
          </p:cNvPr>
          <p:cNvSpPr>
            <a:spLocks/>
          </p:cNvSpPr>
          <p:nvPr/>
        </p:nvSpPr>
        <p:spPr bwMode="auto">
          <a:xfrm>
            <a:off x="1179513" y="1866900"/>
            <a:ext cx="1597025" cy="722313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defTabSz="642938"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642938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642938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642938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642938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642938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642938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642938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642938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chemeClr val="tx1"/>
                </a:solidFill>
                <a:latin typeface="Gill Sans" panose="020B0502020104020203" pitchFamily="34" charset="-79"/>
                <a:sym typeface="Gill Sans" panose="020B0502020104020203" pitchFamily="34" charset="-79"/>
              </a:rPr>
              <a:t>Program</a:t>
            </a:r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26EE255D-0599-6EF0-00FC-A909007BB088}"/>
              </a:ext>
            </a:extLst>
          </p:cNvPr>
          <p:cNvSpPr>
            <a:spLocks/>
          </p:cNvSpPr>
          <p:nvPr/>
        </p:nvSpPr>
        <p:spPr bwMode="auto">
          <a:xfrm>
            <a:off x="4419600" y="4160838"/>
            <a:ext cx="1598613" cy="723900"/>
          </a:xfrm>
          <a:prstGeom prst="rect">
            <a:avLst/>
          </a:prstGeom>
          <a:solidFill>
            <a:srgbClr val="FF8A8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defTabSz="642938"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642938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642938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642938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642938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642938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642938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642938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642938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chemeClr val="tx1"/>
                </a:solidFill>
                <a:latin typeface="Gill Sans" panose="020B0502020104020203" pitchFamily="34" charset="-79"/>
                <a:sym typeface="Gill Sans" panose="020B0502020104020203" pitchFamily="34" charset="-79"/>
              </a:rPr>
              <a:t>Test Suite</a:t>
            </a:r>
          </a:p>
        </p:txBody>
      </p:sp>
      <p:grpSp>
        <p:nvGrpSpPr>
          <p:cNvPr id="77829" name="Group 46">
            <a:extLst>
              <a:ext uri="{FF2B5EF4-FFF2-40B4-BE49-F238E27FC236}">
                <a16:creationId xmlns:a16="http://schemas.microsoft.com/office/drawing/2014/main" id="{FAC867FE-01D5-FA5C-9F83-92AC897D6C3A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2582863"/>
            <a:ext cx="1843088" cy="1577975"/>
            <a:chOff x="1638" y="1627"/>
            <a:chExt cx="1161" cy="994"/>
          </a:xfrm>
        </p:grpSpPr>
        <p:sp>
          <p:nvSpPr>
            <p:cNvPr id="77859" name="Line 17">
              <a:extLst>
                <a:ext uri="{FF2B5EF4-FFF2-40B4-BE49-F238E27FC236}">
                  <a16:creationId xmlns:a16="http://schemas.microsoft.com/office/drawing/2014/main" id="{8F564BE0-4482-AA41-C5E5-5B28258944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745" y="1627"/>
              <a:ext cx="1054" cy="9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77860" name="Rectangle 18">
              <a:extLst>
                <a:ext uri="{FF2B5EF4-FFF2-40B4-BE49-F238E27FC236}">
                  <a16:creationId xmlns:a16="http://schemas.microsoft.com/office/drawing/2014/main" id="{51E1ACD0-24C0-695C-37C8-C65508F1B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977"/>
              <a:ext cx="816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642938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642938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642938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642938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642938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173548"/>
                  </a:solidFill>
                  <a:latin typeface="Gill Sans" panose="020B0502020104020203" pitchFamily="34" charset="-79"/>
                  <a:sym typeface="Gill Sans" panose="020B0502020104020203" pitchFamily="34" charset="-79"/>
                </a:rPr>
                <a:t>Test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173548"/>
                  </a:solidFill>
                  <a:latin typeface="Gill Sans" panose="020B0502020104020203" pitchFamily="34" charset="-79"/>
                  <a:sym typeface="Gill Sans" panose="020B0502020104020203" pitchFamily="34" charset="-79"/>
                </a:rPr>
                <a:t>Program</a:t>
              </a:r>
            </a:p>
          </p:txBody>
        </p:sp>
      </p:grpSp>
      <p:grpSp>
        <p:nvGrpSpPr>
          <p:cNvPr id="135211" name="Group 43">
            <a:extLst>
              <a:ext uri="{FF2B5EF4-FFF2-40B4-BE49-F238E27FC236}">
                <a16:creationId xmlns:a16="http://schemas.microsoft.com/office/drawing/2014/main" id="{7C595771-09E5-9785-36B8-1A1E1C71B8F3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2600325"/>
            <a:ext cx="2635250" cy="2409825"/>
            <a:chOff x="416" y="1638"/>
            <a:chExt cx="1660" cy="1518"/>
          </a:xfrm>
        </p:grpSpPr>
        <p:grpSp>
          <p:nvGrpSpPr>
            <p:cNvPr id="77850" name="Group 11">
              <a:extLst>
                <a:ext uri="{FF2B5EF4-FFF2-40B4-BE49-F238E27FC236}">
                  <a16:creationId xmlns:a16="http://schemas.microsoft.com/office/drawing/2014/main" id="{D5BFA725-C091-0D36-21FA-028479023E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" y="2548"/>
              <a:ext cx="1660" cy="608"/>
              <a:chOff x="0" y="0"/>
              <a:chExt cx="2360" cy="864"/>
            </a:xfrm>
          </p:grpSpPr>
          <p:sp>
            <p:nvSpPr>
              <p:cNvPr id="77856" name="Rectangle 12">
                <a:extLst>
                  <a:ext uri="{FF2B5EF4-FFF2-40B4-BE49-F238E27FC236}">
                    <a16:creationId xmlns:a16="http://schemas.microsoft.com/office/drawing/2014/main" id="{0F959ADD-692E-5C7F-876F-612DEA825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1432" cy="648"/>
              </a:xfrm>
              <a:prstGeom prst="rect">
                <a:avLst/>
              </a:prstGeom>
              <a:solidFill>
                <a:srgbClr val="989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>
                <a:lvl1pPr defTabSz="642938">
                  <a:spcBef>
                    <a:spcPts val="800"/>
                  </a:spcBef>
                  <a:buClr>
                    <a:srgbClr val="3333CC"/>
                  </a:buClr>
                  <a:buSzPct val="60000"/>
                  <a:buFont typeface="Wingdings" pitchFamily="2" charset="2"/>
                  <a:buChar char="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642938">
                  <a:spcBef>
                    <a:spcPts val="700"/>
                  </a:spcBef>
                  <a:buClr>
                    <a:srgbClr val="FF0000"/>
                  </a:buClr>
                  <a:buSzPct val="55000"/>
                  <a:buFont typeface="Wingdings" pitchFamily="2" charset="2"/>
                  <a:buChar char="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642938">
                  <a:spcBef>
                    <a:spcPts val="600"/>
                  </a:spcBef>
                  <a:buClr>
                    <a:srgbClr val="3333CC"/>
                  </a:buClr>
                  <a:buSzPct val="50000"/>
                  <a:buFont typeface="Wingdings" pitchFamily="2" charset="2"/>
                  <a:buChar char="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642938">
                  <a:spcBef>
                    <a:spcPts val="500"/>
                  </a:spcBef>
                  <a:buClr>
                    <a:srgbClr val="FFCF01"/>
                  </a:buClr>
                  <a:buSzPct val="55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642938">
                  <a:spcBef>
                    <a:spcPts val="500"/>
                  </a:spcBef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800">
                    <a:solidFill>
                      <a:schemeClr val="tx1"/>
                    </a:solidFill>
                    <a:latin typeface="Gill Sans" panose="020B0502020104020203" pitchFamily="34" charset="-79"/>
                    <a:sym typeface="Gill Sans" panose="020B0502020104020203" pitchFamily="34" charset="-79"/>
                  </a:rPr>
                  <a:t>Mutation</a:t>
                </a:r>
              </a:p>
            </p:txBody>
          </p:sp>
          <p:sp>
            <p:nvSpPr>
              <p:cNvPr id="77857" name="Rectangle 13">
                <a:extLst>
                  <a:ext uri="{FF2B5EF4-FFF2-40B4-BE49-F238E27FC236}">
                    <a16:creationId xmlns:a16="http://schemas.microsoft.com/office/drawing/2014/main" id="{4E93F8C6-4AA7-0FDA-D1E4-DA17B7881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" y="104"/>
                <a:ext cx="1432" cy="648"/>
              </a:xfrm>
              <a:prstGeom prst="rect">
                <a:avLst/>
              </a:prstGeom>
              <a:solidFill>
                <a:srgbClr val="96FFA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>
                <a:lvl1pPr defTabSz="642938">
                  <a:spcBef>
                    <a:spcPts val="800"/>
                  </a:spcBef>
                  <a:buClr>
                    <a:srgbClr val="3333CC"/>
                  </a:buClr>
                  <a:buSzPct val="60000"/>
                  <a:buFont typeface="Wingdings" pitchFamily="2" charset="2"/>
                  <a:buChar char="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642938">
                  <a:spcBef>
                    <a:spcPts val="700"/>
                  </a:spcBef>
                  <a:buClr>
                    <a:srgbClr val="FF0000"/>
                  </a:buClr>
                  <a:buSzPct val="55000"/>
                  <a:buFont typeface="Wingdings" pitchFamily="2" charset="2"/>
                  <a:buChar char="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642938">
                  <a:spcBef>
                    <a:spcPts val="600"/>
                  </a:spcBef>
                  <a:buClr>
                    <a:srgbClr val="3333CC"/>
                  </a:buClr>
                  <a:buSzPct val="50000"/>
                  <a:buFont typeface="Wingdings" pitchFamily="2" charset="2"/>
                  <a:buChar char="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642938">
                  <a:spcBef>
                    <a:spcPts val="500"/>
                  </a:spcBef>
                  <a:buClr>
                    <a:srgbClr val="FFCF01"/>
                  </a:buClr>
                  <a:buSzPct val="55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642938">
                  <a:spcBef>
                    <a:spcPts val="500"/>
                  </a:spcBef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800">
                    <a:solidFill>
                      <a:schemeClr val="tx1"/>
                    </a:solidFill>
                    <a:latin typeface="Gill Sans" panose="020B0502020104020203" pitchFamily="34" charset="-79"/>
                    <a:sym typeface="Gill Sans" panose="020B0502020104020203" pitchFamily="34" charset="-79"/>
                  </a:rPr>
                  <a:t>Mutation</a:t>
                </a:r>
              </a:p>
            </p:txBody>
          </p:sp>
          <p:sp>
            <p:nvSpPr>
              <p:cNvPr id="77858" name="Rectangle 14">
                <a:extLst>
                  <a:ext uri="{FF2B5EF4-FFF2-40B4-BE49-F238E27FC236}">
                    <a16:creationId xmlns:a16="http://schemas.microsoft.com/office/drawing/2014/main" id="{05C2009E-7951-6A74-C7FB-A3211BCA23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8" y="216"/>
                <a:ext cx="1432" cy="648"/>
              </a:xfrm>
              <a:prstGeom prst="rect">
                <a:avLst/>
              </a:prstGeom>
              <a:solidFill>
                <a:srgbClr val="9FFF8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>
                <a:lvl1pPr defTabSz="642938">
                  <a:spcBef>
                    <a:spcPts val="800"/>
                  </a:spcBef>
                  <a:buClr>
                    <a:srgbClr val="3333CC"/>
                  </a:buClr>
                  <a:buSzPct val="60000"/>
                  <a:buFont typeface="Wingdings" pitchFamily="2" charset="2"/>
                  <a:buChar char="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642938">
                  <a:spcBef>
                    <a:spcPts val="700"/>
                  </a:spcBef>
                  <a:buClr>
                    <a:srgbClr val="FF0000"/>
                  </a:buClr>
                  <a:buSzPct val="55000"/>
                  <a:buFont typeface="Wingdings" pitchFamily="2" charset="2"/>
                  <a:buChar char="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642938">
                  <a:spcBef>
                    <a:spcPts val="600"/>
                  </a:spcBef>
                  <a:buClr>
                    <a:srgbClr val="3333CC"/>
                  </a:buClr>
                  <a:buSzPct val="50000"/>
                  <a:buFont typeface="Wingdings" pitchFamily="2" charset="2"/>
                  <a:buChar char="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642938">
                  <a:spcBef>
                    <a:spcPts val="500"/>
                  </a:spcBef>
                  <a:buClr>
                    <a:srgbClr val="FFCF01"/>
                  </a:buClr>
                  <a:buSzPct val="55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642938">
                  <a:spcBef>
                    <a:spcPts val="500"/>
                  </a:spcBef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800">
                    <a:solidFill>
                      <a:schemeClr val="tx1"/>
                    </a:solidFill>
                    <a:latin typeface="Gill Sans" panose="020B0502020104020203" pitchFamily="34" charset="-79"/>
                    <a:sym typeface="Gill Sans" panose="020B0502020104020203" pitchFamily="34" charset="-79"/>
                  </a:rPr>
                  <a:t>Mutation</a:t>
                </a:r>
              </a:p>
            </p:txBody>
          </p:sp>
        </p:grpSp>
        <p:grpSp>
          <p:nvGrpSpPr>
            <p:cNvPr id="77851" name="Group 19">
              <a:extLst>
                <a:ext uri="{FF2B5EF4-FFF2-40B4-BE49-F238E27FC236}">
                  <a16:creationId xmlns:a16="http://schemas.microsoft.com/office/drawing/2014/main" id="{E20DEC49-9C1A-66A6-D5B3-D072945578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" y="1638"/>
              <a:ext cx="1101" cy="1066"/>
              <a:chOff x="0" y="0"/>
              <a:chExt cx="1566" cy="1514"/>
            </a:xfrm>
          </p:grpSpPr>
          <p:sp>
            <p:nvSpPr>
              <p:cNvPr id="77852" name="Line 20">
                <a:extLst>
                  <a:ext uri="{FF2B5EF4-FFF2-40B4-BE49-F238E27FC236}">
                    <a16:creationId xmlns:a16="http://schemas.microsoft.com/office/drawing/2014/main" id="{9BC1E728-9C7A-7BE4-BD2F-F1FC499C58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160" y="0"/>
                <a:ext cx="406" cy="151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 anchor="ctr"/>
              <a:lstStyle/>
              <a:p>
                <a:endParaRPr lang="en-US"/>
              </a:p>
            </p:txBody>
          </p:sp>
          <p:sp>
            <p:nvSpPr>
              <p:cNvPr id="77853" name="Line 21">
                <a:extLst>
                  <a:ext uri="{FF2B5EF4-FFF2-40B4-BE49-F238E27FC236}">
                    <a16:creationId xmlns:a16="http://schemas.microsoft.com/office/drawing/2014/main" id="{D25C7454-95C7-5ACC-8080-2D3F6E85C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096" y="0"/>
                <a:ext cx="64" cy="14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 anchor="ctr"/>
              <a:lstStyle/>
              <a:p>
                <a:endParaRPr lang="en-US"/>
              </a:p>
            </p:txBody>
          </p:sp>
          <p:sp>
            <p:nvSpPr>
              <p:cNvPr id="77854" name="Line 22">
                <a:extLst>
                  <a:ext uri="{FF2B5EF4-FFF2-40B4-BE49-F238E27FC236}">
                    <a16:creationId xmlns:a16="http://schemas.microsoft.com/office/drawing/2014/main" id="{B30813F3-64FD-B46C-2DBF-AE1A1467C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584" y="0"/>
                <a:ext cx="576" cy="13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 anchor="ctr"/>
              <a:lstStyle/>
              <a:p>
                <a:endParaRPr lang="en-US"/>
              </a:p>
            </p:txBody>
          </p:sp>
          <p:sp>
            <p:nvSpPr>
              <p:cNvPr id="77855" name="Rectangle 23">
                <a:extLst>
                  <a:ext uri="{FF2B5EF4-FFF2-40B4-BE49-F238E27FC236}">
                    <a16:creationId xmlns:a16="http://schemas.microsoft.com/office/drawing/2014/main" id="{965B3F8A-1A43-D631-3DAC-199AFD6DC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49"/>
                <a:ext cx="784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642938">
                  <a:spcBef>
                    <a:spcPts val="800"/>
                  </a:spcBef>
                  <a:buClr>
                    <a:srgbClr val="3333CC"/>
                  </a:buClr>
                  <a:buSzPct val="60000"/>
                  <a:buFont typeface="Wingdings" pitchFamily="2" charset="2"/>
                  <a:buChar char="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642938">
                  <a:spcBef>
                    <a:spcPts val="700"/>
                  </a:spcBef>
                  <a:buClr>
                    <a:srgbClr val="FF0000"/>
                  </a:buClr>
                  <a:buSzPct val="55000"/>
                  <a:buFont typeface="Wingdings" pitchFamily="2" charset="2"/>
                  <a:buChar char="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642938">
                  <a:spcBef>
                    <a:spcPts val="600"/>
                  </a:spcBef>
                  <a:buClr>
                    <a:srgbClr val="3333CC"/>
                  </a:buClr>
                  <a:buSzPct val="50000"/>
                  <a:buFont typeface="Wingdings" pitchFamily="2" charset="2"/>
                  <a:buChar char="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642938">
                  <a:spcBef>
                    <a:spcPts val="500"/>
                  </a:spcBef>
                  <a:buClr>
                    <a:srgbClr val="FFCF01"/>
                  </a:buClr>
                  <a:buSzPct val="55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642938">
                  <a:spcBef>
                    <a:spcPts val="500"/>
                  </a:spcBef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357343"/>
                    </a:solidFill>
                    <a:latin typeface="Gill Sans" panose="020B0502020104020203" pitchFamily="34" charset="-79"/>
                    <a:sym typeface="Gill Sans" panose="020B0502020104020203" pitchFamily="34" charset="-79"/>
                  </a:rPr>
                  <a:t>Create Mutants</a:t>
                </a:r>
              </a:p>
            </p:txBody>
          </p:sp>
        </p:grpSp>
      </p:grpSp>
      <p:grpSp>
        <p:nvGrpSpPr>
          <p:cNvPr id="8" name="Group 27">
            <a:extLst>
              <a:ext uri="{FF2B5EF4-FFF2-40B4-BE49-F238E27FC236}">
                <a16:creationId xmlns:a16="http://schemas.microsoft.com/office/drawing/2014/main" id="{2F594EA0-9C0B-3DC4-1892-D7412057B85E}"/>
              </a:ext>
            </a:extLst>
          </p:cNvPr>
          <p:cNvGrpSpPr>
            <a:grpSpLocks/>
          </p:cNvGrpSpPr>
          <p:nvPr/>
        </p:nvGrpSpPr>
        <p:grpSpPr bwMode="auto">
          <a:xfrm>
            <a:off x="6018213" y="5537200"/>
            <a:ext cx="2554287" cy="722313"/>
            <a:chOff x="0" y="0"/>
            <a:chExt cx="2288" cy="648"/>
          </a:xfrm>
        </p:grpSpPr>
        <p:sp>
          <p:nvSpPr>
            <p:cNvPr id="77847" name="Rectangle 28">
              <a:extLst>
                <a:ext uri="{FF2B5EF4-FFF2-40B4-BE49-F238E27FC236}">
                  <a16:creationId xmlns:a16="http://schemas.microsoft.com/office/drawing/2014/main" id="{3E91D29B-C15C-B444-C5ED-D19096062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0"/>
              <a:ext cx="1432" cy="648"/>
            </a:xfrm>
            <a:prstGeom prst="rect">
              <a:avLst/>
            </a:prstGeom>
            <a:solidFill>
              <a:srgbClr val="9FA1A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defTabSz="642938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642938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642938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642938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642938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>
                  <a:solidFill>
                    <a:schemeClr val="tx1"/>
                  </a:solidFill>
                  <a:latin typeface="Gill Sans" panose="020B0502020104020203" pitchFamily="34" charset="-79"/>
                  <a:sym typeface="Gill Sans" panose="020B0502020104020203" pitchFamily="34" charset="-79"/>
                </a:rPr>
                <a:t>Test Complete</a:t>
              </a:r>
            </a:p>
          </p:txBody>
        </p:sp>
        <p:sp>
          <p:nvSpPr>
            <p:cNvPr id="77848" name="Line 29">
              <a:extLst>
                <a:ext uri="{FF2B5EF4-FFF2-40B4-BE49-F238E27FC236}">
                  <a16:creationId xmlns:a16="http://schemas.microsoft.com/office/drawing/2014/main" id="{9DB8C86D-6000-5804-5B27-AD14B6B70F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317"/>
              <a:ext cx="8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77849" name="Rectangle 30">
              <a:extLst>
                <a:ext uri="{FF2B5EF4-FFF2-40B4-BE49-F238E27FC236}">
                  <a16:creationId xmlns:a16="http://schemas.microsoft.com/office/drawing/2014/main" id="{CFCC9587-C8F0-BF12-21A5-108D998D0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" y="300"/>
              <a:ext cx="44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642938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642938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642938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642938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642938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53305B"/>
                  </a:solidFill>
                  <a:latin typeface="Gill Sans" panose="020B0502020104020203" pitchFamily="34" charset="-79"/>
                  <a:sym typeface="Gill Sans" panose="020B0502020104020203" pitchFamily="34" charset="-79"/>
                </a:rPr>
                <a:t>No</a:t>
              </a:r>
            </a:p>
          </p:txBody>
        </p:sp>
      </p:grpSp>
      <p:grpSp>
        <p:nvGrpSpPr>
          <p:cNvPr id="9" name="Group 31">
            <a:extLst>
              <a:ext uri="{FF2B5EF4-FFF2-40B4-BE49-F238E27FC236}">
                <a16:creationId xmlns:a16="http://schemas.microsoft.com/office/drawing/2014/main" id="{4AFB842E-8F10-5E89-9B95-3FCF01E619AA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4905375"/>
            <a:ext cx="1598613" cy="1352550"/>
            <a:chOff x="0" y="0"/>
            <a:chExt cx="1432" cy="1213"/>
          </a:xfrm>
        </p:grpSpPr>
        <p:sp>
          <p:nvSpPr>
            <p:cNvPr id="77845" name="Rectangle 32">
              <a:extLst>
                <a:ext uri="{FF2B5EF4-FFF2-40B4-BE49-F238E27FC236}">
                  <a16:creationId xmlns:a16="http://schemas.microsoft.com/office/drawing/2014/main" id="{FD217754-F957-9F2D-BCB6-6DDC4BA64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565"/>
              <a:ext cx="1432" cy="648"/>
            </a:xfrm>
            <a:prstGeom prst="rect">
              <a:avLst/>
            </a:prstGeom>
            <a:solidFill>
              <a:srgbClr val="FE87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defTabSz="642938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642938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642938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642938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642938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>
                  <a:solidFill>
                    <a:schemeClr val="tx1"/>
                  </a:solidFill>
                  <a:latin typeface="Gill Sans" panose="020B0502020104020203" pitchFamily="34" charset="-79"/>
                  <a:sym typeface="Gill Sans" panose="020B0502020104020203" pitchFamily="34" charset="-79"/>
                </a:rPr>
                <a:t>Any Live Mutants?</a:t>
              </a:r>
            </a:p>
          </p:txBody>
        </p:sp>
        <p:sp>
          <p:nvSpPr>
            <p:cNvPr id="77846" name="Line 33">
              <a:extLst>
                <a:ext uri="{FF2B5EF4-FFF2-40B4-BE49-F238E27FC236}">
                  <a16:creationId xmlns:a16="http://schemas.microsoft.com/office/drawing/2014/main" id="{5D16BA6A-F3B0-F44C-5C91-83D2A72270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12" y="0"/>
              <a:ext cx="0" cy="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</p:grpSp>
      <p:grpSp>
        <p:nvGrpSpPr>
          <p:cNvPr id="10" name="Group 35">
            <a:extLst>
              <a:ext uri="{FF2B5EF4-FFF2-40B4-BE49-F238E27FC236}">
                <a16:creationId xmlns:a16="http://schemas.microsoft.com/office/drawing/2014/main" id="{858C7F1E-BD26-2227-D4ED-1AA6CAD0B879}"/>
              </a:ext>
            </a:extLst>
          </p:cNvPr>
          <p:cNvGrpSpPr>
            <a:grpSpLocks/>
          </p:cNvGrpSpPr>
          <p:nvPr/>
        </p:nvGrpSpPr>
        <p:grpSpPr bwMode="auto">
          <a:xfrm>
            <a:off x="655638" y="5478463"/>
            <a:ext cx="3627437" cy="1004887"/>
            <a:chOff x="0" y="0"/>
            <a:chExt cx="3249" cy="901"/>
          </a:xfrm>
        </p:grpSpPr>
        <p:sp>
          <p:nvSpPr>
            <p:cNvPr id="77843" name="Rectangle 36">
              <a:extLst>
                <a:ext uri="{FF2B5EF4-FFF2-40B4-BE49-F238E27FC236}">
                  <a16:creationId xmlns:a16="http://schemas.microsoft.com/office/drawing/2014/main" id="{2EAE91C9-7DC6-F305-0195-637E72510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0"/>
              <a:ext cx="1888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642938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642938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642938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642938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642938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75162E"/>
                  </a:solidFill>
                  <a:latin typeface="Gill Sans" panose="020B0502020104020203" pitchFamily="34" charset="-79"/>
                  <a:sym typeface="Gill Sans" panose="020B0502020104020203" pitchFamily="34" charset="-79"/>
                </a:rPr>
                <a:t>Any Mutations that are caught by tests are killed</a:t>
              </a:r>
            </a:p>
          </p:txBody>
        </p:sp>
        <p:pic>
          <p:nvPicPr>
            <p:cNvPr id="77844" name="Picture 37">
              <a:extLst>
                <a:ext uri="{FF2B5EF4-FFF2-40B4-BE49-F238E27FC236}">
                  <a16:creationId xmlns:a16="http://schemas.microsoft.com/office/drawing/2014/main" id="{54E9BA47-EE25-E8E6-3288-B6DFBEC59A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84"/>
              <a:ext cx="1888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5213" name="Group 45">
            <a:extLst>
              <a:ext uri="{FF2B5EF4-FFF2-40B4-BE49-F238E27FC236}">
                <a16:creationId xmlns:a16="http://schemas.microsoft.com/office/drawing/2014/main" id="{3770BDE1-24EF-2746-6404-F4C6DC393E5F}"/>
              </a:ext>
            </a:extLst>
          </p:cNvPr>
          <p:cNvGrpSpPr>
            <a:grpSpLocks/>
          </p:cNvGrpSpPr>
          <p:nvPr/>
        </p:nvGrpSpPr>
        <p:grpSpPr bwMode="auto">
          <a:xfrm>
            <a:off x="6018213" y="4160838"/>
            <a:ext cx="2554287" cy="1401762"/>
            <a:chOff x="3791" y="2621"/>
            <a:chExt cx="1609" cy="883"/>
          </a:xfrm>
        </p:grpSpPr>
        <p:sp>
          <p:nvSpPr>
            <p:cNvPr id="77839" name="Rectangle 34">
              <a:extLst>
                <a:ext uri="{FF2B5EF4-FFF2-40B4-BE49-F238E27FC236}">
                  <a16:creationId xmlns:a16="http://schemas.microsoft.com/office/drawing/2014/main" id="{19B11886-1759-F2A1-281C-A97FAC3FC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2621"/>
              <a:ext cx="1007" cy="456"/>
            </a:xfrm>
            <a:prstGeom prst="rect">
              <a:avLst/>
            </a:prstGeom>
            <a:solidFill>
              <a:srgbClr val="E99875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defTabSz="642938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642938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642938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642938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642938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>
                  <a:solidFill>
                    <a:schemeClr val="tx1"/>
                  </a:solidFill>
                  <a:latin typeface="Gill Sans" panose="020B0502020104020203" pitchFamily="34" charset="-79"/>
                  <a:sym typeface="Gill Sans" panose="020B0502020104020203" pitchFamily="34" charset="-79"/>
                </a:rPr>
                <a:t>Problem with Tests?</a:t>
              </a:r>
            </a:p>
          </p:txBody>
        </p:sp>
        <p:grpSp>
          <p:nvGrpSpPr>
            <p:cNvPr id="77840" name="Group 24">
              <a:extLst>
                <a:ext uri="{FF2B5EF4-FFF2-40B4-BE49-F238E27FC236}">
                  <a16:creationId xmlns:a16="http://schemas.microsoft.com/office/drawing/2014/main" id="{8EBF2FB2-1452-520C-E834-1E037BB2B2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1" y="2872"/>
              <a:ext cx="598" cy="632"/>
              <a:chOff x="0" y="0"/>
              <a:chExt cx="850" cy="898"/>
            </a:xfrm>
          </p:grpSpPr>
          <p:sp>
            <p:nvSpPr>
              <p:cNvPr id="77841" name="Line 25">
                <a:extLst>
                  <a:ext uri="{FF2B5EF4-FFF2-40B4-BE49-F238E27FC236}">
                    <a16:creationId xmlns:a16="http://schemas.microsoft.com/office/drawing/2014/main" id="{4B31BF79-F031-FC2D-0803-F87C1333E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850" cy="8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 anchor="ctr"/>
              <a:lstStyle/>
              <a:p>
                <a:endParaRPr lang="en-US"/>
              </a:p>
            </p:txBody>
          </p:sp>
          <p:sp>
            <p:nvSpPr>
              <p:cNvPr id="77842" name="Rectangle 26">
                <a:extLst>
                  <a:ext uri="{FF2B5EF4-FFF2-40B4-BE49-F238E27FC236}">
                    <a16:creationId xmlns:a16="http://schemas.microsoft.com/office/drawing/2014/main" id="{9D7B0F90-8DEB-FD5A-87F0-7F02ADB69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" y="145"/>
                <a:ext cx="448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defTabSz="642938">
                  <a:spcBef>
                    <a:spcPts val="800"/>
                  </a:spcBef>
                  <a:buClr>
                    <a:srgbClr val="3333CC"/>
                  </a:buClr>
                  <a:buSzPct val="60000"/>
                  <a:buFont typeface="Wingdings" pitchFamily="2" charset="2"/>
                  <a:buChar char="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642938">
                  <a:spcBef>
                    <a:spcPts val="700"/>
                  </a:spcBef>
                  <a:buClr>
                    <a:srgbClr val="FF0000"/>
                  </a:buClr>
                  <a:buSzPct val="55000"/>
                  <a:buFont typeface="Wingdings" pitchFamily="2" charset="2"/>
                  <a:buChar char="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642938">
                  <a:spcBef>
                    <a:spcPts val="600"/>
                  </a:spcBef>
                  <a:buClr>
                    <a:srgbClr val="3333CC"/>
                  </a:buClr>
                  <a:buSzPct val="50000"/>
                  <a:buFont typeface="Wingdings" pitchFamily="2" charset="2"/>
                  <a:buChar char="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642938">
                  <a:spcBef>
                    <a:spcPts val="500"/>
                  </a:spcBef>
                  <a:buClr>
                    <a:srgbClr val="FFCF01"/>
                  </a:buClr>
                  <a:buSzPct val="55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defTabSz="642938">
                  <a:spcBef>
                    <a:spcPts val="500"/>
                  </a:spcBef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642938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FFCF01"/>
                  </a:buClr>
                  <a:buSzPct val="50000"/>
                  <a:buFont typeface="Wingdings" pitchFamily="2" charset="2"/>
                  <a:buChar char="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A13E16"/>
                    </a:solidFill>
                    <a:latin typeface="Gill Sans" panose="020B0502020104020203" pitchFamily="34" charset="-79"/>
                    <a:sym typeface="Gill Sans" panose="020B0502020104020203" pitchFamily="34" charset="-79"/>
                  </a:rPr>
                  <a:t>Yes</a:t>
                </a:r>
              </a:p>
            </p:txBody>
          </p:sp>
        </p:grpSp>
      </p:grpSp>
      <p:grpSp>
        <p:nvGrpSpPr>
          <p:cNvPr id="11" name="Group 38">
            <a:extLst>
              <a:ext uri="{FF2B5EF4-FFF2-40B4-BE49-F238E27FC236}">
                <a16:creationId xmlns:a16="http://schemas.microsoft.com/office/drawing/2014/main" id="{BE445D9E-143E-CE98-A314-6102996E7A6A}"/>
              </a:ext>
            </a:extLst>
          </p:cNvPr>
          <p:cNvGrpSpPr>
            <a:grpSpLocks/>
          </p:cNvGrpSpPr>
          <p:nvPr/>
        </p:nvGrpSpPr>
        <p:grpSpPr bwMode="auto">
          <a:xfrm>
            <a:off x="6018213" y="4175125"/>
            <a:ext cx="2554287" cy="723900"/>
            <a:chOff x="0" y="0"/>
            <a:chExt cx="2288" cy="648"/>
          </a:xfrm>
        </p:grpSpPr>
        <p:sp>
          <p:nvSpPr>
            <p:cNvPr id="77837" name="Line 39">
              <a:extLst>
                <a:ext uri="{FF2B5EF4-FFF2-40B4-BE49-F238E27FC236}">
                  <a16:creationId xmlns:a16="http://schemas.microsoft.com/office/drawing/2014/main" id="{9840D646-D6A2-464B-8BB0-D458EDE4D2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317"/>
              <a:ext cx="8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77838" name="Rectangle 40">
              <a:extLst>
                <a:ext uri="{FF2B5EF4-FFF2-40B4-BE49-F238E27FC236}">
                  <a16:creationId xmlns:a16="http://schemas.microsoft.com/office/drawing/2014/main" id="{5967D7D0-ACD7-9E93-C0F0-0367BD5A3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0"/>
              <a:ext cx="1432" cy="648"/>
            </a:xfrm>
            <a:prstGeom prst="rect">
              <a:avLst/>
            </a:prstGeom>
            <a:solidFill>
              <a:srgbClr val="FFE48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defTabSz="642938"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642938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642938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642938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642938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642938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>
                  <a:solidFill>
                    <a:schemeClr val="tx1"/>
                  </a:solidFill>
                  <a:latin typeface="Gill Sans" panose="020B0502020104020203" pitchFamily="34" charset="-79"/>
                  <a:sym typeface="Gill Sans" panose="020B0502020104020203" pitchFamily="34" charset="-79"/>
                </a:rPr>
                <a:t>New Test Data</a:t>
              </a:r>
            </a:p>
          </p:txBody>
        </p:sp>
      </p:grpSp>
      <p:sp>
        <p:nvSpPr>
          <p:cNvPr id="77836" name="Rectangle 1026">
            <a:extLst>
              <a:ext uri="{FF2B5EF4-FFF2-40B4-BE49-F238E27FC236}">
                <a16:creationId xmlns:a16="http://schemas.microsoft.com/office/drawing/2014/main" id="{E540F56C-16D3-C849-1DD6-9C950AE9F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5400"/>
            <a:ext cx="7781925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333399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4400" b="1">
                <a:solidFill>
                  <a:srgbClr val="333399"/>
                </a:solidFill>
              </a:rPr>
              <a:t>The Mutation Process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4" grpId="0" animBg="1"/>
      <p:bldP spid="2663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12">
            <a:extLst>
              <a:ext uri="{FF2B5EF4-FFF2-40B4-BE49-F238E27FC236}">
                <a16:creationId xmlns:a16="http://schemas.microsoft.com/office/drawing/2014/main" id="{D6463607-5B73-E204-8063-59BE8FE214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65111946-2D03-4E48-9D91-DDCAE22BC85A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27</a:t>
            </a:fld>
            <a:endParaRPr lang="en-GB" altLang="en-US" sz="1400"/>
          </a:p>
        </p:txBody>
      </p:sp>
      <p:sp>
        <p:nvSpPr>
          <p:cNvPr id="79874" name="Rectangle 1026">
            <a:extLst>
              <a:ext uri="{FF2B5EF4-FFF2-40B4-BE49-F238E27FC236}">
                <a16:creationId xmlns:a16="http://schemas.microsoft.com/office/drawing/2014/main" id="{52FBBCE2-8884-51B2-2EA9-15E32CE92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How does Mutation Testing work?</a:t>
            </a:r>
          </a:p>
        </p:txBody>
      </p:sp>
      <p:sp>
        <p:nvSpPr>
          <p:cNvPr id="79875" name="Rectangle 1027">
            <a:extLst>
              <a:ext uri="{FF2B5EF4-FFF2-40B4-BE49-F238E27FC236}">
                <a16:creationId xmlns:a16="http://schemas.microsoft.com/office/drawing/2014/main" id="{0AAB92CE-BC16-4193-6A54-6865FB680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142288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In order to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test the adequacy of a test suite</a:t>
            </a:r>
            <a:r>
              <a:rPr lang="en-US" altLang="en-US" sz="2000"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ea typeface="ＭＳ Ｐゴシック" panose="020B0600070205080204" pitchFamily="34" charset="-128"/>
              </a:rPr>
              <a:t>we first run the software on the suite and fix any problems until we are satisfied that the software passes the tests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We then save the results of the tests in a file or set of files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ea typeface="ＭＳ Ｐゴシック" panose="020B0600070205080204" pitchFamily="34" charset="-128"/>
              </a:rPr>
              <a:t>to serve as the correct output to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compare to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We then use mutation of the source code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ea typeface="ＭＳ Ｐゴシック" panose="020B0600070205080204" pitchFamily="34" charset="-128"/>
              </a:rPr>
              <a:t>to create a set of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mutants</a:t>
            </a:r>
            <a:r>
              <a:rPr lang="en-US" altLang="en-US" sz="1800">
                <a:ea typeface="ＭＳ Ｐゴシック" panose="020B0600070205080204" pitchFamily="34" charset="-128"/>
              </a:rPr>
              <a:t>, each of which is a program </a:t>
            </a: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slightly different</a:t>
            </a:r>
            <a:r>
              <a:rPr lang="en-US" altLang="en-US" sz="1800">
                <a:ea typeface="ＭＳ Ｐゴシック" panose="020B0600070205080204" pitchFamily="34" charset="-128"/>
              </a:rPr>
              <a:t> from the original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For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each mutant</a:t>
            </a:r>
            <a:r>
              <a:rPr lang="en-US" altLang="en-US" sz="2000">
                <a:ea typeface="ＭＳ Ｐゴシック" panose="020B0600070205080204" pitchFamily="34" charset="-128"/>
              </a:rPr>
              <a:t>, we run the test suite on the mutant and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compare the results</a:t>
            </a:r>
            <a:r>
              <a:rPr lang="en-US" altLang="en-US" sz="1800">
                <a:ea typeface="ＭＳ Ｐゴシック" panose="020B0600070205080204" pitchFamily="34" charset="-128"/>
              </a:rPr>
              <a:t> to the saved results from the original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If the results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differ</a:t>
            </a:r>
            <a:r>
              <a:rPr lang="en-US" altLang="en-US" sz="2000"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ea typeface="ＭＳ Ｐゴシック" panose="020B0600070205080204" pitchFamily="34" charset="-128"/>
              </a:rPr>
              <a:t>then the mutant has been “</a:t>
            </a:r>
            <a:r>
              <a:rPr lang="en-US" altLang="ja-JP" sz="1800">
                <a:solidFill>
                  <a:srgbClr val="FF3300"/>
                </a:solidFill>
                <a:ea typeface="ＭＳ Ｐゴシック" panose="020B0600070205080204" pitchFamily="34" charset="-128"/>
              </a:rPr>
              <a:t>killed</a:t>
            </a:r>
            <a:r>
              <a:rPr lang="en-US" altLang="en-US" sz="1800">
                <a:ea typeface="ＭＳ Ｐゴシック" panose="020B0600070205080204" pitchFamily="34" charset="-128"/>
              </a:rPr>
              <a:t>”</a:t>
            </a:r>
            <a:r>
              <a:rPr lang="en-US" altLang="ja-JP" sz="1800">
                <a:ea typeface="ＭＳ Ｐゴシック" panose="020B0600070205080204" pitchFamily="34" charset="-128"/>
              </a:rPr>
              <a:t> (detected) by the test suite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If the results do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not differ</a:t>
            </a:r>
            <a:r>
              <a:rPr lang="en-US" altLang="en-US" sz="2000"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ea typeface="ＭＳ Ｐゴシック" panose="020B0600070205080204" pitchFamily="34" charset="-128"/>
              </a:rPr>
              <a:t>then the test suite is </a:t>
            </a:r>
            <a:r>
              <a:rPr lang="en-US" altLang="en-US" sz="1800">
                <a:solidFill>
                  <a:srgbClr val="FF3300"/>
                </a:solidFill>
                <a:ea typeface="ＭＳ Ｐゴシック" panose="020B0600070205080204" pitchFamily="34" charset="-128"/>
              </a:rPr>
              <a:t>inadequate to detect the mutant</a:t>
            </a:r>
            <a:r>
              <a:rPr lang="en-US" altLang="en-US" sz="1800">
                <a:ea typeface="ＭＳ Ｐゴシック" panose="020B0600070205080204" pitchFamily="34" charset="-128"/>
              </a:rPr>
              <a:t>, and a new test must be added to the suite to “kill” that mutant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12">
            <a:extLst>
              <a:ext uri="{FF2B5EF4-FFF2-40B4-BE49-F238E27FC236}">
                <a16:creationId xmlns:a16="http://schemas.microsoft.com/office/drawing/2014/main" id="{AA125D02-0E48-1854-976B-4C6F923B84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E584869C-96B1-5341-9001-C3C99DC6A49C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28</a:t>
            </a:fld>
            <a:endParaRPr lang="en-GB" altLang="en-US" sz="1400"/>
          </a:p>
        </p:txBody>
      </p:sp>
      <p:sp>
        <p:nvSpPr>
          <p:cNvPr id="81922" name="Rectangle 1026">
            <a:extLst>
              <a:ext uri="{FF2B5EF4-FFF2-40B4-BE49-F238E27FC236}">
                <a16:creationId xmlns:a16="http://schemas.microsoft.com/office/drawing/2014/main" id="{4D1D23DD-1D2E-4F0A-ED5F-548253A2B0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00" b="1">
                <a:ea typeface="ＭＳ Ｐゴシック" panose="020B0600070205080204" pitchFamily="34" charset="-128"/>
              </a:rPr>
              <a:t>Systematic Mutation: Mutants</a:t>
            </a:r>
            <a:endParaRPr lang="en-US" altLang="en-US" b="1">
              <a:ea typeface="ＭＳ Ｐゴシック" panose="020B0600070205080204" pitchFamily="34" charset="-128"/>
            </a:endParaRPr>
          </a:p>
        </p:txBody>
      </p:sp>
      <p:sp>
        <p:nvSpPr>
          <p:cNvPr id="81923" name="Rectangle 1027">
            <a:extLst>
              <a:ext uri="{FF2B5EF4-FFF2-40B4-BE49-F238E27FC236}">
                <a16:creationId xmlns:a16="http://schemas.microsoft.com/office/drawing/2014/main" id="{3398AFC5-EA0E-B0F3-9924-DDE813BD0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676400"/>
            <a:ext cx="7761288" cy="4800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In order for mutation testing to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be systematic</a:t>
            </a:r>
            <a:r>
              <a:rPr lang="en-US" altLang="en-US" sz="2000"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System: </a:t>
            </a:r>
            <a:r>
              <a:rPr lang="en-US" altLang="en-US" sz="1800">
                <a:ea typeface="ＭＳ Ｐゴシック" panose="020B0600070205080204" pitchFamily="34" charset="-128"/>
              </a:rPr>
              <a:t>and a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completion criterion</a:t>
            </a:r>
            <a:r>
              <a:rPr lang="en-US" altLang="en-US" sz="1800">
                <a:ea typeface="ＭＳ Ｐゴシック" panose="020B0600070205080204" pitchFamily="34" charset="-128"/>
              </a:rPr>
              <a:t> for creating mutants</a:t>
            </a:r>
          </a:p>
          <a:p>
            <a:pPr>
              <a:lnSpc>
                <a:spcPct val="80000"/>
              </a:lnSpc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Example systematic mutations are: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value</a:t>
            </a:r>
            <a:r>
              <a:rPr lang="en-US" altLang="en-US" sz="1800">
                <a:ea typeface="ＭＳ Ｐゴシック" panose="020B0600070205080204" pitchFamily="34" charset="-128"/>
              </a:rPr>
              <a:t> mutations (changing constants or parameters by adding or subtracting one, etc.)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decision</a:t>
            </a:r>
            <a:r>
              <a:rPr lang="en-US" altLang="en-US" sz="1800">
                <a:ea typeface="ＭＳ Ｐゴシック" panose="020B0600070205080204" pitchFamily="34" charset="-128"/>
              </a:rPr>
              <a:t> mutations (inverting or otherwise modifying the sense of each decision condition in the program)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statement</a:t>
            </a:r>
            <a:r>
              <a:rPr lang="en-US" altLang="en-US" sz="1800">
                <a:ea typeface="ＭＳ Ｐゴシック" panose="020B0600070205080204" pitchFamily="34" charset="-128"/>
              </a:rPr>
              <a:t> mutations (deleting or exchanging individual statements in the program)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Each mutant has exactly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one</a:t>
            </a:r>
            <a:r>
              <a:rPr lang="en-US" altLang="en-US" sz="2000">
                <a:ea typeface="ＭＳ Ｐゴシック" panose="020B0600070205080204" pitchFamily="34" charset="-128"/>
              </a:rPr>
              <a:t> change in it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When are we done?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ea typeface="ＭＳ Ｐゴシック" panose="020B0600070205080204" pitchFamily="34" charset="-128"/>
              </a:rPr>
              <a:t>when every possible single change mutant of the system has been generated and tested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12">
            <a:extLst>
              <a:ext uri="{FF2B5EF4-FFF2-40B4-BE49-F238E27FC236}">
                <a16:creationId xmlns:a16="http://schemas.microsoft.com/office/drawing/2014/main" id="{0C88857E-0982-D5F9-0969-03F8709350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F956BCB8-458F-0F4C-9BB2-96867E66A8B8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29</a:t>
            </a:fld>
            <a:endParaRPr lang="en-GB" altLang="en-US" sz="1400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D13F3B90-47CF-3039-49A7-C47F909167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Example 1: Value Mutation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EC7293AD-7EA6-9532-60D1-2104FF06B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913688" cy="4724400"/>
          </a:xfrm>
        </p:spPr>
        <p:txBody>
          <a:bodyPr/>
          <a:lstStyle/>
          <a:p>
            <a:r>
              <a:rPr lang="en-US" altLang="en-US" sz="2600">
                <a:ea typeface="ＭＳ Ｐゴシック" panose="020B0600070205080204" pitchFamily="34" charset="-128"/>
              </a:rPr>
              <a:t>System 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Mutate the value of </a:t>
            </a:r>
            <a:r>
              <a:rPr lang="en-US" altLang="en-US" sz="2400">
                <a:solidFill>
                  <a:srgbClr val="0000FF"/>
                </a:solidFill>
                <a:ea typeface="ＭＳ Ｐゴシック" panose="020B0600070205080204" pitchFamily="34" charset="-128"/>
              </a:rPr>
              <a:t>each constant</a:t>
            </a:r>
            <a:r>
              <a:rPr lang="en-US" altLang="en-US" sz="2400">
                <a:ea typeface="ＭＳ Ｐゴシック" panose="020B0600070205080204" pitchFamily="34" charset="-128"/>
              </a:rPr>
              <a:t> in the program to be off by one (or more generally, each integer expression)</a:t>
            </a:r>
          </a:p>
          <a:p>
            <a:r>
              <a:rPr lang="en-US" altLang="en-US" sz="2600">
                <a:ea typeface="ＭＳ Ｐゴシック" panose="020B0600070205080204" pitchFamily="34" charset="-128"/>
              </a:rPr>
              <a:t>Completion criterion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One mutant for each constant in the program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12">
            <a:extLst>
              <a:ext uri="{FF2B5EF4-FFF2-40B4-BE49-F238E27FC236}">
                <a16:creationId xmlns:a16="http://schemas.microsoft.com/office/drawing/2014/main" id="{B2ECEBA8-C031-F6E6-5BC2-030FD2B42F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9B2287CF-A9CE-F648-A162-439F393F278F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30</a:t>
            </a:fld>
            <a:endParaRPr lang="en-GB" altLang="en-US" sz="1400"/>
          </a:p>
        </p:txBody>
      </p:sp>
      <p:sp>
        <p:nvSpPr>
          <p:cNvPr id="86018" name="Rectangle 1029">
            <a:extLst>
              <a:ext uri="{FF2B5EF4-FFF2-40B4-BE49-F238E27FC236}">
                <a16:creationId xmlns:a16="http://schemas.microsoft.com/office/drawing/2014/main" id="{832BA893-E421-B7AB-7ECB-3057BCB48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Example 1: Value Mutation</a:t>
            </a:r>
          </a:p>
        </p:txBody>
      </p:sp>
      <p:pic>
        <p:nvPicPr>
          <p:cNvPr id="86019" name="Picture 1028" descr="slide12">
            <a:extLst>
              <a:ext uri="{FF2B5EF4-FFF2-40B4-BE49-F238E27FC236}">
                <a16:creationId xmlns:a16="http://schemas.microsoft.com/office/drawing/2014/main" id="{6B6B97CD-9768-8A86-F7BE-1693AD1AED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676400"/>
            <a:ext cx="7543800" cy="4872038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12">
            <a:extLst>
              <a:ext uri="{FF2B5EF4-FFF2-40B4-BE49-F238E27FC236}">
                <a16:creationId xmlns:a16="http://schemas.microsoft.com/office/drawing/2014/main" id="{F332D726-88ED-2F0C-E56A-5AF4016C90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4F901846-9398-474D-9126-23EA88402245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31</a:t>
            </a:fld>
            <a:endParaRPr lang="en-GB" altLang="en-US" sz="1400"/>
          </a:p>
        </p:txBody>
      </p:sp>
      <p:pic>
        <p:nvPicPr>
          <p:cNvPr id="88066" name="Picture 1028" descr="slide15">
            <a:extLst>
              <a:ext uri="{FF2B5EF4-FFF2-40B4-BE49-F238E27FC236}">
                <a16:creationId xmlns:a16="http://schemas.microsoft.com/office/drawing/2014/main" id="{11A79966-E9BC-F283-9BFF-BC1683C86C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828800"/>
            <a:ext cx="7696200" cy="4559300"/>
          </a:xfrm>
        </p:spPr>
      </p:pic>
      <p:sp>
        <p:nvSpPr>
          <p:cNvPr id="88067" name="Rectangle 1031">
            <a:extLst>
              <a:ext uri="{FF2B5EF4-FFF2-40B4-BE49-F238E27FC236}">
                <a16:creationId xmlns:a16="http://schemas.microsoft.com/office/drawing/2014/main" id="{AE44832D-1A57-CE26-429C-C5FFB6E74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Example 1: Value Mutation</a:t>
            </a:r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1633FE36-C035-3456-40A7-413669B89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438400"/>
            <a:ext cx="914400" cy="990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782" name="Rectangle 6">
            <a:extLst>
              <a:ext uri="{FF2B5EF4-FFF2-40B4-BE49-F238E27FC236}">
                <a16:creationId xmlns:a16="http://schemas.microsoft.com/office/drawing/2014/main" id="{6577E59E-10D8-60A8-4C7E-BD31B01B5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650" y="2574925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FF0000"/>
                </a:solidFill>
              </a:rPr>
              <a:t>“x is 0”</a:t>
            </a:r>
          </a:p>
        </p:txBody>
      </p:sp>
      <p:sp>
        <p:nvSpPr>
          <p:cNvPr id="75785" name="Rectangle 9">
            <a:extLst>
              <a:ext uri="{FF2B5EF4-FFF2-40B4-BE49-F238E27FC236}">
                <a16:creationId xmlns:a16="http://schemas.microsoft.com/office/drawing/2014/main" id="{02C0E0CD-A77F-EC60-918A-7DF038C06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5" y="2838450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FF0000"/>
                </a:solidFill>
              </a:rPr>
              <a:t>“y is 0”</a:t>
            </a:r>
          </a:p>
        </p:txBody>
      </p:sp>
      <p:sp>
        <p:nvSpPr>
          <p:cNvPr id="75786" name="Rectangle 10">
            <a:extLst>
              <a:ext uri="{FF2B5EF4-FFF2-40B4-BE49-F238E27FC236}">
                <a16:creationId xmlns:a16="http://schemas.microsoft.com/office/drawing/2014/main" id="{508768D6-F60F-9E35-999A-1C71A5E14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5" y="3124200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FF0000"/>
                </a:solidFill>
              </a:rPr>
              <a:t>“y is 0”</a:t>
            </a:r>
          </a:p>
        </p:txBody>
      </p:sp>
      <p:sp>
        <p:nvSpPr>
          <p:cNvPr id="88072" name="Rectangle 11">
            <a:extLst>
              <a:ext uri="{FF2B5EF4-FFF2-40B4-BE49-F238E27FC236}">
                <a16:creationId xmlns:a16="http://schemas.microsoft.com/office/drawing/2014/main" id="{18F6AA42-7FCC-73A3-CD80-D534BF749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0" y="4876800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788" name="Rectangle 12">
            <a:extLst>
              <a:ext uri="{FF2B5EF4-FFF2-40B4-BE49-F238E27FC236}">
                <a16:creationId xmlns:a16="http://schemas.microsoft.com/office/drawing/2014/main" id="{8197FB16-5104-7BCA-D420-BD9770B9C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4953000"/>
            <a:ext cx="12192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chemeClr val="tx1"/>
                </a:solidFill>
              </a:rPr>
              <a:t>“y is 0”</a:t>
            </a:r>
          </a:p>
        </p:txBody>
      </p:sp>
      <p:sp>
        <p:nvSpPr>
          <p:cNvPr id="75789" name="Rectangle 13">
            <a:extLst>
              <a:ext uri="{FF2B5EF4-FFF2-40B4-BE49-F238E27FC236}">
                <a16:creationId xmlns:a16="http://schemas.microsoft.com/office/drawing/2014/main" id="{C02D8546-1757-EAC0-3281-1BE8D4792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25" y="5216525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75790" name="Rectangle 14">
            <a:extLst>
              <a:ext uri="{FF2B5EF4-FFF2-40B4-BE49-F238E27FC236}">
                <a16:creationId xmlns:a16="http://schemas.microsoft.com/office/drawing/2014/main" id="{00955134-314A-B868-B1E4-1258C74B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25" y="5502275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FF0000"/>
                </a:solidFill>
              </a:rPr>
              <a:t>“x is 0”</a:t>
            </a:r>
          </a:p>
        </p:txBody>
      </p:sp>
      <p:grpSp>
        <p:nvGrpSpPr>
          <p:cNvPr id="75793" name="Group 17">
            <a:extLst>
              <a:ext uri="{FF2B5EF4-FFF2-40B4-BE49-F238E27FC236}">
                <a16:creationId xmlns:a16="http://schemas.microsoft.com/office/drawing/2014/main" id="{B95098E7-4709-EA63-1A7D-81F6AFDB920D}"/>
              </a:ext>
            </a:extLst>
          </p:cNvPr>
          <p:cNvGrpSpPr>
            <a:grpSpLocks/>
          </p:cNvGrpSpPr>
          <p:nvPr/>
        </p:nvGrpSpPr>
        <p:grpSpPr bwMode="auto">
          <a:xfrm>
            <a:off x="0" y="1600200"/>
            <a:ext cx="4114800" cy="2895600"/>
            <a:chOff x="0" y="1008"/>
            <a:chExt cx="2592" cy="1824"/>
          </a:xfrm>
        </p:grpSpPr>
        <p:sp>
          <p:nvSpPr>
            <p:cNvPr id="88080" name="Line 15">
              <a:extLst>
                <a:ext uri="{FF2B5EF4-FFF2-40B4-BE49-F238E27FC236}">
                  <a16:creationId xmlns:a16="http://schemas.microsoft.com/office/drawing/2014/main" id="{0A886904-0328-1178-CEEF-31B8086EC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08"/>
              <a:ext cx="2592" cy="18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081" name="Line 16">
              <a:extLst>
                <a:ext uri="{FF2B5EF4-FFF2-40B4-BE49-F238E27FC236}">
                  <a16:creationId xmlns:a16="http://schemas.microsoft.com/office/drawing/2014/main" id="{4771E072-E8F4-5B5F-1200-2336FEE958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152"/>
              <a:ext cx="2304" cy="129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5794" name="Group 18">
            <a:extLst>
              <a:ext uri="{FF2B5EF4-FFF2-40B4-BE49-F238E27FC236}">
                <a16:creationId xmlns:a16="http://schemas.microsoft.com/office/drawing/2014/main" id="{C4D27B74-0F34-E797-F70F-8589B80FEFC2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038600"/>
            <a:ext cx="4114800" cy="2895600"/>
            <a:chOff x="0" y="1008"/>
            <a:chExt cx="2592" cy="1824"/>
          </a:xfrm>
        </p:grpSpPr>
        <p:sp>
          <p:nvSpPr>
            <p:cNvPr id="88078" name="Line 19">
              <a:extLst>
                <a:ext uri="{FF2B5EF4-FFF2-40B4-BE49-F238E27FC236}">
                  <a16:creationId xmlns:a16="http://schemas.microsoft.com/office/drawing/2014/main" id="{E3AAC70E-0719-8419-D66F-B96EE99C2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08"/>
              <a:ext cx="2592" cy="18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079" name="Line 20">
              <a:extLst>
                <a:ext uri="{FF2B5EF4-FFF2-40B4-BE49-F238E27FC236}">
                  <a16:creationId xmlns:a16="http://schemas.microsoft.com/office/drawing/2014/main" id="{A027CBA0-870A-978C-FB98-E0EF4A793F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152"/>
              <a:ext cx="2304" cy="129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2" grpId="0" animBg="1"/>
      <p:bldP spid="75785" grpId="0" animBg="1"/>
      <p:bldP spid="75786" grpId="0" animBg="1"/>
      <p:bldP spid="75788" grpId="0"/>
      <p:bldP spid="75789" grpId="0" animBg="1"/>
      <p:bldP spid="7579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12">
            <a:extLst>
              <a:ext uri="{FF2B5EF4-FFF2-40B4-BE49-F238E27FC236}">
                <a16:creationId xmlns:a16="http://schemas.microsoft.com/office/drawing/2014/main" id="{02AF6D83-3FF0-686D-721A-BEE2D6B9A2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29778E02-703F-DE4C-82F7-34655BF3BC5A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32</a:t>
            </a:fld>
            <a:endParaRPr lang="en-GB" altLang="en-US" sz="1400"/>
          </a:p>
        </p:txBody>
      </p:sp>
      <p:sp>
        <p:nvSpPr>
          <p:cNvPr id="90114" name="Rectangle 1029">
            <a:extLst>
              <a:ext uri="{FF2B5EF4-FFF2-40B4-BE49-F238E27FC236}">
                <a16:creationId xmlns:a16="http://schemas.microsoft.com/office/drawing/2014/main" id="{32DC8315-4118-3BCF-5610-A3A180710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Example 1: Value Mutation</a:t>
            </a:r>
          </a:p>
        </p:txBody>
      </p:sp>
      <p:pic>
        <p:nvPicPr>
          <p:cNvPr id="90115" name="Picture 1028" descr="slide14">
            <a:extLst>
              <a:ext uri="{FF2B5EF4-FFF2-40B4-BE49-F238E27FC236}">
                <a16:creationId xmlns:a16="http://schemas.microsoft.com/office/drawing/2014/main" id="{8EB8E509-F04C-A356-6675-AD72CC90E5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828800"/>
            <a:ext cx="7620000" cy="4578350"/>
          </a:xfrm>
        </p:spPr>
      </p:pic>
      <p:sp>
        <p:nvSpPr>
          <p:cNvPr id="90116" name="Rectangle 1031">
            <a:extLst>
              <a:ext uri="{FF2B5EF4-FFF2-40B4-BE49-F238E27FC236}">
                <a16:creationId xmlns:a16="http://schemas.microsoft.com/office/drawing/2014/main" id="{A5A7927A-CBA1-5AB0-3968-6DD29BAE9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259513"/>
            <a:ext cx="8280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200" dirty="0"/>
              <a:t> All mutants turn out to be “</a:t>
            </a:r>
            <a:r>
              <a:rPr lang="en-US" altLang="ja-JP" sz="2200" dirty="0">
                <a:solidFill>
                  <a:srgbClr val="FF3300"/>
                </a:solidFill>
              </a:rPr>
              <a:t>killed</a:t>
            </a:r>
            <a:r>
              <a:rPr lang="en-US" altLang="en-US" sz="2200" dirty="0"/>
              <a:t>”</a:t>
            </a:r>
            <a:r>
              <a:rPr lang="en-US" altLang="ja-JP" sz="2200" dirty="0"/>
              <a:t>. Thus the test suite seems adequate to test the program</a:t>
            </a:r>
            <a:endParaRPr lang="en-US" altLang="en-US" sz="2200" dirty="0"/>
          </a:p>
        </p:txBody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7B09F670-1702-FDD4-241B-175986B18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498725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94F519F1-5965-C759-9F4A-F1ADFE53E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492375"/>
            <a:ext cx="1219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tx1"/>
                </a:solidFill>
              </a:rPr>
              <a:t>“y is 0”</a:t>
            </a:r>
          </a:p>
        </p:txBody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220D58FC-B44D-087F-4213-367012B27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092450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77832" name="Rectangle 8">
            <a:extLst>
              <a:ext uri="{FF2B5EF4-FFF2-40B4-BE49-F238E27FC236}">
                <a16:creationId xmlns:a16="http://schemas.microsoft.com/office/drawing/2014/main" id="{8F02DE46-D57F-DF01-D0DD-65DBA94F2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2797175"/>
            <a:ext cx="12192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tx1"/>
                </a:solidFill>
              </a:rPr>
              <a:t>“x is 0”</a:t>
            </a:r>
          </a:p>
        </p:txBody>
      </p:sp>
      <p:sp>
        <p:nvSpPr>
          <p:cNvPr id="90121" name="Rectangle 12">
            <a:extLst>
              <a:ext uri="{FF2B5EF4-FFF2-40B4-BE49-F238E27FC236}">
                <a16:creationId xmlns:a16="http://schemas.microsoft.com/office/drawing/2014/main" id="{74D4578C-1984-AC88-B95C-AA2423FA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876800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7837" name="Rectangle 13">
            <a:extLst>
              <a:ext uri="{FF2B5EF4-FFF2-40B4-BE49-F238E27FC236}">
                <a16:creationId xmlns:a16="http://schemas.microsoft.com/office/drawing/2014/main" id="{9B0297DE-7CFC-A55D-1914-809F4C453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905375"/>
            <a:ext cx="12192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tx1"/>
                </a:solidFill>
              </a:rPr>
              <a:t>“y is 0”</a:t>
            </a:r>
          </a:p>
        </p:txBody>
      </p:sp>
      <p:sp>
        <p:nvSpPr>
          <p:cNvPr id="77838" name="Rectangle 14">
            <a:extLst>
              <a:ext uri="{FF2B5EF4-FFF2-40B4-BE49-F238E27FC236}">
                <a16:creationId xmlns:a16="http://schemas.microsoft.com/office/drawing/2014/main" id="{4547DDDD-F677-C499-2FF4-FDE5AD5F7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5502275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77839" name="Rectangle 15">
            <a:extLst>
              <a:ext uri="{FF2B5EF4-FFF2-40B4-BE49-F238E27FC236}">
                <a16:creationId xmlns:a16="http://schemas.microsoft.com/office/drawing/2014/main" id="{CBA5CEB3-757C-E6E5-0383-94E89D83F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5197475"/>
            <a:ext cx="12192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tx1"/>
                </a:solidFill>
              </a:rPr>
              <a:t>“x is 0”</a:t>
            </a:r>
          </a:p>
        </p:txBody>
      </p:sp>
      <p:grpSp>
        <p:nvGrpSpPr>
          <p:cNvPr id="77840" name="Group 16">
            <a:extLst>
              <a:ext uri="{FF2B5EF4-FFF2-40B4-BE49-F238E27FC236}">
                <a16:creationId xmlns:a16="http://schemas.microsoft.com/office/drawing/2014/main" id="{76BE56EE-7024-945F-A171-C31F8CC14523}"/>
              </a:ext>
            </a:extLst>
          </p:cNvPr>
          <p:cNvGrpSpPr>
            <a:grpSpLocks/>
          </p:cNvGrpSpPr>
          <p:nvPr/>
        </p:nvGrpSpPr>
        <p:grpSpPr bwMode="auto">
          <a:xfrm>
            <a:off x="0" y="1600200"/>
            <a:ext cx="4114800" cy="2895600"/>
            <a:chOff x="0" y="1008"/>
            <a:chExt cx="2592" cy="1824"/>
          </a:xfrm>
        </p:grpSpPr>
        <p:sp>
          <p:nvSpPr>
            <p:cNvPr id="90129" name="Line 17">
              <a:extLst>
                <a:ext uri="{FF2B5EF4-FFF2-40B4-BE49-F238E27FC236}">
                  <a16:creationId xmlns:a16="http://schemas.microsoft.com/office/drawing/2014/main" id="{D0958EC6-8BA8-721F-016D-3B5BCF6AD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08"/>
              <a:ext cx="2592" cy="18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30" name="Line 18">
              <a:extLst>
                <a:ext uri="{FF2B5EF4-FFF2-40B4-BE49-F238E27FC236}">
                  <a16:creationId xmlns:a16="http://schemas.microsoft.com/office/drawing/2014/main" id="{DCBB06B5-270E-4FAD-3731-F0A57DC71B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152"/>
              <a:ext cx="2304" cy="129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7843" name="Group 19">
            <a:extLst>
              <a:ext uri="{FF2B5EF4-FFF2-40B4-BE49-F238E27FC236}">
                <a16:creationId xmlns:a16="http://schemas.microsoft.com/office/drawing/2014/main" id="{74FA5E99-BB3E-19C6-8F8B-9FDEBD40621A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114800"/>
            <a:ext cx="4114800" cy="2895600"/>
            <a:chOff x="0" y="1008"/>
            <a:chExt cx="2592" cy="1824"/>
          </a:xfrm>
        </p:grpSpPr>
        <p:sp>
          <p:nvSpPr>
            <p:cNvPr id="90127" name="Line 20">
              <a:extLst>
                <a:ext uri="{FF2B5EF4-FFF2-40B4-BE49-F238E27FC236}">
                  <a16:creationId xmlns:a16="http://schemas.microsoft.com/office/drawing/2014/main" id="{7961A08E-4DE2-3F72-A405-1E76A66C2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08"/>
              <a:ext cx="2592" cy="18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28" name="Line 21">
              <a:extLst>
                <a:ext uri="{FF2B5EF4-FFF2-40B4-BE49-F238E27FC236}">
                  <a16:creationId xmlns:a16="http://schemas.microsoft.com/office/drawing/2014/main" id="{EEE7B9D5-262D-AFB5-5A8D-E3A7DC6A44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152"/>
              <a:ext cx="2304" cy="129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0" grpId="0"/>
      <p:bldP spid="77831" grpId="0" animBg="1"/>
      <p:bldP spid="77832" grpId="0"/>
      <p:bldP spid="77837" grpId="0"/>
      <p:bldP spid="77838" grpId="0" animBg="1"/>
      <p:bldP spid="7783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12">
            <a:extLst>
              <a:ext uri="{FF2B5EF4-FFF2-40B4-BE49-F238E27FC236}">
                <a16:creationId xmlns:a16="http://schemas.microsoft.com/office/drawing/2014/main" id="{8A7D7D84-56FD-95BD-A764-D0A28A1451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A7CB3675-3654-5F4A-89AD-D80166F7FB5D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33</a:t>
            </a:fld>
            <a:endParaRPr lang="en-GB" altLang="en-US" sz="1400"/>
          </a:p>
        </p:txBody>
      </p:sp>
      <p:sp>
        <p:nvSpPr>
          <p:cNvPr id="92162" name="Rectangle 1026">
            <a:extLst>
              <a:ext uri="{FF2B5EF4-FFF2-40B4-BE49-F238E27FC236}">
                <a16:creationId xmlns:a16="http://schemas.microsoft.com/office/drawing/2014/main" id="{416EEA05-7936-CD73-31E5-C8434EBB7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00" b="1">
                <a:ea typeface="ＭＳ Ｐゴシック" panose="020B0600070205080204" pitchFamily="34" charset="-128"/>
              </a:rPr>
              <a:t>Example 2: Decision Mutation</a:t>
            </a:r>
            <a:endParaRPr lang="en-US" altLang="en-US" b="1">
              <a:ea typeface="ＭＳ Ｐゴシック" panose="020B0600070205080204" pitchFamily="34" charset="-128"/>
            </a:endParaRPr>
          </a:p>
        </p:txBody>
      </p:sp>
      <p:sp>
        <p:nvSpPr>
          <p:cNvPr id="92163" name="Rectangle 1027">
            <a:extLst>
              <a:ext uri="{FF2B5EF4-FFF2-40B4-BE49-F238E27FC236}">
                <a16:creationId xmlns:a16="http://schemas.microsoft.com/office/drawing/2014/main" id="{526CE894-50B7-D1CD-C79A-072ADBBC57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System </a:t>
            </a:r>
          </a:p>
          <a:p>
            <a:pPr lvl="1"/>
            <a:r>
              <a:rPr lang="en-US" altLang="en-US">
                <a:solidFill>
                  <a:srgbClr val="FF3300"/>
                </a:solidFill>
                <a:ea typeface="ＭＳ Ｐゴシック" panose="020B0600070205080204" pitchFamily="34" charset="-128"/>
              </a:rPr>
              <a:t>Invert</a:t>
            </a:r>
            <a:r>
              <a:rPr lang="en-US" altLang="en-US">
                <a:ea typeface="ＭＳ Ｐゴシック" panose="020B0600070205080204" pitchFamily="34" charset="-128"/>
              </a:rPr>
              <a:t> the </a:t>
            </a:r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</a:rPr>
              <a:t>sense</a:t>
            </a:r>
            <a:r>
              <a:rPr lang="en-US" altLang="en-US">
                <a:ea typeface="ＭＳ Ｐゴシック" panose="020B0600070205080204" pitchFamily="34" charset="-128"/>
              </a:rPr>
              <a:t> of </a:t>
            </a:r>
            <a:r>
              <a:rPr lang="en-US" altLang="en-US">
                <a:solidFill>
                  <a:schemeClr val="tx1"/>
                </a:solidFill>
                <a:ea typeface="ＭＳ Ｐゴシック" panose="020B0600070205080204" pitchFamily="34" charset="-128"/>
              </a:rPr>
              <a:t>each decision condition</a:t>
            </a:r>
            <a:r>
              <a:rPr lang="en-US" altLang="en-US">
                <a:ea typeface="ＭＳ Ｐゴシック" panose="020B0600070205080204" pitchFamily="34" charset="-128"/>
              </a:rPr>
              <a:t> in the program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(e.g., change</a:t>
            </a:r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</a:rPr>
              <a:t> &gt;</a:t>
            </a:r>
            <a:r>
              <a:rPr lang="en-US" altLang="en-US">
                <a:ea typeface="ＭＳ Ｐゴシック" panose="020B0600070205080204" pitchFamily="34" charset="-128"/>
              </a:rPr>
              <a:t> to </a:t>
            </a:r>
            <a:r>
              <a:rPr lang="en-US" altLang="en-US">
                <a:solidFill>
                  <a:srgbClr val="FF3300"/>
                </a:solidFill>
                <a:ea typeface="ＭＳ Ｐゴシック" panose="020B0600070205080204" pitchFamily="34" charset="-128"/>
              </a:rPr>
              <a:t>&lt;</a:t>
            </a:r>
            <a:r>
              <a:rPr lang="en-US" altLang="en-US">
                <a:ea typeface="ＭＳ Ｐゴシック" panose="020B0600070205080204" pitchFamily="34" charset="-128"/>
              </a:rPr>
              <a:t>,</a:t>
            </a:r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</a:rPr>
              <a:t> ==</a:t>
            </a:r>
            <a:r>
              <a:rPr lang="en-US" altLang="en-US">
                <a:ea typeface="ＭＳ Ｐゴシック" panose="020B0600070205080204" pitchFamily="34" charset="-128"/>
              </a:rPr>
              <a:t> to </a:t>
            </a:r>
            <a:r>
              <a:rPr lang="en-US" altLang="en-US">
                <a:solidFill>
                  <a:srgbClr val="FF3300"/>
                </a:solidFill>
                <a:ea typeface="ＭＳ Ｐゴシック" panose="020B0600070205080204" pitchFamily="34" charset="-128"/>
              </a:rPr>
              <a:t>!=</a:t>
            </a:r>
            <a:r>
              <a:rPr lang="en-US" altLang="en-US">
                <a:ea typeface="ＭＳ Ｐゴシック" panose="020B0600070205080204" pitchFamily="34" charset="-128"/>
              </a:rPr>
              <a:t>, and so on)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Completion criterion 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One mutant for each decision condition in the program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12">
            <a:extLst>
              <a:ext uri="{FF2B5EF4-FFF2-40B4-BE49-F238E27FC236}">
                <a16:creationId xmlns:a16="http://schemas.microsoft.com/office/drawing/2014/main" id="{37C730AE-4933-ED4A-8B49-9A4E85268E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5E26EAE4-BCB0-0D46-B890-A4514C350C49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34</a:t>
            </a:fld>
            <a:endParaRPr lang="en-GB" altLang="en-US" sz="1400"/>
          </a:p>
        </p:txBody>
      </p:sp>
      <p:sp>
        <p:nvSpPr>
          <p:cNvPr id="94210" name="Rectangle 1026">
            <a:extLst>
              <a:ext uri="{FF2B5EF4-FFF2-40B4-BE49-F238E27FC236}">
                <a16:creationId xmlns:a16="http://schemas.microsoft.com/office/drawing/2014/main" id="{056FA8C5-5A9E-3488-26C0-5F2E98EC44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00" b="1">
                <a:ea typeface="ＭＳ Ｐゴシック" panose="020B0600070205080204" pitchFamily="34" charset="-128"/>
              </a:rPr>
              <a:t>Example 2: Decision Mutation</a:t>
            </a:r>
            <a:endParaRPr lang="en-US" altLang="en-US" b="1">
              <a:ea typeface="ＭＳ Ｐゴシック" panose="020B0600070205080204" pitchFamily="34" charset="-128"/>
            </a:endParaRPr>
          </a:p>
        </p:txBody>
      </p:sp>
      <p:pic>
        <p:nvPicPr>
          <p:cNvPr id="94211" name="Picture 1028" descr="slide17">
            <a:extLst>
              <a:ext uri="{FF2B5EF4-FFF2-40B4-BE49-F238E27FC236}">
                <a16:creationId xmlns:a16="http://schemas.microsoft.com/office/drawing/2014/main" id="{FAB43948-7071-481F-C6BE-F3360A78CB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752600"/>
            <a:ext cx="7543800" cy="4559300"/>
          </a:xfrm>
        </p:spPr>
      </p:pic>
      <p:sp>
        <p:nvSpPr>
          <p:cNvPr id="94212" name="Rectangle 4">
            <a:extLst>
              <a:ext uri="{FF2B5EF4-FFF2-40B4-BE49-F238E27FC236}">
                <a16:creationId xmlns:a16="http://schemas.microsoft.com/office/drawing/2014/main" id="{DB8FFE83-BEA9-F44B-6F23-1D6901502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378075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8AD9FCB8-1553-5280-138A-45975D64B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454275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FF0000"/>
                </a:solidFill>
              </a:rPr>
              <a:t>“x is 0”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1649B0A5-DEAD-5467-04F8-3EDF2E0C6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003550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FF0000"/>
                </a:solidFill>
              </a:rPr>
              <a:t>“y is 0”</a:t>
            </a:r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7D57B471-D039-6F7A-6D41-9895076E3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730500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FF0000"/>
                </a:solidFill>
              </a:rPr>
              <a:t>“y is 0”</a:t>
            </a:r>
          </a:p>
        </p:txBody>
      </p:sp>
      <p:sp>
        <p:nvSpPr>
          <p:cNvPr id="94216" name="Rectangle 8">
            <a:extLst>
              <a:ext uri="{FF2B5EF4-FFF2-40B4-BE49-F238E27FC236}">
                <a16:creationId xmlns:a16="http://schemas.microsoft.com/office/drawing/2014/main" id="{9342B306-2BE8-E73A-E160-677D3D0E1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450" y="4768850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1929" name="Rectangle 9">
            <a:extLst>
              <a:ext uri="{FF2B5EF4-FFF2-40B4-BE49-F238E27FC236}">
                <a16:creationId xmlns:a16="http://schemas.microsoft.com/office/drawing/2014/main" id="{19E2878A-F971-33FB-F944-888933DC5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5850" y="4845050"/>
            <a:ext cx="12192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chemeClr val="tx1"/>
                </a:solidFill>
              </a:rPr>
              <a:t>“y is 0”</a:t>
            </a:r>
          </a:p>
        </p:txBody>
      </p:sp>
      <p:sp>
        <p:nvSpPr>
          <p:cNvPr id="81930" name="Rectangle 10">
            <a:extLst>
              <a:ext uri="{FF2B5EF4-FFF2-40B4-BE49-F238E27FC236}">
                <a16:creationId xmlns:a16="http://schemas.microsoft.com/office/drawing/2014/main" id="{33CF2DB2-5F1D-33BE-4D24-B2469F538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5850" y="5394325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FF0000"/>
                </a:solidFill>
              </a:rPr>
              <a:t>“x is 0”</a:t>
            </a:r>
          </a:p>
        </p:txBody>
      </p:sp>
      <p:sp>
        <p:nvSpPr>
          <p:cNvPr id="81931" name="Rectangle 11">
            <a:extLst>
              <a:ext uri="{FF2B5EF4-FFF2-40B4-BE49-F238E27FC236}">
                <a16:creationId xmlns:a16="http://schemas.microsoft.com/office/drawing/2014/main" id="{320FB799-72B3-FDA2-2B0F-162EE64BC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5850" y="5121275"/>
            <a:ext cx="1219200" cy="2095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0000"/>
              </a:solidFill>
            </a:endParaRPr>
          </a:p>
        </p:txBody>
      </p:sp>
      <p:grpSp>
        <p:nvGrpSpPr>
          <p:cNvPr id="81932" name="Group 12">
            <a:extLst>
              <a:ext uri="{FF2B5EF4-FFF2-40B4-BE49-F238E27FC236}">
                <a16:creationId xmlns:a16="http://schemas.microsoft.com/office/drawing/2014/main" id="{170A053B-EFB8-2918-6174-63A1BB134BE1}"/>
              </a:ext>
            </a:extLst>
          </p:cNvPr>
          <p:cNvGrpSpPr>
            <a:grpSpLocks/>
          </p:cNvGrpSpPr>
          <p:nvPr/>
        </p:nvGrpSpPr>
        <p:grpSpPr bwMode="auto">
          <a:xfrm>
            <a:off x="0" y="1600200"/>
            <a:ext cx="4114800" cy="2895600"/>
            <a:chOff x="0" y="1008"/>
            <a:chExt cx="2592" cy="1824"/>
          </a:xfrm>
        </p:grpSpPr>
        <p:sp>
          <p:nvSpPr>
            <p:cNvPr id="94224" name="Line 13">
              <a:extLst>
                <a:ext uri="{FF2B5EF4-FFF2-40B4-BE49-F238E27FC236}">
                  <a16:creationId xmlns:a16="http://schemas.microsoft.com/office/drawing/2014/main" id="{E1762504-3D47-0029-D77F-3045784FA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08"/>
              <a:ext cx="2592" cy="18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25" name="Line 14">
              <a:extLst>
                <a:ext uri="{FF2B5EF4-FFF2-40B4-BE49-F238E27FC236}">
                  <a16:creationId xmlns:a16="http://schemas.microsoft.com/office/drawing/2014/main" id="{5BC3BC89-1228-B3EF-A8F0-7451E83FF4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152"/>
              <a:ext cx="2304" cy="129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1935" name="Group 15">
            <a:extLst>
              <a:ext uri="{FF2B5EF4-FFF2-40B4-BE49-F238E27FC236}">
                <a16:creationId xmlns:a16="http://schemas.microsoft.com/office/drawing/2014/main" id="{12B0483D-E258-2FAA-395A-16768A16D781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962400"/>
            <a:ext cx="4114800" cy="2895600"/>
            <a:chOff x="0" y="1008"/>
            <a:chExt cx="2592" cy="1824"/>
          </a:xfrm>
        </p:grpSpPr>
        <p:sp>
          <p:nvSpPr>
            <p:cNvPr id="94222" name="Line 16">
              <a:extLst>
                <a:ext uri="{FF2B5EF4-FFF2-40B4-BE49-F238E27FC236}">
                  <a16:creationId xmlns:a16="http://schemas.microsoft.com/office/drawing/2014/main" id="{184610EE-FD88-050F-A2F6-ADD765859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08"/>
              <a:ext cx="2592" cy="18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23" name="Line 17">
              <a:extLst>
                <a:ext uri="{FF2B5EF4-FFF2-40B4-BE49-F238E27FC236}">
                  <a16:creationId xmlns:a16="http://schemas.microsoft.com/office/drawing/2014/main" id="{E8342227-1B2A-DC51-C55D-369A928A4C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152"/>
              <a:ext cx="2304" cy="129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animBg="1"/>
      <p:bldP spid="81926" grpId="0" animBg="1"/>
      <p:bldP spid="81927" grpId="0" animBg="1"/>
      <p:bldP spid="81929" grpId="0"/>
      <p:bldP spid="81930" grpId="0" animBg="1"/>
      <p:bldP spid="819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12">
            <a:extLst>
              <a:ext uri="{FF2B5EF4-FFF2-40B4-BE49-F238E27FC236}">
                <a16:creationId xmlns:a16="http://schemas.microsoft.com/office/drawing/2014/main" id="{45BCDF66-9313-013C-6C70-7327F47363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6A26A7DE-D8D5-1C4D-906D-C406D4F189D7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35</a:t>
            </a:fld>
            <a:endParaRPr lang="en-GB" altLang="en-US" sz="1400"/>
          </a:p>
        </p:txBody>
      </p:sp>
      <p:sp>
        <p:nvSpPr>
          <p:cNvPr id="96258" name="Rectangle 1029">
            <a:extLst>
              <a:ext uri="{FF2B5EF4-FFF2-40B4-BE49-F238E27FC236}">
                <a16:creationId xmlns:a16="http://schemas.microsoft.com/office/drawing/2014/main" id="{D5ACB73B-1FA9-AD7B-3DC3-73F7A4245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00" b="1">
                <a:ea typeface="ＭＳ Ｐゴシック" panose="020B0600070205080204" pitchFamily="34" charset="-128"/>
              </a:rPr>
              <a:t>Example 2: Decision Mutation</a:t>
            </a:r>
            <a:endParaRPr lang="en-US" altLang="en-US" b="1">
              <a:ea typeface="ＭＳ Ｐゴシック" panose="020B0600070205080204" pitchFamily="34" charset="-128"/>
            </a:endParaRPr>
          </a:p>
        </p:txBody>
      </p:sp>
      <p:pic>
        <p:nvPicPr>
          <p:cNvPr id="96259" name="Picture 1028" descr="slide19">
            <a:extLst>
              <a:ext uri="{FF2B5EF4-FFF2-40B4-BE49-F238E27FC236}">
                <a16:creationId xmlns:a16="http://schemas.microsoft.com/office/drawing/2014/main" id="{D002862B-C44E-43A6-24BA-1750C1D785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981200"/>
            <a:ext cx="7620000" cy="2514600"/>
          </a:xfrm>
        </p:spPr>
      </p:pic>
      <p:sp>
        <p:nvSpPr>
          <p:cNvPr id="96260" name="Rectangle 1031">
            <a:extLst>
              <a:ext uri="{FF2B5EF4-FFF2-40B4-BE49-F238E27FC236}">
                <a16:creationId xmlns:a16="http://schemas.microsoft.com/office/drawing/2014/main" id="{E8EF9945-9CA6-9054-A15B-4EE023F39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181600"/>
            <a:ext cx="7469188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/>
              <a:t> All mutants turn out to be “</a:t>
            </a:r>
            <a:r>
              <a:rPr lang="en-US" altLang="ja-JP" sz="2400">
                <a:solidFill>
                  <a:srgbClr val="FF3300"/>
                </a:solidFill>
              </a:rPr>
              <a:t>killed</a:t>
            </a:r>
            <a:r>
              <a:rPr lang="en-US" altLang="en-US" sz="2400"/>
              <a:t>”</a:t>
            </a:r>
            <a:r>
              <a:rPr lang="en-US" altLang="ja-JP" sz="2400"/>
              <a:t>. Thus the test suite 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400"/>
              <a:t> seems adequate to test the program</a:t>
            </a:r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E398C517-0A18-697D-ED4D-7EEF95DA9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803525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83977" name="Group 9">
            <a:extLst>
              <a:ext uri="{FF2B5EF4-FFF2-40B4-BE49-F238E27FC236}">
                <a16:creationId xmlns:a16="http://schemas.microsoft.com/office/drawing/2014/main" id="{29DA284E-CAB9-3624-A16D-2BCFFC1132BA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879725"/>
            <a:ext cx="1219200" cy="758825"/>
            <a:chOff x="4656" y="1814"/>
            <a:chExt cx="768" cy="478"/>
          </a:xfrm>
        </p:grpSpPr>
        <p:sp>
          <p:nvSpPr>
            <p:cNvPr id="96266" name="Rectangle 6">
              <a:extLst>
                <a:ext uri="{FF2B5EF4-FFF2-40B4-BE49-F238E27FC236}">
                  <a16:creationId xmlns:a16="http://schemas.microsoft.com/office/drawing/2014/main" id="{3425511B-4CB7-C574-9D4F-6EDB80883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814"/>
              <a:ext cx="768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“y is 0”</a:t>
              </a:r>
            </a:p>
          </p:txBody>
        </p:sp>
        <p:sp>
          <p:nvSpPr>
            <p:cNvPr id="96267" name="Rectangle 7">
              <a:extLst>
                <a:ext uri="{FF2B5EF4-FFF2-40B4-BE49-F238E27FC236}">
                  <a16:creationId xmlns:a16="http://schemas.microsoft.com/office/drawing/2014/main" id="{DB773AC3-26A9-EE25-0DD1-F213D9E2C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160"/>
              <a:ext cx="768" cy="1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96268" name="Rectangle 8">
              <a:extLst>
                <a:ext uri="{FF2B5EF4-FFF2-40B4-BE49-F238E27FC236}">
                  <a16:creationId xmlns:a16="http://schemas.microsoft.com/office/drawing/2014/main" id="{7A663515-EB31-C7C1-23F1-C8FFF0992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988"/>
              <a:ext cx="768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“x is 0”</a:t>
              </a:r>
            </a:p>
          </p:txBody>
        </p:sp>
      </p:grpSp>
      <p:grpSp>
        <p:nvGrpSpPr>
          <p:cNvPr id="83978" name="Group 10">
            <a:extLst>
              <a:ext uri="{FF2B5EF4-FFF2-40B4-BE49-F238E27FC236}">
                <a16:creationId xmlns:a16="http://schemas.microsoft.com/office/drawing/2014/main" id="{AAD7CBB3-3D2A-A297-DB01-04CDB6A13AB7}"/>
              </a:ext>
            </a:extLst>
          </p:cNvPr>
          <p:cNvGrpSpPr>
            <a:grpSpLocks/>
          </p:cNvGrpSpPr>
          <p:nvPr/>
        </p:nvGrpSpPr>
        <p:grpSpPr bwMode="auto">
          <a:xfrm>
            <a:off x="0" y="1600200"/>
            <a:ext cx="4114800" cy="2895600"/>
            <a:chOff x="0" y="1008"/>
            <a:chExt cx="2592" cy="1824"/>
          </a:xfrm>
        </p:grpSpPr>
        <p:sp>
          <p:nvSpPr>
            <p:cNvPr id="96264" name="Line 11">
              <a:extLst>
                <a:ext uri="{FF2B5EF4-FFF2-40B4-BE49-F238E27FC236}">
                  <a16:creationId xmlns:a16="http://schemas.microsoft.com/office/drawing/2014/main" id="{0380A9A3-149E-5F8E-0C24-C4F534DA9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08"/>
              <a:ext cx="2592" cy="18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65" name="Line 12">
              <a:extLst>
                <a:ext uri="{FF2B5EF4-FFF2-40B4-BE49-F238E27FC236}">
                  <a16:creationId xmlns:a16="http://schemas.microsoft.com/office/drawing/2014/main" id="{7F0A3122-CB39-CBCF-74FA-5C3088F92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152"/>
              <a:ext cx="2304" cy="129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12">
            <a:extLst>
              <a:ext uri="{FF2B5EF4-FFF2-40B4-BE49-F238E27FC236}">
                <a16:creationId xmlns:a16="http://schemas.microsoft.com/office/drawing/2014/main" id="{83072C5B-9AEE-EC3F-CE10-0B9A0FD2F8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FDB3E0BB-BD7C-7C4E-BE40-31365BC3CE14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36</a:t>
            </a:fld>
            <a:endParaRPr lang="en-GB" altLang="en-US" sz="1400"/>
          </a:p>
        </p:txBody>
      </p:sp>
      <p:sp>
        <p:nvSpPr>
          <p:cNvPr id="98306" name="Rectangle 1026">
            <a:extLst>
              <a:ext uri="{FF2B5EF4-FFF2-40B4-BE49-F238E27FC236}">
                <a16:creationId xmlns:a16="http://schemas.microsoft.com/office/drawing/2014/main" id="{3200A053-9B57-D6C7-EDC9-D8D82EA35B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>
                <a:ea typeface="ＭＳ Ｐゴシック" panose="020B0600070205080204" pitchFamily="34" charset="-128"/>
              </a:rPr>
              <a:t>Example 3: Statement Mutation</a:t>
            </a:r>
            <a:endParaRPr lang="en-US" altLang="en-US" b="1">
              <a:ea typeface="ＭＳ Ｐゴシック" panose="020B0600070205080204" pitchFamily="34" charset="-128"/>
            </a:endParaRPr>
          </a:p>
        </p:txBody>
      </p:sp>
      <p:sp>
        <p:nvSpPr>
          <p:cNvPr id="98307" name="Rectangle 1027">
            <a:extLst>
              <a:ext uri="{FF2B5EF4-FFF2-40B4-BE49-F238E27FC236}">
                <a16:creationId xmlns:a16="http://schemas.microsoft.com/office/drawing/2014/main" id="{28A2FD47-F7BA-42BD-4837-634643F49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System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solidFill>
                  <a:srgbClr val="FF3300"/>
                </a:solidFill>
                <a:ea typeface="ＭＳ Ｐゴシック" panose="020B0600070205080204" pitchFamily="34" charset="-128"/>
              </a:rPr>
              <a:t>Delete</a:t>
            </a:r>
            <a:r>
              <a:rPr lang="en-US" altLang="en-US" sz="2400">
                <a:ea typeface="ＭＳ Ｐゴシック" panose="020B0600070205080204" pitchFamily="34" charset="-128"/>
              </a:rPr>
              <a:t> each statement in the program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Completion criterion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One mutant for each statement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Note that there are many other possible statement mutations: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interchanging adjacent statements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shuffling sequences of statements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doubling statements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many more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12">
            <a:extLst>
              <a:ext uri="{FF2B5EF4-FFF2-40B4-BE49-F238E27FC236}">
                <a16:creationId xmlns:a16="http://schemas.microsoft.com/office/drawing/2014/main" id="{F84AF553-24B6-5868-5B18-0D81C490C4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30611D60-9E66-C742-9B11-04FBCFD3C3A8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37</a:t>
            </a:fld>
            <a:endParaRPr lang="en-GB" altLang="en-US" sz="1400"/>
          </a:p>
        </p:txBody>
      </p:sp>
      <p:sp>
        <p:nvSpPr>
          <p:cNvPr id="100354" name="Rectangle 1029">
            <a:extLst>
              <a:ext uri="{FF2B5EF4-FFF2-40B4-BE49-F238E27FC236}">
                <a16:creationId xmlns:a16="http://schemas.microsoft.com/office/drawing/2014/main" id="{CD65338B-B1EA-A364-ED6E-576294D3A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>
                <a:ea typeface="ＭＳ Ｐゴシック" panose="020B0600070205080204" pitchFamily="34" charset="-128"/>
              </a:rPr>
              <a:t>Example 3: Statement Mutation</a:t>
            </a:r>
            <a:endParaRPr lang="en-US" altLang="en-US" b="1">
              <a:ea typeface="ＭＳ Ｐゴシック" panose="020B0600070205080204" pitchFamily="34" charset="-128"/>
            </a:endParaRPr>
          </a:p>
        </p:txBody>
      </p:sp>
      <p:pic>
        <p:nvPicPr>
          <p:cNvPr id="100355" name="Picture 1028" descr="slide20">
            <a:extLst>
              <a:ext uri="{FF2B5EF4-FFF2-40B4-BE49-F238E27FC236}">
                <a16:creationId xmlns:a16="http://schemas.microsoft.com/office/drawing/2014/main" id="{BC53195C-12EB-FF04-B9B3-EC00ACFF75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600200"/>
            <a:ext cx="6705600" cy="2667000"/>
          </a:xfrm>
        </p:spPr>
      </p:pic>
      <p:sp>
        <p:nvSpPr>
          <p:cNvPr id="100356" name="Rectangle 1031">
            <a:extLst>
              <a:ext uri="{FF2B5EF4-FFF2-40B4-BE49-F238E27FC236}">
                <a16:creationId xmlns:a16="http://schemas.microsoft.com/office/drawing/2014/main" id="{03B78064-4E40-B90D-9C88-3A512240E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724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31788" indent="-331788"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/>
              <a:t>This time, we show only one example - you can make the rest!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Again, all mutants turn out to be “</a:t>
            </a:r>
            <a:r>
              <a:rPr lang="en-US" altLang="ja-JP" sz="2400">
                <a:solidFill>
                  <a:srgbClr val="FF3300"/>
                </a:solidFill>
              </a:rPr>
              <a:t>killed</a:t>
            </a:r>
            <a:r>
              <a:rPr lang="en-US" altLang="en-US" sz="2400"/>
              <a:t>”</a:t>
            </a:r>
          </a:p>
        </p:txBody>
      </p:sp>
      <p:sp>
        <p:nvSpPr>
          <p:cNvPr id="100357" name="Rectangle 5">
            <a:extLst>
              <a:ext uri="{FF2B5EF4-FFF2-40B4-BE49-F238E27FC236}">
                <a16:creationId xmlns:a16="http://schemas.microsoft.com/office/drawing/2014/main" id="{4B25B664-4068-6E4C-3388-FF5AA294C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525" y="2422525"/>
            <a:ext cx="1219200" cy="1219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88073" name="Group 9">
            <a:extLst>
              <a:ext uri="{FF2B5EF4-FFF2-40B4-BE49-F238E27FC236}">
                <a16:creationId xmlns:a16="http://schemas.microsoft.com/office/drawing/2014/main" id="{FF7F2D8F-5E17-B73B-F179-565090BB2320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498725"/>
            <a:ext cx="1203325" cy="854075"/>
            <a:chOff x="4262" y="1574"/>
            <a:chExt cx="768" cy="538"/>
          </a:xfrm>
        </p:grpSpPr>
        <p:sp>
          <p:nvSpPr>
            <p:cNvPr id="100362" name="Rectangle 6">
              <a:extLst>
                <a:ext uri="{FF2B5EF4-FFF2-40B4-BE49-F238E27FC236}">
                  <a16:creationId xmlns:a16="http://schemas.microsoft.com/office/drawing/2014/main" id="{FF670F53-7550-799B-34B3-0875C8A9C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" y="1574"/>
              <a:ext cx="768" cy="1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100363" name="Rectangle 7">
              <a:extLst>
                <a:ext uri="{FF2B5EF4-FFF2-40B4-BE49-F238E27FC236}">
                  <a16:creationId xmlns:a16="http://schemas.microsoft.com/office/drawing/2014/main" id="{1DBAE15F-619D-A7B2-3EB6-E5BE706F3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" y="1980"/>
              <a:ext cx="768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800">
                  <a:solidFill>
                    <a:schemeClr val="tx1"/>
                  </a:solidFill>
                </a:rPr>
                <a:t>1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100364" name="Rectangle 8">
              <a:extLst>
                <a:ext uri="{FF2B5EF4-FFF2-40B4-BE49-F238E27FC236}">
                  <a16:creationId xmlns:a16="http://schemas.microsoft.com/office/drawing/2014/main" id="{55E03E93-959F-5A3E-1BB4-E327BCC82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" y="1768"/>
              <a:ext cx="768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3333CC"/>
                </a:buClr>
                <a:buSzPct val="60000"/>
                <a:buFont typeface="Wingdings" pitchFamily="2" charset="2"/>
                <a:buChar char="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ts val="700"/>
                </a:spcBef>
                <a:buClr>
                  <a:srgbClr val="FF0000"/>
                </a:buClr>
                <a:buSzPct val="55000"/>
                <a:buFont typeface="Wingdings" pitchFamily="2" charset="2"/>
                <a:buChar char="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ts val="600"/>
                </a:spcBef>
                <a:buClr>
                  <a:srgbClr val="3333CC"/>
                </a:buClr>
                <a:buSzPct val="50000"/>
                <a:buFont typeface="Wingdings" pitchFamily="2" charset="2"/>
                <a:buChar char="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ts val="500"/>
                </a:spcBef>
                <a:buClr>
                  <a:srgbClr val="FFCF01"/>
                </a:buClr>
                <a:buSzPct val="55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ts val="500"/>
                </a:spcBef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FFCF01"/>
                </a:buClr>
                <a:buSzPct val="50000"/>
                <a:buFont typeface="Wingdings" pitchFamily="2" charset="2"/>
                <a:buChar char="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“x is 0”</a:t>
              </a:r>
            </a:p>
          </p:txBody>
        </p:sp>
      </p:grpSp>
      <p:grpSp>
        <p:nvGrpSpPr>
          <p:cNvPr id="88074" name="Group 10">
            <a:extLst>
              <a:ext uri="{FF2B5EF4-FFF2-40B4-BE49-F238E27FC236}">
                <a16:creationId xmlns:a16="http://schemas.microsoft.com/office/drawing/2014/main" id="{BE780DB0-A652-04C6-9434-83CC1C468CC5}"/>
              </a:ext>
            </a:extLst>
          </p:cNvPr>
          <p:cNvGrpSpPr>
            <a:grpSpLocks/>
          </p:cNvGrpSpPr>
          <p:nvPr/>
        </p:nvGrpSpPr>
        <p:grpSpPr bwMode="auto">
          <a:xfrm>
            <a:off x="0" y="1600200"/>
            <a:ext cx="4114800" cy="2895600"/>
            <a:chOff x="0" y="1008"/>
            <a:chExt cx="2592" cy="1824"/>
          </a:xfrm>
        </p:grpSpPr>
        <p:sp>
          <p:nvSpPr>
            <p:cNvPr id="100360" name="Line 11">
              <a:extLst>
                <a:ext uri="{FF2B5EF4-FFF2-40B4-BE49-F238E27FC236}">
                  <a16:creationId xmlns:a16="http://schemas.microsoft.com/office/drawing/2014/main" id="{1B520BC3-4ECB-A77B-EA93-AD0A901E7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08"/>
              <a:ext cx="2592" cy="18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61" name="Line 12">
              <a:extLst>
                <a:ext uri="{FF2B5EF4-FFF2-40B4-BE49-F238E27FC236}">
                  <a16:creationId xmlns:a16="http://schemas.microsoft.com/office/drawing/2014/main" id="{17A95D4C-A4F9-9D38-9D15-572D7F36EE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152"/>
              <a:ext cx="2304" cy="129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>
            <a:extLst>
              <a:ext uri="{FF2B5EF4-FFF2-40B4-BE49-F238E27FC236}">
                <a16:creationId xmlns:a16="http://schemas.microsoft.com/office/drawing/2014/main" id="{5974B16F-44CA-09FF-7904-47CA4BB73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OO Mutation (1)</a:t>
            </a:r>
          </a:p>
        </p:txBody>
      </p:sp>
      <p:sp>
        <p:nvSpPr>
          <p:cNvPr id="102402" name="Content Placeholder 2">
            <a:extLst>
              <a:ext uri="{FF2B5EF4-FFF2-40B4-BE49-F238E27FC236}">
                <a16:creationId xmlns:a16="http://schemas.microsoft.com/office/drawing/2014/main" id="{A6C164F3-C735-560F-B081-8EF93CC4EB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6800" y="1676400"/>
            <a:ext cx="7761288" cy="2184400"/>
          </a:xfrm>
        </p:spPr>
        <p:txBody>
          <a:bodyPr/>
          <a:lstStyle/>
          <a:p>
            <a:r>
              <a:rPr lang="en-US" altLang="en-US" sz="2800">
                <a:ea typeface="ＭＳ Ｐゴシック" panose="020B0600070205080204" pitchFamily="34" charset="-128"/>
              </a:rPr>
              <a:t>So far, operators only considered method bodies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Class level elements can be mutated as well: </a:t>
            </a:r>
          </a:p>
        </p:txBody>
      </p:sp>
      <p:sp>
        <p:nvSpPr>
          <p:cNvPr id="102403" name="Slide Number Placeholder 3">
            <a:extLst>
              <a:ext uri="{FF2B5EF4-FFF2-40B4-BE49-F238E27FC236}">
                <a16:creationId xmlns:a16="http://schemas.microsoft.com/office/drawing/2014/main" id="{96E50450-F8A0-E21B-4C0F-4AA1AA5A9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92281668-9328-D14C-BC1B-FAC8D9A488EF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38</a:t>
            </a:fld>
            <a:endParaRPr lang="en-GB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5E3E35-D4C9-2D04-D078-4B3FAFB6DDBF}"/>
              </a:ext>
            </a:extLst>
          </p:cNvPr>
          <p:cNvSpPr txBox="1"/>
          <p:nvPr/>
        </p:nvSpPr>
        <p:spPr>
          <a:xfrm>
            <a:off x="1187624" y="3789040"/>
            <a:ext cx="3096344" cy="23083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public class test {</a:t>
            </a:r>
          </a:p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  public void do() {</a:t>
            </a:r>
          </a:p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…</a:t>
            </a:r>
          </a:p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    }</a:t>
            </a:r>
          </a:p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endParaRPr lang="en-US" dirty="0">
              <a:ln w="12700">
                <a:solidFill>
                  <a:srgbClr val="000000"/>
                </a:solidFill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F009B-7712-9E33-DF73-3BCFBCE63FEA}"/>
              </a:ext>
            </a:extLst>
          </p:cNvPr>
          <p:cNvSpPr txBox="1"/>
          <p:nvPr/>
        </p:nvSpPr>
        <p:spPr>
          <a:xfrm>
            <a:off x="5364088" y="3861048"/>
            <a:ext cx="3312368" cy="23083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public class test {</a:t>
            </a:r>
          </a:p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  </a:t>
            </a:r>
            <a:r>
              <a:rPr lang="en-US" b="1" dirty="0">
                <a:ln w="12700">
                  <a:solidFill>
                    <a:srgbClr val="00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private</a:t>
            </a:r>
            <a:r>
              <a:rPr lang="en-US" b="1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void do() {</a:t>
            </a:r>
          </a:p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…</a:t>
            </a:r>
          </a:p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    }</a:t>
            </a:r>
          </a:p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n w="12700">
                  <a:solidFill>
                    <a:srgbClr val="000000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  <a:defRPr/>
            </a:pPr>
            <a:endParaRPr lang="en-US" dirty="0">
              <a:ln w="12700">
                <a:solidFill>
                  <a:srgbClr val="000000"/>
                </a:solidFill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2406" name="Right Arrow 7">
            <a:extLst>
              <a:ext uri="{FF2B5EF4-FFF2-40B4-BE49-F238E27FC236}">
                <a16:creationId xmlns:a16="http://schemas.microsoft.com/office/drawing/2014/main" id="{E079B250-A06E-F6E1-9F2D-CBA182A92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797425"/>
            <a:ext cx="863600" cy="43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8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itle 1">
            <a:extLst>
              <a:ext uri="{FF2B5EF4-FFF2-40B4-BE49-F238E27FC236}">
                <a16:creationId xmlns:a16="http://schemas.microsoft.com/office/drawing/2014/main" id="{F6F3D63B-7DE1-C1C1-633B-A569820DF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OO Mutation (2)</a:t>
            </a:r>
          </a:p>
        </p:txBody>
      </p:sp>
      <p:sp>
        <p:nvSpPr>
          <p:cNvPr id="103426" name="Content Placeholder 2">
            <a:extLst>
              <a:ext uri="{FF2B5EF4-FFF2-40B4-BE49-F238E27FC236}">
                <a16:creationId xmlns:a16="http://schemas.microsoft.com/office/drawing/2014/main" id="{9B5C2D99-AE7F-96EF-F60C-DF7DF92BB3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6800" y="1676400"/>
            <a:ext cx="7761288" cy="2184400"/>
          </a:xfrm>
        </p:spPr>
        <p:txBody>
          <a:bodyPr/>
          <a:lstStyle/>
          <a:p>
            <a:r>
              <a:rPr lang="en-US" altLang="en-US" sz="2800">
                <a:ea typeface="ＭＳ Ｐゴシック" panose="020B0600070205080204" pitchFamily="34" charset="-128"/>
              </a:rPr>
              <a:t>AMC - Access Modifier Change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HVI - Hiding Variable Insertion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OMD - Overriding Method Deletion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OMR - Overridden Method Rename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SKR - Super Keyword Deletion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PCD - Parent Constructor Deletion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ATC - Actual Type Change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DTC - Declared Type Change</a:t>
            </a:r>
          </a:p>
        </p:txBody>
      </p:sp>
      <p:sp>
        <p:nvSpPr>
          <p:cNvPr id="103427" name="Slide Number Placeholder 3">
            <a:extLst>
              <a:ext uri="{FF2B5EF4-FFF2-40B4-BE49-F238E27FC236}">
                <a16:creationId xmlns:a16="http://schemas.microsoft.com/office/drawing/2014/main" id="{90A25AE1-AC6E-9D08-C084-BCDAD78FD4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3A2FEE67-AB39-4D4D-9141-9C8803EA1370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39</a:t>
            </a:fld>
            <a:endParaRPr lang="en-GB" altLang="en-US" sz="1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>
            <a:extLst>
              <a:ext uri="{FF2B5EF4-FFF2-40B4-BE49-F238E27FC236}">
                <a16:creationId xmlns:a16="http://schemas.microsoft.com/office/drawing/2014/main" id="{0DB414C7-F21A-DF26-B5E0-F1E681458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OO Mutation (3)</a:t>
            </a:r>
          </a:p>
        </p:txBody>
      </p:sp>
      <p:sp>
        <p:nvSpPr>
          <p:cNvPr id="104450" name="Content Placeholder 2">
            <a:extLst>
              <a:ext uri="{FF2B5EF4-FFF2-40B4-BE49-F238E27FC236}">
                <a16:creationId xmlns:a16="http://schemas.microsoft.com/office/drawing/2014/main" id="{859A58BA-E74F-B91A-B477-C3F1862903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6800" y="1676400"/>
            <a:ext cx="7761288" cy="2184400"/>
          </a:xfrm>
        </p:spPr>
        <p:txBody>
          <a:bodyPr/>
          <a:lstStyle/>
          <a:p>
            <a:r>
              <a:rPr lang="en-US" altLang="en-US" sz="2800">
                <a:ea typeface="ＭＳ Ｐゴシック" panose="020B0600070205080204" pitchFamily="34" charset="-128"/>
              </a:rPr>
              <a:t>PTC - Parameter Type Change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RTC - Reference Type Change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OMC - Overloading Method Change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OMD - Overloading Method Deletion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AOC - Argument Order Change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ANC - Argument Number Change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TKD - this Keyword Deletion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SMV - Static Modifier Change</a:t>
            </a:r>
          </a:p>
        </p:txBody>
      </p:sp>
      <p:sp>
        <p:nvSpPr>
          <p:cNvPr id="104451" name="Slide Number Placeholder 3">
            <a:extLst>
              <a:ext uri="{FF2B5EF4-FFF2-40B4-BE49-F238E27FC236}">
                <a16:creationId xmlns:a16="http://schemas.microsoft.com/office/drawing/2014/main" id="{62981951-0DAD-221F-54E6-98158E88E8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1DA0DDE8-7A91-8B4A-A6D2-2EE25B02699E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40</a:t>
            </a:fld>
            <a:endParaRPr lang="en-GB" altLang="en-US" sz="1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algorithm&#10;&#10;Description automatically generated">
            <a:extLst>
              <a:ext uri="{FF2B5EF4-FFF2-40B4-BE49-F238E27FC236}">
                <a16:creationId xmlns:a16="http://schemas.microsoft.com/office/drawing/2014/main" id="{32413660-0CF3-2772-505C-7399A6E39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09"/>
          <a:stretch/>
        </p:blipFill>
        <p:spPr>
          <a:xfrm>
            <a:off x="1259632" y="1"/>
            <a:ext cx="7308304" cy="652534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B4BFC-2CDD-64A5-320F-85234071A9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9E93425E-5457-3D41-8507-A90D11F5FAE2}" type="slidenum">
              <a:rPr lang="en-GB" altLang="en-US" smtClean="0"/>
              <a:pPr>
                <a:defRPr/>
              </a:pPr>
              <a:t>41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15922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Title 1">
            <a:extLst>
              <a:ext uri="{FF2B5EF4-FFF2-40B4-BE49-F238E27FC236}">
                <a16:creationId xmlns:a16="http://schemas.microsoft.com/office/drawing/2014/main" id="{77054E53-BAA4-FE6D-6BF1-30B368D94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Interface Mutation</a:t>
            </a:r>
          </a:p>
        </p:txBody>
      </p:sp>
      <p:sp>
        <p:nvSpPr>
          <p:cNvPr id="105474" name="Content Placeholder 2">
            <a:extLst>
              <a:ext uri="{FF2B5EF4-FFF2-40B4-BE49-F238E27FC236}">
                <a16:creationId xmlns:a16="http://schemas.microsoft.com/office/drawing/2014/main" id="{CF8B76D8-BD8E-ABFA-5F6C-CBE7961A4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6800" y="1676400"/>
            <a:ext cx="7761288" cy="2184400"/>
          </a:xfrm>
        </p:spPr>
        <p:txBody>
          <a:bodyPr/>
          <a:lstStyle/>
          <a:p>
            <a:r>
              <a:rPr lang="en-US" altLang="en-US" sz="2800">
                <a:ea typeface="ＭＳ Ｐゴシック" panose="020B0600070205080204" pitchFamily="34" charset="-128"/>
              </a:rPr>
              <a:t>Integration testing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Change calling method by modifying the values that are sent to a called method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Change a calling method by modifying the call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Change a called method by modifying the values that enter/leave the method</a:t>
            </a:r>
          </a:p>
          <a:p>
            <a:r>
              <a:rPr lang="en-US" altLang="en-US" sz="2800">
                <a:ea typeface="ＭＳ Ｐゴシック" panose="020B0600070205080204" pitchFamily="34" charset="-128"/>
              </a:rPr>
              <a:t>Change a called method by modifying statements that return from the method</a:t>
            </a:r>
          </a:p>
        </p:txBody>
      </p:sp>
      <p:sp>
        <p:nvSpPr>
          <p:cNvPr id="105475" name="Slide Number Placeholder 3">
            <a:extLst>
              <a:ext uri="{FF2B5EF4-FFF2-40B4-BE49-F238E27FC236}">
                <a16:creationId xmlns:a16="http://schemas.microsoft.com/office/drawing/2014/main" id="{EC48F7A7-E763-B87C-C490-9E2676FE55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A4DFD24A-77B1-B645-9CD8-A21A951C3B8B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42</a:t>
            </a:fld>
            <a:endParaRPr lang="en-GB" altLang="en-US" sz="1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12">
            <a:extLst>
              <a:ext uri="{FF2B5EF4-FFF2-40B4-BE49-F238E27FC236}">
                <a16:creationId xmlns:a16="http://schemas.microsoft.com/office/drawing/2014/main" id="{57C18172-FC4C-348B-FD91-642448034B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605590AF-FBF0-9E40-9620-B63C8BC6EC9B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43</a:t>
            </a:fld>
            <a:endParaRPr lang="en-GB" altLang="en-US" sz="1400"/>
          </a:p>
        </p:txBody>
      </p:sp>
      <p:sp>
        <p:nvSpPr>
          <p:cNvPr id="106498" name="Rectangle 1026">
            <a:extLst>
              <a:ext uri="{FF2B5EF4-FFF2-40B4-BE49-F238E27FC236}">
                <a16:creationId xmlns:a16="http://schemas.microsoft.com/office/drawing/2014/main" id="{FCD72E38-6A90-A573-D157-40BE8ACB14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Mutation Testing Tools</a:t>
            </a:r>
          </a:p>
        </p:txBody>
      </p:sp>
      <p:sp>
        <p:nvSpPr>
          <p:cNvPr id="106499" name="Rectangle 1027">
            <a:extLst>
              <a:ext uri="{FF2B5EF4-FFF2-40B4-BE49-F238E27FC236}">
                <a16:creationId xmlns:a16="http://schemas.microsoft.com/office/drawing/2014/main" id="{01175658-369A-B628-9223-D49D78E23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218488" cy="3886200"/>
          </a:xfrm>
        </p:spPr>
        <p:txBody>
          <a:bodyPr/>
          <a:lstStyle/>
          <a:p>
            <a:r>
              <a:rPr lang="en-US" altLang="en-US" sz="2800">
                <a:ea typeface="ＭＳ Ｐゴシック" panose="020B0600070205080204" pitchFamily="34" charset="-128"/>
              </a:rPr>
              <a:t>Some open source mutation testing tools 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  <a:hlinkClick r:id="rId3"/>
              </a:rPr>
              <a:t>http://java-source.net/open-source/testing-tools</a:t>
            </a:r>
            <a:endParaRPr lang="en-US" altLang="en-US" sz="240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sz="2800">
                <a:ea typeface="ＭＳ Ｐゴシック" panose="020B0600070205080204" pitchFamily="34" charset="-128"/>
              </a:rPr>
              <a:t>Java mutation testing for Eclipse: JMuTE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  <a:hlinkClick r:id="rId4"/>
              </a:rPr>
              <a:t>http://sourceforge.net/projects/jmute/</a:t>
            </a:r>
            <a:endParaRPr lang="en-US" altLang="en-US" sz="240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sz="2800">
                <a:ea typeface="ＭＳ Ｐゴシック" panose="020B0600070205080204" pitchFamily="34" charset="-128"/>
              </a:rPr>
              <a:t>Another good one: muJava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  <a:hlinkClick r:id="rId5"/>
              </a:rPr>
              <a:t>http://cs.gmu.edu/~offutt/mujava/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Both traditional and class-level mutation testing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12">
            <a:extLst>
              <a:ext uri="{FF2B5EF4-FFF2-40B4-BE49-F238E27FC236}">
                <a16:creationId xmlns:a16="http://schemas.microsoft.com/office/drawing/2014/main" id="{7D1C8915-4352-DFF6-0C0E-B1C7818D6A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BC60774F-8906-2445-A5C2-4849320FB43A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44</a:t>
            </a:fld>
            <a:endParaRPr lang="en-GB" altLang="en-US" sz="1400"/>
          </a:p>
        </p:txBody>
      </p:sp>
      <p:sp>
        <p:nvSpPr>
          <p:cNvPr id="108546" name="Rectangle 1026">
            <a:extLst>
              <a:ext uri="{FF2B5EF4-FFF2-40B4-BE49-F238E27FC236}">
                <a16:creationId xmlns:a16="http://schemas.microsoft.com/office/drawing/2014/main" id="{AAF89B37-7F86-2572-51E4-82A916877C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Mutation Testing: Summary</a:t>
            </a:r>
          </a:p>
        </p:txBody>
      </p:sp>
      <p:sp>
        <p:nvSpPr>
          <p:cNvPr id="108547" name="Rectangle 1027">
            <a:extLst>
              <a:ext uri="{FF2B5EF4-FFF2-40B4-BE49-F238E27FC236}">
                <a16:creationId xmlns:a16="http://schemas.microsoft.com/office/drawing/2014/main" id="{6F86057F-B707-0AC1-3399-D58428A45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5175" y="1743075"/>
            <a:ext cx="8218488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Mutation Testing is a glass/white box method 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for automatically checking </a:t>
            </a: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test suites for completeness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Mutations are simple, syntactic variants of programs 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that can be generated automatically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Typical mutations are 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value</a:t>
            </a:r>
            <a:r>
              <a:rPr lang="en-US" altLang="en-US" sz="2000">
                <a:ea typeface="ＭＳ Ｐゴシック" panose="020B0600070205080204" pitchFamily="34" charset="-128"/>
              </a:rPr>
              <a:t> mutations, 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decision</a:t>
            </a:r>
            <a:r>
              <a:rPr lang="en-US" altLang="en-US" sz="2000">
                <a:ea typeface="ＭＳ Ｐゴシック" panose="020B0600070205080204" pitchFamily="34" charset="-128"/>
              </a:rPr>
              <a:t> mutations, 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statement</a:t>
            </a:r>
            <a:r>
              <a:rPr lang="en-US" altLang="en-US" sz="2000">
                <a:ea typeface="ＭＳ Ｐゴシック" panose="020B0600070205080204" pitchFamily="34" charset="-128"/>
              </a:rPr>
              <a:t> mutations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Statement coverage is a strong testing system,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 “</a:t>
            </a:r>
            <a:r>
              <a:rPr lang="en-US" altLang="ja-JP" sz="2000">
                <a:solidFill>
                  <a:srgbClr val="FF3300"/>
                </a:solidFill>
                <a:ea typeface="ＭＳ Ｐゴシック" panose="020B0600070205080204" pitchFamily="34" charset="-128"/>
              </a:rPr>
              <a:t>kills</a:t>
            </a:r>
            <a:r>
              <a:rPr lang="en-US" altLang="en-US" sz="2000">
                <a:ea typeface="ＭＳ Ｐゴシック" panose="020B0600070205080204" pitchFamily="34" charset="-128"/>
              </a:rPr>
              <a:t>”</a:t>
            </a:r>
            <a:r>
              <a:rPr lang="en-US" altLang="ja-JP" sz="2000">
                <a:ea typeface="ＭＳ Ｐゴシック" panose="020B0600070205080204" pitchFamily="34" charset="-128"/>
              </a:rPr>
              <a:t> most kinds of mutants</a:t>
            </a:r>
            <a:endParaRPr lang="en-US" altLang="en-US" sz="2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12">
            <a:extLst>
              <a:ext uri="{FF2B5EF4-FFF2-40B4-BE49-F238E27FC236}">
                <a16:creationId xmlns:a16="http://schemas.microsoft.com/office/drawing/2014/main" id="{A4196F2B-7825-A2F9-38F0-8F587C9EEE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3333CC"/>
              </a:buClr>
              <a:buSzPct val="60000"/>
              <a:buFont typeface="Wingdings" pitchFamily="2" charset="2"/>
              <a:buChar char="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ts val="700"/>
              </a:spcBef>
              <a:buClr>
                <a:srgbClr val="FF0000"/>
              </a:buClr>
              <a:buSzPct val="55000"/>
              <a:buFont typeface="Wingdings" pitchFamily="2" charset="2"/>
              <a:buChar char="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ts val="600"/>
              </a:spcBef>
              <a:buClr>
                <a:srgbClr val="3333CC"/>
              </a:buClr>
              <a:buSzPct val="50000"/>
              <a:buFont typeface="Wingdings" pitchFamily="2" charset="2"/>
              <a:buChar char="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500"/>
              </a:spcBef>
              <a:buClr>
                <a:srgbClr val="FFCF01"/>
              </a:buClr>
              <a:buSzPct val="55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500"/>
              </a:spcBef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FCF01"/>
              </a:buClr>
              <a:buSzPct val="50000"/>
              <a:buFont typeface="Wingdings" pitchFamily="2" charset="2"/>
              <a:buChar char="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fld id="{D70F7E15-BE90-4A44-A0EC-B03716BB2FF7}" type="slidenum">
              <a:rPr lang="en-GB" altLang="en-US" sz="1400"/>
              <a:pPr>
                <a:spcBef>
                  <a:spcPct val="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t>45</a:t>
            </a:fld>
            <a:endParaRPr lang="en-GB" altLang="en-US" sz="1400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2D9F5BD6-011F-0212-6A36-B655B3018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Acknowledgements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696B0B1-B394-24CB-E9BE-3CE82F41E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142288" cy="4572000"/>
          </a:xfrm>
        </p:spPr>
        <p:txBody>
          <a:bodyPr/>
          <a:lstStyle/>
          <a:p>
            <a:r>
              <a:rPr lang="en-US" altLang="en-US" sz="2800" b="1">
                <a:ea typeface="ＭＳ Ｐゴシック" panose="020B0600070205080204" pitchFamily="34" charset="-128"/>
              </a:rPr>
              <a:t>This lecture has been prepared with the help of many others, special thanks to </a:t>
            </a:r>
            <a:endParaRPr lang="en-US" altLang="en-US" sz="2400" b="1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Jim Cordy, Queen’s University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Gord McCalla, University of Saskatchewan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Paul Ammann, George Manson University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Jeff Offutt, George Manson University</a:t>
            </a:r>
          </a:p>
          <a:p>
            <a:pPr lvl="1"/>
            <a:r>
              <a:rPr lang="en-US" altLang="en-US" sz="2400">
                <a:solidFill>
                  <a:schemeClr val="tx1"/>
                </a:solidFill>
                <a:ea typeface="ＭＳ Ｐゴシック" panose="020B0600070205080204" pitchFamily="34" charset="-128"/>
              </a:rPr>
              <a:t>Mauro Pezzè, University of Milano Bicocca</a:t>
            </a:r>
          </a:p>
          <a:p>
            <a:pPr lvl="1"/>
            <a:r>
              <a:rPr lang="en-US" altLang="en-US" sz="2400">
                <a:solidFill>
                  <a:schemeClr val="tx1"/>
                </a:solidFill>
                <a:ea typeface="ＭＳ Ｐゴシック" panose="020B0600070205080204" pitchFamily="34" charset="-128"/>
              </a:rPr>
              <a:t>Michal Young, </a:t>
            </a:r>
            <a:r>
              <a:rPr lang="en-US" altLang="en-US" sz="2400">
                <a:ea typeface="ＭＳ Ｐゴシック" panose="020B0600070205080204" pitchFamily="34" charset="-128"/>
              </a:rPr>
              <a:t>University of Oregon Eugene </a:t>
            </a:r>
            <a:endParaRPr lang="en-US" altLang="en-US" sz="240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AR PL ShanHeiSun Uni"/>
        <a:cs typeface="AR PL ShanHeiSun Uni"/>
      </a:majorFont>
      <a:minorFont>
        <a:latin typeface="Arial"/>
        <a:ea typeface="AR PL ShanHeiSun Uni"/>
        <a:cs typeface="AR PL ShanHeiSun Un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AR PL ShanHeiSun Uni"/>
        <a:cs typeface="AR PL ShanHeiSun Uni"/>
      </a:majorFont>
      <a:minorFont>
        <a:latin typeface="Arial"/>
        <a:ea typeface="AR PL ShanHeiSun Uni"/>
        <a:cs typeface="AR PL ShanHeiSun Un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3522</TotalTime>
  <Words>2390</Words>
  <Application>Microsoft Macintosh PowerPoint</Application>
  <PresentationFormat>On-screen Show (4:3)</PresentationFormat>
  <Paragraphs>429</Paragraphs>
  <Slides>45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ＭＳ Ｐゴシック</vt:lpstr>
      <vt:lpstr>Arial</vt:lpstr>
      <vt:lpstr>Arial Black</vt:lpstr>
      <vt:lpstr>Gill Sans</vt:lpstr>
      <vt:lpstr>Monotype Sorts</vt:lpstr>
      <vt:lpstr>Times New Roman</vt:lpstr>
      <vt:lpstr>Wingdings</vt:lpstr>
      <vt:lpstr>Office Theme</vt:lpstr>
      <vt:lpstr>1_Office Theme</vt:lpstr>
      <vt:lpstr>Bitmap Image</vt:lpstr>
      <vt:lpstr>        Software Testing </vt:lpstr>
      <vt:lpstr>Testing</vt:lpstr>
      <vt:lpstr>Validation and Verification</vt:lpstr>
      <vt:lpstr>Validation and Verification</vt:lpstr>
      <vt:lpstr>Cost of Testing</vt:lpstr>
      <vt:lpstr>Classical Levels of Testing</vt:lpstr>
      <vt:lpstr>Poor (commonly used) testing Practices</vt:lpstr>
      <vt:lpstr>Systematic Testing</vt:lpstr>
      <vt:lpstr>Testing:  A few Definitions</vt:lpstr>
      <vt:lpstr>Systematic Testing Methods</vt:lpstr>
      <vt:lpstr>Systematic Testing Methods</vt:lpstr>
      <vt:lpstr>Kinds of White Box Testing</vt:lpstr>
      <vt:lpstr>Statement Coverage Method</vt:lpstr>
      <vt:lpstr>Example: Statement Coverage</vt:lpstr>
      <vt:lpstr>What is the Target?  =&gt; Find the Test Suite.</vt:lpstr>
      <vt:lpstr>Example: Statement Coverage Tests</vt:lpstr>
      <vt:lpstr>Decision Coverage Method</vt:lpstr>
      <vt:lpstr>Decision Coverage: What are the decisions?</vt:lpstr>
      <vt:lpstr>Decision Coverage: What are the decisions?</vt:lpstr>
      <vt:lpstr>Example: Decision Coverage</vt:lpstr>
      <vt:lpstr>Mutation Testing?</vt:lpstr>
      <vt:lpstr>Why do we need Mutation Testing?</vt:lpstr>
      <vt:lpstr>Adequacy of a Test Suite</vt:lpstr>
      <vt:lpstr>What is a Mutant?</vt:lpstr>
      <vt:lpstr>What is “Killed a Mutant”?</vt:lpstr>
      <vt:lpstr>PowerPoint Presentation</vt:lpstr>
      <vt:lpstr>How does Mutation Testing work?</vt:lpstr>
      <vt:lpstr>Systematic Mutation: Mutants</vt:lpstr>
      <vt:lpstr>Example 1: Value Mutation</vt:lpstr>
      <vt:lpstr>Example 1: Value Mutation</vt:lpstr>
      <vt:lpstr>Example 1: Value Mutation</vt:lpstr>
      <vt:lpstr>Example 1: Value Mutation</vt:lpstr>
      <vt:lpstr>Example 2: Decision Mutation</vt:lpstr>
      <vt:lpstr>Example 2: Decision Mutation</vt:lpstr>
      <vt:lpstr>Example 2: Decision Mutation</vt:lpstr>
      <vt:lpstr>Example 3: Statement Mutation</vt:lpstr>
      <vt:lpstr>Example 3: Statement Mutation</vt:lpstr>
      <vt:lpstr>OO Mutation (1)</vt:lpstr>
      <vt:lpstr>OO Mutation (2)</vt:lpstr>
      <vt:lpstr>OO Mutation (3)</vt:lpstr>
      <vt:lpstr>PowerPoint Presentation</vt:lpstr>
      <vt:lpstr>Interface Mutation</vt:lpstr>
      <vt:lpstr>Mutation Testing Tools</vt:lpstr>
      <vt:lpstr>Mutation Testing: Summary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Scenario-based Comparison of Clone Detection Techniques</dc:title>
  <dc:creator>JR Cordy</dc:creator>
  <cp:lastModifiedBy>Muhammad Asaduzzaman</cp:lastModifiedBy>
  <cp:revision>779</cp:revision>
  <dcterms:modified xsi:type="dcterms:W3CDTF">2026-09-23T20:15:57Z</dcterms:modified>
</cp:coreProperties>
</file>