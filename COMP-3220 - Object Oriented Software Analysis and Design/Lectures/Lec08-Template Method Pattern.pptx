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361" r:id="rId3"/>
    <p:sldId id="379" r:id="rId4"/>
    <p:sldId id="375" r:id="rId5"/>
    <p:sldId id="363" r:id="rId6"/>
    <p:sldId id="365" r:id="rId7"/>
    <p:sldId id="364" r:id="rId8"/>
    <p:sldId id="367" r:id="rId9"/>
    <p:sldId id="376" r:id="rId10"/>
    <p:sldId id="368" r:id="rId11"/>
    <p:sldId id="369" r:id="rId12"/>
    <p:sldId id="370" r:id="rId13"/>
    <p:sldId id="371" r:id="rId14"/>
    <p:sldId id="377" r:id="rId15"/>
    <p:sldId id="378" r:id="rId16"/>
    <p:sldId id="374" r:id="rId17"/>
    <p:sldId id="380" r:id="rId18"/>
    <p:sldId id="38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58F28-8F51-3241-839D-8A246DB27757}" v="14" dt="2026-06-24T14:59:34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9" autoAdjust="0"/>
    <p:restoredTop sz="96301" autoAdjust="0"/>
  </p:normalViewPr>
  <p:slideViewPr>
    <p:cSldViewPr>
      <p:cViewPr varScale="1">
        <p:scale>
          <a:sx n="123" d="100"/>
          <a:sy n="123" d="100"/>
        </p:scale>
        <p:origin x="592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30T15:46:15.939" v="2422" actId="20577"/>
      <pc:docMkLst>
        <pc:docMk/>
      </pc:docMkLst>
      <pc:sldChg chg="delSp modSp mod">
        <pc:chgData name="Saeed Samet" userId="cfbf7cda-a3f0-4a18-b58e-e4747a47ab2e" providerId="ADAL" clId="{1DAAA582-D431-51E1-B726-79BB57AE61A7}" dt="2026-06-30T15:16:53.163" v="2351" actId="403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30T15:16:53.163" v="2351" actId="403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6-30T15:16:46.295" v="2349" actId="20577"/>
          <ac:spMkLst>
            <pc:docMk/>
            <pc:sldMk cId="223137185" sldId="361"/>
            <ac:spMk id="7" creationId="{00000000-0000-0000-0000-000000000000}"/>
          </ac:spMkLst>
        </pc:spChg>
      </pc:sldChg>
      <pc:sldChg chg="addSp delSp modSp add mod">
        <pc:chgData name="Saeed Samet" userId="cfbf7cda-a3f0-4a18-b58e-e4747a47ab2e" providerId="ADAL" clId="{1DAAA582-D431-51E1-B726-79BB57AE61A7}" dt="2026-06-24T14:59:14.371" v="2312" actId="478"/>
        <pc:sldMkLst>
          <pc:docMk/>
          <pc:sldMk cId="3523902345" sldId="363"/>
        </pc:sldMkLst>
      </pc:sldChg>
      <pc:sldChg chg="delSp modSp add mod ord">
        <pc:chgData name="Saeed Samet" userId="cfbf7cda-a3f0-4a18-b58e-e4747a47ab2e" providerId="ADAL" clId="{1DAAA582-D431-51E1-B726-79BB57AE61A7}" dt="2026-06-24T14:59:18.686" v="2316" actId="478"/>
        <pc:sldMkLst>
          <pc:docMk/>
          <pc:sldMk cId="2019240581" sldId="364"/>
        </pc:sldMkLst>
      </pc:sldChg>
      <pc:sldChg chg="addSp delSp modSp add mod">
        <pc:chgData name="Saeed Samet" userId="cfbf7cda-a3f0-4a18-b58e-e4747a47ab2e" providerId="ADAL" clId="{1DAAA582-D431-51E1-B726-79BB57AE61A7}" dt="2026-06-24T14:59:16.606" v="2314" actId="478"/>
        <pc:sldMkLst>
          <pc:docMk/>
          <pc:sldMk cId="100773180" sldId="365"/>
        </pc:sldMkLst>
      </pc:sldChg>
      <pc:sldChg chg="addSp delSp modSp add mod">
        <pc:chgData name="Saeed Samet" userId="cfbf7cda-a3f0-4a18-b58e-e4747a47ab2e" providerId="ADAL" clId="{1DAAA582-D431-51E1-B726-79BB57AE61A7}" dt="2026-06-24T14:59:20.580" v="2318" actId="478"/>
        <pc:sldMkLst>
          <pc:docMk/>
          <pc:sldMk cId="1641611093" sldId="367"/>
        </pc:sldMkLst>
      </pc:sldChg>
      <pc:sldChg chg="addSp delSp modSp add mod">
        <pc:chgData name="Saeed Samet" userId="cfbf7cda-a3f0-4a18-b58e-e4747a47ab2e" providerId="ADAL" clId="{1DAAA582-D431-51E1-B726-79BB57AE61A7}" dt="2026-06-24T14:59:24.157" v="2322" actId="478"/>
        <pc:sldMkLst>
          <pc:docMk/>
          <pc:sldMk cId="238699324" sldId="368"/>
        </pc:sldMkLst>
      </pc:sldChg>
      <pc:sldChg chg="addSp delSp modSp add mod">
        <pc:chgData name="Saeed Samet" userId="cfbf7cda-a3f0-4a18-b58e-e4747a47ab2e" providerId="ADAL" clId="{1DAAA582-D431-51E1-B726-79BB57AE61A7}" dt="2026-06-24T14:59:26.124" v="2324" actId="478"/>
        <pc:sldMkLst>
          <pc:docMk/>
          <pc:sldMk cId="1918700562" sldId="369"/>
        </pc:sldMkLst>
      </pc:sldChg>
      <pc:sldChg chg="addSp delSp modSp add mod">
        <pc:chgData name="Saeed Samet" userId="cfbf7cda-a3f0-4a18-b58e-e4747a47ab2e" providerId="ADAL" clId="{1DAAA582-D431-51E1-B726-79BB57AE61A7}" dt="2026-06-24T14:59:27.980" v="2326" actId="478"/>
        <pc:sldMkLst>
          <pc:docMk/>
          <pc:sldMk cId="4236709627" sldId="370"/>
        </pc:sldMkLst>
      </pc:sldChg>
      <pc:sldChg chg="addSp delSp modSp add mod">
        <pc:chgData name="Saeed Samet" userId="cfbf7cda-a3f0-4a18-b58e-e4747a47ab2e" providerId="ADAL" clId="{1DAAA582-D431-51E1-B726-79BB57AE61A7}" dt="2026-06-24T14:59:29.816" v="2328" actId="478"/>
        <pc:sldMkLst>
          <pc:docMk/>
          <pc:sldMk cId="502972443" sldId="371"/>
        </pc:sldMkLst>
      </pc:sldChg>
      <pc:sldChg chg="delSp modSp add mod ord">
        <pc:chgData name="Saeed Samet" userId="cfbf7cda-a3f0-4a18-b58e-e4747a47ab2e" providerId="ADAL" clId="{1DAAA582-D431-51E1-B726-79BB57AE61A7}" dt="2026-06-30T15:45:56.842" v="2414" actId="14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30T15:45:56.842" v="2414" actId="14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6-30T15:45:25.657" v="2403" actId="20577"/>
          <ac:spMkLst>
            <pc:docMk/>
            <pc:sldMk cId="1259420481" sldId="374"/>
            <ac:spMk id="7" creationId="{EAC2E4C5-5BFF-0943-7121-4C94A4FF263C}"/>
          </ac:spMkLst>
        </pc:spChg>
      </pc:sldChg>
      <pc:sldChg chg="delSp modSp add mod">
        <pc:chgData name="Saeed Samet" userId="cfbf7cda-a3f0-4a18-b58e-e4747a47ab2e" providerId="ADAL" clId="{1DAAA582-D431-51E1-B726-79BB57AE61A7}" dt="2026-06-24T14:59:12.432" v="2310" actId="478"/>
        <pc:sldMkLst>
          <pc:docMk/>
          <pc:sldMk cId="1560029853" sldId="375"/>
        </pc:sldMkLst>
      </pc:sldChg>
      <pc:sldChg chg="delSp add mod">
        <pc:chgData name="Saeed Samet" userId="cfbf7cda-a3f0-4a18-b58e-e4747a47ab2e" providerId="ADAL" clId="{1DAAA582-D431-51E1-B726-79BB57AE61A7}" dt="2026-06-24T14:59:22.382" v="2320" actId="478"/>
        <pc:sldMkLst>
          <pc:docMk/>
          <pc:sldMk cId="1071284184" sldId="376"/>
        </pc:sldMkLst>
      </pc:sldChg>
      <pc:sldChg chg="delSp modSp add mod">
        <pc:chgData name="Saeed Samet" userId="cfbf7cda-a3f0-4a18-b58e-e4747a47ab2e" providerId="ADAL" clId="{1DAAA582-D431-51E1-B726-79BB57AE61A7}" dt="2026-06-24T14:59:31.719" v="2330" actId="478"/>
        <pc:sldMkLst>
          <pc:docMk/>
          <pc:sldMk cId="2902594015" sldId="377"/>
        </pc:sldMkLst>
      </pc:sldChg>
      <pc:sldChg chg="addSp delSp modSp add mod">
        <pc:chgData name="Saeed Samet" userId="cfbf7cda-a3f0-4a18-b58e-e4747a47ab2e" providerId="ADAL" clId="{1DAAA582-D431-51E1-B726-79BB57AE61A7}" dt="2026-06-24T14:59:33.499" v="2332" actId="478"/>
        <pc:sldMkLst>
          <pc:docMk/>
          <pc:sldMk cId="3553677106" sldId="378"/>
        </pc:sldMkLst>
      </pc:sldChg>
      <pc:sldChg chg="modSp add mod">
        <pc:chgData name="Saeed Samet" userId="cfbf7cda-a3f0-4a18-b58e-e4747a47ab2e" providerId="ADAL" clId="{1DAAA582-D431-51E1-B726-79BB57AE61A7}" dt="2026-06-30T15:23:35.500" v="2390" actId="403"/>
        <pc:sldMkLst>
          <pc:docMk/>
          <pc:sldMk cId="2044789744" sldId="379"/>
        </pc:sldMkLst>
        <pc:spChg chg="mod">
          <ac:chgData name="Saeed Samet" userId="cfbf7cda-a3f0-4a18-b58e-e4747a47ab2e" providerId="ADAL" clId="{1DAAA582-D431-51E1-B726-79BB57AE61A7}" dt="2026-06-30T15:23:35.500" v="2390" actId="403"/>
          <ac:spMkLst>
            <pc:docMk/>
            <pc:sldMk cId="2044789744" sldId="379"/>
            <ac:spMk id="3" creationId="{30299D69-F0F2-34E3-6879-CDC536EDBF36}"/>
          </ac:spMkLst>
        </pc:spChg>
        <pc:spChg chg="mod">
          <ac:chgData name="Saeed Samet" userId="cfbf7cda-a3f0-4a18-b58e-e4747a47ab2e" providerId="ADAL" clId="{1DAAA582-D431-51E1-B726-79BB57AE61A7}" dt="2026-06-30T15:16:58.769" v="2360" actId="20577"/>
          <ac:spMkLst>
            <pc:docMk/>
            <pc:sldMk cId="2044789744" sldId="379"/>
            <ac:spMk id="7" creationId="{E9F19AA8-13F0-6859-3474-F217FC244E81}"/>
          </ac:spMkLst>
        </pc:spChg>
      </pc:sldChg>
      <pc:sldChg chg="modSp add mod">
        <pc:chgData name="Saeed Samet" userId="cfbf7cda-a3f0-4a18-b58e-e4747a47ab2e" providerId="ADAL" clId="{1DAAA582-D431-51E1-B726-79BB57AE61A7}" dt="2026-06-30T15:45:51.389" v="2412" actId="403"/>
        <pc:sldMkLst>
          <pc:docMk/>
          <pc:sldMk cId="3234397310" sldId="380"/>
        </pc:sldMkLst>
        <pc:spChg chg="mod">
          <ac:chgData name="Saeed Samet" userId="cfbf7cda-a3f0-4a18-b58e-e4747a47ab2e" providerId="ADAL" clId="{1DAAA582-D431-51E1-B726-79BB57AE61A7}" dt="2026-06-30T15:45:51.389" v="2412" actId="403"/>
          <ac:spMkLst>
            <pc:docMk/>
            <pc:sldMk cId="3234397310" sldId="380"/>
            <ac:spMk id="3" creationId="{E8BB9339-8B97-57C9-832B-E4CFC7E9C4CA}"/>
          </ac:spMkLst>
        </pc:spChg>
        <pc:spChg chg="mod">
          <ac:chgData name="Saeed Samet" userId="cfbf7cda-a3f0-4a18-b58e-e4747a47ab2e" providerId="ADAL" clId="{1DAAA582-D431-51E1-B726-79BB57AE61A7}" dt="2026-06-30T15:45:33.263" v="2405" actId="20577"/>
          <ac:spMkLst>
            <pc:docMk/>
            <pc:sldMk cId="3234397310" sldId="380"/>
            <ac:spMk id="7" creationId="{912FE833-A494-C2AD-CBD8-ECCF40B92126}"/>
          </ac:spMkLst>
        </pc:spChg>
      </pc:sldChg>
      <pc:sldChg chg="modSp add mod">
        <pc:chgData name="Saeed Samet" userId="cfbf7cda-a3f0-4a18-b58e-e4747a47ab2e" providerId="ADAL" clId="{1DAAA582-D431-51E1-B726-79BB57AE61A7}" dt="2026-06-30T15:46:15.939" v="2422" actId="20577"/>
        <pc:sldMkLst>
          <pc:docMk/>
          <pc:sldMk cId="2099613042" sldId="381"/>
        </pc:sldMkLst>
        <pc:spChg chg="mod">
          <ac:chgData name="Saeed Samet" userId="cfbf7cda-a3f0-4a18-b58e-e4747a47ab2e" providerId="ADAL" clId="{1DAAA582-D431-51E1-B726-79BB57AE61A7}" dt="2026-06-30T15:46:10.523" v="2420" actId="403"/>
          <ac:spMkLst>
            <pc:docMk/>
            <pc:sldMk cId="2099613042" sldId="381"/>
            <ac:spMk id="3" creationId="{AA888C16-0FDF-D94E-B760-8F317B27A865}"/>
          </ac:spMkLst>
        </pc:spChg>
        <pc:spChg chg="mod">
          <ac:chgData name="Saeed Samet" userId="cfbf7cda-a3f0-4a18-b58e-e4747a47ab2e" providerId="ADAL" clId="{1DAAA582-D431-51E1-B726-79BB57AE61A7}" dt="2026-06-30T15:46:15.939" v="2422" actId="20577"/>
          <ac:spMkLst>
            <pc:docMk/>
            <pc:sldMk cId="2099613042" sldId="381"/>
            <ac:spMk id="7" creationId="{21A3FEC9-51EC-75B2-EB21-A4C33853D89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8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Template Method Pattern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It defines the skeleton of an algorithm in a superclass while allowing subclasses to redefine specific steps of the algorithm without changing its overall structure.</a:t>
            </a:r>
          </a:p>
          <a:p>
            <a:r>
              <a:rPr lang="en-US" dirty="0"/>
              <a:t>The superclass controls the algorithm flow, while subclasses customize certain operations.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2033-0E2D-DBA3-C1D0-B9D02D26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9D69-F0F2-34E3-6879-CDC536EDB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pPr marL="466725" lvl="1" indent="-457200">
              <a:buFont typeface="Arial" panose="020B0604020202020204" pitchFamily="34" charset="0"/>
              <a:buChar char="•"/>
            </a:pPr>
            <a:r>
              <a:rPr lang="en-US" dirty="0"/>
              <a:t>In many systems:</a:t>
            </a:r>
          </a:p>
          <a:p>
            <a:pPr lvl="1"/>
            <a:r>
              <a:rPr lang="en-US" sz="2400" dirty="0"/>
              <a:t>Multiple classes perform similar workflows.</a:t>
            </a:r>
          </a:p>
          <a:p>
            <a:pPr lvl="1"/>
            <a:r>
              <a:rPr lang="en-US" sz="2400" dirty="0"/>
              <a:t>The overall algorithm remains the same.</a:t>
            </a:r>
          </a:p>
          <a:p>
            <a:pPr lvl="1"/>
            <a:r>
              <a:rPr lang="en-US" sz="2400" dirty="0"/>
              <a:t>Only some individual steps differ.</a:t>
            </a:r>
          </a:p>
          <a:p>
            <a:pPr marL="466725" lvl="1" indent="-457200">
              <a:buFont typeface="Arial" panose="020B0604020202020204" pitchFamily="34" charset="0"/>
              <a:buChar char="•"/>
            </a:pPr>
            <a:r>
              <a:rPr lang="en-US" dirty="0"/>
              <a:t>Without Template Method: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Code duplication increases.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Common logic is repeated.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Maintenance becomes difficult.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 marL="457200" lvl="1" indent="-406400" algn="ctr">
              <a:buNone/>
            </a:pPr>
            <a:r>
              <a:rPr lang="en-US" sz="3200" dirty="0"/>
              <a:t>The Template Method Pattern extracts the common workflow into a base class and allows subclasses to customize selected steps.</a:t>
            </a:r>
            <a:endParaRPr lang="en-US" sz="3600" dirty="0"/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24503-A10D-4FA0-9759-A7DA38E0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0EA284-4F75-77E1-6A3F-0AFB6AB0543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F19AA8-13F0-6859-3474-F217FC244E8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04478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6437-75D2-B43A-AADE-625EB19A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D5F7-1E2C-A80D-BCC9-1D84B096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Eliminates duplicated workflow logic.</a:t>
            </a:r>
          </a:p>
          <a:p>
            <a:r>
              <a:rPr lang="en-US" sz="2800" dirty="0"/>
              <a:t>Enforces a fixed algorithm structure.</a:t>
            </a:r>
          </a:p>
          <a:p>
            <a:r>
              <a:rPr lang="en-US" sz="2800" dirty="0"/>
              <a:t>Allows controlled customization.</a:t>
            </a:r>
          </a:p>
          <a:p>
            <a:r>
              <a:rPr lang="en-US" sz="2800" dirty="0"/>
              <a:t>Promotes code reuse.</a:t>
            </a:r>
          </a:p>
          <a:p>
            <a:r>
              <a:rPr lang="en-US" sz="2800" dirty="0"/>
              <a:t>Supports the Hollywood Principle: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“Don’t call us, we’ll call you.”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The superclass controls the execution flow and calls subclass methods when needed.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851E-1F00-6477-C06F-9087652D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9F2C9E-C5FB-212E-C4D4-880AD4E2294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9FA8-599F-72FA-3386-9193EFCB38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156002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Making Beverages</a:t>
            </a:r>
          </a:p>
          <a:p>
            <a:pPr marL="0" indent="311150">
              <a:buNone/>
            </a:pPr>
            <a:r>
              <a:rPr lang="en-US" sz="2800" dirty="0"/>
              <a:t>Suppose we prepare tea and coffee. The general process is:</a:t>
            </a:r>
          </a:p>
          <a:p>
            <a:pPr lvl="1"/>
            <a:r>
              <a:rPr lang="en-US" sz="2400" dirty="0"/>
              <a:t>Boil water</a:t>
            </a:r>
          </a:p>
          <a:p>
            <a:pPr lvl="1"/>
            <a:r>
              <a:rPr lang="en-US" sz="2400" dirty="0"/>
              <a:t>Brew the drink</a:t>
            </a:r>
          </a:p>
          <a:p>
            <a:pPr lvl="1"/>
            <a:r>
              <a:rPr lang="en-US" sz="2400" dirty="0"/>
              <a:t>Pour into cup</a:t>
            </a:r>
          </a:p>
          <a:p>
            <a:pPr lvl="1"/>
            <a:r>
              <a:rPr lang="en-US" sz="2400" dirty="0"/>
              <a:t>Add condiments</a:t>
            </a:r>
          </a:p>
          <a:p>
            <a:endParaRPr lang="en-US" sz="2800" dirty="0"/>
          </a:p>
          <a:p>
            <a:pPr marL="0" indent="311150">
              <a:buNone/>
            </a:pPr>
            <a:r>
              <a:rPr lang="en-US" sz="2900" dirty="0"/>
              <a:t>The overall process is identical. </a:t>
            </a:r>
            <a:r>
              <a:rPr lang="en-US" sz="2800" dirty="0"/>
              <a:t>Only some steps differ:</a:t>
            </a:r>
          </a:p>
          <a:p>
            <a:endParaRPr lang="en-US" sz="2800" dirty="0"/>
          </a:p>
          <a:p>
            <a:pPr lvl="1"/>
            <a:r>
              <a:rPr lang="en-US" sz="2400" dirty="0"/>
              <a:t>Tea uses tea leaves and lemon.</a:t>
            </a:r>
          </a:p>
          <a:p>
            <a:endParaRPr lang="en-US" sz="2800" dirty="0"/>
          </a:p>
          <a:p>
            <a:pPr lvl="1"/>
            <a:r>
              <a:rPr lang="en-US" sz="2400" dirty="0"/>
              <a:t>Coffee uses coffee beans and sugar/milk.</a:t>
            </a:r>
          </a:p>
          <a:p>
            <a:endParaRPr lang="en-US" sz="2800" dirty="0"/>
          </a:p>
          <a:p>
            <a:pPr marL="311150" indent="0">
              <a:buNone/>
            </a:pPr>
            <a:r>
              <a:rPr lang="en-US" sz="2800" dirty="0"/>
              <a:t>The recipe structure stays fixed while subclasses customize some steps.</a:t>
            </a:r>
          </a:p>
          <a:p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98E7-2D5E-9330-5942-48799D41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CC96D-28EB-C05F-476C-B69C52A8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F8387A-8A8D-9D07-A7E7-E94442C0387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69AD4F-8C4E-234D-19EF-E6CD42DE15E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AE3F2-468C-2460-9CC9-BC1D8E130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83040"/>
            <a:ext cx="7772400" cy="606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Main Participants</a:t>
            </a:r>
          </a:p>
          <a:p>
            <a:pPr lvl="1"/>
            <a:r>
              <a:rPr lang="en-US" dirty="0"/>
              <a:t>Abstract Class</a:t>
            </a:r>
          </a:p>
          <a:p>
            <a:pPr marL="457200" lvl="1" indent="0">
              <a:buNone/>
            </a:pPr>
            <a:r>
              <a:rPr lang="en-US" dirty="0"/>
              <a:t>Defines:</a:t>
            </a:r>
          </a:p>
          <a:p>
            <a:pPr lvl="2"/>
            <a:r>
              <a:rPr lang="en-US" dirty="0"/>
              <a:t>The template method (algorithm skeleton)</a:t>
            </a:r>
          </a:p>
          <a:p>
            <a:pPr lvl="2"/>
            <a:r>
              <a:rPr lang="en-US" dirty="0"/>
              <a:t>Common operations</a:t>
            </a:r>
          </a:p>
          <a:p>
            <a:pPr lvl="2"/>
            <a:r>
              <a:rPr lang="en-US" dirty="0"/>
              <a:t>Abstract operations to be implemented by subclasses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Concrete Subclasses</a:t>
            </a:r>
          </a:p>
          <a:p>
            <a:pPr marL="457200" lvl="1" indent="0">
              <a:buNone/>
            </a:pPr>
            <a:r>
              <a:rPr lang="en-US" dirty="0"/>
              <a:t>Implement the variable steps of the algorithm.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Client</a:t>
            </a:r>
          </a:p>
          <a:p>
            <a:pPr marL="457200" lvl="1" indent="0">
              <a:buNone/>
            </a:pPr>
            <a:r>
              <a:rPr lang="en-US" dirty="0"/>
              <a:t>Uses subclasses through the common template method.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Template Method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Template Method Pattern –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E01D7-5EBC-05BC-C140-4957A374F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19" y="1122377"/>
            <a:ext cx="8423962" cy="52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EEA9-750C-1892-9CFC-04775DCC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12040-872D-1EB6-0502-ED7D8E3F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F2253B-5888-CD97-12AD-CA01C0BFC3D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7B67A7E-17F4-5CB4-E8B5-41E731E1A89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Template Method Pattern –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BF8B61-20C8-0952-D83B-FAA3FEBA9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44696"/>
            <a:ext cx="7772400" cy="511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8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We create:</a:t>
            </a:r>
          </a:p>
          <a:p>
            <a:pPr lvl="1"/>
            <a:r>
              <a:rPr lang="en-US" sz="2400" dirty="0"/>
              <a:t>Tea</a:t>
            </a:r>
            <a:endParaRPr lang="en-US" sz="2800" dirty="0"/>
          </a:p>
          <a:p>
            <a:pPr lvl="1"/>
            <a:r>
              <a:rPr lang="en-US" sz="2400" dirty="0"/>
              <a:t>Coffee</a:t>
            </a:r>
            <a:endParaRPr lang="en-US" sz="28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Both follow the same recipe structure:</a:t>
            </a:r>
            <a:endParaRPr lang="en-US" sz="2800" dirty="0"/>
          </a:p>
          <a:p>
            <a:pPr lvl="1"/>
            <a:r>
              <a:rPr lang="en-US" sz="2400" dirty="0"/>
              <a:t>Boil water</a:t>
            </a:r>
            <a:endParaRPr lang="en-US" sz="2800" dirty="0"/>
          </a:p>
          <a:p>
            <a:pPr lvl="1"/>
            <a:r>
              <a:rPr lang="en-US" sz="2400" dirty="0"/>
              <a:t>Brew beverage</a:t>
            </a:r>
            <a:endParaRPr lang="en-US" sz="2800" dirty="0"/>
          </a:p>
          <a:p>
            <a:pPr lvl="1"/>
            <a:r>
              <a:rPr lang="en-US" sz="2400" dirty="0"/>
              <a:t>Pour into cup</a:t>
            </a:r>
            <a:endParaRPr lang="en-US" sz="2800" dirty="0"/>
          </a:p>
          <a:p>
            <a:pPr lvl="1"/>
            <a:r>
              <a:rPr lang="en-US" sz="2400" dirty="0"/>
              <a:t>Add condiments</a:t>
            </a:r>
            <a:endParaRPr lang="en-US" sz="2800" dirty="0"/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The differing steps are implemented by subclasses.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Beverage Preparation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5A2FD-B3B7-CCBD-F44B-AD6218017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0200" y="1645731"/>
            <a:ext cx="3693011" cy="356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F067A-0EDC-99BB-D4E5-7F880C7C6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592" y="957943"/>
            <a:ext cx="474281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D70A8D-E6F4-B4EB-669C-34A41894F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66800"/>
            <a:ext cx="4015916" cy="266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0A95A6-9D9C-B201-1DD7-2446CB812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12" y="1066800"/>
            <a:ext cx="4260888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B193-ED1C-9EFF-7ED5-7CCFFB18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86E3F-CDA7-CAAB-3952-72C8762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C89FD-AE57-B698-2C3D-D5116E5AAB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4E8120-0035-19DB-FF1C-BDCD508C0B9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55098-3C60-0970-A011-241452C5E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8335"/>
            <a:ext cx="5931786" cy="49358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3C88F1-812B-D618-145F-7AEE3262F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14599"/>
            <a:ext cx="2362200" cy="310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2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66BF9-810D-3CED-3663-BE366D51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71D0-4B01-1A62-36BF-CC9D472C9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Template Method often uses hook methods.</a:t>
            </a:r>
          </a:p>
          <a:p>
            <a:pPr marL="0" indent="365125">
              <a:buNone/>
            </a:pPr>
            <a:r>
              <a:rPr lang="en-US" sz="2800" dirty="0"/>
              <a:t>A hook method:</a:t>
            </a:r>
          </a:p>
          <a:p>
            <a:pPr lvl="1"/>
            <a:r>
              <a:rPr lang="en-US" sz="2400" dirty="0"/>
              <a:t>Is optional</a:t>
            </a:r>
            <a:endParaRPr lang="en-US" sz="2800" dirty="0"/>
          </a:p>
          <a:p>
            <a:pPr lvl="1"/>
            <a:r>
              <a:rPr lang="en-US" sz="2400" dirty="0"/>
              <a:t>Has a default implementation</a:t>
            </a:r>
            <a:endParaRPr lang="en-US" sz="2800" dirty="0"/>
          </a:p>
          <a:p>
            <a:pPr lvl="1"/>
            <a:r>
              <a:rPr lang="en-US" sz="2400" dirty="0"/>
              <a:t>Can be overridden by subclasses</a:t>
            </a:r>
            <a:endParaRPr lang="en-US" sz="2800" dirty="0"/>
          </a:p>
          <a:p>
            <a:pPr marL="0" indent="407988">
              <a:buNone/>
            </a:pPr>
            <a:r>
              <a:rPr lang="en-US" sz="2800" dirty="0"/>
              <a:t>Hooks provide flexible customization.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E3FC1-8256-5A97-AADC-77AA2F6F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147558-2EA9-612E-C074-439AD4EEFAD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68A086-A338-A48F-D6D9-D25B7A26AFB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Hook Methods</a:t>
            </a:r>
          </a:p>
        </p:txBody>
      </p:sp>
    </p:spTree>
    <p:extLst>
      <p:ext uri="{BB962C8B-B14F-4D97-AF65-F5344CB8AC3E}">
        <p14:creationId xmlns:p14="http://schemas.microsoft.com/office/powerpoint/2010/main" val="290259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916E-F143-44D8-8220-56702345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DB025-7D76-628A-33D4-9DE88753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D288DC-EF51-7D21-CC38-E4DF48838A5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4FE4B9-026B-99A1-0E13-C11B7F75BF1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10037-D131-AD2A-B586-D2646C31E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851477"/>
            <a:ext cx="3962400" cy="59638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44D8A7-5055-3FBC-9CFA-ED5746030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86" y="828020"/>
            <a:ext cx="4644414" cy="41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7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4000" dirty="0"/>
              <a:t>Promotes code reuse.</a:t>
            </a:r>
          </a:p>
          <a:p>
            <a:r>
              <a:rPr lang="en-US" sz="4000" dirty="0"/>
              <a:t>Centralizes workflow logic.</a:t>
            </a:r>
          </a:p>
          <a:p>
            <a:r>
              <a:rPr lang="en-US" sz="4000" dirty="0"/>
              <a:t>Enforces algorithm structure.</a:t>
            </a:r>
          </a:p>
          <a:p>
            <a:r>
              <a:rPr lang="en-US" sz="4000" dirty="0"/>
              <a:t>Supports Open/Closed Principle.</a:t>
            </a:r>
          </a:p>
          <a:p>
            <a:r>
              <a:rPr lang="en-US" sz="4000" dirty="0"/>
              <a:t>Simplifies maintenance.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DF4B-E25D-C205-3C79-7EA68BC4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9339-8B97-57C9-832B-E4CFC7E9C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Inheritance-based design can increase coupling.</a:t>
            </a:r>
          </a:p>
          <a:p>
            <a:r>
              <a:rPr lang="en-US" sz="3600" dirty="0"/>
              <a:t>Large abstract classes may become difficult to maintain.</a:t>
            </a:r>
          </a:p>
          <a:p>
            <a:r>
              <a:rPr lang="en-US" sz="3600" dirty="0"/>
              <a:t>Deep inheritance hierarchies may reduce flexibility.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449E1-3087-D077-3589-F0D25C3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AAEED-C7B8-8143-F7A9-F347DB40431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2FE833-A494-C2AD-CBD8-ECCF40B9212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Disadvantages </a:t>
            </a:r>
          </a:p>
        </p:txBody>
      </p:sp>
    </p:spTree>
    <p:extLst>
      <p:ext uri="{BB962C8B-B14F-4D97-AF65-F5344CB8AC3E}">
        <p14:creationId xmlns:p14="http://schemas.microsoft.com/office/powerpoint/2010/main" val="3234397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A27D-32AE-5722-F684-DECBDFC3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8C16-0FDF-D94E-B760-8F317B27A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Multiple classes share the same algorithm structure.</a:t>
            </a:r>
          </a:p>
          <a:p>
            <a:r>
              <a:rPr lang="en-US" sz="3600" dirty="0"/>
              <a:t>Only some algorithm steps vary.</a:t>
            </a:r>
          </a:p>
          <a:p>
            <a:r>
              <a:rPr lang="en-US" sz="3600" dirty="0"/>
              <a:t>You want to avoid duplicated workflow code.</a:t>
            </a:r>
          </a:p>
          <a:p>
            <a:r>
              <a:rPr lang="en-US" sz="3600" dirty="0"/>
              <a:t>You want to control execution order.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5AE2E-F820-B384-D512-EE2DF52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B23514-E163-F146-0A2D-94F988E88A5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A3FEC9-51EC-75B2-EB21-A4C33853D89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Use Template Method Pattern when</a:t>
            </a:r>
          </a:p>
        </p:txBody>
      </p:sp>
    </p:spTree>
    <p:extLst>
      <p:ext uri="{BB962C8B-B14F-4D97-AF65-F5344CB8AC3E}">
        <p14:creationId xmlns:p14="http://schemas.microsoft.com/office/powerpoint/2010/main" val="209961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20313</TotalTime>
  <Words>474</Words>
  <Application>Microsoft Macintosh PowerPoint</Application>
  <PresentationFormat>On-screen Show (4:3)</PresentationFormat>
  <Paragraphs>118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Object-Oriented Software Analysis &amp; Design (COMP-3220)  Lecture 8  Template Method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3399</cp:revision>
  <dcterms:created xsi:type="dcterms:W3CDTF">2006-08-16T00:00:00Z</dcterms:created>
  <dcterms:modified xsi:type="dcterms:W3CDTF">2026-06-30T15:46:18Z</dcterms:modified>
</cp:coreProperties>
</file>