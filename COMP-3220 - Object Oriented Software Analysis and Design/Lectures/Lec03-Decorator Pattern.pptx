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361" r:id="rId3"/>
    <p:sldId id="374" r:id="rId4"/>
    <p:sldId id="375" r:id="rId5"/>
    <p:sldId id="376" r:id="rId6"/>
    <p:sldId id="377" r:id="rId7"/>
    <p:sldId id="378" r:id="rId8"/>
    <p:sldId id="379" r:id="rId9"/>
    <p:sldId id="380" r:id="rId10"/>
    <p:sldId id="381" r:id="rId11"/>
    <p:sldId id="382" r:id="rId12"/>
    <p:sldId id="383" r:id="rId13"/>
    <p:sldId id="384" r:id="rId14"/>
    <p:sldId id="385" r:id="rId15"/>
    <p:sldId id="386" r:id="rId16"/>
    <p:sldId id="387" r:id="rId17"/>
    <p:sldId id="388" r:id="rId18"/>
    <p:sldId id="389" r:id="rId19"/>
    <p:sldId id="390" r:id="rId20"/>
    <p:sldId id="391" r:id="rId21"/>
    <p:sldId id="392" r:id="rId22"/>
    <p:sldId id="393" r:id="rId23"/>
    <p:sldId id="394" r:id="rId24"/>
    <p:sldId id="396" r:id="rId25"/>
    <p:sldId id="397" r:id="rId26"/>
    <p:sldId id="398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008000"/>
    <a:srgbClr val="D60093"/>
    <a:srgbClr val="FF339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30" autoAdjust="0"/>
    <p:restoredTop sz="96301" autoAdjust="0"/>
  </p:normalViewPr>
  <p:slideViewPr>
    <p:cSldViewPr>
      <p:cViewPr>
        <p:scale>
          <a:sx n="124" d="100"/>
          <a:sy n="124" d="100"/>
        </p:scale>
        <p:origin x="1592" y="16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eed Samet" userId="cfbf7cda-a3f0-4a18-b58e-e4747a47ab2e" providerId="ADAL" clId="{1DAAA582-D431-51E1-B726-79BB57AE61A7}"/>
    <pc:docChg chg="undo custSel addSld delSld modSld sldOrd">
      <pc:chgData name="Saeed Samet" userId="cfbf7cda-a3f0-4a18-b58e-e4747a47ab2e" providerId="ADAL" clId="{1DAAA582-D431-51E1-B726-79BB57AE61A7}" dt="2026-05-31T23:57:54.346" v="1327" actId="2696"/>
      <pc:docMkLst>
        <pc:docMk/>
      </pc:docMkLst>
      <pc:sldChg chg="addSp delSp modSp add mod">
        <pc:chgData name="Saeed Samet" userId="cfbf7cda-a3f0-4a18-b58e-e4747a47ab2e" providerId="ADAL" clId="{1DAAA582-D431-51E1-B726-79BB57AE61A7}" dt="2026-05-31T15:58:50.720" v="1309" actId="27636"/>
        <pc:sldMkLst>
          <pc:docMk/>
          <pc:sldMk cId="3736435590" sldId="380"/>
        </pc:sldMkLst>
        <pc:spChg chg="add mod">
          <ac:chgData name="Saeed Samet" userId="cfbf7cda-a3f0-4a18-b58e-e4747a47ab2e" providerId="ADAL" clId="{1DAAA582-D431-51E1-B726-79BB57AE61A7}" dt="2026-05-31T15:58:50.720" v="1309" actId="27636"/>
          <ac:spMkLst>
            <pc:docMk/>
            <pc:sldMk cId="3736435590" sldId="380"/>
            <ac:spMk id="5" creationId="{5BB0FBA6-0BB7-61EB-1DF3-2DF0343D06AE}"/>
          </ac:spMkLst>
        </pc:spChg>
      </pc:sldChg>
      <pc:sldChg chg="modSp mod">
        <pc:chgData name="Saeed Samet" userId="cfbf7cda-a3f0-4a18-b58e-e4747a47ab2e" providerId="ADAL" clId="{1DAAA582-D431-51E1-B726-79BB57AE61A7}" dt="2026-05-31T22:57:52.129" v="1313" actId="113"/>
        <pc:sldMkLst>
          <pc:docMk/>
          <pc:sldMk cId="405810127" sldId="386"/>
        </pc:sldMkLst>
        <pc:spChg chg="mod">
          <ac:chgData name="Saeed Samet" userId="cfbf7cda-a3f0-4a18-b58e-e4747a47ab2e" providerId="ADAL" clId="{1DAAA582-D431-51E1-B726-79BB57AE61A7}" dt="2026-05-31T22:57:52.129" v="1313" actId="113"/>
          <ac:spMkLst>
            <pc:docMk/>
            <pc:sldMk cId="405810127" sldId="386"/>
            <ac:spMk id="3" creationId="{DFAA3011-90F4-5214-6770-61BFE06CBE30}"/>
          </ac:spMkLst>
        </pc:spChg>
      </pc:sldChg>
      <pc:sldChg chg="modSp mod">
        <pc:chgData name="Saeed Samet" userId="cfbf7cda-a3f0-4a18-b58e-e4747a47ab2e" providerId="ADAL" clId="{1DAAA582-D431-51E1-B726-79BB57AE61A7}" dt="2026-05-31T23:09:14.887" v="1326" actId="20577"/>
        <pc:sldMkLst>
          <pc:docMk/>
          <pc:sldMk cId="3930349595" sldId="389"/>
        </pc:sldMkLst>
        <pc:spChg chg="mod">
          <ac:chgData name="Saeed Samet" userId="cfbf7cda-a3f0-4a18-b58e-e4747a47ab2e" providerId="ADAL" clId="{1DAAA582-D431-51E1-B726-79BB57AE61A7}" dt="2026-05-31T23:09:14.887" v="1326" actId="20577"/>
          <ac:spMkLst>
            <pc:docMk/>
            <pc:sldMk cId="3930349595" sldId="389"/>
            <ac:spMk id="2" creationId="{AAC5DC3E-AF25-8310-B61A-3046408C7E45}"/>
          </ac:spMkLst>
        </pc:spChg>
      </pc:sldChg>
      <pc:sldChg chg="del">
        <pc:chgData name="Saeed Samet" userId="cfbf7cda-a3f0-4a18-b58e-e4747a47ab2e" providerId="ADAL" clId="{1DAAA582-D431-51E1-B726-79BB57AE61A7}" dt="2026-05-31T23:57:54.346" v="1327" actId="2696"/>
        <pc:sldMkLst>
          <pc:docMk/>
          <pc:sldMk cId="865889722" sldId="3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99808-0E9B-4FD1-BBA9-01B46832E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19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F4C7E-7543-44DB-92DE-7693937B296D}" type="datetimeFigureOut">
              <a:rPr lang="en-US" smtClean="0"/>
              <a:pPr/>
              <a:t>5/30/26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D7CB1-D023-401A-B061-68D1736E98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2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D7CB1-D023-401A-B061-68D1736E988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95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E751-7561-410C-B788-D1D074B4F411}" type="datetime1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E690-5D51-49B7-88E8-53FB51BCBCA4}" type="datetime1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B454-3F44-4293-ACC8-A434F4ADE2D5}" type="datetime1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86D7-57E4-4FA3-B5AB-2F2D840071A5}" type="datetime1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25B7-4353-4A52-9B74-5D21401A6732}" type="datetime1">
              <a:rPr lang="en-US" smtClean="0"/>
              <a:t>5/30/26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4EDA-8313-4B5B-91A6-96893A083965}" type="datetime1">
              <a:rPr lang="en-US" smtClean="0"/>
              <a:t>5/30/26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203-B0AC-4C2F-943E-4FE1AD6372D4}" type="datetime1">
              <a:rPr lang="en-US" smtClean="0"/>
              <a:t>5/30/26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3FE58-9A72-4D02-A341-26725A04CBDE}" type="datetime1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36752-D81A-4CAC-AC22-7AD38CCE78CB}" type="datetime1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2DE8-3451-4B86-9237-66AFA7EBEB81}" type="datetime1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88F56-FFCF-4951-8843-CE7C0BFA4DAF}" type="datetime1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D2A17-FBD8-4775-9AD1-1B2F07EC82B7}" type="datetime1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391" y="76200"/>
            <a:ext cx="9144000" cy="3429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Object-Oriented Software Analysis &amp; Design</a:t>
            </a:r>
            <a:br>
              <a:rPr lang="en-US" sz="3200" b="1" dirty="0">
                <a:latin typeface="+mn-lt"/>
                <a:cs typeface="Times New Roman" panose="02020603050405020304" pitchFamily="18" charset="0"/>
              </a:rPr>
            </a:br>
            <a:r>
              <a:rPr lang="en-US" sz="3200" b="1" dirty="0">
                <a:latin typeface="+mn-lt"/>
                <a:cs typeface="Times New Roman" panose="02020603050405020304" pitchFamily="18" charset="0"/>
              </a:rPr>
              <a:t>(COMP-3220)</a:t>
            </a:r>
            <a:br>
              <a:rPr lang="en-US" sz="3600" b="1" dirty="0">
                <a:latin typeface="+mn-lt"/>
                <a:cs typeface="Times New Roman" panose="02020603050405020304" pitchFamily="18" charset="0"/>
              </a:rPr>
            </a:br>
            <a:br>
              <a:rPr lang="en-US" sz="3600" b="1" dirty="0">
                <a:cs typeface="Times New Roman" panose="02020603050405020304" pitchFamily="18" charset="0"/>
              </a:rPr>
            </a:br>
            <a:r>
              <a:rPr lang="en-US" sz="2800" b="1" dirty="0">
                <a:cs typeface="Times New Roman" panose="02020603050405020304" pitchFamily="18" charset="0"/>
              </a:rPr>
              <a:t>Lecture 3</a:t>
            </a:r>
            <a:br>
              <a:rPr lang="en-US" sz="2800" b="1" dirty="0">
                <a:cs typeface="Times New Roman" panose="02020603050405020304" pitchFamily="18" charset="0"/>
              </a:rPr>
            </a:br>
            <a:br>
              <a:rPr lang="en-US" sz="2800" b="1" dirty="0">
                <a:latin typeface="+mn-lt"/>
                <a:cs typeface="Times New Roman" panose="02020603050405020304" pitchFamily="18" charset="0"/>
              </a:rPr>
            </a:br>
            <a:r>
              <a:rPr lang="en-US" sz="3200" b="1" dirty="0">
                <a:latin typeface="+mn-lt"/>
                <a:cs typeface="Times New Roman" panose="02020603050405020304" pitchFamily="18" charset="0"/>
              </a:rPr>
              <a:t>Decorator Pattern</a:t>
            </a:r>
            <a:endParaRPr lang="en-US" sz="28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91" y="3581400"/>
            <a:ext cx="9129218" cy="2209800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School of Computer Science</a:t>
            </a: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Faculty of Science</a:t>
            </a: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University of Windsor</a:t>
            </a:r>
          </a:p>
          <a:p>
            <a:endParaRPr lang="en-US" sz="20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Dr. </a:t>
            </a:r>
            <a:r>
              <a:rPr lang="en-US" sz="2000">
                <a:solidFill>
                  <a:srgbClr val="002060"/>
                </a:solidFill>
                <a:cs typeface="Times New Roman" panose="02020603050405020304" pitchFamily="18" charset="0"/>
              </a:rPr>
              <a:t>Saeed Samet</a:t>
            </a:r>
            <a:endParaRPr lang="en-US" sz="2000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://cou.on.ca/wp-content/uploads/2015/04/University-of-Windso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709" y="5867400"/>
            <a:ext cx="2209800" cy="82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80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How to add behavior to individual objects dynamically without exploding our class hierarchy or violating good OO principles.</a:t>
            </a:r>
          </a:p>
          <a:p>
            <a:r>
              <a:rPr lang="en-US" sz="2400" dirty="0"/>
              <a:t>In naïve designs, when we want variations of behavior, we often reach for inheritance: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Base class: Coffee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Variants: </a:t>
            </a:r>
            <a:r>
              <a:rPr lang="en-US" sz="2400" dirty="0" err="1"/>
              <a:t>MilkCoffee</a:t>
            </a:r>
            <a:r>
              <a:rPr lang="en-US" sz="2400" dirty="0"/>
              <a:t>, </a:t>
            </a:r>
            <a:r>
              <a:rPr lang="en-US" sz="2400" dirty="0" err="1"/>
              <a:t>SugarCoffee</a:t>
            </a:r>
            <a:r>
              <a:rPr lang="en-US" sz="2400" dirty="0"/>
              <a:t>, </a:t>
            </a:r>
            <a:r>
              <a:rPr lang="en-US" sz="2400" dirty="0" err="1"/>
              <a:t>MilkSugarCoffee</a:t>
            </a:r>
            <a:r>
              <a:rPr lang="en-US" sz="2400" dirty="0"/>
              <a:t>, </a:t>
            </a:r>
            <a:r>
              <a:rPr lang="en-US" sz="2400" dirty="0" err="1"/>
              <a:t>WhippedMilkSugarCoffee</a:t>
            </a:r>
            <a:r>
              <a:rPr lang="en-US" sz="2400" dirty="0"/>
              <a:t>, …</a:t>
            </a:r>
          </a:p>
          <a:p>
            <a:r>
              <a:rPr lang="en-US" sz="2400" dirty="0"/>
              <a:t>This quickly becomes combinatorial. Each new feature multiplies the number of subclasses. Worse, these combinations are fixed at compile time.</a:t>
            </a:r>
          </a:p>
          <a:p>
            <a:r>
              <a:rPr lang="en-US" sz="2400" dirty="0"/>
              <a:t>The key idea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The Decorator Pattern replaces inheritance-based extension with composition-based layering.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Instead of creating new subclasses, we:</a:t>
            </a:r>
          </a:p>
          <a:p>
            <a:pPr lvl="2">
              <a:buFont typeface="Wingdings" pitchFamily="2" charset="2"/>
              <a:buChar char="ü"/>
            </a:pPr>
            <a:r>
              <a:rPr lang="en-US" sz="1800" dirty="0"/>
              <a:t>Keep a simple core object</a:t>
            </a:r>
          </a:p>
          <a:p>
            <a:pPr lvl="2">
              <a:buFont typeface="Wingdings" pitchFamily="2" charset="2"/>
              <a:buChar char="ü"/>
            </a:pPr>
            <a:r>
              <a:rPr lang="en-US" sz="1800" dirty="0"/>
              <a:t>Wrap it with one or more “decorator” objects</a:t>
            </a:r>
          </a:p>
          <a:p>
            <a:pPr lvl="2">
              <a:buFont typeface="Wingdings" pitchFamily="2" charset="2"/>
              <a:buChar char="ü"/>
            </a:pPr>
            <a:r>
              <a:rPr lang="en-US" sz="1800" dirty="0"/>
              <a:t>Each decorator adds a small piece of behavior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137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3E5F3-FA7A-ED30-00FB-294A13DC7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451E8A-ABC5-CB31-3784-060F41A9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7359AC-A7ED-B6BB-DEE7-459BA63BAB59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8DE627C-CF4A-61BF-8BC6-3CA3AB44C100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Motivation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AD61BB-B690-3246-C133-D60DBB1774CA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AC44312C-A0B5-C0E9-7BB6-D1B3E7D3C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FB7547F-2899-729C-3A2C-0D2096036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" y="828019"/>
            <a:ext cx="9067800" cy="1781880"/>
          </a:xfrm>
        </p:spPr>
        <p:txBody>
          <a:bodyPr>
            <a:normAutofit/>
          </a:bodyPr>
          <a:lstStyle/>
          <a:p>
            <a:r>
              <a:rPr lang="en-US" sz="2400" dirty="0"/>
              <a:t>“wrap” an object with additional behavior the same way you wrap a gift—layer by layer—without changing what’s inside</a:t>
            </a: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371AC0-0335-E316-9AAF-20C8B3405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847" y="2209800"/>
            <a:ext cx="2674305" cy="336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881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CB388-F551-05CB-18E8-E98545DBB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AE056-3D0D-B6A1-7BB4-5AD9217FB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1205923"/>
          </a:xfrm>
        </p:spPr>
        <p:txBody>
          <a:bodyPr>
            <a:normAutofit/>
          </a:bodyPr>
          <a:lstStyle/>
          <a:p>
            <a:r>
              <a:rPr lang="en-US" sz="2400" dirty="0"/>
              <a:t>They are scrambling to update their ordering systems to match their beverage offerings. When they first went into business, they designed their classes like this...</a:t>
            </a:r>
            <a:endParaRPr lang="en-US" sz="1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1BFD79-632D-5D0A-63EA-F0E61A89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96DA89-EF6B-E831-FC2F-DF6DEB3B5282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3F4914-331E-09B9-7769-2BF26FDD4A9B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Welcome to </a:t>
            </a:r>
            <a:r>
              <a:rPr lang="en-US" sz="2800" b="1" dirty="0" err="1"/>
              <a:t>Starbuzz</a:t>
            </a:r>
            <a:r>
              <a:rPr lang="en-US" sz="2800" b="1" dirty="0"/>
              <a:t> Coffee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9EB02E-4021-AB33-6BC3-E13F7B0E9265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8551CBE1-CF8E-3572-BF53-84B46F316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A4C882-AC23-3E1D-0FDE-889A7CF629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271" y="1937753"/>
            <a:ext cx="6433457" cy="481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76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BB9BB-A9A3-E3C3-B5A5-FCE385961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5BF3-800B-B022-7C9E-397324D3E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1205923"/>
          </a:xfrm>
        </p:spPr>
        <p:txBody>
          <a:bodyPr>
            <a:normAutofit fontScale="77500" lnSpcReduction="20000"/>
          </a:bodyPr>
          <a:lstStyle/>
          <a:p>
            <a:r>
              <a:rPr lang="en-US" sz="2400" dirty="0"/>
              <a:t>In addition to your coffee, you can also ask for several condiments like steamed milk, soy, and mocha, and have it all topped off with whipped milk. </a:t>
            </a:r>
            <a:r>
              <a:rPr lang="en-US" sz="2400" dirty="0" err="1"/>
              <a:t>Starbuzz</a:t>
            </a:r>
            <a:r>
              <a:rPr lang="en-US" sz="2400" dirty="0"/>
              <a:t> charges a bit for each condiment, so they really need to get them built into their order system.</a:t>
            </a:r>
          </a:p>
          <a:p>
            <a:r>
              <a:rPr lang="en-US" sz="2400" dirty="0"/>
              <a:t>Here’s their first attempt...</a:t>
            </a:r>
            <a:endParaRPr lang="en-US" sz="1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B96EAA-8D2A-A6B9-B4F3-96A90BB76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CD4918-710C-5E1F-1995-B66903807AA5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2CBC10D-C476-DBFD-438F-B2125294AE47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 bit for each condiment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8920EE-BC3E-CF1E-091D-2F0694DC5656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4BE5C476-1872-26CE-6E2E-F7F6C77A7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F0BCDD-A229-9EF0-BBD3-E6770B9FCD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3227" y="1937753"/>
            <a:ext cx="5077544" cy="481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707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FBBF4-770F-C304-69D0-7652A1E00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4050B-EAEF-97CE-B882-6CC409EE3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1205923"/>
          </a:xfrm>
        </p:spPr>
        <p:txBody>
          <a:bodyPr>
            <a:normAutofit/>
          </a:bodyPr>
          <a:lstStyle/>
          <a:p>
            <a:r>
              <a:rPr lang="en-US" sz="2400" dirty="0"/>
              <a:t>Let’s start with the Beverage base class and add instance variables to represent whether or not each beverage has milk, soy, mocha, and whip...</a:t>
            </a:r>
            <a:endParaRPr lang="en-US" sz="1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A73236-3AEC-270F-5C1A-9BE751CC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428BA8-EC25-8CAD-E1C7-625AB0E5DAB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6F564C8-232B-8A3D-0301-209E74C729E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Solution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FB99EF-A1B3-3F60-372E-D9AB1941609A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EF0D491B-5123-1722-2563-AA331D288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BF1F66-830B-1F6C-BDDF-1A6D2FA6D6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2445" y="2071255"/>
            <a:ext cx="742353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91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1C02D-4F22-760A-A547-7B7AB0536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56A4D-180E-DD2E-EEBE-FCB4F0D58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6323"/>
          </a:xfrm>
        </p:spPr>
        <p:txBody>
          <a:bodyPr>
            <a:normAutofit/>
          </a:bodyPr>
          <a:lstStyle/>
          <a:p>
            <a:r>
              <a:rPr lang="en-US" sz="2400" dirty="0"/>
              <a:t>Now let’s add in the subclasses, one for each beverage on the menu:</a:t>
            </a:r>
            <a:endParaRPr lang="en-US" sz="1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548A3E-B421-C4E7-029D-0553B791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94A1DF-ABA3-266D-5B35-3DC0D141B6F1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D898372-E7E7-5461-1F76-45BD2E8D826F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Solution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606749-801E-369C-6A37-14F8D6A06A42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6FD2DDBC-9736-998C-1172-E3777099A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30BB85-01AB-3788-8435-9F9CE5BB4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" y="1503796"/>
            <a:ext cx="7848600" cy="508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641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CB393-743A-999F-8959-AF86F08F5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4D690-DD0F-97E3-8B9F-E21B18EB4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74872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What requirements or other factors might change that will impact this design?</a:t>
            </a:r>
            <a:endParaRPr lang="en-US" sz="1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E9D16-8DEE-7DF5-B6C3-C3B79F828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05F3E7-CAF8-683D-E197-EF565DA4730E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FF03562-6923-7734-DE1E-A55A3671DA81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Questions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731B45-9125-CBBC-745B-AD0BF02DD220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6DBFAC77-AF31-97AC-77DE-25F64AE23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3E9EF9-FB05-19E3-E53B-049B5629A4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" y="1835967"/>
            <a:ext cx="8804819" cy="357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651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FC5F8-7837-2707-BABF-D222F4FA8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DB78A-A644-CFEA-0B20-D4F0BFCF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748723"/>
          </a:xfrm>
        </p:spPr>
        <p:txBody>
          <a:bodyPr>
            <a:normAutofit/>
          </a:bodyPr>
          <a:lstStyle/>
          <a:p>
            <a:r>
              <a:rPr lang="en-US" sz="2800" dirty="0"/>
              <a:t>We’re on to one of the most important design principles:</a:t>
            </a:r>
            <a:endParaRPr lang="en-US" sz="2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F18A15-167D-427A-6E16-5D01B2178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9788AE-E1C9-51BC-E1DC-D1612B94B9DA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1C7171-660E-4236-BB63-CD0C809B04F6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The Open-Closed Principle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38A8D-89AA-EAD8-E693-87044AC2DA53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E176B783-3011-ACBF-C0B7-04E47D5A3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7B8F37-5D3A-8758-806F-DA38743E5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3991" y="1524000"/>
            <a:ext cx="6976018" cy="2415352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BB0FBA6-0BB7-61EB-1DF3-2DF0343D06AE}"/>
              </a:ext>
            </a:extLst>
          </p:cNvPr>
          <p:cNvSpPr txBox="1">
            <a:spLocks/>
          </p:cNvSpPr>
          <p:nvPr/>
        </p:nvSpPr>
        <p:spPr>
          <a:xfrm>
            <a:off x="-24245" y="4191003"/>
            <a:ext cx="9144000" cy="25304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Our goal is to allow </a:t>
            </a:r>
            <a:r>
              <a:rPr lang="en-US" sz="2800" b="1" dirty="0"/>
              <a:t>classes to be easily extended </a:t>
            </a:r>
            <a:r>
              <a:rPr lang="en-US" sz="2800" dirty="0"/>
              <a:t>to incorporate new behavior </a:t>
            </a:r>
            <a:r>
              <a:rPr lang="en-US" sz="2800" b="1" dirty="0"/>
              <a:t>without modifying existing code</a:t>
            </a:r>
            <a:r>
              <a:rPr lang="en-US" sz="2800" dirty="0"/>
              <a:t>. </a:t>
            </a:r>
          </a:p>
          <a:p>
            <a:r>
              <a:rPr lang="en-US" sz="2800" dirty="0"/>
              <a:t>What do we get if we accomplish this? </a:t>
            </a:r>
          </a:p>
          <a:p>
            <a:pPr lvl="1"/>
            <a:r>
              <a:rPr lang="en-US" sz="2400" dirty="0"/>
              <a:t>Designs that are </a:t>
            </a:r>
            <a:r>
              <a:rPr lang="en-US" sz="2400" b="1" dirty="0"/>
              <a:t>resilient to change and flexible enough</a:t>
            </a:r>
            <a:r>
              <a:rPr lang="en-US" sz="2400" dirty="0"/>
              <a:t> to take on new functionality to meet changing requirements.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36435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29716-13A8-BC87-5940-C24335B47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1F0C9-2CD1-0645-3EBD-E6DD59644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6006523"/>
          </a:xfrm>
        </p:spPr>
        <p:txBody>
          <a:bodyPr>
            <a:normAutofit/>
          </a:bodyPr>
          <a:lstStyle/>
          <a:p>
            <a:r>
              <a:rPr lang="en-US" sz="2400" dirty="0"/>
              <a:t>Representing beverage and condiments with inheritance has not worked out very well.</a:t>
            </a:r>
          </a:p>
          <a:p>
            <a:pPr lvl="1"/>
            <a:r>
              <a:rPr lang="en-US" sz="2000" dirty="0"/>
              <a:t>We get class explosions and rigid designs, or</a:t>
            </a:r>
          </a:p>
          <a:p>
            <a:pPr lvl="1"/>
            <a:r>
              <a:rPr lang="en-US" sz="2000" dirty="0"/>
              <a:t>We add functionality to the base class that isn’t appropriate for some of the subclasses.</a:t>
            </a:r>
          </a:p>
          <a:p>
            <a:r>
              <a:rPr lang="en-US" sz="2400" dirty="0"/>
              <a:t>So, we’ll start with a beverage and “decorate” it with the condiments at runtime. For example, if the customer wants a Dark Roast with Mocha and Whip, then we’ll: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Start with a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DarkRoast</a:t>
            </a:r>
            <a:r>
              <a:rPr lang="en-US" sz="1800" dirty="0"/>
              <a:t> object.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Decorate it with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Mocha</a:t>
            </a:r>
            <a:r>
              <a:rPr lang="en-US" sz="1800" dirty="0"/>
              <a:t> object.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Decorate it with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Whip</a:t>
            </a:r>
            <a:r>
              <a:rPr lang="en-US" sz="1800" dirty="0"/>
              <a:t> object.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Call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cost() </a:t>
            </a:r>
            <a:r>
              <a:rPr lang="en-US" sz="1800" dirty="0"/>
              <a:t>method and rely on delegation to add up the condiment costs.</a:t>
            </a:r>
          </a:p>
          <a:p>
            <a:pPr lvl="1"/>
            <a:endParaRPr lang="en-US" sz="1400" dirty="0"/>
          </a:p>
          <a:p>
            <a:pPr marL="457200" lvl="1" indent="0">
              <a:buNone/>
            </a:pPr>
            <a:r>
              <a:rPr lang="en-US" sz="2400" dirty="0"/>
              <a:t>But how do you “decorate” an object, and how does delegation come into this? A hint: think of decorator objects as </a:t>
            </a:r>
            <a:r>
              <a:rPr lang="en-US" sz="2400" b="1" dirty="0"/>
              <a:t>wrappers</a:t>
            </a:r>
            <a:r>
              <a:rPr lang="en-US" sz="2400" dirty="0"/>
              <a:t>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F6637A-AC15-1C6E-8B07-DC9E96867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B02FC5-AD5F-F7C2-9472-8B16D1AD303D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7CBA9AC-E81A-4D9E-F1E1-31390E296AB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Meet the Decorator Pattern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7A2AC8-83EB-C9BD-C513-4E9978DA224E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478FB789-A6B8-3F01-6C31-BECDBFE66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7449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A75A0-4533-271B-EB74-6AD4D4B4F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1D04E-D763-6E10-611C-7A8812A6A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74872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We start with our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DarkRoast</a:t>
            </a:r>
            <a:r>
              <a:rPr lang="en-US" sz="2800" dirty="0"/>
              <a:t> object.</a:t>
            </a:r>
            <a:endParaRPr lang="en-US" sz="2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5F4133-5B8C-F3A6-7555-2EBE8D51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018514-C174-5D72-DBA0-2452C846C399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5E49DDB-2E60-8B8F-1321-B0BA0751F93B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Constructing a drink order with Decorators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E0DDC4-E77A-0481-9137-C308A22A4B3B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7AE5A0D3-A4BD-4DD7-8182-C6884FB50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CE98DB-1F5A-09C3-CD77-9D3CBA16B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0" y="1905000"/>
            <a:ext cx="7266084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580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54DFD-CE49-81A8-F72A-C2A1DE810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E900A-62DF-9F13-342F-E9EC491AA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748723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2800" dirty="0"/>
              <a:t>The customer wants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Mocha</a:t>
            </a:r>
            <a:r>
              <a:rPr lang="en-US" sz="2800" dirty="0"/>
              <a:t>, so we create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Mocha</a:t>
            </a:r>
            <a:r>
              <a:rPr lang="en-US" sz="2800" dirty="0"/>
              <a:t> object and wrap it around the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DarkRoast</a:t>
            </a:r>
            <a:r>
              <a:rPr lang="en-US" sz="2800" dirty="0"/>
              <a:t>.</a:t>
            </a:r>
            <a:endParaRPr lang="en-US" sz="2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91F10-D9D2-BF30-FFF3-EBD1E93F9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D2CBB2-328A-75C6-08DA-9791CF98F589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9A0772-493D-0EDA-4275-939AF6743321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Constructing a drink order with Decorators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947EF-781C-170A-F5CB-B10602BA1E1B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273934B2-BBF3-95F1-9D73-73E42E2C3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389722-B330-F76C-1E6A-FE050C799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800" y="1998418"/>
            <a:ext cx="7980824" cy="358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743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5E873-6A03-BEAD-CA27-5E200B019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E13A0-CF2A-75E4-39AE-4870A0F23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748723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800" dirty="0"/>
              <a:t>The customer also wants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Whip</a:t>
            </a:r>
            <a:r>
              <a:rPr lang="en-US" sz="2800" dirty="0"/>
              <a:t>, so we create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Whip</a:t>
            </a:r>
            <a:r>
              <a:rPr lang="en-US" sz="2800" dirty="0"/>
              <a:t> decorator and wrap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Mocha</a:t>
            </a:r>
            <a:r>
              <a:rPr lang="en-US" sz="2800" dirty="0"/>
              <a:t> with it.</a:t>
            </a:r>
            <a:endParaRPr lang="en-US" sz="2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E831E4-92AA-8B7C-224E-7126A939D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BD1A09-CD74-1C3E-DAC4-1037F20420F1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76852D3-715C-BEE1-D65B-000839415AD6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Constructing a drink order with Decorators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F8A8CF-EC6F-EC6C-10C4-4951E1C3AE8C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DF4F735A-C434-73D7-89E1-C22D37130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F742AB-836B-9F1C-5C44-AFE8182663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800" y="2173032"/>
            <a:ext cx="7980824" cy="323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943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63447-8220-91D2-8B58-0BE361981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B92FF-F90E-80FD-4D07-E92065CE8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1129723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2400" dirty="0"/>
              <a:t>Compute the cost for the customer by calling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cost()</a:t>
            </a:r>
            <a:r>
              <a:rPr lang="en-US" sz="2400" dirty="0"/>
              <a:t> on the outermost decorator,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Whip</a:t>
            </a:r>
            <a:r>
              <a:rPr lang="en-US" sz="2400" dirty="0"/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Whip</a:t>
            </a:r>
            <a:r>
              <a:rPr lang="en-US" sz="2400" dirty="0"/>
              <a:t> is going to delegate computing the cost to the objects it decorates. And so on…</a:t>
            </a:r>
            <a:endParaRPr lang="en-US" sz="1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234DC0-B6B3-27C9-222A-BCFDB5DED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638D303-45CB-E708-814B-5B68430C14C8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AADF84C-79F0-203D-5A18-C034EE0B6BF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Constructing a drink order with Decorators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7F0D9F-6B86-2052-E2AA-4ACB19E57BEA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8FDF4E9F-1893-0229-716F-7FD30D9EE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0F12DC-9796-2B9F-1ED1-6169CF842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0" y="1905000"/>
            <a:ext cx="7315200" cy="485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540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ACE2D-C7DA-5E36-1FCC-A5A11AE05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A3011-90F4-5214-6770-61BFE06CB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168323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Decorators have the </a:t>
            </a:r>
            <a:r>
              <a:rPr lang="en-US" sz="2800" b="1" dirty="0"/>
              <a:t>same supertype</a:t>
            </a:r>
            <a:r>
              <a:rPr lang="en-US" sz="2800" dirty="0"/>
              <a:t> as the objects they decorate.</a:t>
            </a:r>
          </a:p>
          <a:p>
            <a:r>
              <a:rPr lang="en-US" sz="2800" dirty="0"/>
              <a:t>You can use </a:t>
            </a:r>
            <a:r>
              <a:rPr lang="en-US" sz="2800" b="1" dirty="0"/>
              <a:t>one or more decorators </a:t>
            </a:r>
            <a:r>
              <a:rPr lang="en-US" sz="2800" dirty="0"/>
              <a:t>to wrap an object.</a:t>
            </a:r>
          </a:p>
          <a:p>
            <a:r>
              <a:rPr lang="en-US" sz="2800" dirty="0"/>
              <a:t>Given that the decorator has the same supertype as the object it decorates, we can </a:t>
            </a:r>
            <a:r>
              <a:rPr lang="en-US" sz="2800" b="1" dirty="0"/>
              <a:t>pass around a decorated object </a:t>
            </a:r>
            <a:r>
              <a:rPr lang="en-US" sz="2800" dirty="0"/>
              <a:t>in place of the original (wrapped) object.</a:t>
            </a:r>
          </a:p>
          <a:p>
            <a:r>
              <a:rPr lang="en-US" sz="2800" dirty="0"/>
              <a:t>The decorator adds its own behavior before and/or after delegating to the object it decorates to do the rest of the job.</a:t>
            </a:r>
          </a:p>
          <a:p>
            <a:r>
              <a:rPr lang="en-US" sz="2800" dirty="0"/>
              <a:t>Objects can be decorated at any time, so we can </a:t>
            </a:r>
            <a:r>
              <a:rPr lang="en-US" sz="2800" b="1" dirty="0"/>
              <a:t>decorate objects dynamically at runtime </a:t>
            </a:r>
            <a:r>
              <a:rPr lang="en-US" sz="2800" dirty="0"/>
              <a:t>with as many decorators as we like.</a:t>
            </a:r>
          </a:p>
          <a:p>
            <a:endParaRPr lang="en-US" sz="2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425823-4653-6E87-AEEA-3B0A7A166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968A328-036D-9DD6-446D-1BC9B6456B1A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278A18D-684C-44E6-5846-683E635C8B74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Decorators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68051B-99AE-2151-4AF3-A2C67964F363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133397C6-0418-05B2-63A4-E054AB407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810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2A298-C01A-88DF-B8AD-E17E39BAB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7FD09-675A-9C8B-E45D-98A44A84E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112972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The Decorator Pattern attaches additional responsibilities to an object dynamically. </a:t>
            </a:r>
          </a:p>
          <a:p>
            <a:r>
              <a:rPr lang="en-US" sz="2400" dirty="0"/>
              <a:t>They provide a flexible alternative to subclassing for extending functionality.</a:t>
            </a:r>
            <a:endParaRPr lang="en-US" sz="1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CFAE17-1EE3-16FE-C4D8-BE8CB1444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AF69F3A-570C-DF9D-532B-64761CEA665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1966A48-090D-5F87-76B2-367481DAD07E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The Decorator Pattern defined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B05D9A-519E-7E71-1351-F4479047D853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BF0699B2-6F97-8DBD-50B3-1BF212778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64FCE6-AC43-32F6-46E1-4A6D613CEA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2192" y="1905000"/>
            <a:ext cx="6419616" cy="485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41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F07BF-F829-5FA3-F9AE-2EB906291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6F4402-34E1-60AF-C8D7-7BE7D82A6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238" y="1118872"/>
            <a:ext cx="8161523" cy="550647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F8A88B-6B1C-9E05-B2D9-F2C49EB4F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4708A4-A0B4-3578-78D9-5540B1D74018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7A8D54C-22E5-0190-B7C8-787CE17D7A88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Decorating our Beverages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944557-65EF-3C7C-C027-6D35D277527F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6B2FA0F1-3F0E-673B-01AF-1754E0786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353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862CE-3580-899C-42CC-173DC5417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2F79AE-B88C-722B-E87F-410F679F8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1828800"/>
            <a:ext cx="8610600" cy="389494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4E3636-C656-A7AB-F0DD-CB6C9EAE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3C7164-C49E-4EA5-9390-5E057A7B0C7A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AE7B795-34BE-F9C2-8BAD-6B87F15CFB71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New barista training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BD56F3-0E40-3C65-A4C4-440D570A8946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3FE1457F-7210-C9CE-222F-E1FC07822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AC5DC3E-AF25-8310-B61A-3046408C7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112972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Make a picture for what happens when the order is for a “double mocha soy latte (</a:t>
            </a:r>
            <a:r>
              <a:rPr lang="en-US" sz="2400" dirty="0" err="1"/>
              <a:t>HouseBlend</a:t>
            </a:r>
            <a:r>
              <a:rPr lang="en-US" sz="2400" dirty="0"/>
              <a:t>) with whip” beverage, by getting help from the previous order, below.</a:t>
            </a:r>
          </a:p>
        </p:txBody>
      </p:sp>
    </p:spTree>
    <p:extLst>
      <p:ext uri="{BB962C8B-B14F-4D97-AF65-F5344CB8AC3E}">
        <p14:creationId xmlns:p14="http://schemas.microsoft.com/office/powerpoint/2010/main" val="3930349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3A6C9-91E0-BC6F-0572-CBE649B1A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9294A-75AF-B7FE-7145-B5D2214A8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2144677"/>
            <a:ext cx="8610600" cy="3263185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471FF-0140-C687-4A58-E6FA77B55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19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E21295-771D-2A52-3EDE-DDF1CF4BA629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8D79723-77B7-3D54-4A4D-BFFAA6380C36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Writing the </a:t>
            </a:r>
            <a:r>
              <a:rPr lang="en-US" sz="2800" b="1" dirty="0" err="1"/>
              <a:t>Starbuzz</a:t>
            </a:r>
            <a:r>
              <a:rPr lang="en-US" sz="2800" b="1" dirty="0"/>
              <a:t>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6D6CE8-7344-61D6-A0D0-BD192E28493C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6FFE3BEB-A778-836A-D5FB-573377AED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248F68E-BE0D-36E8-B3E4-A62F76A55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1129723"/>
          </a:xfrm>
        </p:spPr>
        <p:txBody>
          <a:bodyPr>
            <a:normAutofit/>
          </a:bodyPr>
          <a:lstStyle/>
          <a:p>
            <a:r>
              <a:rPr lang="en-US" sz="2400" dirty="0"/>
              <a:t>Let’s start with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Beverage</a:t>
            </a:r>
            <a:r>
              <a:rPr lang="en-US" sz="2400" dirty="0"/>
              <a:t> class, which doesn’t need to change from Starbuzz’s original design. Let’s take a look:</a:t>
            </a:r>
          </a:p>
        </p:txBody>
      </p:sp>
    </p:spTree>
    <p:extLst>
      <p:ext uri="{BB962C8B-B14F-4D97-AF65-F5344CB8AC3E}">
        <p14:creationId xmlns:p14="http://schemas.microsoft.com/office/powerpoint/2010/main" val="1463354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15000-BF93-BBE8-D790-6E8D544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1708BE-3F58-2B09-B136-9CBD73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3806" y="1828800"/>
            <a:ext cx="8256387" cy="3841393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AEBD8B-9D13-ACB4-02B0-2E37A335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618151-8333-AF77-D12B-A8E2ABB679B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2A591E-B924-838E-B2C4-0731A00412D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Writing the </a:t>
            </a:r>
            <a:r>
              <a:rPr lang="en-US" sz="2800" b="1" dirty="0" err="1"/>
              <a:t>Starbuzz</a:t>
            </a:r>
            <a:r>
              <a:rPr lang="en-US" sz="2800" b="1" dirty="0"/>
              <a:t>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AFE82A-8C0A-00EA-60D2-4E2A16A84353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8767D1CD-8114-41C4-1514-0107AD6E8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268DDA-5820-B7BC-5899-3048788B8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1129723"/>
          </a:xfrm>
        </p:spPr>
        <p:txBody>
          <a:bodyPr>
            <a:normAutofit/>
          </a:bodyPr>
          <a:lstStyle/>
          <a:p>
            <a:r>
              <a:rPr lang="en-US" sz="2400" dirty="0"/>
              <a:t>Now, let’s implement the abstract class for the Condiments (the Decorator) as well:</a:t>
            </a:r>
          </a:p>
        </p:txBody>
      </p:sp>
    </p:spTree>
    <p:extLst>
      <p:ext uri="{BB962C8B-B14F-4D97-AF65-F5344CB8AC3E}">
        <p14:creationId xmlns:p14="http://schemas.microsoft.com/office/powerpoint/2010/main" val="3487371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C32F4-D969-533F-3D83-4AA9D6658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9EF4EB-CE6E-830C-FC10-464AFEF3E4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800" y="2004657"/>
            <a:ext cx="7737052" cy="4167543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1A1674-EA3D-A940-EE7A-BF754709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DFCC23-ABFE-25A8-8BDD-F2F63836C78A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85EB56C-80E4-BB8A-0905-FA063AC5C30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Coding beverages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8542E6-B1E2-018B-B1F7-03C0BAE7DE1D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96FDFA2B-9D4F-6D38-2567-74F0E3ACE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80A203-D124-C3BA-D216-A7CE936B0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112972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Now let’s implement some beverages. We’ll start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Espresso</a:t>
            </a:r>
            <a:r>
              <a:rPr lang="en-US" sz="2400" dirty="0"/>
              <a:t>. Remember, we need to set a description for the specific beverage and also implement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cost() </a:t>
            </a:r>
            <a:r>
              <a:rPr lang="en-US" sz="2400" dirty="0"/>
              <a:t>method.</a:t>
            </a:r>
          </a:p>
        </p:txBody>
      </p:sp>
    </p:spTree>
    <p:extLst>
      <p:ext uri="{BB962C8B-B14F-4D97-AF65-F5344CB8AC3E}">
        <p14:creationId xmlns:p14="http://schemas.microsoft.com/office/powerpoint/2010/main" val="1743915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40865-1683-6DB5-21B9-6AD023ED7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83C2D9-0F5B-117E-B3BA-3EA0ED5E6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0700" y="1466794"/>
            <a:ext cx="5562600" cy="501565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6ECA59-2E37-5C36-42AB-AB8FB9837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3EAA29-75A9-5057-181A-18DC6EC748FA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71BC043-DA2B-AE2E-0C78-AF6E0B040BC1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Coding beverages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F904F6-E3AF-6DAF-87DE-E28D431DCF10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82848485-CBF2-1283-6446-D3A3E9CEA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11C9108-5705-29F3-C9F8-6129F9EB1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653417"/>
          </a:xfrm>
        </p:spPr>
        <p:txBody>
          <a:bodyPr>
            <a:normAutofit/>
          </a:bodyPr>
          <a:lstStyle/>
          <a:p>
            <a:r>
              <a:rPr lang="en-US" sz="2400" dirty="0"/>
              <a:t>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HouseBlend</a:t>
            </a:r>
            <a:r>
              <a:rPr lang="en-US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747658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5F9D7-79B6-03AE-9AFC-37E842472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C096C2-35A2-2938-3BCA-FFA58FD90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504" y="1477858"/>
            <a:ext cx="6922991" cy="5243617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FE24CE-98AA-5F54-E2A6-FF1D83813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BC4E81-8B5D-A613-5A98-EBEF0E43AA94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DE9E0F-BF90-20C8-7DA4-666C8B2988B6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Coding condiments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0E427F-FDC2-7078-4E96-09B3537CD0DD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6383EADD-DA9B-005A-B5D1-F0BC9CBF2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7906C2-23FB-54C3-35FB-7623116D4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8"/>
            <a:ext cx="9144000" cy="626380"/>
          </a:xfrm>
        </p:spPr>
        <p:txBody>
          <a:bodyPr>
            <a:normAutofit/>
          </a:bodyPr>
          <a:lstStyle/>
          <a:p>
            <a:r>
              <a:rPr lang="en-US" sz="2400" dirty="0"/>
              <a:t>Now it’s time to implement the concrete decorators. Here’s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Mocha</a:t>
            </a:r>
            <a:r>
              <a:rPr lang="en-US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500100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C5973-8201-B37D-EEAA-D3776F96C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51C1EA-F99E-261A-07FC-725E58C3B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297438"/>
            <a:ext cx="7467600" cy="552650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857C7E-5395-AEC8-B0AA-B8BEB4308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CF11047-3F8F-456F-01F0-6510A5655E4E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19A759A-DD0E-232E-4FC2-047D37407EE6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Serving some coffees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E39BC8-BFED-9C53-8989-ADF9781187B1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39564F84-8F9D-35A9-CCB7-F2C49AD0A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7946784-8EE5-461A-27AB-4A569E261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8"/>
            <a:ext cx="9144000" cy="523220"/>
          </a:xfrm>
        </p:spPr>
        <p:txBody>
          <a:bodyPr>
            <a:normAutofit/>
          </a:bodyPr>
          <a:lstStyle/>
          <a:p>
            <a:r>
              <a:rPr lang="en-US" sz="2400" dirty="0"/>
              <a:t>Test code to make orders:</a:t>
            </a:r>
          </a:p>
        </p:txBody>
      </p:sp>
    </p:spTree>
    <p:extLst>
      <p:ext uri="{BB962C8B-B14F-4D97-AF65-F5344CB8AC3E}">
        <p14:creationId xmlns:p14="http://schemas.microsoft.com/office/powerpoint/2010/main" val="2185154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9E558-3799-647D-1CBE-26D3C95E1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9EA597-C336-5A6C-B3EB-78FB92D0A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730287"/>
            <a:ext cx="7467600" cy="2177591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2AC73C-7007-61B3-6AB0-BF60AD1C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020143-4645-B7A2-B414-3452704E9FB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781B291-9166-E29C-C3AB-50A907BBCAB3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Serving some coffees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B608CC-BC4E-FC7D-9E18-5FC501ED37CB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B3D68586-8584-FB3D-854F-7A2809B34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D740500-597A-CDDD-9126-DECD026DC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8"/>
            <a:ext cx="9144000" cy="523220"/>
          </a:xfrm>
        </p:spPr>
        <p:txBody>
          <a:bodyPr>
            <a:normAutofit/>
          </a:bodyPr>
          <a:lstStyle/>
          <a:p>
            <a:r>
              <a:rPr lang="en-US" sz="2400" dirty="0"/>
              <a:t>Now, let’s get those orders in:</a:t>
            </a:r>
          </a:p>
        </p:txBody>
      </p:sp>
    </p:spTree>
    <p:extLst>
      <p:ext uri="{BB962C8B-B14F-4D97-AF65-F5344CB8AC3E}">
        <p14:creationId xmlns:p14="http://schemas.microsoft.com/office/powerpoint/2010/main" val="12375682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AEFCE-F653-19A7-269A-EEEB42EA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84E46E-FFBD-6A54-5607-2DE6E965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1ED830-61E0-2EC7-728C-E3A4E1E0C72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D209989-C976-2056-69B5-AB09B524951E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Add Size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EBC092-90A8-6ACD-5F13-9817C0448B92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33DBD7DF-540C-4EE7-5470-8456D8BE4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CA426F7-D930-0179-89D8-ACD86E8AB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8"/>
            <a:ext cx="9144000" cy="5989782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/>
              <a:t>Starbuzz</a:t>
            </a:r>
            <a:r>
              <a:rPr lang="en-US" dirty="0"/>
              <a:t> has introduced sizes to their menu. We can now order a coffee in tall, grande, and venti sizes (translation: small, medium, and large). </a:t>
            </a:r>
          </a:p>
          <a:p>
            <a:r>
              <a:rPr lang="en-US" dirty="0" err="1"/>
              <a:t>Starbuzz</a:t>
            </a:r>
            <a:r>
              <a:rPr lang="en-US" dirty="0"/>
              <a:t> added two methods to the Beverage class: </a:t>
            </a:r>
            <a:r>
              <a:rPr lang="en-US" dirty="0" err="1"/>
              <a:t>setSize</a:t>
            </a:r>
            <a:r>
              <a:rPr lang="en-US" dirty="0"/>
              <a:t>() and </a:t>
            </a:r>
            <a:r>
              <a:rPr lang="en-US" dirty="0" err="1"/>
              <a:t>getSize</a:t>
            </a:r>
            <a:r>
              <a:rPr lang="en-US" dirty="0"/>
              <a:t>(). </a:t>
            </a:r>
          </a:p>
          <a:p>
            <a:r>
              <a:rPr lang="en-US" dirty="0"/>
              <a:t>They’d also like for the condiments to be charged according to size, so for instance, Soy costs 10¢, 15¢, and 20¢, respectively, for tall, grande, and venti coffees. The updated Beverage class is shown below.</a:t>
            </a:r>
          </a:p>
          <a:p>
            <a:r>
              <a:rPr lang="en-US" dirty="0"/>
              <a:t>How would you alter the decorator classes to handle this change in requirements?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abstract class Beverage {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public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 { TALL, GRANDE, VENTI };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Size size =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Size.TALL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String description = “Unknown Beverage”;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public String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getDescription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return description;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}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public void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setSize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(Size size) {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this.size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size;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}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public Size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getSize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return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this.size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}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public abstract double cost();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}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3285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18679</TotalTime>
  <Words>1309</Words>
  <Application>Microsoft Macintosh PowerPoint</Application>
  <PresentationFormat>On-screen Show (4:3)</PresentationFormat>
  <Paragraphs>154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Times New Roman</vt:lpstr>
      <vt:lpstr>Wingdings</vt:lpstr>
      <vt:lpstr>Office Theme</vt:lpstr>
      <vt:lpstr>Object-Oriented Software Analysis &amp; Design (COMP-3220)  Lecture 3  Decorator Pattern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Analytics</dc:title>
  <dc:creator>mehdi</dc:creator>
  <cp:lastModifiedBy>Saeed Samet</cp:lastModifiedBy>
  <cp:revision>3398</cp:revision>
  <dcterms:created xsi:type="dcterms:W3CDTF">2006-08-16T00:00:00Z</dcterms:created>
  <dcterms:modified xsi:type="dcterms:W3CDTF">2026-05-31T23:57:56Z</dcterms:modified>
</cp:coreProperties>
</file>