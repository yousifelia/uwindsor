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724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87" r:id="rId6"/>
    <p:sldId id="288" r:id="rId7"/>
    <p:sldId id="289" r:id="rId8"/>
    <p:sldId id="290" r:id="rId9"/>
    <p:sldId id="260" r:id="rId10"/>
    <p:sldId id="261" r:id="rId11"/>
    <p:sldId id="291" r:id="rId12"/>
    <p:sldId id="262" r:id="rId13"/>
    <p:sldId id="292" r:id="rId14"/>
    <p:sldId id="263" r:id="rId15"/>
    <p:sldId id="293" r:id="rId16"/>
    <p:sldId id="264" r:id="rId17"/>
    <p:sldId id="332" r:id="rId18"/>
    <p:sldId id="265" r:id="rId19"/>
    <p:sldId id="294" r:id="rId20"/>
    <p:sldId id="266" r:id="rId21"/>
    <p:sldId id="295" r:id="rId22"/>
    <p:sldId id="267" r:id="rId23"/>
    <p:sldId id="268" r:id="rId24"/>
    <p:sldId id="296" r:id="rId25"/>
    <p:sldId id="297" r:id="rId26"/>
    <p:sldId id="269" r:id="rId27"/>
    <p:sldId id="270" r:id="rId28"/>
    <p:sldId id="271" r:id="rId29"/>
    <p:sldId id="298" r:id="rId30"/>
    <p:sldId id="272" r:id="rId31"/>
    <p:sldId id="273" r:id="rId32"/>
    <p:sldId id="274" r:id="rId33"/>
    <p:sldId id="275" r:id="rId34"/>
    <p:sldId id="276" r:id="rId35"/>
    <p:sldId id="299" r:id="rId36"/>
    <p:sldId id="277" r:id="rId37"/>
    <p:sldId id="300" r:id="rId38"/>
    <p:sldId id="278" r:id="rId39"/>
    <p:sldId id="301" r:id="rId40"/>
    <p:sldId id="279" r:id="rId41"/>
    <p:sldId id="302" r:id="rId42"/>
    <p:sldId id="303" r:id="rId43"/>
    <p:sldId id="304" r:id="rId44"/>
    <p:sldId id="280" r:id="rId45"/>
    <p:sldId id="305" r:id="rId46"/>
    <p:sldId id="281" r:id="rId47"/>
    <p:sldId id="306" r:id="rId48"/>
    <p:sldId id="307" r:id="rId49"/>
    <p:sldId id="308" r:id="rId50"/>
    <p:sldId id="315" r:id="rId51"/>
    <p:sldId id="316" r:id="rId52"/>
    <p:sldId id="317" r:id="rId53"/>
    <p:sldId id="318" r:id="rId54"/>
    <p:sldId id="319" r:id="rId55"/>
    <p:sldId id="320" r:id="rId56"/>
    <p:sldId id="338" r:id="rId57"/>
    <p:sldId id="321" r:id="rId58"/>
    <p:sldId id="309" r:id="rId59"/>
    <p:sldId id="322" r:id="rId60"/>
    <p:sldId id="310" r:id="rId61"/>
    <p:sldId id="311" r:id="rId62"/>
    <p:sldId id="333" r:id="rId63"/>
    <p:sldId id="312" r:id="rId64"/>
    <p:sldId id="313" r:id="rId65"/>
    <p:sldId id="323" r:id="rId66"/>
    <p:sldId id="282" r:id="rId67"/>
    <p:sldId id="283" r:id="rId68"/>
    <p:sldId id="335" r:id="rId69"/>
    <p:sldId id="325" r:id="rId70"/>
    <p:sldId id="336" r:id="rId71"/>
    <p:sldId id="337" r:id="rId72"/>
    <p:sldId id="284" r:id="rId73"/>
    <p:sldId id="286" r:id="rId74"/>
    <p:sldId id="326" r:id="rId75"/>
    <p:sldId id="327" r:id="rId76"/>
    <p:sldId id="328" r:id="rId77"/>
    <p:sldId id="329" r:id="rId78"/>
    <p:sldId id="330" r:id="rId79"/>
    <p:sldId id="331" r:id="rId8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94640" autoAdjust="0"/>
  </p:normalViewPr>
  <p:slideViewPr>
    <p:cSldViewPr snapToGrid="0">
      <p:cViewPr varScale="1">
        <p:scale>
          <a:sx n="102" d="100"/>
          <a:sy n="102" d="100"/>
        </p:scale>
        <p:origin x="1880" y="184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B039B554-4F98-2D12-3CEA-C5ABA6D352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DB83FAA5-7C55-8A0C-916A-CA0830BBFB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93F6BCB-698E-0E4E-B70F-E616F50BBF71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9E78E65-BAB4-47B0-A6EF-8420D207BA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01452C52-E997-7B30-6CDD-B7912D115D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294D159C-962B-C0F3-015A-CF1FA6DBED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BB934601-5A26-A6F6-E85A-3414C0D5F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A3C26AA-DBA1-CA49-954A-A712E7092D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A36F03F-3379-5E1D-44EA-ADA9088E9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509A7DA-648F-63B9-212F-4B07CEFBD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DBC601B-27E1-44C1-705B-BB4794DEA3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607C621-32CC-8A72-80FD-53BD459C2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699371-3F2E-D012-3A54-5B247885BE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7BAB0BC-98EA-2725-F1C5-F7F206C42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8DE7D60-0EC2-EDAE-E9B6-170C5FCFD4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681471C-7438-1A05-8CEB-C444ABC82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D41B8C-DF8C-67B7-9173-8FBE365B3D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3BDBA51-DF53-6023-CFD9-B46E940F7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BB20AA0-DDE3-C27C-A8E3-1C47A53D4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FE1B15F-535E-DA12-A080-A9814C3C8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5A35246-843E-4273-1C7D-FD5EA3A02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A654183-A9B0-09B6-1A9A-D9AA166946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BB1B249-36D6-E6D0-24B4-E57EC27C6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6DA0921-41BF-42B3-7E5F-D681892E85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15F47A7-BA74-76D6-E077-07F24ACB96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8A4A32C-132C-6B02-0487-FF6CDFB2D3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17694E2-A142-2C16-D378-B2F13D4A1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EF72DF4-7C85-5BC4-D8D4-0DDC96D2A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8EC0F66-D0EB-BB8F-1D30-379B48D0CE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00E01FB-B563-445D-D8C9-865B81FC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8C3EC77-2A9A-E269-BA43-4F91A7AFEC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B33B695-866B-28A0-D42C-224039A17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B4F28F6-97C4-5897-C892-85E357237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09DE2D9-9C11-8E83-DA81-359263C3C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C0B3F76-C464-64A0-4F34-AA768D618D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47AA7BA-D3BA-2AC8-7EAC-24D7DB842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404CF17-8BD9-129E-5CD5-2DD4645779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F938D62-C892-EEB0-DC9D-0FC1E1090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DAE135E-37E1-2A12-D56D-46717CCC3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C4532CF-9879-548E-3B80-2292AE291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2844537-A285-2442-4FE2-C1457E895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FBD03F6-8A56-C1D1-7759-D6ED5DDC6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B6CDD77-84DF-4BE2-306F-574DF3163C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9CB9951-B610-8129-FBE0-FBF49B868A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ADF0534-AD98-EED9-6929-C1E710FB37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A620E8C-EBD8-45DB-C0A1-541ADE4A7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E7E9C44-D9FA-E004-EE33-F2040BBC8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F01A350-EDE4-2CAF-300E-78A03B08B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C403FC-F624-C2CE-A373-17FD2ADB18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6C767C9-01FD-310C-C646-DB455B3C3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152E625-314E-448B-E242-7E942E910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D08659F-4D12-E97C-F71D-6EB432E90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6BEDF69-5870-68A4-E7C6-B65805E76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1B2D6B2-C39B-C9A8-48B6-50F2DACE9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0E44450-5656-C69D-A799-9BE6300348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66BE57F-5AD5-94E9-C032-30E881A0B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728348A4-5A72-2565-5CD9-B244C21CA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69D9220-AC97-3297-3972-E16C56FCE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3EE43CE-DCBA-A6A8-00B4-693F07AF3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46EA029-1F58-7561-CA93-5F67D7109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9DE4240-016E-A72D-3C0C-BB39DF954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BEA9988-4BC7-6A45-6ED2-4AD78D424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5149343-4005-638D-304D-48F761CFEE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5362AFE-53A7-3001-127A-97D44B121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C7B68D2-77C8-9A48-5237-C6A034075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569175E7-DCC1-392E-F216-C60D88DBA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87B0F6E8-E0F3-8C9E-3E9A-3ACB1EA76F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12E8344-8EBB-3AF8-D3CF-AB64F2432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E9543AA-C190-A787-C926-BD7C24120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587C848-9E41-E8EC-5B51-E9410F3AE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1230917-5F25-30DB-1A99-0AFDAD94C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5ED3D40-D0F0-A51C-978D-36029F833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1E2B024-5B04-5D66-C58D-0100B898F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E17AFBD-A98C-37AE-B6A5-67B2A63CA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1A58E826-D75D-D5D9-623E-F6B1F0DC0C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A6FFA021-AA6A-A631-BE41-0671AF2F8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6646855-B034-9421-30D5-E8F1B0EDC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08614A-F0B7-4462-CAF8-01A8F165A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5DE4E22C-DC56-BC23-EF88-DFAA212D7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B5C2FDB-5164-0EDD-C0FB-F8F5ED21D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EF599F00-10F6-AFF5-4D74-1EC5FAB84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8470F82-BFBA-BC61-A5A8-4C6C8261C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CC21BE9-F7AD-50B9-6CA6-6CA75897C4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F3923B4-E7CD-37E0-0A9B-138F3D168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79ABB79-134A-C710-4226-17DC73E12C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956AAA4-3C25-8960-3380-87E18B936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8E65349-33D5-F745-D2B6-3F3CEFC26F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F065C1C-4EFE-D853-1A01-A1211BB6E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D46B98E-7608-FC25-7FDE-AB66B189F8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B865C4A4-EF49-A1BE-78C2-A17C2AB08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B28CD35-0128-FBC6-4027-8A9CEE81A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29A83F33-88F3-5B70-33CE-10873E45F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91820DC-67DB-0F16-9FCA-F35CB2888E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63C14B3-B624-F649-61E7-868AB8FAB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46CC4D20-0044-8901-37E6-9C79935BEE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C638E47-86BA-81DB-1CC3-228FC8A12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0574F43C-20CB-71C9-A4C0-5797A3A75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EAE518F-C3D7-979F-B645-E89FF5881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BDDD3055-6FB6-737F-9595-4B899AE5A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A852B0D0-4A1E-57FF-8DB6-18867C6E9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2A2CE5C1-B225-1250-9DD8-54054AC1B9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1C3ABE02-B448-52B9-E11D-C6F583C31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47B10D22-21AE-5E23-3A30-89F590C635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100F5B1-019A-9A09-21B2-9DA3DFA07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5BC5FEFE-D728-FC62-8A87-4C54A8E1B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DBCB5F0E-A9B0-CB3C-0266-52313BB1C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9DE2A11-725E-F71E-3C23-F684322CF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71E4D37-5579-3337-5121-DB0C67B47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BB242C3-DA78-7306-0723-6473A8FD6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231F0629-B943-2F5F-B3B8-46184A04A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1260E07-F865-E355-0C47-F7976C4F92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4C4203F-1A80-15BF-1840-7C3AF7D06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99417747-3D3D-CE04-1C04-087FAEC6A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016C4D4-031F-BB4E-13B8-EAF790162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0CFF806E-9CFE-E377-6D9A-7C947E425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63F8FFD-5631-7301-3996-4643620F1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4509-8213-FFF8-4AB0-648A2B5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53CB3EA7-FA27-2883-CEC2-60A11F0F5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49E087E9-EC54-1A1F-4128-5C43A9E00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2252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4F9F87F-5490-9502-B31B-AB546B821A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6C63C0C-3CBE-72F9-2679-D40A3C756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BE104816-9E30-4F1D-47AB-90B597999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603B72F-0C3C-EB9E-32F3-01E6CAED1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520F522-C387-F5FF-05AE-65EA4E625E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F517854F-461E-449C-E4E2-185DAE113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4D3E446-5C4A-D087-6262-030BB45BB7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9DD1BFC3-0EC8-DF6C-8C25-E17CA0007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94085F38-1F11-954B-607B-5EF49B8F52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992EEC6-3D2F-CE16-DAB2-FFD9773EE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DF453D6-0A56-5C0A-DC65-7E5C55142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E857D2F-BE96-6E99-C138-D0C6F8F142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309D87C2-5AAB-0227-2F09-C6A9FD314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DBAD130-56D2-34A8-D19A-0BDBF5D23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71FE0C37-F829-C08C-E71A-9852C75ED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06F4AF47-A2CF-9122-9C38-949B9C646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2D738466-D96A-3D18-DA35-3B0A8E763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9704A84D-C540-22EC-36DA-C73C15015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A21C9310-03CA-5219-10BF-F15A702CFC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C1ED2FA7-D8BF-A292-388D-0DE39DC7B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2879F1EB-E8F4-68F6-1A6E-B84AA3D96F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CE8B7574-E8EE-2EEE-EA04-1D7BC87E7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4E7B1CE6-1542-D665-8367-DB2456ADED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C64CD6E5-E988-412C-15DB-0E34007E6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5F030C5-719B-F107-0242-DF6B0BC2D4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3CD9F23E-7F67-970D-3FDE-0DA11CCFD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4EF417FA-D31B-6231-62F8-BBFDE6D4B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831B0AF5-1789-6831-0829-C181894B0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8675AF28-3904-5EDE-1EB8-E6307EAE8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0D00B698-F835-EBB7-78AF-440A8F58D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F47B9B07-CC9C-1FE0-53B5-98ECAF398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E6BAD555-70AC-51DA-A484-063E73EF4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03ADAFD4-98E9-34FF-FBA7-A9FA881449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6EE0F378-D83F-3C44-D083-8912073FA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EEBCE775-D7F4-A186-F9CF-979E08F963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F105063F-9AD1-C5C5-FFB3-4EF36332C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36FAFB8B-D8C1-AAE6-7B95-6804D9E20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C7BDEC78-EAFD-CC51-4579-5E000FBB3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F61D4AA4-04FB-B410-EF10-2A98688959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59C3808F-8647-DFA7-BB49-F834B6FB3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21DB9371-A721-EF37-A98A-3519329BB1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E8528DDD-D251-C50D-5ECC-243859179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1EC7BAF-93D7-1E08-F178-B7305F196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525463"/>
            <a:ext cx="4505325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A1C5FC25-6F59-64AC-1BC7-C2DEF7F87F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088" y="2312988"/>
            <a:ext cx="160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D517DA-312F-F19F-F895-D95CA2C8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0BA12-FF37-A841-ABF8-71547897D2D7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9836D67-E707-AB82-718D-9E48A38D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D21312-F6BA-A180-90C2-33D41360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5C170-3BDF-4F4A-8606-BF9215C168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529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CD266-E1BF-57C0-237D-54AD171F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D0E25-950E-6840-8BFF-F329C23C5E81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2371-C94B-EEFF-53CC-F11FD5F1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CE48F-BA4F-469A-B5F9-D4EC80CA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F1B94-E687-834B-AA1E-8DBAC73986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606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106BD-A0D3-EB13-0431-BBBD30E4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D6EB5-23D3-3B40-9C4B-0FB24B41083E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269CE-EAF1-EB22-E5A6-158373F9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CA16-FEEE-23D2-5DEF-995D451D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CE6E5C-0FE3-E741-9CF6-5EA6115842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21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F8880B-0FB3-F461-7F48-C7A944746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60F7C-4C21-4B47-BFE1-F2C9E029EF57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D0459CB-6265-91FD-764F-FFCA4B27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02F19C6-C10A-F9DC-C90F-132F089E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D2E3D8-51DE-214B-B967-5076E9063F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096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EC2C858-EED4-DF8A-B836-E7BA238D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44B19-46B1-B448-8312-6173250D4BBB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8EE560B-6F52-F7AC-35AD-C9FD085A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F57D2D-86BE-4F66-1CE1-35E8438BB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FAE20-F983-F04A-82DA-D0D73F13F2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730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0B8A9E-D0A3-F4E8-AB51-F432947F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EC7FE-14C2-BC47-BBE2-08F978ECA8AB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709992-84C9-EFD7-B27A-F4D61F29A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1D9CFB-C24E-E5AB-5391-7712729B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2BC48E-3F29-B841-9404-289F854A49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35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164F234-B7FE-97C8-A3D5-314941D1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0A473-64A0-9B4B-ACD7-92C81382CBF0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90BF684-DF25-6914-E253-C79700E6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EFFC004-500B-BD98-0D31-CEF05587F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32DC2-C174-8D4F-98F0-2A77893A9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62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7DA0905-EEE3-3BEB-A62F-EA706CAC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F565E-2274-5F43-A81A-01DEB83FDE56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304729-2E58-9FCB-2AC9-508DEEBC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75DF25-EB03-B3C3-D275-EFC9DEDA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743F9E-CE48-FC45-97AE-E164A5523B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89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37751E-3D12-618A-69E0-92F31483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C903D-8C9F-6E4B-859A-3C1A318AF369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322C8C-8591-7CFE-3F7A-53A2C4CE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43E2CB-82D8-07C2-8963-367B5C31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461EA-90D7-5449-8EF6-A86DC55196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2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07159-3F82-D5B3-4821-9BD4C2C2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E4BF9-6B2A-EB46-A615-3892494BE8E1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00EA2-D0CE-9950-4EDE-D4A8AAD9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39DE7-BD09-7675-01A3-F2B8B4A9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6D22DD-6B34-9E42-B93E-4D59F42ECD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542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A7F9-7AD5-CB64-F063-95410E68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2916E-F356-BA4B-959E-7310D9173132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6D952-56C0-8C68-5B4F-1F0D007E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4C32-473A-9E7E-044E-69FB283F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5E213B-F71A-FB47-B00B-C7CBEAEC4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21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C1FA821-C002-7BBE-5F4D-2329278CD3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9BF7E3C-6771-F094-4C3D-E76F18E7A5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25CEA-9A2C-9AB7-493D-88E130C58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7173155-5CD8-EA45-9DF1-B79EAA46FD26}" type="datetimeFigureOut">
              <a:rPr lang="en-US"/>
              <a:pPr>
                <a:defRPr/>
              </a:pPr>
              <a:t>5/26/25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F3C5-FA11-400F-A3DD-6E6F4C03A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3633-1427-4EF6-392C-56F72393E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024D7029-66C5-5F47-9987-BD5925C3BB0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2ECEBE0-CE71-A601-BB04-EDFA69349A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5800" y="6400800"/>
            <a:ext cx="822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900" i="1" dirty="0"/>
              <a:t>JAVA: An Introduction to Problem Solving &amp; Programming, 8</a:t>
            </a:r>
            <a:r>
              <a:rPr lang="en-US" altLang="en-US" sz="900" baseline="30000" dirty="0"/>
              <a:t>th</a:t>
            </a:r>
            <a:r>
              <a:rPr lang="en-US" altLang="en-US" sz="900" dirty="0"/>
              <a:t> Ed. By Walter Savitch</a:t>
            </a:r>
            <a:br>
              <a:rPr lang="en-US" altLang="en-US" sz="900" dirty="0"/>
            </a:br>
            <a:r>
              <a:rPr lang="en-US" altLang="en-US" sz="900" dirty="0"/>
              <a:t>ISBN </a:t>
            </a:r>
            <a:r>
              <a:rPr lang="en-US" sz="900" dirty="0"/>
              <a:t>0134462033 </a:t>
            </a:r>
            <a:r>
              <a:rPr lang="en-US" altLang="en-US" sz="900" dirty="0"/>
              <a:t> © 2018 Pearson Education, Inc., Hoboken, NJ.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4" TargetMode="External"/><Relationship Id="rId2" Type="http://schemas.openxmlformats.org/officeDocument/2006/relationships/hyperlink" Target="CodeSamples2.htm#Listing 5.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5A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hyperlink" Target="CodeSamples2.htm#Listing 5.5B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6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7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9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0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1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2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3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hyperlink" Target="CodeSamples2.htm#Listing 5.14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5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CodeSamples2.htm#Listing 5.16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%205.17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8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19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CodeSamples2.htm#Listing 5.20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21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hyperlink" Target="CodeSamples2.htm#Listing 5.22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CodeSamples2.htm#Listing 5.23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24" TargetMode="Externa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CodeSamples2.htm#Listing 5.25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8B25D3E-C77B-2DC6-AA4B-54D1E395C2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992313"/>
            <a:ext cx="6858000" cy="2387600"/>
          </a:xfrm>
        </p:spPr>
        <p:txBody>
          <a:bodyPr/>
          <a:lstStyle/>
          <a:p>
            <a:pPr eaLnBrk="1" hangingPunct="1"/>
            <a:r>
              <a:rPr lang="en-US" altLang="en-US"/>
              <a:t>Defining Classes</a:t>
            </a:r>
            <a:br>
              <a:rPr lang="en-US" altLang="en-US"/>
            </a:br>
            <a:r>
              <a:rPr lang="en-US" altLang="en-US"/>
              <a:t>and Methods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2BD53E-CE6F-D980-A857-B2A4D3C8AF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4471988"/>
            <a:ext cx="6858000" cy="1655762"/>
          </a:xfrm>
        </p:spPr>
        <p:txBody>
          <a:bodyPr/>
          <a:lstStyle/>
          <a:p>
            <a:pPr eaLnBrk="1" hangingPunct="1"/>
            <a:r>
              <a:rPr lang="en-US" altLang="en-US"/>
              <a:t>Chapter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AD7763F-05FC-B694-80F9-384787C29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553D818-E13F-3364-06BB-8AD5627E68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Describe concepts of class, class object</a:t>
            </a:r>
          </a:p>
          <a:p>
            <a:pPr eaLnBrk="1" hangingPunct="1"/>
            <a:r>
              <a:rPr lang="en-US" altLang="en-US"/>
              <a:t>Create class objects</a:t>
            </a:r>
          </a:p>
          <a:p>
            <a:pPr eaLnBrk="1" hangingPunct="1"/>
            <a:r>
              <a:rPr lang="en-US" altLang="en-US"/>
              <a:t>Define a Java class, its methods</a:t>
            </a:r>
          </a:p>
          <a:p>
            <a:pPr eaLnBrk="1" hangingPunct="1"/>
            <a:r>
              <a:rPr lang="en-US" altLang="en-US"/>
              <a:t>Describe use of parameters in a method</a:t>
            </a:r>
          </a:p>
          <a:p>
            <a:pPr eaLnBrk="1" hangingPunct="1"/>
            <a:r>
              <a:rPr lang="en-US" altLang="en-US"/>
              <a:t>Use modifiers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/>
              <a:t>,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private</a:t>
            </a:r>
          </a:p>
          <a:p>
            <a:pPr eaLnBrk="1" hangingPunct="1"/>
            <a:r>
              <a:rPr lang="en-US" altLang="en-US"/>
              <a:t>Define accessor, mutator class methods</a:t>
            </a:r>
          </a:p>
          <a:p>
            <a:pPr eaLnBrk="1" hangingPunct="1"/>
            <a:r>
              <a:rPr lang="en-US" altLang="en-US"/>
              <a:t>Describe information hiding, encapsulation</a:t>
            </a:r>
          </a:p>
          <a:p>
            <a:pPr eaLnBrk="1" hangingPunct="1"/>
            <a:r>
              <a:rPr lang="en-US" altLang="en-US"/>
              <a:t>Write method pre- and postconditions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8D28DB3-8158-A42E-BD3E-8D472C619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8AAE17D-E7CB-08B1-BD70-674367434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93125" cy="4845050"/>
          </a:xfrm>
        </p:spPr>
        <p:txBody>
          <a:bodyPr/>
          <a:lstStyle/>
          <a:p>
            <a:pPr eaLnBrk="1" hangingPunct="1"/>
            <a:r>
              <a:rPr lang="en-US" altLang="en-US"/>
              <a:t>Describe purpose of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</a:p>
          <a:p>
            <a:pPr eaLnBrk="1" hangingPunct="1"/>
            <a:r>
              <a:rPr lang="en-US" altLang="en-US"/>
              <a:t>Draw simple UML diagrams</a:t>
            </a:r>
          </a:p>
          <a:p>
            <a:pPr eaLnBrk="1" hangingPunct="1"/>
            <a:r>
              <a:rPr lang="en-US" altLang="en-US"/>
              <a:t>Describe references, variables, parameters of a class type</a:t>
            </a:r>
          </a:p>
          <a:p>
            <a:pPr eaLnBrk="1" hangingPunct="1"/>
            <a:r>
              <a:rPr lang="en-US" altLang="en-US"/>
              <a:t>Define boolean-valued methods such as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equals</a:t>
            </a:r>
          </a:p>
          <a:p>
            <a:pPr eaLnBrk="1" hangingPunct="1"/>
            <a:r>
              <a:rPr lang="en-US" altLang="en-US"/>
              <a:t>Use image effects, labels and a simple layout in JavaFX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2F7A239-BBDC-7763-69BF-972F495E7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725" y="317500"/>
            <a:ext cx="88900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Class and Method Definitions: Outline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BFD8B6D-3FED-2D17-A1EC-99D4684C93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1850" y="1600200"/>
            <a:ext cx="7854950" cy="4525963"/>
          </a:xfrm>
        </p:spPr>
        <p:txBody>
          <a:bodyPr/>
          <a:lstStyle/>
          <a:p>
            <a:pPr eaLnBrk="1" hangingPunct="1"/>
            <a:r>
              <a:rPr lang="en-US" altLang="en-US"/>
              <a:t>Class Files and Separate Compilation </a:t>
            </a:r>
          </a:p>
          <a:p>
            <a:pPr eaLnBrk="1" hangingPunct="1"/>
            <a:r>
              <a:rPr lang="en-US" altLang="en-US"/>
              <a:t>Instance Variables </a:t>
            </a:r>
          </a:p>
          <a:p>
            <a:pPr eaLnBrk="1" hangingPunct="1"/>
            <a:r>
              <a:rPr lang="en-US" altLang="en-US"/>
              <a:t>Methods</a:t>
            </a:r>
          </a:p>
          <a:p>
            <a:pPr eaLnBrk="1" hangingPunct="1"/>
            <a:r>
              <a:rPr lang="en-US" altLang="en-US"/>
              <a:t>The Keyword this</a:t>
            </a:r>
          </a:p>
          <a:p>
            <a:pPr eaLnBrk="1" hangingPunct="1"/>
            <a:r>
              <a:rPr lang="en-US" altLang="en-US"/>
              <a:t>Local Variables</a:t>
            </a:r>
          </a:p>
          <a:p>
            <a:pPr eaLnBrk="1" hangingPunct="1"/>
            <a:r>
              <a:rPr lang="en-US" altLang="en-US"/>
              <a:t>Blocks</a:t>
            </a:r>
          </a:p>
          <a:p>
            <a:pPr eaLnBrk="1" hangingPunct="1"/>
            <a:r>
              <a:rPr lang="en-US" altLang="en-US"/>
              <a:t>Parameters of a Primitive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C8DAC1B-4609-3D0B-80C8-BCF6A1F1B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and Method Definitions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2EBF8D1-ECD8-0FE0-FC07-DF3EDDA6F0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program consists of objects</a:t>
            </a:r>
          </a:p>
          <a:p>
            <a:pPr lvl="1" eaLnBrk="1" hangingPunct="1"/>
            <a:r>
              <a:rPr lang="en-US" altLang="en-US"/>
              <a:t>Objects of class types</a:t>
            </a:r>
          </a:p>
          <a:p>
            <a:pPr lvl="1" eaLnBrk="1" hangingPunct="1"/>
            <a:r>
              <a:rPr lang="en-US" altLang="en-US"/>
              <a:t>Objects that interact with one another</a:t>
            </a:r>
          </a:p>
          <a:p>
            <a:pPr eaLnBrk="1" hangingPunct="1"/>
            <a:r>
              <a:rPr lang="en-US" altLang="en-US"/>
              <a:t>Program objects can represent</a:t>
            </a:r>
          </a:p>
          <a:p>
            <a:pPr lvl="1" eaLnBrk="1" hangingPunct="1"/>
            <a:r>
              <a:rPr lang="en-US" altLang="en-US"/>
              <a:t>Objects in real world</a:t>
            </a:r>
          </a:p>
          <a:p>
            <a:pPr lvl="1" eaLnBrk="1" hangingPunct="1"/>
            <a:r>
              <a:rPr lang="en-US" altLang="en-US"/>
              <a:t>Abstractions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2F9DCC7-5587-BC9C-50BD-8FF6BE7EE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and Method Definitions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49979F5-D337-C38D-740A-96B6CAAACE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5.1  A class as a blueprint</a:t>
            </a:r>
          </a:p>
        </p:txBody>
      </p:sp>
      <p:pic>
        <p:nvPicPr>
          <p:cNvPr id="14340" name="Picture 7">
            <a:extLst>
              <a:ext uri="{FF2B5EF4-FFF2-40B4-BE49-F238E27FC236}">
                <a16:creationId xmlns:a16="http://schemas.microsoft.com/office/drawing/2014/main" id="{C87AEF34-089B-3BD7-129F-B2FE0E3B5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578100"/>
            <a:ext cx="4581525" cy="29622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111FEFD-7E45-4C17-4C19-1506DAAD5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and Method Definitions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42C0793-9B1C-C975-5DA4-FB655B2A8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6563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Figure 5.1 ctd.</a:t>
            </a:r>
          </a:p>
        </p:txBody>
      </p:sp>
      <p:sp>
        <p:nvSpPr>
          <p:cNvPr id="16388" name="Text Box 7">
            <a:extLst>
              <a:ext uri="{FF2B5EF4-FFF2-40B4-BE49-F238E27FC236}">
                <a16:creationId xmlns:a16="http://schemas.microsoft.com/office/drawing/2014/main" id="{E941E86E-1A82-EFE1-115D-9CF174F1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213" y="4897438"/>
            <a:ext cx="3328987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400"/>
              <a:t>Objects that are instantiations of the class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Automobile</a:t>
            </a:r>
          </a:p>
        </p:txBody>
      </p:sp>
      <p:pic>
        <p:nvPicPr>
          <p:cNvPr id="16389" name="Picture 10">
            <a:extLst>
              <a:ext uri="{FF2B5EF4-FFF2-40B4-BE49-F238E27FC236}">
                <a16:creationId xmlns:a16="http://schemas.microsoft.com/office/drawing/2014/main" id="{6CEB1612-7DB9-E4B8-E488-D1644A366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4362450"/>
            <a:ext cx="3600450" cy="14509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2">
            <a:extLst>
              <a:ext uri="{FF2B5EF4-FFF2-40B4-BE49-F238E27FC236}">
                <a16:creationId xmlns:a16="http://schemas.microsoft.com/office/drawing/2014/main" id="{65A8E980-137D-5C28-2A1E-BA358B10D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150" y="3179763"/>
            <a:ext cx="3248025" cy="155416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1">
            <a:extLst>
              <a:ext uri="{FF2B5EF4-FFF2-40B4-BE49-F238E27FC236}">
                <a16:creationId xmlns:a16="http://schemas.microsoft.com/office/drawing/2014/main" id="{038F15DA-BC4E-5488-ED93-E6150ED4C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163" y="1760538"/>
            <a:ext cx="3698875" cy="164782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01F6A33-198C-85F1-F8FB-82F85D43B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and Method Definitions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C9491C4-C05F-AAA1-9B94-8F2FA2141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5.2  A class outline as a UML class diagram</a:t>
            </a:r>
          </a:p>
        </p:txBody>
      </p:sp>
      <p:pic>
        <p:nvPicPr>
          <p:cNvPr id="18436" name="Picture 7">
            <a:extLst>
              <a:ext uri="{FF2B5EF4-FFF2-40B4-BE49-F238E27FC236}">
                <a16:creationId xmlns:a16="http://schemas.microsoft.com/office/drawing/2014/main" id="{393D002D-DEBF-641B-446C-B595B10E4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855913"/>
            <a:ext cx="5686425" cy="2684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CF6FE5A-BC32-C953-70C8-655D4893B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9550" y="303213"/>
            <a:ext cx="893445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Class Files and Separate Compilation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4EC3CB2-CC79-F5E0-E0E0-3CF2AD6AE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Each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Java</a:t>
            </a:r>
            <a:r>
              <a:rPr lang="en-US" altLang="en-US"/>
              <a:t> class definition usually in a file by itself</a:t>
            </a:r>
          </a:p>
          <a:p>
            <a:pPr lvl="1" eaLnBrk="1" hangingPunct="1"/>
            <a:r>
              <a:rPr lang="en-US" altLang="en-US"/>
              <a:t>File begins with name of the class</a:t>
            </a:r>
          </a:p>
          <a:p>
            <a:pPr lvl="1" eaLnBrk="1" hangingPunct="1"/>
            <a:r>
              <a:rPr lang="en-US" altLang="en-US"/>
              <a:t>Ends with .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java</a:t>
            </a:r>
          </a:p>
          <a:p>
            <a:pPr eaLnBrk="1" hangingPunct="1"/>
            <a:r>
              <a:rPr lang="en-US" altLang="en-US"/>
              <a:t>Class can be compiled separately</a:t>
            </a:r>
          </a:p>
          <a:p>
            <a:pPr eaLnBrk="1" hangingPunct="1"/>
            <a:r>
              <a:rPr lang="en-US" altLang="en-US"/>
              <a:t>Helpful to keep all class files used by a program in the same directory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F836FEC-4C99-E2CB-51D4-6D13DFA43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Dog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class and Instance Variables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DFF3EBD-A313-8BD2-AE40-99B991B05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6725" y="15732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 dirty="0"/>
              <a:t>View </a:t>
            </a:r>
            <a:r>
              <a:rPr lang="en-US" altLang="en-US" dirty="0">
                <a:hlinkClick r:id="rId3" action="ppaction://hlinkfile"/>
              </a:rPr>
              <a:t>sample program</a:t>
            </a:r>
            <a:r>
              <a:rPr lang="en-US" altLang="en-US" dirty="0"/>
              <a:t>, listing 5.1</a:t>
            </a:r>
            <a:br>
              <a:rPr lang="en-US" altLang="en-US" dirty="0"/>
            </a:br>
            <a:r>
              <a:rPr lang="en-US" altLang="en-US" b="1" dirty="0">
                <a:solidFill>
                  <a:schemeClr val="accent2"/>
                </a:solidFill>
                <a:latin typeface="Courier New" panose="02070309020205020404" pitchFamily="49" charset="0"/>
              </a:rPr>
              <a:t>class Dog</a:t>
            </a:r>
          </a:p>
          <a:p>
            <a:pPr eaLnBrk="1" hangingPunct="1"/>
            <a:r>
              <a:rPr lang="en-US" altLang="en-US" dirty="0"/>
              <a:t>Note class has</a:t>
            </a:r>
          </a:p>
          <a:p>
            <a:pPr lvl="1" eaLnBrk="1" hangingPunct="1"/>
            <a:r>
              <a:rPr lang="en-US" altLang="en-US" dirty="0"/>
              <a:t>Three pieces of data (instance variables)</a:t>
            </a:r>
          </a:p>
          <a:p>
            <a:pPr lvl="1" eaLnBrk="1" hangingPunct="1"/>
            <a:r>
              <a:rPr lang="en-US" altLang="en-US" dirty="0"/>
              <a:t>Two behaviors</a:t>
            </a:r>
          </a:p>
          <a:p>
            <a:pPr eaLnBrk="1" hangingPunct="1"/>
            <a:r>
              <a:rPr lang="en-US" altLang="en-US" dirty="0"/>
              <a:t>Each instance of this type has its own copies of the data items</a:t>
            </a:r>
          </a:p>
          <a:p>
            <a:pPr eaLnBrk="1" hangingPunct="1"/>
            <a:r>
              <a:rPr lang="en-US" altLang="en-US" dirty="0"/>
              <a:t>Use of </a:t>
            </a:r>
            <a:r>
              <a:rPr lang="en-US" altLang="en-US" b="1" dirty="0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</a:p>
          <a:p>
            <a:pPr lvl="1" eaLnBrk="1" hangingPunct="1"/>
            <a:r>
              <a:rPr lang="en-US" altLang="en-US" dirty="0"/>
              <a:t>No restrictions on how variables used</a:t>
            </a:r>
          </a:p>
          <a:p>
            <a:pPr lvl="1" eaLnBrk="1" hangingPunct="1"/>
            <a:r>
              <a:rPr lang="en-US" altLang="en-US" dirty="0"/>
              <a:t>Later will replace with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28642B6-98A2-DE9E-80BF-F17363C7E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a Class and Its Methods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8318AFA-3758-A014-2D41-C72FE8358F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5.2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DogDemo</a:t>
            </a:r>
          </a:p>
        </p:txBody>
      </p:sp>
      <p:pic>
        <p:nvPicPr>
          <p:cNvPr id="24580" name="Picture 6">
            <a:extLst>
              <a:ext uri="{FF2B5EF4-FFF2-40B4-BE49-F238E27FC236}">
                <a16:creationId xmlns:a16="http://schemas.microsoft.com/office/drawing/2014/main" id="{2D66DADD-F486-536F-E533-324D4330A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143250"/>
            <a:ext cx="5916613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81" name="Text Box 7">
            <a:extLst>
              <a:ext uri="{FF2B5EF4-FFF2-40B4-BE49-F238E27FC236}">
                <a16:creationId xmlns:a16="http://schemas.microsoft.com/office/drawing/2014/main" id="{A3D24F48-B100-532F-EFC6-56AA5F657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3683000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6602524-D84F-5DBC-2892-37BEB71B2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24A932-8712-D6B3-AA15-A3D3FFEFA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you use a method you "invoke" or "call" it</a:t>
            </a:r>
          </a:p>
          <a:p>
            <a:pPr eaLnBrk="1" hangingPunct="1"/>
            <a:r>
              <a:rPr lang="en-US" altLang="en-US"/>
              <a:t>Two kinds of Java methods</a:t>
            </a:r>
          </a:p>
          <a:p>
            <a:pPr lvl="1" eaLnBrk="1" hangingPunct="1"/>
            <a:r>
              <a:rPr lang="en-US" altLang="en-US"/>
              <a:t>Return a single item</a:t>
            </a:r>
          </a:p>
          <a:p>
            <a:pPr lvl="1" eaLnBrk="1" hangingPunct="1"/>
            <a:r>
              <a:rPr lang="en-US" altLang="en-US"/>
              <a:t>Perform some other action – a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/>
              <a:t> method</a:t>
            </a:r>
          </a:p>
          <a:p>
            <a:pPr eaLnBrk="1" hangingPunct="1"/>
            <a:r>
              <a:rPr lang="en-US" altLang="en-US"/>
              <a:t>The method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is a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/>
              <a:t> method</a:t>
            </a:r>
          </a:p>
          <a:p>
            <a:pPr lvl="1" eaLnBrk="1" hangingPunct="1"/>
            <a:r>
              <a:rPr lang="en-US" altLang="en-US"/>
              <a:t>Invoked by the system</a:t>
            </a:r>
          </a:p>
          <a:p>
            <a:pPr lvl="1" eaLnBrk="1" hangingPunct="1"/>
            <a:r>
              <a:rPr lang="en-US" altLang="en-US"/>
              <a:t>Not by the application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89F5041-E7DE-ECBF-9818-FBFE41D1E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7ADC9C8-E768-C484-F073-B1AAEBEB43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Calling a method that returns a quantity</a:t>
            </a:r>
          </a:p>
          <a:p>
            <a:pPr lvl="1" eaLnBrk="1" hangingPunct="1"/>
            <a:r>
              <a:rPr lang="en-US" altLang="en-US"/>
              <a:t>Use anywhere a value can be used</a:t>
            </a:r>
          </a:p>
          <a:p>
            <a:pPr eaLnBrk="1" hangingPunct="1"/>
            <a:r>
              <a:rPr lang="en-US" altLang="en-US"/>
              <a:t>Calling a void method</a:t>
            </a:r>
          </a:p>
          <a:p>
            <a:pPr lvl="1" eaLnBrk="1" hangingPunct="1"/>
            <a:r>
              <a:rPr lang="en-US" altLang="en-US"/>
              <a:t>Write the invocation followed by a semicolon</a:t>
            </a:r>
          </a:p>
          <a:p>
            <a:pPr lvl="1" eaLnBrk="1" hangingPunct="1"/>
            <a:r>
              <a:rPr lang="en-US" altLang="en-US"/>
              <a:t>Resulting statement performs the action defined by the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280C17C-A12A-56F2-EAF3-E91B90F77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/>
              <a:t> Methods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20EFAC7-DBAC-6FBC-3FF2-B117B1184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method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writeOutput</a:t>
            </a:r>
            <a:r>
              <a:rPr lang="en-US" altLang="en-US"/>
              <a:t> from </a:t>
            </a:r>
            <a:br>
              <a:rPr lang="en-US" altLang="en-US"/>
            </a:br>
            <a:r>
              <a:rPr lang="en-US" altLang="en-US"/>
              <a:t>Listing 5.1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Method definitions appear inside class definition</a:t>
            </a:r>
          </a:p>
          <a:p>
            <a:pPr lvl="1" eaLnBrk="1" hangingPunct="1"/>
            <a:r>
              <a:rPr lang="en-US" altLang="en-US"/>
              <a:t>Can be used only with objects of that class</a:t>
            </a:r>
          </a:p>
        </p:txBody>
      </p:sp>
      <p:pic>
        <p:nvPicPr>
          <p:cNvPr id="30724" name="Picture 5">
            <a:extLst>
              <a:ext uri="{FF2B5EF4-FFF2-40B4-BE49-F238E27FC236}">
                <a16:creationId xmlns:a16="http://schemas.microsoft.com/office/drawing/2014/main" id="{693083E5-AFEA-2387-664E-6C7664E82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38" y="2457450"/>
            <a:ext cx="51816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FD7D05D-10BB-2D89-68A2-F2EB435F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Defining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/>
              <a:t> Methods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8A23349-AB9B-621F-EBED-7D022B4508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Most method definitions we will see as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</a:p>
          <a:p>
            <a:pPr eaLnBrk="1" hangingPunct="1"/>
            <a:r>
              <a:rPr lang="en-US" altLang="en-US"/>
              <a:t>Method does not return a value</a:t>
            </a:r>
          </a:p>
          <a:p>
            <a:pPr lvl="1" eaLnBrk="1" hangingPunct="1"/>
            <a:r>
              <a:rPr lang="en-US" altLang="en-US"/>
              <a:t>Specified as a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/>
              <a:t> method</a:t>
            </a:r>
          </a:p>
          <a:p>
            <a:pPr eaLnBrk="1" hangingPunct="1"/>
            <a:r>
              <a:rPr lang="en-US" altLang="en-US"/>
              <a:t>Heading includes parameters</a:t>
            </a:r>
          </a:p>
          <a:p>
            <a:pPr eaLnBrk="1" hangingPunct="1"/>
            <a:r>
              <a:rPr lang="en-US" altLang="en-US"/>
              <a:t>Body enclosed in braces 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{  }</a:t>
            </a:r>
          </a:p>
          <a:p>
            <a:pPr eaLnBrk="1" hangingPunct="1"/>
            <a:r>
              <a:rPr lang="en-US" altLang="en-US"/>
              <a:t>Think of method as defining an action to be taken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2AC63D-5F60-9834-D5C4-45500F50D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That Return a Value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0AA9063-60F6-F8F2-9774-97848E3CF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87475"/>
            <a:ext cx="8686800" cy="4837113"/>
          </a:xfrm>
        </p:spPr>
        <p:txBody>
          <a:bodyPr/>
          <a:lstStyle/>
          <a:p>
            <a:pPr eaLnBrk="1" hangingPunct="1"/>
            <a:r>
              <a:rPr lang="en-US" altLang="en-US"/>
              <a:t>Consider method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getAgeInHumanYears( )</a:t>
            </a:r>
            <a:r>
              <a:rPr lang="en-US" altLang="en-US" sz="2400"/>
              <a:t> 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Heading declares type of value to be returned</a:t>
            </a:r>
          </a:p>
          <a:p>
            <a:pPr eaLnBrk="1" hangingPunct="1"/>
            <a:r>
              <a:rPr lang="en-US" altLang="en-US"/>
              <a:t>Last statement executed is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return</a:t>
            </a:r>
          </a:p>
        </p:txBody>
      </p:sp>
      <p:pic>
        <p:nvPicPr>
          <p:cNvPr id="34820" name="Picture 9">
            <a:extLst>
              <a:ext uri="{FF2B5EF4-FFF2-40B4-BE49-F238E27FC236}">
                <a16:creationId xmlns:a16="http://schemas.microsoft.com/office/drawing/2014/main" id="{4FDCAAA9-F780-4A7B-B0BE-91BD52B09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5" y="1905000"/>
            <a:ext cx="389572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1" name="Line 13">
            <a:extLst>
              <a:ext uri="{FF2B5EF4-FFF2-40B4-BE49-F238E27FC236}">
                <a16:creationId xmlns:a16="http://schemas.microsoft.com/office/drawing/2014/main" id="{0C05FD91-568E-3CF5-6FDD-27D3EC830D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6588" y="2170113"/>
            <a:ext cx="827087" cy="2563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Line 14">
            <a:extLst>
              <a:ext uri="{FF2B5EF4-FFF2-40B4-BE49-F238E27FC236}">
                <a16:creationId xmlns:a16="http://schemas.microsoft.com/office/drawing/2014/main" id="{1A0A4568-D9DA-6AAA-2845-D91DF31E5F1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1088" y="4506913"/>
            <a:ext cx="817562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F832F3DC-9ED0-E6D5-ED14-2215C9A9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Second Example – Species Class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F84D8B64-A53C-D8D4-46E9-C88D2B62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designed to hold records of endangered species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the class </a:t>
            </a:r>
            <a:r>
              <a:rPr lang="en-US" altLang="en-US"/>
              <a:t>listing 5.3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SpeciesFirstTry</a:t>
            </a:r>
          </a:p>
          <a:p>
            <a:pPr lvl="1" eaLnBrk="1" hangingPunct="1"/>
            <a:r>
              <a:rPr lang="en-US" altLang="en-US"/>
              <a:t>Three instance variables, three methods</a:t>
            </a:r>
          </a:p>
          <a:p>
            <a:pPr lvl="1" eaLnBrk="1" hangingPunct="1"/>
            <a:r>
              <a:rPr lang="en-US" altLang="en-US"/>
              <a:t>Will expand this class in the rest of the chapter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demo class </a:t>
            </a:r>
            <a:r>
              <a:rPr lang="en-US" altLang="en-US"/>
              <a:t>listing 5.4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SpeciesFirstTryDemo</a:t>
            </a:r>
          </a:p>
          <a:p>
            <a:pPr eaLnBrk="1" hangingPunct="1"/>
            <a:endParaRPr lang="en-US" altLang="en-US" b="1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B67CA14-5F48-7743-870F-765A208BF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Keyword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this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556491D-1C9D-9E0C-D9B8-94C17F6EF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78375"/>
          </a:xfrm>
        </p:spPr>
        <p:txBody>
          <a:bodyPr/>
          <a:lstStyle/>
          <a:p>
            <a:pPr eaLnBrk="1" hangingPunct="1"/>
            <a:r>
              <a:rPr lang="en-US" altLang="en-US"/>
              <a:t>Referring to instance variables outside the class – must use</a:t>
            </a:r>
          </a:p>
          <a:p>
            <a:pPr lvl="1" eaLnBrk="1" hangingPunct="1"/>
            <a:r>
              <a:rPr lang="en-US" altLang="en-US"/>
              <a:t>Name of an object of the class</a:t>
            </a:r>
          </a:p>
          <a:p>
            <a:pPr lvl="1" eaLnBrk="1" hangingPunct="1"/>
            <a:r>
              <a:rPr lang="en-US" altLang="en-US"/>
              <a:t>Followed by a dot</a:t>
            </a:r>
          </a:p>
          <a:p>
            <a:pPr lvl="1" eaLnBrk="1" hangingPunct="1"/>
            <a:r>
              <a:rPr lang="en-US" altLang="en-US"/>
              <a:t>Name of instance variable</a:t>
            </a:r>
          </a:p>
          <a:p>
            <a:pPr eaLnBrk="1" hangingPunct="1"/>
            <a:r>
              <a:rPr lang="en-US" altLang="en-US"/>
              <a:t>Inside the class,</a:t>
            </a:r>
          </a:p>
          <a:p>
            <a:pPr lvl="1" eaLnBrk="1" hangingPunct="1"/>
            <a:r>
              <a:rPr lang="en-US" altLang="en-US"/>
              <a:t>Use name of variable alone</a:t>
            </a:r>
          </a:p>
          <a:p>
            <a:pPr lvl="1" eaLnBrk="1" hangingPunct="1"/>
            <a:r>
              <a:rPr lang="en-US" altLang="en-US"/>
              <a:t>The object (unnamed) is understood to be there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9CD6960-62A9-5422-E0DC-EB9888AD7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Keyword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this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CFD7CB7-6416-6902-031E-4F4986CA25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Inside the class the unnamed object can be referred to with the name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this</a:t>
            </a:r>
          </a:p>
          <a:p>
            <a:pPr eaLnBrk="1" hangingPunct="1"/>
            <a:r>
              <a:rPr lang="en-US" altLang="en-US"/>
              <a:t> Example</a:t>
            </a:r>
            <a:br>
              <a:rPr lang="en-US" altLang="en-US"/>
            </a:br>
            <a:r>
              <a:rPr lang="en-US" altLang="en-US"/>
              <a:t>    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this.name = keyboard.nextLine();</a:t>
            </a:r>
          </a:p>
          <a:p>
            <a:pPr eaLnBrk="1" hangingPunct="1"/>
            <a:r>
              <a:rPr lang="en-US" altLang="en-US"/>
              <a:t>The keyword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this</a:t>
            </a:r>
            <a:r>
              <a:rPr lang="en-US" altLang="en-US"/>
              <a:t> stands for the receiving object</a:t>
            </a:r>
          </a:p>
          <a:p>
            <a:pPr eaLnBrk="1" hangingPunct="1"/>
            <a:r>
              <a:rPr lang="en-US" altLang="en-US"/>
              <a:t>We will seem some situations later that require the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this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A01FDD0-851B-DCD8-9F20-B5D7D8253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Local Variables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2F2BFED-57B7-C0E7-C861-5F4D8CA9A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93875"/>
            <a:ext cx="8229600" cy="4740275"/>
          </a:xfrm>
        </p:spPr>
        <p:txBody>
          <a:bodyPr/>
          <a:lstStyle/>
          <a:p>
            <a:pPr eaLnBrk="1" hangingPunct="1"/>
            <a:r>
              <a:rPr lang="en-US" altLang="en-US"/>
              <a:t>Variables declared inside a method are called </a:t>
            </a:r>
            <a:r>
              <a:rPr lang="en-US" altLang="en-US" i="1"/>
              <a:t>local</a:t>
            </a:r>
            <a:r>
              <a:rPr lang="en-US" altLang="en-US"/>
              <a:t> variables</a:t>
            </a:r>
          </a:p>
          <a:p>
            <a:pPr lvl="1" eaLnBrk="1" hangingPunct="1"/>
            <a:r>
              <a:rPr lang="en-US" altLang="en-US"/>
              <a:t>May be used only inside the method</a:t>
            </a:r>
          </a:p>
          <a:p>
            <a:pPr lvl="1" eaLnBrk="1" hangingPunct="1"/>
            <a:r>
              <a:rPr lang="en-US" altLang="en-US"/>
              <a:t>All variables declared in method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are local to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main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Local variables having the same name and declared in different methods are different variables</a:t>
            </a:r>
          </a:p>
          <a:p>
            <a:pPr eaLnBrk="1" hangingPunct="1"/>
            <a:endParaRPr lang="en-US" altLang="en-US" sz="3600" b="1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A094ABF-9191-3D73-F2B2-846685CE2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Local Variables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79AB52C-A9C2-BDEA-1FE6-F4D01FA98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file</a:t>
            </a:r>
            <a:r>
              <a:rPr lang="en-US" altLang="en-US"/>
              <a:t>, listing 5.5A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BankAccount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4" action="ppaction://hlinkfile"/>
              </a:rPr>
              <a:t>sample file</a:t>
            </a:r>
            <a:r>
              <a:rPr lang="en-US" altLang="en-US"/>
              <a:t>, listing 5.5B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LocalVariablesDemoProgram</a:t>
            </a:r>
          </a:p>
          <a:p>
            <a:pPr eaLnBrk="1" hangingPunct="1"/>
            <a:r>
              <a:rPr lang="en-US" altLang="en-US"/>
              <a:t>Note two different variables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newAmount</a:t>
            </a:r>
          </a:p>
          <a:p>
            <a:pPr lvl="1" eaLnBrk="1" hangingPunct="1"/>
            <a:r>
              <a:rPr lang="en-US" altLang="en-US"/>
              <a:t>Note different values output</a:t>
            </a: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B40DCC44-CEF0-DADF-53EF-54D0A3C13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5126038"/>
            <a:ext cx="6424613" cy="101282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 Box 7">
            <a:extLst>
              <a:ext uri="{FF2B5EF4-FFF2-40B4-BE49-F238E27FC236}">
                <a16:creationId xmlns:a16="http://schemas.microsoft.com/office/drawing/2014/main" id="{992F93FB-4F84-77D9-E072-E68C4F06B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100" y="477361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01DF6B-3C22-EF2D-7586-298A913AC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Blocks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63310CE-4EB1-3187-3C56-FDB1A2DB99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62488"/>
          </a:xfrm>
        </p:spPr>
        <p:txBody>
          <a:bodyPr/>
          <a:lstStyle/>
          <a:p>
            <a:pPr eaLnBrk="1" hangingPunct="1"/>
            <a:r>
              <a:rPr lang="en-US" altLang="en-US"/>
              <a:t>Recall compound statements</a:t>
            </a:r>
          </a:p>
          <a:p>
            <a:pPr lvl="1" eaLnBrk="1" hangingPunct="1"/>
            <a:r>
              <a:rPr lang="en-US" altLang="en-US"/>
              <a:t>Enclosed in braces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{</a:t>
            </a:r>
            <a:r>
              <a:rPr lang="en-US" altLang="en-US"/>
              <a:t>  </a:t>
            </a:r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</a:p>
          <a:p>
            <a:pPr eaLnBrk="1" hangingPunct="1"/>
            <a:r>
              <a:rPr lang="en-US" altLang="en-US"/>
              <a:t>When you declare a variable within a compound statement</a:t>
            </a:r>
          </a:p>
          <a:p>
            <a:pPr lvl="1" eaLnBrk="1" hangingPunct="1"/>
            <a:r>
              <a:rPr lang="en-US" altLang="en-US"/>
              <a:t>The compound statement is called a </a:t>
            </a:r>
            <a:r>
              <a:rPr lang="en-US" altLang="en-US" i="1"/>
              <a:t>block</a:t>
            </a:r>
            <a:endParaRPr lang="en-US" altLang="en-US"/>
          </a:p>
          <a:p>
            <a:pPr lvl="1" eaLnBrk="1" hangingPunct="1"/>
            <a:r>
              <a:rPr lang="en-US" altLang="en-US"/>
              <a:t>The scope of the variable is from its declaration to the end of the block</a:t>
            </a:r>
          </a:p>
          <a:p>
            <a:pPr eaLnBrk="1" hangingPunct="1"/>
            <a:r>
              <a:rPr lang="en-US" altLang="en-US"/>
              <a:t> Variable declared outside the block usable both outside and inside the block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A763FB2-514B-2009-9726-4093EA5FE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Parameters of Primitive Type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0886F56-9466-8061-926E-F3B198925F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method</a:t>
            </a:r>
            <a:br>
              <a:rPr lang="en-US" altLang="en-US"/>
            </a:br>
            <a:r>
              <a:rPr lang="en-US" altLang="en-US"/>
              <a:t>declaration</a:t>
            </a:r>
            <a:br>
              <a:rPr lang="en-US" altLang="en-US"/>
            </a:br>
            <a:r>
              <a:rPr lang="en-US" altLang="en-US"/>
              <a:t>in listing 5.3</a:t>
            </a:r>
          </a:p>
          <a:p>
            <a:pPr lvl="1" eaLnBrk="1" hangingPunct="1"/>
            <a:r>
              <a:rPr lang="en-US" altLang="en-US"/>
              <a:t>Note it only works for 10 years</a:t>
            </a:r>
          </a:p>
          <a:p>
            <a:pPr lvl="1" eaLnBrk="1" hangingPunct="1"/>
            <a:r>
              <a:rPr lang="en-US" altLang="en-US"/>
              <a:t>We can make it more versatile by giving the method a parameter to specify how many years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5.6</a:t>
            </a:r>
            <a:br>
              <a:rPr lang="en-US" altLang="en-US"/>
            </a:b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SpeciesSecondTry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1703A587-DA8B-804E-B1A7-5A85EA559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63" y="1397000"/>
            <a:ext cx="4938712" cy="1192213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BDEB6F3-7086-9EA3-CD71-4A16D4879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Parameters of Primitive Type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86F7DBA-683B-4F5E-1D9F-F7DD2294B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25575"/>
            <a:ext cx="8686800" cy="4799013"/>
          </a:xfrm>
        </p:spPr>
        <p:txBody>
          <a:bodyPr/>
          <a:lstStyle/>
          <a:p>
            <a:pPr eaLnBrk="1" hangingPunct="1"/>
            <a:r>
              <a:rPr lang="en-US" altLang="en-US"/>
              <a:t>Note the declaration</a:t>
            </a:r>
            <a:br>
              <a:rPr lang="en-US" altLang="en-US"/>
            </a:b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public int predictPopulation(int years)</a:t>
            </a:r>
          </a:p>
          <a:p>
            <a:pPr lvl="1" eaLnBrk="1" hangingPunct="1"/>
            <a:r>
              <a:rPr lang="en-US" altLang="en-US"/>
              <a:t>The </a:t>
            </a:r>
            <a:r>
              <a:rPr lang="en-US" altLang="en-US" i="1"/>
              <a:t>formal</a:t>
            </a:r>
            <a:r>
              <a:rPr lang="en-US" altLang="en-US"/>
              <a:t> parameter is </a:t>
            </a: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years</a:t>
            </a:r>
          </a:p>
          <a:p>
            <a:pPr eaLnBrk="1" hangingPunct="1"/>
            <a:r>
              <a:rPr lang="en-US" altLang="en-US"/>
              <a:t>Calling the method</a:t>
            </a:r>
            <a:br>
              <a:rPr lang="en-US" altLang="en-US"/>
            </a:b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int futurePopulation =</a:t>
            </a:r>
            <a:r>
              <a:rPr lang="en-US" altLang="en-US" sz="2600"/>
              <a:t>   </a:t>
            </a:r>
            <a:br>
              <a:rPr lang="en-US" altLang="en-US" sz="2600"/>
            </a:br>
            <a:r>
              <a:rPr lang="en-US" altLang="en-US" sz="2600"/>
              <a:t>  </a:t>
            </a: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speciesOfTheMonth.predictPopulation(10);</a:t>
            </a:r>
          </a:p>
          <a:p>
            <a:pPr lvl="1" eaLnBrk="1" hangingPunct="1"/>
            <a:r>
              <a:rPr lang="en-US" altLang="en-US"/>
              <a:t>The </a:t>
            </a:r>
            <a:r>
              <a:rPr lang="en-US" altLang="en-US" i="1"/>
              <a:t>actual</a:t>
            </a:r>
            <a:r>
              <a:rPr lang="en-US" altLang="en-US"/>
              <a:t> parameter is the integer 10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5.7</a:t>
            </a:r>
            <a:br>
              <a:rPr lang="en-US" altLang="en-US"/>
            </a:b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SpeciesSecondClassDemo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C35F0F5-CB3C-DF32-17EF-0AF29545B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Parameters of Primitive Type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E051526-5BEC-40C5-3D79-F95C6C077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Parameter names are local to the method</a:t>
            </a:r>
          </a:p>
          <a:p>
            <a:pPr eaLnBrk="1" hangingPunct="1"/>
            <a:r>
              <a:rPr lang="en-US" altLang="en-US"/>
              <a:t>When method invoked</a:t>
            </a:r>
          </a:p>
          <a:p>
            <a:pPr lvl="1" eaLnBrk="1" hangingPunct="1"/>
            <a:r>
              <a:rPr lang="en-US" altLang="en-US"/>
              <a:t>Each parameter initialized to value in corresponding actual parameter</a:t>
            </a:r>
          </a:p>
          <a:p>
            <a:pPr lvl="1" eaLnBrk="1" hangingPunct="1"/>
            <a:r>
              <a:rPr lang="en-US" altLang="en-US"/>
              <a:t>Primitive actual parameter cannot be altered by invocation of the method</a:t>
            </a:r>
          </a:p>
          <a:p>
            <a:pPr eaLnBrk="1" hangingPunct="1"/>
            <a:r>
              <a:rPr lang="en-US" altLang="en-US"/>
              <a:t>Automatic type conversion performed</a:t>
            </a:r>
            <a:br>
              <a:rPr lang="en-US" altLang="en-US"/>
            </a:b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byte -&gt; short -&gt; int -&gt; </a:t>
            </a:r>
            <a:b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</a:br>
            <a:r>
              <a:rPr lang="en-US" altLang="en-US" sz="2600" b="1">
                <a:solidFill>
                  <a:schemeClr val="accent2"/>
                </a:solidFill>
                <a:latin typeface="Courier New" panose="02070309020205020404" pitchFamily="49" charset="0"/>
              </a:rPr>
              <a:t>      long -&gt; float -&gt; double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53636FA-E14C-7D89-4CCC-4710EF52E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Information Hiding, </a:t>
            </a:r>
            <a:br>
              <a:rPr lang="en-US" altLang="en-US" sz="4000"/>
            </a:br>
            <a:r>
              <a:rPr lang="en-US" altLang="en-US" sz="4000"/>
              <a:t>Encapsulation: Outline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0682585-7B1E-7E26-CDF3-D482726CF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1713" y="1600200"/>
            <a:ext cx="7685087" cy="4525963"/>
          </a:xfrm>
        </p:spPr>
        <p:txBody>
          <a:bodyPr/>
          <a:lstStyle/>
          <a:p>
            <a:pPr eaLnBrk="1" hangingPunct="1"/>
            <a:r>
              <a:rPr lang="en-US" altLang="en-US"/>
              <a:t>Information Hiding</a:t>
            </a:r>
          </a:p>
          <a:p>
            <a:pPr eaLnBrk="1" hangingPunct="1"/>
            <a:r>
              <a:rPr lang="en-US" altLang="en-US"/>
              <a:t>Pre- and Postcondition Comments</a:t>
            </a:r>
          </a:p>
          <a:p>
            <a:pPr eaLnBrk="1" hangingPunct="1"/>
            <a:r>
              <a:rPr lang="en-US" altLang="en-US"/>
              <a:t>The public and private Modifiers</a:t>
            </a:r>
          </a:p>
          <a:p>
            <a:pPr eaLnBrk="1" hangingPunct="1"/>
            <a:r>
              <a:rPr lang="en-US" altLang="en-US"/>
              <a:t>Methods Calling Methods</a:t>
            </a:r>
          </a:p>
          <a:p>
            <a:pPr eaLnBrk="1" hangingPunct="1"/>
            <a:r>
              <a:rPr lang="en-US" altLang="en-US"/>
              <a:t>Encapsulation</a:t>
            </a:r>
          </a:p>
          <a:p>
            <a:pPr eaLnBrk="1" hangingPunct="1"/>
            <a:r>
              <a:rPr lang="en-US" altLang="en-US"/>
              <a:t>Automatic Documentation with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</a:p>
          <a:p>
            <a:pPr eaLnBrk="1" hangingPunct="1"/>
            <a:r>
              <a:rPr lang="en-US" altLang="en-US"/>
              <a:t>UML Class Diagrams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AA77944-9EE3-6D91-5DFF-D7012E14C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Information Hiding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14659C5-B5A5-6273-9CE1-2ACF858F1B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Programmer using a class method need </a:t>
            </a:r>
            <a:r>
              <a:rPr lang="en-US" altLang="en-US" u="sng"/>
              <a:t>not</a:t>
            </a:r>
            <a:r>
              <a:rPr lang="en-US" altLang="en-US"/>
              <a:t> know details of implementation</a:t>
            </a:r>
          </a:p>
          <a:p>
            <a:pPr lvl="1" eaLnBrk="1" hangingPunct="1"/>
            <a:r>
              <a:rPr lang="en-US" altLang="en-US"/>
              <a:t>Only needs to know </a:t>
            </a:r>
            <a:r>
              <a:rPr lang="en-US" altLang="en-US" i="1"/>
              <a:t>what</a:t>
            </a:r>
            <a:r>
              <a:rPr lang="en-US" altLang="en-US"/>
              <a:t> the method does</a:t>
            </a:r>
          </a:p>
          <a:p>
            <a:pPr eaLnBrk="1" hangingPunct="1"/>
            <a:r>
              <a:rPr lang="en-US" altLang="en-US"/>
              <a:t>Information hiding:</a:t>
            </a:r>
          </a:p>
          <a:p>
            <a:pPr lvl="1" eaLnBrk="1" hangingPunct="1"/>
            <a:r>
              <a:rPr lang="en-US" altLang="en-US"/>
              <a:t>Designing a method so it can be used without knowing details</a:t>
            </a:r>
          </a:p>
          <a:p>
            <a:pPr eaLnBrk="1" hangingPunct="1"/>
            <a:r>
              <a:rPr lang="en-US" altLang="en-US"/>
              <a:t>Also referred to as </a:t>
            </a:r>
            <a:r>
              <a:rPr lang="en-US" altLang="en-US" i="1"/>
              <a:t>abstraction</a:t>
            </a:r>
          </a:p>
          <a:p>
            <a:pPr eaLnBrk="1" hangingPunct="1"/>
            <a:r>
              <a:rPr lang="en-US" altLang="en-US"/>
              <a:t>Method design should separate </a:t>
            </a:r>
            <a:r>
              <a:rPr lang="en-US" altLang="en-US" i="1"/>
              <a:t>what</a:t>
            </a:r>
            <a:r>
              <a:rPr lang="en-US" altLang="en-US"/>
              <a:t> from </a:t>
            </a:r>
            <a:r>
              <a:rPr lang="en-US" altLang="en-US" i="1"/>
              <a:t>how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D0325F5-2CD6-82B2-9479-F93E85556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3725" y="3714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Pre- and Postcondition Comments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FFD0DB8-52A5-6FC1-CD37-136CF57C2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Precondition comment</a:t>
            </a:r>
          </a:p>
          <a:p>
            <a:pPr lvl="1" eaLnBrk="1" hangingPunct="1"/>
            <a:r>
              <a:rPr lang="en-US" altLang="en-US"/>
              <a:t>States conditions that must be true before method is invoked</a:t>
            </a:r>
          </a:p>
          <a:p>
            <a:pPr eaLnBrk="1" hangingPunct="1"/>
            <a:r>
              <a:rPr lang="en-US" altLang="en-US"/>
              <a:t>Example</a:t>
            </a: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0E535AAA-9A26-A87E-B9E0-3F8B1365B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876675"/>
            <a:ext cx="7188200" cy="17557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702DA21-FE4B-36C6-BE2F-9E51BDAC6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1825" y="3333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Pre- and Postcondition Comments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620025B-277B-353B-4EB7-E7337567B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Postcondition comment</a:t>
            </a:r>
          </a:p>
          <a:p>
            <a:pPr lvl="1" eaLnBrk="1" hangingPunct="1"/>
            <a:r>
              <a:rPr lang="en-US" altLang="en-US"/>
              <a:t>Tells what will be true after method executed</a:t>
            </a:r>
          </a:p>
          <a:p>
            <a:pPr eaLnBrk="1" hangingPunct="1"/>
            <a:r>
              <a:rPr lang="en-US" altLang="en-US"/>
              <a:t>Example</a:t>
            </a:r>
          </a:p>
        </p:txBody>
      </p:sp>
      <p:pic>
        <p:nvPicPr>
          <p:cNvPr id="60420" name="Picture 4">
            <a:extLst>
              <a:ext uri="{FF2B5EF4-FFF2-40B4-BE49-F238E27FC236}">
                <a16:creationId xmlns:a16="http://schemas.microsoft.com/office/drawing/2014/main" id="{17B34612-71E7-AE4B-6450-0FCC3DF82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88" y="3562350"/>
            <a:ext cx="7427912" cy="1690688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8EA4DF1-397B-9EE8-B3F8-C5CB0F873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0838" y="411163"/>
            <a:ext cx="8793162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The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4000"/>
              <a:t> and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 sz="4000"/>
              <a:t> Modifiers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59705A0-08D3-B961-0AE6-FD681CF60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 specified as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</a:p>
          <a:p>
            <a:pPr lvl="1" eaLnBrk="1" hangingPunct="1"/>
            <a:r>
              <a:rPr lang="en-US" altLang="en-US"/>
              <a:t>Any other class can directly access that object by name</a:t>
            </a:r>
          </a:p>
          <a:p>
            <a:pPr eaLnBrk="1" hangingPunct="1"/>
            <a:r>
              <a:rPr lang="en-US" altLang="en-US"/>
              <a:t>Classes generally specified as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</a:p>
          <a:p>
            <a:pPr eaLnBrk="1" hangingPunct="1"/>
            <a:r>
              <a:rPr lang="en-US" altLang="en-US"/>
              <a:t>Instance variables usually </a:t>
            </a:r>
            <a:r>
              <a:rPr lang="en-US" altLang="en-US" u="sng"/>
              <a:t>not</a:t>
            </a:r>
            <a:r>
              <a:rPr lang="en-US" altLang="en-US"/>
              <a:t>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public</a:t>
            </a:r>
          </a:p>
          <a:p>
            <a:pPr lvl="1" eaLnBrk="1" hangingPunct="1"/>
            <a:r>
              <a:rPr lang="en-US" altLang="en-US"/>
              <a:t>Instead specify as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private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5.8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SpeciesThirdTry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0D252CF-A56E-432C-8E69-BB44AD71D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2C577161-8F61-BC5C-D531-97679C9FF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Demonstration of need for private variables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5.9</a:t>
            </a:r>
          </a:p>
          <a:p>
            <a:pPr eaLnBrk="1" hangingPunct="1"/>
            <a:r>
              <a:rPr lang="en-US" altLang="en-US"/>
              <a:t>Statement such as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box.width = 6;</a:t>
            </a:r>
            <a:r>
              <a:rPr lang="en-US" altLang="en-US"/>
              <a:t>   </a:t>
            </a:r>
            <a:br>
              <a:rPr lang="en-US" altLang="en-US"/>
            </a:br>
            <a:r>
              <a:rPr lang="en-US" altLang="en-US"/>
              <a:t>is </a:t>
            </a:r>
            <a:r>
              <a:rPr lang="en-US" altLang="en-US" u="sng"/>
              <a:t>illegal</a:t>
            </a:r>
            <a:r>
              <a:rPr lang="en-US" altLang="en-US"/>
              <a:t> since width is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 private</a:t>
            </a:r>
          </a:p>
          <a:p>
            <a:pPr lvl="1" eaLnBrk="1" hangingPunct="1"/>
            <a:r>
              <a:rPr lang="en-US" altLang="en-US"/>
              <a:t>Keeps remaining elements of the class consistent in this example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4D735AB-A2EF-C730-D8C0-92FE16EA0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3B8995F-E7E3-ACA3-B402-A0B2BFAE9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implementation of a Rectangle class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5.10</a:t>
            </a:r>
            <a:br>
              <a:rPr lang="en-US" altLang="en-US"/>
            </a:b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class Rectangle2</a:t>
            </a:r>
          </a:p>
          <a:p>
            <a:pPr eaLnBrk="1" hangingPunct="1"/>
            <a:r>
              <a:rPr lang="en-US" altLang="en-US"/>
              <a:t>Note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setDimensions</a:t>
            </a:r>
            <a:r>
              <a:rPr lang="en-US" altLang="en-US"/>
              <a:t> method</a:t>
            </a:r>
          </a:p>
          <a:p>
            <a:pPr lvl="1" eaLnBrk="1" hangingPunct="1"/>
            <a:r>
              <a:rPr lang="en-US" altLang="en-US"/>
              <a:t>This is the only way the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width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height</a:t>
            </a:r>
            <a:r>
              <a:rPr lang="en-US" altLang="en-US"/>
              <a:t> may be altered outside the class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2736A02-6C98-A652-2413-E5C593E41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Accessor and Mutator Methods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3E62D50-EEA3-9F3B-0791-33C2A39756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instance variables are private must provide methods to access values stored there</a:t>
            </a:r>
          </a:p>
          <a:p>
            <a:pPr lvl="1" eaLnBrk="1" hangingPunct="1"/>
            <a:r>
              <a:rPr lang="en-US" altLang="en-US"/>
              <a:t>Typically named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3000" b="1" i="1">
                <a:solidFill>
                  <a:schemeClr val="accent2"/>
                </a:solidFill>
                <a:latin typeface="Courier New" panose="02070309020205020404" pitchFamily="49" charset="0"/>
              </a:rPr>
              <a:t>SomeValue</a:t>
            </a:r>
          </a:p>
          <a:p>
            <a:pPr lvl="1" eaLnBrk="1" hangingPunct="1"/>
            <a:r>
              <a:rPr lang="en-US" altLang="en-US"/>
              <a:t>Referred to as an accessor method</a:t>
            </a:r>
          </a:p>
          <a:p>
            <a:pPr eaLnBrk="1" hangingPunct="1"/>
            <a:r>
              <a:rPr lang="en-US" altLang="en-US"/>
              <a:t>Must also provide methods to change the values of the private instance variable</a:t>
            </a:r>
          </a:p>
          <a:p>
            <a:pPr lvl="1" eaLnBrk="1" hangingPunct="1"/>
            <a:r>
              <a:rPr lang="en-US" altLang="en-US"/>
              <a:t>Typically named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set</a:t>
            </a:r>
            <a:r>
              <a:rPr lang="en-US" altLang="en-US" sz="3000" b="1" i="1">
                <a:solidFill>
                  <a:schemeClr val="accent2"/>
                </a:solidFill>
                <a:latin typeface="Courier New" panose="02070309020205020404" pitchFamily="49" charset="0"/>
              </a:rPr>
              <a:t>SomeValue</a:t>
            </a:r>
          </a:p>
          <a:p>
            <a:pPr lvl="1" eaLnBrk="1" hangingPunct="1"/>
            <a:r>
              <a:rPr lang="en-US" altLang="en-US"/>
              <a:t>Referred to as a mutator method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88FB0C1-CBF9-4734-5326-319CCBA95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Accessor and Mutator Methods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5E3AC2DE-C1A4-1829-09E4-C6663B7205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an example class with accessor and mutator methods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5.11</a:t>
            </a:r>
            <a:br>
              <a:rPr lang="en-US" altLang="en-US"/>
            </a:b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SpeciesFourthTry</a:t>
            </a:r>
          </a:p>
          <a:p>
            <a:pPr eaLnBrk="1" hangingPunct="1"/>
            <a:r>
              <a:rPr lang="en-US" altLang="en-US"/>
              <a:t>Note the mutator method </a:t>
            </a:r>
          </a:p>
          <a:p>
            <a:pPr lvl="1" eaLnBrk="1" hangingPunct="1"/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setSpecies</a:t>
            </a:r>
          </a:p>
          <a:p>
            <a:pPr eaLnBrk="1" hangingPunct="1"/>
            <a:r>
              <a:rPr lang="en-US" altLang="en-US"/>
              <a:t>Note accessor methods</a:t>
            </a:r>
          </a:p>
          <a:p>
            <a:pPr lvl="1" eaLnBrk="1" hangingPunct="1"/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getName</a:t>
            </a:r>
            <a:r>
              <a:rPr lang="en-US" altLang="en-US"/>
              <a:t>,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getPopulation</a:t>
            </a:r>
            <a:r>
              <a:rPr lang="en-US" altLang="en-US"/>
              <a:t>,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getGrowthRate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4367DF51-479E-CEAF-22E2-E40800600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Accessor and Mutator Methods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FC084570-CC04-BC84-5F3D-DB5D5C00C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a mutator method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5.12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classSpeciesFourthTryDemo</a:t>
            </a:r>
          </a:p>
          <a:p>
            <a:pPr eaLnBrk="1" hangingPunct="1"/>
            <a:endParaRPr lang="en-US" altLang="en-US"/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54CFBF77-5EBB-B0CB-BD2C-FBE4C6355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26"/>
          <a:stretch>
            <a:fillRect/>
          </a:stretch>
        </p:blipFill>
        <p:spPr bwMode="auto">
          <a:xfrm>
            <a:off x="885825" y="3354388"/>
            <a:ext cx="7683500" cy="29098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5">
            <a:extLst>
              <a:ext uri="{FF2B5EF4-FFF2-40B4-BE49-F238E27FC236}">
                <a16:creationId xmlns:a16="http://schemas.microsoft.com/office/drawing/2014/main" id="{D63D83A4-27EA-EBB5-33A4-5F642D733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81"/>
          <a:stretch>
            <a:fillRect/>
          </a:stretch>
        </p:blipFill>
        <p:spPr bwMode="auto">
          <a:xfrm>
            <a:off x="835025" y="3290888"/>
            <a:ext cx="7683500" cy="294798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0" name="Text Box 7">
            <a:extLst>
              <a:ext uri="{FF2B5EF4-FFF2-40B4-BE49-F238E27FC236}">
                <a16:creationId xmlns:a16="http://schemas.microsoft.com/office/drawing/2014/main" id="{D9A4DD47-2A1C-8D72-2438-76716B2F3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75" y="43227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8744236-604D-B7EC-982F-CE2AA9D07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EC7C62A-977E-ACD4-30CE-D87C08A65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Purchase class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5.13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Purchase</a:t>
            </a:r>
          </a:p>
          <a:p>
            <a:pPr lvl="1" eaLnBrk="1" hangingPunct="1"/>
            <a:r>
              <a:rPr lang="en-US" altLang="en-US"/>
              <a:t>Note use of private instance variables</a:t>
            </a:r>
          </a:p>
          <a:p>
            <a:pPr lvl="1" eaLnBrk="1" hangingPunct="1"/>
            <a:r>
              <a:rPr lang="en-US" altLang="en-US"/>
              <a:t>Note also how mutator methods check for invalid values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4" action="ppaction://hlinkfile"/>
              </a:rPr>
              <a:t>demo program</a:t>
            </a:r>
            <a:r>
              <a:rPr lang="en-US" altLang="en-US"/>
              <a:t>, listing 5.14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purchaseDemo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6FB764B1-6B95-0435-A7BC-CC7EFE1E9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pic>
        <p:nvPicPr>
          <p:cNvPr id="76803" name="Picture 4">
            <a:extLst>
              <a:ext uri="{FF2B5EF4-FFF2-40B4-BE49-F238E27FC236}">
                <a16:creationId xmlns:a16="http://schemas.microsoft.com/office/drawing/2014/main" id="{5A26AABC-D3F3-330B-40B7-261BBB9CC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343025"/>
            <a:ext cx="7245350" cy="5145088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Text Box 7">
            <a:extLst>
              <a:ext uri="{FF2B5EF4-FFF2-40B4-BE49-F238E27FC236}">
                <a16:creationId xmlns:a16="http://schemas.microsoft.com/office/drawing/2014/main" id="{1BFDAFC6-48BF-461F-C4D6-CCFA230CE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575" y="43227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B3B209C7-ED07-D910-1495-65D481FA7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Calling Methods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074FCF1-7946-647F-2AFB-0C4BB8CF2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method body may call any other method</a:t>
            </a:r>
          </a:p>
          <a:p>
            <a:pPr eaLnBrk="1" hangingPunct="1"/>
            <a:r>
              <a:rPr lang="en-US" altLang="en-US"/>
              <a:t>If the invoked method is within the same class</a:t>
            </a:r>
          </a:p>
          <a:p>
            <a:pPr lvl="1" eaLnBrk="1" hangingPunct="1"/>
            <a:r>
              <a:rPr lang="en-US" altLang="en-US"/>
              <a:t>Need not use prefix of receiving object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5.15</a:t>
            </a:r>
            <a:br>
              <a:rPr lang="en-US" altLang="en-US"/>
            </a:br>
            <a:r>
              <a:rPr lang="en-US" altLang="en-US"/>
              <a:t>class Oracle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4" action="ppaction://hlinkfile"/>
              </a:rPr>
              <a:t>demo program</a:t>
            </a:r>
            <a:r>
              <a:rPr lang="en-US" altLang="en-US"/>
              <a:t>, listing 5.16</a:t>
            </a:r>
            <a:br>
              <a:rPr lang="en-US" altLang="en-US"/>
            </a:br>
            <a:r>
              <a:rPr lang="en-US" altLang="en-US"/>
              <a:t>class OracleDemo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>
            <a:extLst>
              <a:ext uri="{FF2B5EF4-FFF2-40B4-BE49-F238E27FC236}">
                <a16:creationId xmlns:a16="http://schemas.microsoft.com/office/drawing/2014/main" id="{06AE4505-45A3-0982-3695-27F5D3E44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Methods Calling Methods</a:t>
            </a:r>
          </a:p>
        </p:txBody>
      </p:sp>
      <p:pic>
        <p:nvPicPr>
          <p:cNvPr id="54277" name="Picture 5">
            <a:extLst>
              <a:ext uri="{FF2B5EF4-FFF2-40B4-BE49-F238E27FC236}">
                <a16:creationId xmlns:a16="http://schemas.microsoft.com/office/drawing/2014/main" id="{D157A65C-4A67-5AF6-DB4F-B6246525A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88"/>
          <a:stretch>
            <a:fillRect/>
          </a:stretch>
        </p:blipFill>
        <p:spPr bwMode="auto">
          <a:xfrm>
            <a:off x="731838" y="1624013"/>
            <a:ext cx="7639050" cy="436721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>
            <a:extLst>
              <a:ext uri="{FF2B5EF4-FFF2-40B4-BE49-F238E27FC236}">
                <a16:creationId xmlns:a16="http://schemas.microsoft.com/office/drawing/2014/main" id="{11EC62CA-2F60-B4A7-10F6-22AA22198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86"/>
          <a:stretch>
            <a:fillRect/>
          </a:stretch>
        </p:blipFill>
        <p:spPr bwMode="auto">
          <a:xfrm>
            <a:off x="738188" y="1871663"/>
            <a:ext cx="7639050" cy="3929062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Text Box 7">
            <a:extLst>
              <a:ext uri="{FF2B5EF4-FFF2-40B4-BE49-F238E27FC236}">
                <a16:creationId xmlns:a16="http://schemas.microsoft.com/office/drawing/2014/main" id="{DEB3E261-FFFD-205B-F386-88770FC62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0588" y="3692525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20C571E-F776-095E-358C-2B37EC422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Encapsulation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AEBEF7D-7A44-59F7-B75A-D344B13CF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Consider example of driving a car</a:t>
            </a:r>
          </a:p>
          <a:p>
            <a:pPr lvl="1" eaLnBrk="1" hangingPunct="1"/>
            <a:r>
              <a:rPr lang="en-US" altLang="en-US"/>
              <a:t>We see and use break pedal, accelerator pedal, steering wheel – know </a:t>
            </a:r>
            <a:r>
              <a:rPr lang="en-US" altLang="en-US" u="sng"/>
              <a:t>what</a:t>
            </a:r>
            <a:r>
              <a:rPr lang="en-US" altLang="en-US"/>
              <a:t> they do</a:t>
            </a:r>
          </a:p>
          <a:p>
            <a:pPr lvl="1" eaLnBrk="1" hangingPunct="1"/>
            <a:r>
              <a:rPr lang="en-US" altLang="en-US"/>
              <a:t>We do </a:t>
            </a:r>
            <a:r>
              <a:rPr lang="en-US" altLang="en-US" u="sng"/>
              <a:t>not</a:t>
            </a:r>
            <a:r>
              <a:rPr lang="en-US" altLang="en-US"/>
              <a:t> see mechanical details of </a:t>
            </a:r>
            <a:r>
              <a:rPr lang="en-US" altLang="en-US" u="sng"/>
              <a:t>how</a:t>
            </a:r>
            <a:r>
              <a:rPr lang="en-US" altLang="en-US"/>
              <a:t> they do their jobs</a:t>
            </a:r>
          </a:p>
          <a:p>
            <a:pPr eaLnBrk="1" hangingPunct="1"/>
            <a:r>
              <a:rPr lang="en-US" altLang="en-US"/>
              <a:t>Encapsulation divides class definition into</a:t>
            </a:r>
          </a:p>
          <a:p>
            <a:pPr lvl="1" eaLnBrk="1" hangingPunct="1"/>
            <a:r>
              <a:rPr lang="en-US" altLang="en-US"/>
              <a:t>Class interface</a:t>
            </a:r>
          </a:p>
          <a:p>
            <a:pPr lvl="1" eaLnBrk="1" hangingPunct="1"/>
            <a:r>
              <a:rPr lang="en-US" altLang="en-US"/>
              <a:t>Class implementation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B216CD8-F4C7-322E-03FE-5216E45EB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Encapsulation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E992D8C-6BA8-F389-DBDE-3A32AAD44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class interface</a:t>
            </a:r>
          </a:p>
          <a:p>
            <a:pPr lvl="1" eaLnBrk="1" hangingPunct="1"/>
            <a:r>
              <a:rPr lang="en-US" altLang="en-US"/>
              <a:t>Tells </a:t>
            </a:r>
            <a:r>
              <a:rPr lang="en-US" altLang="en-US" u="sng"/>
              <a:t>what</a:t>
            </a:r>
            <a:r>
              <a:rPr lang="en-US" altLang="en-US"/>
              <a:t> the class does</a:t>
            </a:r>
          </a:p>
          <a:p>
            <a:pPr lvl="1" eaLnBrk="1" hangingPunct="1"/>
            <a:r>
              <a:rPr lang="en-US" altLang="en-US"/>
              <a:t>Gives headings for public methods and comments about them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class implementation</a:t>
            </a:r>
          </a:p>
          <a:p>
            <a:pPr lvl="1" eaLnBrk="1" hangingPunct="1"/>
            <a:r>
              <a:rPr lang="en-US" altLang="en-US"/>
              <a:t>Contains private variables</a:t>
            </a:r>
          </a:p>
          <a:p>
            <a:pPr lvl="1" eaLnBrk="1" hangingPunct="1"/>
            <a:r>
              <a:rPr lang="en-US" altLang="en-US"/>
              <a:t>Includes definitions of public and private methods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CB560BF5-3BDF-6469-6A5A-323A27582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85825"/>
          </a:xfrm>
        </p:spPr>
        <p:txBody>
          <a:bodyPr/>
          <a:lstStyle/>
          <a:p>
            <a:pPr eaLnBrk="1" hangingPunct="1"/>
            <a:r>
              <a:rPr lang="en-US" altLang="en-US"/>
              <a:t>Encapsulation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E497F3-40AA-176F-E2E7-72F4DF9DB0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25550"/>
            <a:ext cx="8229600" cy="4900613"/>
          </a:xfrm>
        </p:spPr>
        <p:txBody>
          <a:bodyPr/>
          <a:lstStyle/>
          <a:p>
            <a:pPr eaLnBrk="1" hangingPunct="1"/>
            <a:r>
              <a:rPr lang="en-US" altLang="en-US"/>
              <a:t>Figure 5.3  A well encapsulated class definition</a:t>
            </a:r>
          </a:p>
        </p:txBody>
      </p:sp>
      <p:sp>
        <p:nvSpPr>
          <p:cNvPr id="87044" name="Text Box 5">
            <a:extLst>
              <a:ext uri="{FF2B5EF4-FFF2-40B4-BE49-F238E27FC236}">
                <a16:creationId xmlns:a16="http://schemas.microsoft.com/office/drawing/2014/main" id="{EFB39741-72DB-3054-3C87-4641531BB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4068763"/>
            <a:ext cx="1636712" cy="517525"/>
          </a:xfrm>
          <a:prstGeom prst="rect">
            <a:avLst/>
          </a:prstGeom>
          <a:solidFill>
            <a:srgbClr val="FFE4C9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 i="1">
                <a:latin typeface="Times New Roman" panose="02020603050405020304" pitchFamily="18" charset="0"/>
              </a:rPr>
              <a:t>Programmer who uses the class</a:t>
            </a:r>
          </a:p>
        </p:txBody>
      </p:sp>
      <p:sp>
        <p:nvSpPr>
          <p:cNvPr id="87045" name="Line 6">
            <a:extLst>
              <a:ext uri="{FF2B5EF4-FFF2-40B4-BE49-F238E27FC236}">
                <a16:creationId xmlns:a16="http://schemas.microsoft.com/office/drawing/2014/main" id="{D2C260BD-B99C-F12D-1428-EB1AC9BC5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3575" y="4352925"/>
            <a:ext cx="7350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7046" name="Picture 10">
            <a:extLst>
              <a:ext uri="{FF2B5EF4-FFF2-40B4-BE49-F238E27FC236}">
                <a16:creationId xmlns:a16="http://schemas.microsoft.com/office/drawing/2014/main" id="{15B2917F-BE6A-6098-ECEB-95DEBF4A2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863" y="2265363"/>
            <a:ext cx="4514850" cy="39909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1045870-9521-473D-E312-679DE3A0A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Encapsulation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A1A12B5-BEC0-7191-E435-F304FCCEB2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 sz="2600"/>
              <a:t>Preface class definition with comment on how to use class</a:t>
            </a:r>
          </a:p>
          <a:p>
            <a:pPr eaLnBrk="1" hangingPunct="1"/>
            <a:r>
              <a:rPr lang="en-US" altLang="en-US" sz="2600"/>
              <a:t>Declare all instance variables in the class as private.</a:t>
            </a:r>
          </a:p>
          <a:p>
            <a:pPr eaLnBrk="1" hangingPunct="1"/>
            <a:r>
              <a:rPr lang="en-US" altLang="en-US" sz="2600"/>
              <a:t>Provide public accessor methods to retrieve data Provide public methods manipulating data</a:t>
            </a:r>
            <a:endParaRPr lang="en-US" altLang="en-US" sz="2400"/>
          </a:p>
          <a:p>
            <a:pPr lvl="1" eaLnBrk="1" hangingPunct="1"/>
            <a:r>
              <a:rPr lang="en-US" altLang="en-US" sz="2000"/>
              <a:t>Such methods could include public mutator methods.</a:t>
            </a:r>
          </a:p>
          <a:p>
            <a:pPr eaLnBrk="1" hangingPunct="1"/>
            <a:r>
              <a:rPr lang="en-US" altLang="en-US" sz="2600"/>
              <a:t>Place a comment before each public method heading that fully specifies how to use method.</a:t>
            </a:r>
          </a:p>
          <a:p>
            <a:pPr eaLnBrk="1" hangingPunct="1"/>
            <a:r>
              <a:rPr lang="en-US" altLang="en-US" sz="2600"/>
              <a:t>Make any helping methods private.</a:t>
            </a:r>
          </a:p>
          <a:p>
            <a:pPr eaLnBrk="1" hangingPunct="1"/>
            <a:r>
              <a:rPr lang="en-US" altLang="en-US" sz="2600"/>
              <a:t>Write comments within class definition to describe implementation details.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DA5C7CF2-B5C8-76AF-2308-D2A57D3D1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4813" y="338138"/>
            <a:ext cx="8739187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Automatic Documentation  </a:t>
            </a:r>
            <a:r>
              <a:rPr lang="en-US" altLang="en-US" sz="36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4638C546-9922-E833-0D3F-E8A4E3BD3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Generates documentation for class interface</a:t>
            </a:r>
          </a:p>
          <a:p>
            <a:pPr eaLnBrk="1" hangingPunct="1"/>
            <a:r>
              <a:rPr lang="en-US" altLang="en-US"/>
              <a:t>Comments in source code must be enclosed in  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/**  */</a:t>
            </a:r>
          </a:p>
          <a:p>
            <a:pPr eaLnBrk="1" hangingPunct="1"/>
            <a:r>
              <a:rPr lang="en-US" altLang="en-US"/>
              <a:t>Utility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  <a:r>
              <a:rPr lang="en-US" altLang="en-US"/>
              <a:t> will include</a:t>
            </a:r>
          </a:p>
          <a:p>
            <a:pPr lvl="1" eaLnBrk="1" hangingPunct="1"/>
            <a:r>
              <a:rPr lang="en-US" altLang="en-US"/>
              <a:t>These comments</a:t>
            </a:r>
          </a:p>
          <a:p>
            <a:pPr lvl="1" eaLnBrk="1" hangingPunct="1"/>
            <a:r>
              <a:rPr lang="en-US" altLang="en-US"/>
              <a:t>Headings of public methods</a:t>
            </a:r>
          </a:p>
          <a:p>
            <a:pPr eaLnBrk="1" hangingPunct="1"/>
            <a:r>
              <a:rPr lang="en-US" altLang="en-US"/>
              <a:t>Output of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  <a:r>
              <a:rPr lang="en-US" altLang="en-US"/>
              <a:t> is HTML format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BFAA834-251C-B3E2-5D6A-D8D847B02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UML Class Diagrams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CDD5D878-9ED3-538C-82D3-D9AA3C37BB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Recall Figure 5.2  A class outline as a UML class diagram</a:t>
            </a:r>
          </a:p>
        </p:txBody>
      </p:sp>
      <p:pic>
        <p:nvPicPr>
          <p:cNvPr id="93188" name="Picture 7">
            <a:extLst>
              <a:ext uri="{FF2B5EF4-FFF2-40B4-BE49-F238E27FC236}">
                <a16:creationId xmlns:a16="http://schemas.microsoft.com/office/drawing/2014/main" id="{07EC3118-0580-60AE-6063-4C20EECC8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855913"/>
            <a:ext cx="5686425" cy="2684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15">
            <a:extLst>
              <a:ext uri="{FF2B5EF4-FFF2-40B4-BE49-F238E27FC236}">
                <a16:creationId xmlns:a16="http://schemas.microsoft.com/office/drawing/2014/main" id="{11B1E36C-6F06-ABF7-A2A3-7EBF7E99E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75" y="1347788"/>
            <a:ext cx="5346700" cy="4121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235" name="Rectangle 2">
            <a:extLst>
              <a:ext uri="{FF2B5EF4-FFF2-40B4-BE49-F238E27FC236}">
                <a16:creationId xmlns:a16="http://schemas.microsoft.com/office/drawing/2014/main" id="{C559577E-557A-B7E1-4C85-B2C325546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UML Class Diagrams</a:t>
            </a:r>
          </a:p>
        </p:txBody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AAE00FCD-869F-154E-E795-4DBA73D0A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Note </a:t>
            </a:r>
            <a:br>
              <a:rPr lang="en-US" altLang="en-US"/>
            </a:br>
            <a:r>
              <a:rPr lang="en-US" altLang="en-US"/>
              <a:t>Figure 5.4</a:t>
            </a:r>
            <a:br>
              <a:rPr lang="en-US" altLang="en-US"/>
            </a:br>
            <a:r>
              <a:rPr lang="en-US" altLang="en-US"/>
              <a:t>for the 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Purchase</a:t>
            </a:r>
            <a:br>
              <a:rPr lang="en-US" altLang="en-US"/>
            </a:br>
            <a:r>
              <a:rPr lang="en-US" altLang="en-US"/>
              <a:t>class 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F45C1F4-F018-4600-5CE2-65B3788AAB8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276600"/>
            <a:ext cx="2971800" cy="1965325"/>
            <a:chOff x="990600" y="3276600"/>
            <a:chExt cx="2971800" cy="196596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1565C48-9B52-A706-2056-1E14C150DAAD}"/>
                </a:ext>
              </a:extLst>
            </p:cNvPr>
            <p:cNvSpPr/>
            <p:nvPr/>
          </p:nvSpPr>
          <p:spPr>
            <a:xfrm>
              <a:off x="3581400" y="3276600"/>
              <a:ext cx="381000" cy="196596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5243" name="TextBox 6">
              <a:extLst>
                <a:ext uri="{FF2B5EF4-FFF2-40B4-BE49-F238E27FC236}">
                  <a16:creationId xmlns:a16="http://schemas.microsoft.com/office/drawing/2014/main" id="{52D8CCD9-3F50-4E52-1B10-1F25C79B3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4586711"/>
              <a:ext cx="2027238" cy="646321"/>
            </a:xfrm>
            <a:prstGeom prst="rect">
              <a:avLst/>
            </a:prstGeom>
            <a:solidFill>
              <a:srgbClr val="D3EBE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Plus signs imply public access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70EFB0A-387C-DD4D-E94C-7708508F950E}"/>
                </a:ext>
              </a:extLst>
            </p:cNvPr>
            <p:cNvCxnSpPr/>
            <p:nvPr/>
          </p:nvCxnSpPr>
          <p:spPr>
            <a:xfrm flipV="1">
              <a:off x="2544763" y="3870517"/>
              <a:ext cx="990600" cy="67173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ECF25055-1D77-E25A-6FCF-2F1461F00BDF}"/>
              </a:ext>
            </a:extLst>
          </p:cNvPr>
          <p:cNvGrpSpPr>
            <a:grpSpLocks/>
          </p:cNvGrpSpPr>
          <p:nvPr/>
        </p:nvGrpSpPr>
        <p:grpSpPr bwMode="auto">
          <a:xfrm>
            <a:off x="3611563" y="2103438"/>
            <a:ext cx="4999037" cy="1209675"/>
            <a:chOff x="3611880" y="2103120"/>
            <a:chExt cx="4998720" cy="121021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9C6265A-E600-9BC4-A0B7-BF0105466E56}"/>
                </a:ext>
              </a:extLst>
            </p:cNvPr>
            <p:cNvSpPr/>
            <p:nvPr/>
          </p:nvSpPr>
          <p:spPr>
            <a:xfrm>
              <a:off x="3611880" y="2103120"/>
              <a:ext cx="350815" cy="82268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95240" name="TextBox 13">
              <a:extLst>
                <a:ext uri="{FF2B5EF4-FFF2-40B4-BE49-F238E27FC236}">
                  <a16:creationId xmlns:a16="http://schemas.microsoft.com/office/drawing/2014/main" id="{391A7BF8-AFC3-0CE8-8EC9-7FCB07699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3492" y="2666932"/>
              <a:ext cx="2027108" cy="646399"/>
            </a:xfrm>
            <a:prstGeom prst="rect">
              <a:avLst/>
            </a:prstGeom>
            <a:solidFill>
              <a:srgbClr val="D3EBE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Minus signs imply private access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22BE735-2892-36E0-96DC-27EE7B956392}"/>
                </a:ext>
              </a:extLst>
            </p:cNvPr>
            <p:cNvCxnSpPr>
              <a:endCxn id="13" idx="3"/>
            </p:cNvCxnSpPr>
            <p:nvPr/>
          </p:nvCxnSpPr>
          <p:spPr>
            <a:xfrm rot="10800000">
              <a:off x="3962695" y="2514464"/>
              <a:ext cx="2606510" cy="33511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>
            <a:extLst>
              <a:ext uri="{FF2B5EF4-FFF2-40B4-BE49-F238E27FC236}">
                <a16:creationId xmlns:a16="http://schemas.microsoft.com/office/drawing/2014/main" id="{4ED04A11-289A-E853-B486-E40BD985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UML Class Diagrams</a:t>
            </a:r>
          </a:p>
        </p:txBody>
      </p:sp>
      <p:sp>
        <p:nvSpPr>
          <p:cNvPr id="97283" name="Content Placeholder 2">
            <a:extLst>
              <a:ext uri="{FF2B5EF4-FFF2-40B4-BE49-F238E27FC236}">
                <a16:creationId xmlns:a16="http://schemas.microsoft.com/office/drawing/2014/main" id="{E42B9E8F-505A-1CAB-2925-31512FF1E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Contains more than interface, less than full implementation</a:t>
            </a:r>
          </a:p>
          <a:p>
            <a:pPr eaLnBrk="1" hangingPunct="1"/>
            <a:r>
              <a:rPr lang="en-US" altLang="en-US"/>
              <a:t>Usually written </a:t>
            </a:r>
            <a:r>
              <a:rPr lang="en-US" altLang="en-US" i="1"/>
              <a:t>before</a:t>
            </a:r>
            <a:r>
              <a:rPr lang="en-US" altLang="en-US"/>
              <a:t> class is defined</a:t>
            </a:r>
          </a:p>
          <a:p>
            <a:pPr eaLnBrk="1" hangingPunct="1"/>
            <a:r>
              <a:rPr lang="en-US" altLang="en-US"/>
              <a:t>Used by the programmer defining the class</a:t>
            </a:r>
          </a:p>
          <a:p>
            <a:pPr lvl="1" eaLnBrk="1" hangingPunct="1"/>
            <a:r>
              <a:rPr lang="en-US" altLang="en-US"/>
              <a:t>Contrast with the interface used by programmer who uses the class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>
            <a:extLst>
              <a:ext uri="{FF2B5EF4-FFF2-40B4-BE49-F238E27FC236}">
                <a16:creationId xmlns:a16="http://schemas.microsoft.com/office/drawing/2014/main" id="{09132CA7-E628-9296-16F9-994A1F76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38" y="6286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Objects and References: Outline</a:t>
            </a:r>
          </a:p>
        </p:txBody>
      </p:sp>
      <p:sp>
        <p:nvSpPr>
          <p:cNvPr id="99331" name="Content Placeholder 2">
            <a:extLst>
              <a:ext uri="{FF2B5EF4-FFF2-40B4-BE49-F238E27FC236}">
                <a16:creationId xmlns:a16="http://schemas.microsoft.com/office/drawing/2014/main" id="{15596931-56E8-57B1-2F1B-A5B31CB6E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50" y="2160588"/>
            <a:ext cx="8083550" cy="3965575"/>
          </a:xfrm>
        </p:spPr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  <a:p>
            <a:pPr eaLnBrk="1" hangingPunct="1"/>
            <a:r>
              <a:rPr lang="en-US" altLang="en-US"/>
              <a:t>Defining an equals Method for a Class</a:t>
            </a:r>
          </a:p>
          <a:p>
            <a:pPr eaLnBrk="1" hangingPunct="1"/>
            <a:r>
              <a:rPr lang="en-US" altLang="en-US"/>
              <a:t>Boolean-Valued Methods</a:t>
            </a:r>
          </a:p>
          <a:p>
            <a:pPr eaLnBrk="1" hangingPunct="1"/>
            <a:r>
              <a:rPr lang="en-US" altLang="en-US"/>
              <a:t>Parameters of a Class Type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E3E74C77-5496-E12E-B79C-63012FA1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82AE7CB9-CF56-BCA4-7114-C9E0E1ACC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 variables are implemented as a memory location</a:t>
            </a:r>
          </a:p>
          <a:p>
            <a:pPr eaLnBrk="1" hangingPunct="1"/>
            <a:r>
              <a:rPr lang="en-US" altLang="en-US"/>
              <a:t>Data of </a:t>
            </a:r>
            <a:r>
              <a:rPr lang="en-US" altLang="en-US" i="1"/>
              <a:t>primitive type </a:t>
            </a:r>
            <a:r>
              <a:rPr lang="en-US" altLang="en-US"/>
              <a:t>stored in the memory location assigned to the variable</a:t>
            </a:r>
          </a:p>
          <a:p>
            <a:pPr eaLnBrk="1" hangingPunct="1"/>
            <a:r>
              <a:rPr lang="en-US" altLang="en-US"/>
              <a:t>Variable of </a:t>
            </a:r>
            <a:r>
              <a:rPr lang="en-US" altLang="en-US" i="1"/>
              <a:t>class type </a:t>
            </a:r>
            <a:r>
              <a:rPr lang="en-US" altLang="en-US"/>
              <a:t>contains memory address of object named by the variable</a:t>
            </a:r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>
            <a:extLst>
              <a:ext uri="{FF2B5EF4-FFF2-40B4-BE49-F238E27FC236}">
                <a16:creationId xmlns:a16="http://schemas.microsoft.com/office/drawing/2014/main" id="{7DBE7A6D-A8E6-7E71-9893-D80F2A55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03427" name="Content Placeholder 2">
            <a:extLst>
              <a:ext uri="{FF2B5EF4-FFF2-40B4-BE49-F238E27FC236}">
                <a16:creationId xmlns:a16="http://schemas.microsoft.com/office/drawing/2014/main" id="{3EBDFE93-9D53-1314-9AEA-B8A79FCF3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itself not stored in the variable</a:t>
            </a:r>
          </a:p>
          <a:p>
            <a:pPr lvl="1" eaLnBrk="1" hangingPunct="1"/>
            <a:r>
              <a:rPr lang="en-US" altLang="en-US"/>
              <a:t>Stored elsewhere in memory</a:t>
            </a:r>
          </a:p>
          <a:p>
            <a:pPr lvl="1" eaLnBrk="1" hangingPunct="1"/>
            <a:r>
              <a:rPr lang="en-US" altLang="en-US"/>
              <a:t>Variable contains address of where it is stored</a:t>
            </a:r>
          </a:p>
          <a:p>
            <a:pPr eaLnBrk="1" hangingPunct="1"/>
            <a:r>
              <a:rPr lang="en-US" altLang="en-US"/>
              <a:t>Address called the </a:t>
            </a:r>
            <a:r>
              <a:rPr lang="en-US" altLang="en-US" i="1"/>
              <a:t>reference</a:t>
            </a:r>
            <a:r>
              <a:rPr lang="en-US" altLang="en-US"/>
              <a:t> to the variable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i="1"/>
              <a:t>reference type</a:t>
            </a:r>
            <a:r>
              <a:rPr lang="en-US" altLang="en-US"/>
              <a:t> variable holds references (memory addresses) </a:t>
            </a:r>
          </a:p>
          <a:p>
            <a:pPr lvl="1" eaLnBrk="1" hangingPunct="1"/>
            <a:r>
              <a:rPr lang="en-US" altLang="en-US"/>
              <a:t>This makes memory management of class types more efficient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5">
            <a:extLst>
              <a:ext uri="{FF2B5EF4-FFF2-40B4-BE49-F238E27FC236}">
                <a16:creationId xmlns:a16="http://schemas.microsoft.com/office/drawing/2014/main" id="{6F22C550-DBD0-5CA5-848F-B28A9164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05475" name="Content Placeholder 7">
            <a:extLst>
              <a:ext uri="{FF2B5EF4-FFF2-40B4-BE49-F238E27FC236}">
                <a16:creationId xmlns:a16="http://schemas.microsoft.com/office/drawing/2014/main" id="{0CFC85E2-6312-EB36-31EC-84B621B6B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5.5a</a:t>
            </a:r>
            <a:br>
              <a:rPr lang="en-US" altLang="en-US"/>
            </a:br>
            <a:r>
              <a:rPr lang="en-US" altLang="en-US"/>
              <a:t>Behavior</a:t>
            </a:r>
            <a:br>
              <a:rPr lang="en-US" altLang="en-US"/>
            </a:br>
            <a:r>
              <a:rPr lang="en-US" altLang="en-US"/>
              <a:t>of class</a:t>
            </a:r>
            <a:br>
              <a:rPr lang="en-US" altLang="en-US"/>
            </a:br>
            <a:r>
              <a:rPr lang="en-US" altLang="en-US"/>
              <a:t>variables</a:t>
            </a:r>
          </a:p>
        </p:txBody>
      </p:sp>
      <p:pic>
        <p:nvPicPr>
          <p:cNvPr id="105476" name="Picture 8">
            <a:extLst>
              <a:ext uri="{FF2B5EF4-FFF2-40B4-BE49-F238E27FC236}">
                <a16:creationId xmlns:a16="http://schemas.microsoft.com/office/drawing/2014/main" id="{AE60C03F-A74F-85F3-DD47-1E9362FD1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75" y="1419225"/>
            <a:ext cx="5321300" cy="4676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5">
            <a:extLst>
              <a:ext uri="{FF2B5EF4-FFF2-40B4-BE49-F238E27FC236}">
                <a16:creationId xmlns:a16="http://schemas.microsoft.com/office/drawing/2014/main" id="{123FF273-9A75-B0A2-B1AF-8870BCEC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07523" name="Content Placeholder 7">
            <a:extLst>
              <a:ext uri="{FF2B5EF4-FFF2-40B4-BE49-F238E27FC236}">
                <a16:creationId xmlns:a16="http://schemas.microsoft.com/office/drawing/2014/main" id="{4BCBF6E3-72B5-EA93-2EB4-1272FDFAF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5.5b</a:t>
            </a:r>
            <a:br>
              <a:rPr lang="en-US" altLang="en-US"/>
            </a:br>
            <a:r>
              <a:rPr lang="en-US" altLang="en-US"/>
              <a:t>Behavior</a:t>
            </a:r>
            <a:br>
              <a:rPr lang="en-US" altLang="en-US"/>
            </a:br>
            <a:r>
              <a:rPr lang="en-US" altLang="en-US"/>
              <a:t>of class</a:t>
            </a:r>
            <a:br>
              <a:rPr lang="en-US" altLang="en-US"/>
            </a:br>
            <a:r>
              <a:rPr lang="en-US" altLang="en-US"/>
              <a:t>variables</a:t>
            </a:r>
          </a:p>
        </p:txBody>
      </p:sp>
      <p:pic>
        <p:nvPicPr>
          <p:cNvPr id="107524" name="Picture 8">
            <a:extLst>
              <a:ext uri="{FF2B5EF4-FFF2-40B4-BE49-F238E27FC236}">
                <a16:creationId xmlns:a16="http://schemas.microsoft.com/office/drawing/2014/main" id="{2BC939B7-10BD-D61A-B951-D1D2A233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1744663"/>
            <a:ext cx="5480050" cy="417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5">
            <a:extLst>
              <a:ext uri="{FF2B5EF4-FFF2-40B4-BE49-F238E27FC236}">
                <a16:creationId xmlns:a16="http://schemas.microsoft.com/office/drawing/2014/main" id="{E10D4F19-1B1D-C02E-B65C-5FA07CB6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09571" name="Content Placeholder 7">
            <a:extLst>
              <a:ext uri="{FF2B5EF4-FFF2-40B4-BE49-F238E27FC236}">
                <a16:creationId xmlns:a16="http://schemas.microsoft.com/office/drawing/2014/main" id="{3CA53C68-BB8D-1E41-6B64-D030377F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5.5c</a:t>
            </a:r>
            <a:br>
              <a:rPr lang="en-US" altLang="en-US"/>
            </a:br>
            <a:r>
              <a:rPr lang="en-US" altLang="en-US"/>
              <a:t>Behavior</a:t>
            </a:r>
            <a:br>
              <a:rPr lang="en-US" altLang="en-US"/>
            </a:br>
            <a:r>
              <a:rPr lang="en-US" altLang="en-US"/>
              <a:t>of class</a:t>
            </a:r>
            <a:br>
              <a:rPr lang="en-US" altLang="en-US"/>
            </a:br>
            <a:r>
              <a:rPr lang="en-US" altLang="en-US"/>
              <a:t>variables</a:t>
            </a:r>
          </a:p>
        </p:txBody>
      </p:sp>
      <p:pic>
        <p:nvPicPr>
          <p:cNvPr id="109572" name="Picture 8">
            <a:extLst>
              <a:ext uri="{FF2B5EF4-FFF2-40B4-BE49-F238E27FC236}">
                <a16:creationId xmlns:a16="http://schemas.microsoft.com/office/drawing/2014/main" id="{B8836685-0934-A3BA-95E7-53642F4DD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513" y="1870075"/>
            <a:ext cx="6008687" cy="3735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5">
            <a:extLst>
              <a:ext uri="{FF2B5EF4-FFF2-40B4-BE49-F238E27FC236}">
                <a16:creationId xmlns:a16="http://schemas.microsoft.com/office/drawing/2014/main" id="{F80FB4BD-72AA-E97E-8890-3A700BB7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11619" name="Content Placeholder 7">
            <a:extLst>
              <a:ext uri="{FF2B5EF4-FFF2-40B4-BE49-F238E27FC236}">
                <a16:creationId xmlns:a16="http://schemas.microsoft.com/office/drawing/2014/main" id="{137CF502-814F-0581-112D-20004915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5.5d</a:t>
            </a:r>
            <a:br>
              <a:rPr lang="en-US" altLang="en-US"/>
            </a:br>
            <a:r>
              <a:rPr lang="en-US" altLang="en-US"/>
              <a:t>Behavior</a:t>
            </a:r>
            <a:br>
              <a:rPr lang="en-US" altLang="en-US"/>
            </a:br>
            <a:r>
              <a:rPr lang="en-US" altLang="en-US"/>
              <a:t>of class</a:t>
            </a:r>
            <a:br>
              <a:rPr lang="en-US" altLang="en-US"/>
            </a:br>
            <a:r>
              <a:rPr lang="en-US" altLang="en-US"/>
              <a:t>variables</a:t>
            </a:r>
          </a:p>
        </p:txBody>
      </p:sp>
      <p:pic>
        <p:nvPicPr>
          <p:cNvPr id="111620" name="Picture 8">
            <a:extLst>
              <a:ext uri="{FF2B5EF4-FFF2-40B4-BE49-F238E27FC236}">
                <a16:creationId xmlns:a16="http://schemas.microsoft.com/office/drawing/2014/main" id="{1D8E3695-2687-D1B7-09DE-52F7034D1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1855788"/>
            <a:ext cx="5919787" cy="38179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>
            <a:extLst>
              <a:ext uri="{FF2B5EF4-FFF2-40B4-BE49-F238E27FC236}">
                <a16:creationId xmlns:a16="http://schemas.microsoft.com/office/drawing/2014/main" id="{BD229ADB-244B-6307-494C-A96115BF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13667" name="Content Placeholder 2">
            <a:extLst>
              <a:ext uri="{FF2B5EF4-FFF2-40B4-BE49-F238E27FC236}">
                <a16:creationId xmlns:a16="http://schemas.microsoft.com/office/drawing/2014/main" id="{AD470AA5-81D3-E364-091D-A23C4DB7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5.6a</a:t>
            </a:r>
            <a:br>
              <a:rPr lang="en-US" altLang="en-US"/>
            </a:br>
            <a:r>
              <a:rPr lang="en-US" altLang="en-US"/>
              <a:t>Dangers of</a:t>
            </a:r>
            <a:br>
              <a:rPr lang="en-US" altLang="en-US"/>
            </a:br>
            <a:r>
              <a:rPr lang="en-US" altLang="en-US"/>
              <a:t>using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==</a:t>
            </a:r>
            <a:br>
              <a:rPr lang="en-US" altLang="en-US"/>
            </a:br>
            <a:r>
              <a:rPr lang="en-US" altLang="en-US"/>
              <a:t>with objects</a:t>
            </a:r>
          </a:p>
        </p:txBody>
      </p:sp>
      <p:pic>
        <p:nvPicPr>
          <p:cNvPr id="113668" name="Picture 8">
            <a:extLst>
              <a:ext uri="{FF2B5EF4-FFF2-40B4-BE49-F238E27FC236}">
                <a16:creationId xmlns:a16="http://schemas.microsoft.com/office/drawing/2014/main" id="{BFAAA991-4171-C948-0063-B32AF169B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13" y="1855788"/>
            <a:ext cx="5741987" cy="346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E5FC-2D92-04BA-B988-99CB39B2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>
            <a:extLst>
              <a:ext uri="{FF2B5EF4-FFF2-40B4-BE49-F238E27FC236}">
                <a16:creationId xmlns:a16="http://schemas.microsoft.com/office/drawing/2014/main" id="{C8B9823F-0B97-A26B-5F34-16FD0CD4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15715" name="Content Placeholder 2">
            <a:extLst>
              <a:ext uri="{FF2B5EF4-FFF2-40B4-BE49-F238E27FC236}">
                <a16:creationId xmlns:a16="http://schemas.microsoft.com/office/drawing/2014/main" id="{89F1076C-4444-97D8-9D76-48D2E9217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5.6b</a:t>
            </a:r>
            <a:br>
              <a:rPr lang="en-US" altLang="en-US"/>
            </a:br>
            <a:r>
              <a:rPr lang="en-US" altLang="en-US"/>
              <a:t>Dangers of</a:t>
            </a:r>
            <a:br>
              <a:rPr lang="en-US" altLang="en-US"/>
            </a:br>
            <a:r>
              <a:rPr lang="en-US" altLang="en-US"/>
              <a:t>using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==</a:t>
            </a:r>
            <a:br>
              <a:rPr lang="en-US" altLang="en-US"/>
            </a:br>
            <a:r>
              <a:rPr lang="en-US" altLang="en-US"/>
              <a:t>with objects</a:t>
            </a:r>
          </a:p>
        </p:txBody>
      </p:sp>
      <p:pic>
        <p:nvPicPr>
          <p:cNvPr id="115716" name="Picture 8">
            <a:extLst>
              <a:ext uri="{FF2B5EF4-FFF2-40B4-BE49-F238E27FC236}">
                <a16:creationId xmlns:a16="http://schemas.microsoft.com/office/drawing/2014/main" id="{49485AB7-3363-43B4-B4F8-9BEC9698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50" y="1241425"/>
            <a:ext cx="5516563" cy="4938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31A77A-7538-0F3B-93A1-650716AD4C41}"/>
              </a:ext>
            </a:extLst>
          </p:cNvPr>
          <p:cNvSpPr txBox="1"/>
          <p:nvPr/>
        </p:nvSpPr>
        <p:spPr>
          <a:xfrm>
            <a:off x="3695178" y="5736921"/>
            <a:ext cx="506623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8913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>
            <a:extLst>
              <a:ext uri="{FF2B5EF4-FFF2-40B4-BE49-F238E27FC236}">
                <a16:creationId xmlns:a16="http://schemas.microsoft.com/office/drawing/2014/main" id="{FB20076F-61D5-3815-4B6C-FAEC5A6B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Variables of a Class Type</a:t>
            </a:r>
          </a:p>
        </p:txBody>
      </p:sp>
      <p:sp>
        <p:nvSpPr>
          <p:cNvPr id="115715" name="Content Placeholder 2">
            <a:extLst>
              <a:ext uri="{FF2B5EF4-FFF2-40B4-BE49-F238E27FC236}">
                <a16:creationId xmlns:a16="http://schemas.microsoft.com/office/drawing/2014/main" id="{2CE779D0-93A6-4864-188A-20EE1F46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</a:t>
            </a:r>
            <a:br>
              <a:rPr lang="en-US" altLang="en-US"/>
            </a:br>
            <a:r>
              <a:rPr lang="en-US" altLang="en-US"/>
              <a:t>5.6b</a:t>
            </a:r>
            <a:br>
              <a:rPr lang="en-US" altLang="en-US"/>
            </a:br>
            <a:r>
              <a:rPr lang="en-US" altLang="en-US"/>
              <a:t>Dangers of</a:t>
            </a:r>
            <a:br>
              <a:rPr lang="en-US" altLang="en-US"/>
            </a:br>
            <a:r>
              <a:rPr lang="en-US" altLang="en-US"/>
              <a:t>using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==</a:t>
            </a:r>
            <a:br>
              <a:rPr lang="en-US" altLang="en-US"/>
            </a:br>
            <a:r>
              <a:rPr lang="en-US" altLang="en-US"/>
              <a:t>with objects</a:t>
            </a:r>
          </a:p>
        </p:txBody>
      </p:sp>
      <p:pic>
        <p:nvPicPr>
          <p:cNvPr id="115716" name="Picture 8">
            <a:extLst>
              <a:ext uri="{FF2B5EF4-FFF2-40B4-BE49-F238E27FC236}">
                <a16:creationId xmlns:a16="http://schemas.microsoft.com/office/drawing/2014/main" id="{08BB00BB-B25E-F762-5E4A-A68A716E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50" y="1241425"/>
            <a:ext cx="5516563" cy="4938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51A2-089D-4F57-2A40-32D5303C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Defining an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  <a:ea typeface="+mn-ea"/>
                <a:cs typeface="+mn-cs"/>
              </a:rPr>
              <a:t>equals</a:t>
            </a:r>
            <a:r>
              <a:rPr lang="en-US" dirty="0"/>
              <a:t> Method</a:t>
            </a:r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37F71337-476C-2E65-3DCF-5B9EE585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 demonstrated by previous figures</a:t>
            </a:r>
          </a:p>
          <a:p>
            <a:pPr lvl="1" eaLnBrk="1" hangingPunct="1"/>
            <a:r>
              <a:rPr lang="en-US" altLang="en-US"/>
              <a:t>We cannot use == to compare two objects</a:t>
            </a:r>
          </a:p>
          <a:p>
            <a:pPr lvl="1" eaLnBrk="1" hangingPunct="1"/>
            <a:r>
              <a:rPr lang="en-US" altLang="en-US"/>
              <a:t>We must write a method for a given class which will make the comparison as needed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5.17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/>
              <a:t> for this class method used same way as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/>
              <a:t> method for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String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78F7-CA46-69DF-80FE-23F9612C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69313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Demonstrating an </a:t>
            </a:r>
            <a:r>
              <a:rPr lang="en-US" sz="4000" b="1" dirty="0">
                <a:solidFill>
                  <a:schemeClr val="accent2"/>
                </a:solidFill>
                <a:latin typeface="Courier New" pitchFamily="49" charset="0"/>
                <a:ea typeface="+mn-ea"/>
                <a:cs typeface="+mn-cs"/>
              </a:rPr>
              <a:t>equals</a:t>
            </a:r>
            <a:r>
              <a:rPr lang="en-US" sz="4000" dirty="0"/>
              <a:t> Method</a:t>
            </a:r>
          </a:p>
        </p:txBody>
      </p:sp>
      <p:sp>
        <p:nvSpPr>
          <p:cNvPr id="119811" name="Content Placeholder 2">
            <a:extLst>
              <a:ext uri="{FF2B5EF4-FFF2-40B4-BE49-F238E27FC236}">
                <a16:creationId xmlns:a16="http://schemas.microsoft.com/office/drawing/2014/main" id="{419FB982-2311-BF78-3643-E9E202436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program</a:t>
            </a:r>
            <a:r>
              <a:rPr lang="en-US" altLang="en-US"/>
              <a:t>, listing 5.18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SpeciesEqualsDemo</a:t>
            </a:r>
          </a:p>
          <a:p>
            <a:pPr eaLnBrk="1" hangingPunct="1"/>
            <a:r>
              <a:rPr lang="en-US" altLang="en-US"/>
              <a:t>Note difference in the two comparison methods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/>
              <a:t> versus 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.equals( )</a:t>
            </a:r>
          </a:p>
        </p:txBody>
      </p:sp>
      <p:pic>
        <p:nvPicPr>
          <p:cNvPr id="119812" name="Picture 3">
            <a:extLst>
              <a:ext uri="{FF2B5EF4-FFF2-40B4-BE49-F238E27FC236}">
                <a16:creationId xmlns:a16="http://schemas.microsoft.com/office/drawing/2014/main" id="{408136E6-7187-F95A-D79F-4B154848C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203700"/>
            <a:ext cx="5835650" cy="155892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3" name="Text Box 7">
            <a:extLst>
              <a:ext uri="{FF2B5EF4-FFF2-40B4-BE49-F238E27FC236}">
                <a16:creationId xmlns:a16="http://schemas.microsoft.com/office/drawing/2014/main" id="{A37B0F99-ED09-77F0-B69C-A04BEC9B1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88" y="39163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>
            <a:extLst>
              <a:ext uri="{FF2B5EF4-FFF2-40B4-BE49-F238E27FC236}">
                <a16:creationId xmlns:a16="http://schemas.microsoft.com/office/drawing/2014/main" id="{1EB1BCBE-F587-F516-C9AF-613FF5C0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Complete Programming Example</a:t>
            </a:r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9E7AE9DE-FE95-C5B7-E27F-443A9566A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5.19</a:t>
            </a:r>
            <a:br>
              <a:rPr lang="en-US" altLang="en-US"/>
            </a:br>
            <a:r>
              <a:rPr lang="en-US" altLang="en-US"/>
              <a:t>class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Species</a:t>
            </a:r>
          </a:p>
          <a:p>
            <a:pPr eaLnBrk="1" hangingPunct="1"/>
            <a:r>
              <a:rPr lang="en-US" altLang="en-US"/>
              <a:t>Figure 5.7</a:t>
            </a:r>
            <a:br>
              <a:rPr lang="en-US" altLang="en-US"/>
            </a:br>
            <a:r>
              <a:rPr lang="en-US" altLang="en-US"/>
              <a:t>Class Diagram </a:t>
            </a:r>
            <a:br>
              <a:rPr lang="en-US" altLang="en-US"/>
            </a:br>
            <a:r>
              <a:rPr lang="en-US" altLang="en-US"/>
              <a:t>for the class 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Species</a:t>
            </a:r>
            <a:r>
              <a:rPr lang="en-US" altLang="en-US"/>
              <a:t> </a:t>
            </a:r>
            <a:br>
              <a:rPr lang="en-US" altLang="en-US"/>
            </a:br>
            <a:r>
              <a:rPr lang="en-US" altLang="en-US"/>
              <a:t>in listing 5.19</a:t>
            </a:r>
          </a:p>
          <a:p>
            <a:pPr eaLnBrk="1" hangingPunct="1"/>
            <a:endParaRPr lang="en-US" altLang="en-US"/>
          </a:p>
        </p:txBody>
      </p:sp>
      <p:pic>
        <p:nvPicPr>
          <p:cNvPr id="121860" name="Picture 7">
            <a:extLst>
              <a:ext uri="{FF2B5EF4-FFF2-40B4-BE49-F238E27FC236}">
                <a16:creationId xmlns:a16="http://schemas.microsoft.com/office/drawing/2014/main" id="{343E5FDD-75E6-6649-123C-670EEBB00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2528888"/>
            <a:ext cx="5114925" cy="36576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>
            <a:extLst>
              <a:ext uri="{FF2B5EF4-FFF2-40B4-BE49-F238E27FC236}">
                <a16:creationId xmlns:a16="http://schemas.microsoft.com/office/drawing/2014/main" id="{D8A48B22-A552-BD41-F4AD-42A4EB1C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Boolean-Valued Methods</a:t>
            </a:r>
          </a:p>
        </p:txBody>
      </p:sp>
      <p:sp>
        <p:nvSpPr>
          <p:cNvPr id="123907" name="Content Placeholder 2">
            <a:extLst>
              <a:ext uri="{FF2B5EF4-FFF2-40B4-BE49-F238E27FC236}">
                <a16:creationId xmlns:a16="http://schemas.microsoft.com/office/drawing/2014/main" id="{E04598AA-1118-6059-9A4D-A093C28C1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/>
              <a:t>Methods can return a value of type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boolean</a:t>
            </a:r>
          </a:p>
          <a:p>
            <a:pPr eaLnBrk="1" hangingPunct="1"/>
            <a:r>
              <a:rPr lang="en-US" altLang="en-US"/>
              <a:t>Use a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boolean</a:t>
            </a:r>
            <a:r>
              <a:rPr lang="en-US" altLang="en-US"/>
              <a:t> value in the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/>
              <a:t> statement</a:t>
            </a:r>
          </a:p>
          <a:p>
            <a:pPr eaLnBrk="1" hangingPunct="1"/>
            <a:r>
              <a:rPr lang="en-US" altLang="en-US"/>
              <a:t>Note method from listing 5.19</a:t>
            </a:r>
          </a:p>
        </p:txBody>
      </p:sp>
      <p:pic>
        <p:nvPicPr>
          <p:cNvPr id="123908" name="Picture 2">
            <a:extLst>
              <a:ext uri="{FF2B5EF4-FFF2-40B4-BE49-F238E27FC236}">
                <a16:creationId xmlns:a16="http://schemas.microsoft.com/office/drawing/2014/main" id="{AF0CD2C8-90C3-B2CB-818C-8DE1A1A05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8" y="3922713"/>
            <a:ext cx="6234112" cy="20208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3B94414-3C55-7C52-2B8E-1C61A042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Unit Testing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46D64681-A73A-7ED1-8770-EF1AC5D7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3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A methodology to test correctness of individual units of code</a:t>
            </a:r>
          </a:p>
          <a:p>
            <a:pPr lvl="1" eaLnBrk="1" hangingPunct="1"/>
            <a:r>
              <a:rPr lang="en-US" altLang="en-US"/>
              <a:t>Typically methods, classes</a:t>
            </a:r>
          </a:p>
          <a:p>
            <a:pPr eaLnBrk="1" hangingPunct="1"/>
            <a:r>
              <a:rPr lang="en-US" altLang="en-US"/>
              <a:t>Collection of unit tests is the </a:t>
            </a:r>
            <a:r>
              <a:rPr lang="en-US" altLang="en-US" b="1"/>
              <a:t>test suite</a:t>
            </a:r>
          </a:p>
          <a:p>
            <a:pPr eaLnBrk="1" hangingPunct="1"/>
            <a:r>
              <a:rPr lang="en-US" altLang="en-US"/>
              <a:t>The process of running tests repeatedly after changes are make sure everything still works is </a:t>
            </a:r>
            <a:r>
              <a:rPr lang="en-US" altLang="en-US" b="1"/>
              <a:t>regression testing</a:t>
            </a:r>
          </a:p>
          <a:p>
            <a:pPr eaLnBrk="1" hangingPunct="1"/>
            <a:endParaRPr lang="en-US" altLang="en-US"/>
          </a:p>
        </p:txBody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942D2EBA-9E8D-2222-21AC-3753C6A39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5322888"/>
            <a:ext cx="6756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View </a:t>
            </a:r>
            <a:r>
              <a:rPr lang="en-US" altLang="en-US" sz="2800" b="1">
                <a:hlinkClick r:id="rId2" action="ppaction://hlinkfile"/>
              </a:rPr>
              <a:t>sample code</a:t>
            </a:r>
            <a:r>
              <a:rPr lang="en-US" altLang="en-US" sz="2800" b="1"/>
              <a:t>, listing 5.20</a:t>
            </a:r>
            <a:br>
              <a:rPr lang="en-US" altLang="en-US" sz="2800" b="1"/>
            </a:br>
            <a:r>
              <a:rPr lang="en-US" altLang="en-US" sz="2800" b="1"/>
              <a:t>class </a:t>
            </a:r>
            <a:r>
              <a:rPr lang="en-US" altLang="en-US" sz="2800" b="1">
                <a:solidFill>
                  <a:schemeClr val="accent2"/>
                </a:solidFill>
                <a:latin typeface="Courier New" panose="02070309020205020404" pitchFamily="49" charset="0"/>
              </a:rPr>
              <a:t>SpeciesTest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>
            <a:extLst>
              <a:ext uri="{FF2B5EF4-FFF2-40B4-BE49-F238E27FC236}">
                <a16:creationId xmlns:a16="http://schemas.microsoft.com/office/drawing/2014/main" id="{56118514-0136-6EEA-093C-ED5DEC47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Parameters of a Class Type</a:t>
            </a:r>
          </a:p>
        </p:txBody>
      </p:sp>
      <p:sp>
        <p:nvSpPr>
          <p:cNvPr id="126979" name="Content Placeholder 2">
            <a:extLst>
              <a:ext uri="{FF2B5EF4-FFF2-40B4-BE49-F238E27FC236}">
                <a16:creationId xmlns:a16="http://schemas.microsoft.com/office/drawing/2014/main" id="{F3841431-B4FD-7666-FCF8-2982A847B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When assignment operator used with objects of class type</a:t>
            </a:r>
          </a:p>
          <a:p>
            <a:pPr lvl="1" eaLnBrk="1" hangingPunct="1"/>
            <a:r>
              <a:rPr lang="en-US" altLang="en-US" sz="2400"/>
              <a:t>Only memory address is copied</a:t>
            </a:r>
          </a:p>
          <a:p>
            <a:pPr eaLnBrk="1" hangingPunct="1"/>
            <a:r>
              <a:rPr lang="en-US" altLang="en-US" sz="2800"/>
              <a:t>Similar to use of parameter of class type</a:t>
            </a:r>
          </a:p>
          <a:p>
            <a:pPr lvl="1" eaLnBrk="1" hangingPunct="1"/>
            <a:r>
              <a:rPr lang="en-US" altLang="en-US" sz="2400"/>
              <a:t>Memory address of actual parameter passed to formal parameter</a:t>
            </a:r>
          </a:p>
          <a:p>
            <a:pPr lvl="1" eaLnBrk="1" hangingPunct="1"/>
            <a:r>
              <a:rPr lang="en-US" altLang="en-US" sz="2400"/>
              <a:t>Formal parameter may access public elements of the class</a:t>
            </a:r>
          </a:p>
          <a:p>
            <a:pPr lvl="1" eaLnBrk="1" hangingPunct="1"/>
            <a:r>
              <a:rPr lang="en-US" altLang="en-US" sz="2400"/>
              <a:t>Actual parameter thus can be  changed by class methods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1">
            <a:extLst>
              <a:ext uri="{FF2B5EF4-FFF2-40B4-BE49-F238E27FC236}">
                <a16:creationId xmlns:a16="http://schemas.microsoft.com/office/drawing/2014/main" id="{975B7CF4-E07F-7DA7-78D3-A2B9BA9C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29027" name="Content Placeholder 2">
            <a:extLst>
              <a:ext uri="{FF2B5EF4-FFF2-40B4-BE49-F238E27FC236}">
                <a16:creationId xmlns:a16="http://schemas.microsoft.com/office/drawing/2014/main" id="{6CB5E8AF-C80C-EA1A-21E7-19E2A48B2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5.21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DemoSpecies</a:t>
            </a:r>
          </a:p>
          <a:p>
            <a:pPr lvl="1" eaLnBrk="1" hangingPunct="1"/>
            <a:r>
              <a:rPr lang="en-US" altLang="en-US"/>
              <a:t>Note different parameter types and results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4" action="ppaction://hlinkfile"/>
              </a:rPr>
              <a:t>sample program</a:t>
            </a:r>
            <a:r>
              <a:rPr lang="en-US" altLang="en-US"/>
              <a:t>, listing 5.22</a:t>
            </a:r>
          </a:p>
          <a:p>
            <a:pPr lvl="1" eaLnBrk="1" hangingPunct="1"/>
            <a:r>
              <a:rPr lang="en-US" altLang="en-US"/>
              <a:t>Parameters of a class type versus parameters of a primitive type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ParametersDemo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5EB93C27-C1A9-2490-C8B4-2E842861E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pic>
        <p:nvPicPr>
          <p:cNvPr id="131075" name="Picture 7">
            <a:extLst>
              <a:ext uri="{FF2B5EF4-FFF2-40B4-BE49-F238E27FC236}">
                <a16:creationId xmlns:a16="http://schemas.microsoft.com/office/drawing/2014/main" id="{BEA02DAA-ABF0-1A97-6A18-9CC8CF429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" r="1448" b="2678"/>
          <a:stretch>
            <a:fillRect/>
          </a:stretch>
        </p:blipFill>
        <p:spPr bwMode="auto">
          <a:xfrm>
            <a:off x="1500188" y="1404938"/>
            <a:ext cx="6429375" cy="47228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Text Box 7">
            <a:extLst>
              <a:ext uri="{FF2B5EF4-FFF2-40B4-BE49-F238E27FC236}">
                <a16:creationId xmlns:a16="http://schemas.microsoft.com/office/drawing/2014/main" id="{437C943C-FA9B-F995-4A7E-FD61AFEA3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88" y="3916363"/>
            <a:ext cx="1524000" cy="100647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000"/>
              <a:t>Sample </a:t>
            </a:r>
            <a:br>
              <a:rPr lang="en-US" altLang="en-US" sz="2000"/>
            </a:br>
            <a:r>
              <a:rPr lang="en-US" altLang="en-US" sz="2000"/>
              <a:t>screen output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BBDC498-6B43-A17A-2C4B-CEEF1B2F8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Graphics Supplement: Outline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2C9FF468-287F-AB1D-C023-D44E39873C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84363" y="2292350"/>
            <a:ext cx="6802437" cy="3833813"/>
          </a:xfrm>
        </p:spPr>
        <p:txBody>
          <a:bodyPr/>
          <a:lstStyle/>
          <a:p>
            <a:pPr eaLnBrk="1" hangingPunct="1"/>
            <a:r>
              <a:rPr lang="en-US" altLang="en-US"/>
              <a:t>The GraphicsContext Class</a:t>
            </a:r>
          </a:p>
          <a:p>
            <a:pPr eaLnBrk="1" hangingPunct="1"/>
            <a:r>
              <a:rPr lang="en-US" altLang="en-US"/>
              <a:t>Adding Labels to a JavaFX Application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FED7383-0BE3-0B63-051E-6B9105449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z="46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Class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5C60D972-9029-E72A-F6A1-26823FF5D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351337"/>
          </a:xfrm>
        </p:spPr>
        <p:txBody>
          <a:bodyPr/>
          <a:lstStyle/>
          <a:p>
            <a:pPr eaLnBrk="1" hangingPunct="1"/>
            <a:r>
              <a:rPr lang="en-US" altLang="en-US"/>
              <a:t>An object of the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class represents an area of the screen</a:t>
            </a:r>
          </a:p>
          <a:p>
            <a:pPr eaLnBrk="1" hangingPunct="1"/>
            <a:r>
              <a:rPr lang="en-US" altLang="en-US"/>
              <a:t>JavaFX applications use the metaphor of a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Stage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Scene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Scene</a:t>
            </a:r>
            <a:r>
              <a:rPr lang="en-US" altLang="en-US"/>
              <a:t> object contains a set of </a:t>
            </a: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Nodes</a:t>
            </a:r>
            <a:r>
              <a:rPr lang="en-US" altLang="en-US"/>
              <a:t> called a </a:t>
            </a: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scene graph </a:t>
            </a:r>
            <a:r>
              <a:rPr lang="en-US" altLang="en-US"/>
              <a:t>that describes a scene of the applications, just like the script, actors, and props describe a scene in a play or movie</a:t>
            </a:r>
          </a:p>
          <a:p>
            <a:pPr eaLnBrk="1" hangingPunct="1"/>
            <a:r>
              <a:rPr lang="en-US" altLang="en-US"/>
              <a:t>In our simple JavaFX application we create a special type of Node called a </a:t>
            </a: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Group</a:t>
            </a:r>
            <a:r>
              <a:rPr lang="en-US" altLang="en-US"/>
              <a:t> that contains other Nodes and can auto-size based on the nodes within the group</a:t>
            </a:r>
          </a:p>
          <a:p>
            <a:pPr eaLnBrk="1" hangingPunct="1"/>
            <a:r>
              <a:rPr lang="en-US" altLang="en-US"/>
              <a:t>At this point, sufficient to know that </a:t>
            </a:r>
            <a:r>
              <a:rPr lang="en-US" altLang="en-US" sz="24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is a class that allows us to draw figures and write text in an area of the application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EFFD4391-C4FA-2B61-CA8A-FF619B4AB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z="46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Class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0F74A87D-ECA6-7DDC-97B1-C00DE28FCE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5.8a  Some methods in class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</a:p>
        </p:txBody>
      </p:sp>
      <p:pic>
        <p:nvPicPr>
          <p:cNvPr id="137220" name="Picture 1">
            <a:extLst>
              <a:ext uri="{FF2B5EF4-FFF2-40B4-BE49-F238E27FC236}">
                <a16:creationId xmlns:a16="http://schemas.microsoft.com/office/drawing/2014/main" id="{1C334781-AAB3-6269-09A9-57A64D448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8" y="2909888"/>
            <a:ext cx="810895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70BE9C31-14C0-A2B8-6EB1-963DD56B2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z="46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Class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50C34C93-BAF2-AE3A-3FA5-F2ADD9D8E8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5.8b  Some methods in class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</a:p>
        </p:txBody>
      </p:sp>
      <p:pic>
        <p:nvPicPr>
          <p:cNvPr id="139268" name="Picture 1">
            <a:extLst>
              <a:ext uri="{FF2B5EF4-FFF2-40B4-BE49-F238E27FC236}">
                <a16:creationId xmlns:a16="http://schemas.microsoft.com/office/drawing/2014/main" id="{4F1C103E-9A86-9BBC-9892-2E21B7C4D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919413"/>
            <a:ext cx="8113713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1B7B955-EE0A-A5D3-184F-4FB297C57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sz="46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  <a:r>
              <a:rPr lang="en-US" altLang="en-US"/>
              <a:t> Class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3FD62DB-7FC0-1F43-890E-35025E9CB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Figure 5.8c  Some methods in class </a:t>
            </a:r>
            <a:r>
              <a:rPr lang="en-US" altLang="en-US" sz="34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</a:p>
        </p:txBody>
      </p:sp>
      <p:pic>
        <p:nvPicPr>
          <p:cNvPr id="141316" name="Picture 2">
            <a:extLst>
              <a:ext uri="{FF2B5EF4-FFF2-40B4-BE49-F238E27FC236}">
                <a16:creationId xmlns:a16="http://schemas.microsoft.com/office/drawing/2014/main" id="{38CEBFE8-CCA4-5CC3-6941-09311444B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87650"/>
            <a:ext cx="74485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itle 1">
            <a:extLst>
              <a:ext uri="{FF2B5EF4-FFF2-40B4-BE49-F238E27FC236}">
                <a16:creationId xmlns:a16="http://schemas.microsoft.com/office/drawing/2014/main" id="{9EBF21C4-F8DB-C023-D585-3B4BA06D8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Drawing Images and Applying Effects</a:t>
            </a:r>
          </a:p>
        </p:txBody>
      </p:sp>
      <p:sp>
        <p:nvSpPr>
          <p:cNvPr id="143363" name="Content Placeholder 2">
            <a:extLst>
              <a:ext uri="{FF2B5EF4-FFF2-40B4-BE49-F238E27FC236}">
                <a16:creationId xmlns:a16="http://schemas.microsoft.com/office/drawing/2014/main" id="{D6BAAE0B-69DB-AF74-E519-2AF18E8C9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We can use the drawImage method to draw an image on the screen and apply a variety of image effects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2" action="ppaction://hlinkfile"/>
              </a:rPr>
              <a:t>sample program</a:t>
            </a:r>
            <a:r>
              <a:rPr lang="en-US" altLang="en-US"/>
              <a:t>, listing 5.23, for reading an image file and drawing it with scale and reflection</a:t>
            </a:r>
          </a:p>
          <a:p>
            <a:pPr eaLnBrk="1" hangingPunct="1"/>
            <a:endParaRPr lang="en-US" altLang="en-US"/>
          </a:p>
        </p:txBody>
      </p:sp>
      <p:pic>
        <p:nvPicPr>
          <p:cNvPr id="143364" name="Picture 3">
            <a:extLst>
              <a:ext uri="{FF2B5EF4-FFF2-40B4-BE49-F238E27FC236}">
                <a16:creationId xmlns:a16="http://schemas.microsoft.com/office/drawing/2014/main" id="{42895043-C5D1-B7B7-C550-704C263DA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3597275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15B059B9-1D7F-E3A0-DC31-337087856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Example</a:t>
            </a:r>
          </a:p>
        </p:txBody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D65396D7-4060-A838-F0FD-2C29C9F0D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faces – using a Helping method</a:t>
            </a:r>
          </a:p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code</a:t>
            </a:r>
            <a:r>
              <a:rPr lang="en-US" altLang="en-US"/>
              <a:t>, listing 5.24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MultipleFaces</a:t>
            </a:r>
          </a:p>
          <a:p>
            <a:pPr eaLnBrk="1" hangingPunct="1"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144388" name="Text Box 7">
            <a:extLst>
              <a:ext uri="{FF2B5EF4-FFF2-40B4-BE49-F238E27FC236}">
                <a16:creationId xmlns:a16="http://schemas.microsoft.com/office/drawing/2014/main" id="{9F2C992D-26FD-1D9A-E297-A600ABEC5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175" y="3916363"/>
            <a:ext cx="1524000" cy="9159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/>
              <a:t>Sample </a:t>
            </a:r>
            <a:br>
              <a:rPr lang="en-US" altLang="en-US"/>
            </a:br>
            <a:r>
              <a:rPr lang="en-US" altLang="en-US"/>
              <a:t>screen output</a:t>
            </a:r>
          </a:p>
        </p:txBody>
      </p:sp>
      <p:pic>
        <p:nvPicPr>
          <p:cNvPr id="144389" name="Picture 1">
            <a:extLst>
              <a:ext uri="{FF2B5EF4-FFF2-40B4-BE49-F238E27FC236}">
                <a16:creationId xmlns:a16="http://schemas.microsoft.com/office/drawing/2014/main" id="{11869D9B-D81C-C045-260E-996797102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038" y="3162300"/>
            <a:ext cx="4298950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289B9681-45FA-235B-B43B-4859A7B38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Labels to a JavaFX Application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2B9FF870-E9C8-4F52-9F4F-3E20C5234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Provides a way to add text to an application</a:t>
            </a:r>
          </a:p>
          <a:p>
            <a:pPr eaLnBrk="1" hangingPunct="1"/>
            <a:r>
              <a:rPr lang="en-US" altLang="en-US"/>
              <a:t>More flexible than using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fillText</a:t>
            </a:r>
          </a:p>
          <a:p>
            <a:pPr eaLnBrk="1" hangingPunct="1"/>
            <a:r>
              <a:rPr lang="en-US" altLang="en-US"/>
              <a:t>Add a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Label</a:t>
            </a:r>
            <a:r>
              <a:rPr lang="en-US" altLang="en-US"/>
              <a:t> in conjunction with a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Layout</a:t>
            </a:r>
            <a:r>
              <a:rPr lang="en-US" altLang="en-US"/>
              <a:t> which specifies how components will be arranged visually in the window</a:t>
            </a:r>
          </a:p>
          <a:p>
            <a:pPr lvl="1" eaLnBrk="1" hangingPunct="1"/>
            <a:r>
              <a:rPr lang="en-US" altLang="en-US"/>
              <a:t>Here we use a simple vertical box layout,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VBox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1B089AD8-179C-71DC-C5C4-E140AF66F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Labels to a JavaFX Application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E6B778E6-A9E4-2760-7D9B-35BD7D3772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View </a:t>
            </a:r>
            <a:r>
              <a:rPr lang="en-US" altLang="en-US">
                <a:hlinkClick r:id="rId3" action="ppaction://hlinkfile"/>
              </a:rPr>
              <a:t>sample application</a:t>
            </a:r>
            <a:r>
              <a:rPr lang="en-US" altLang="en-US"/>
              <a:t>, listing 5.25</a:t>
            </a:r>
            <a:br>
              <a:rPr lang="en-US" altLang="en-US"/>
            </a:b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class LabelDemo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148484" name="Text Box 7">
            <a:extLst>
              <a:ext uri="{FF2B5EF4-FFF2-40B4-BE49-F238E27FC236}">
                <a16:creationId xmlns:a16="http://schemas.microsoft.com/office/drawing/2014/main" id="{CAA3953E-14D5-965B-EA3B-B0D43701F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4413250"/>
            <a:ext cx="1524000" cy="915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/>
              <a:t>Sample </a:t>
            </a:r>
            <a:br>
              <a:rPr lang="en-US" altLang="en-US"/>
            </a:br>
            <a:r>
              <a:rPr lang="en-US" altLang="en-US"/>
              <a:t>screen output</a:t>
            </a:r>
          </a:p>
        </p:txBody>
      </p:sp>
      <p:pic>
        <p:nvPicPr>
          <p:cNvPr id="148485" name="Picture 5">
            <a:extLst>
              <a:ext uri="{FF2B5EF4-FFF2-40B4-BE49-F238E27FC236}">
                <a16:creationId xmlns:a16="http://schemas.microsoft.com/office/drawing/2014/main" id="{E5E328D3-D96D-DB23-7E60-85D297DF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3484563"/>
            <a:ext cx="4640262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78231A3C-651C-54DE-B491-38F7516E4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944DC97A-48BA-BEB6-B855-3309F9144F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Classes have </a:t>
            </a:r>
          </a:p>
          <a:p>
            <a:pPr lvl="1" eaLnBrk="1" hangingPunct="1"/>
            <a:r>
              <a:rPr lang="en-US" altLang="en-US"/>
              <a:t>Instance variables to store data</a:t>
            </a:r>
          </a:p>
          <a:p>
            <a:pPr lvl="1" eaLnBrk="1" hangingPunct="1"/>
            <a:r>
              <a:rPr lang="en-US" altLang="en-US"/>
              <a:t>Method definitions to perform actions</a:t>
            </a:r>
          </a:p>
          <a:p>
            <a:pPr eaLnBrk="1" hangingPunct="1"/>
            <a:r>
              <a:rPr lang="en-US" altLang="en-US"/>
              <a:t>Instance variables should be private</a:t>
            </a:r>
          </a:p>
          <a:p>
            <a:pPr eaLnBrk="1" hangingPunct="1"/>
            <a:r>
              <a:rPr lang="en-US" altLang="en-US"/>
              <a:t>Class needs accessor, mutator methods</a:t>
            </a:r>
          </a:p>
          <a:p>
            <a:pPr eaLnBrk="1" hangingPunct="1"/>
            <a:r>
              <a:rPr lang="en-US" altLang="en-US"/>
              <a:t>Methods may be</a:t>
            </a:r>
          </a:p>
          <a:p>
            <a:pPr lvl="1" eaLnBrk="1" hangingPunct="1"/>
            <a:r>
              <a:rPr lang="en-US" altLang="en-US"/>
              <a:t>Value returning methods</a:t>
            </a:r>
          </a:p>
          <a:p>
            <a:pPr lvl="1" eaLnBrk="1" hangingPunct="1"/>
            <a:r>
              <a:rPr lang="en-US" altLang="en-US"/>
              <a:t>Void methods that do not return a value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BE660750-8320-E200-B9E7-BCCCB1A62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568F8B7C-4DD9-C2C6-861A-F934F49F6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Keyword this used within method definition represents invoking object</a:t>
            </a:r>
          </a:p>
          <a:p>
            <a:pPr eaLnBrk="1" hangingPunct="1"/>
            <a:r>
              <a:rPr lang="en-US" altLang="en-US"/>
              <a:t>Local variables defined within method definition</a:t>
            </a:r>
          </a:p>
          <a:p>
            <a:pPr eaLnBrk="1" hangingPunct="1"/>
            <a:r>
              <a:rPr lang="en-US" altLang="en-US"/>
              <a:t>Formal arguments must match actual parameters with respect to number, order, and data type</a:t>
            </a:r>
          </a:p>
          <a:p>
            <a:pPr eaLnBrk="1" hangingPunct="1"/>
            <a:r>
              <a:rPr lang="en-US" altLang="en-US"/>
              <a:t>Formal parameters act like local variables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306D5B7F-3D74-C09A-150F-95AC00980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BFC7F128-C4DC-66DC-0B2E-852988B639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Parameter of primitive type initialized with value of actual parameter</a:t>
            </a:r>
          </a:p>
          <a:p>
            <a:pPr lvl="1" eaLnBrk="1" hangingPunct="1"/>
            <a:r>
              <a:rPr lang="en-US" altLang="en-US" sz="2400"/>
              <a:t>Value of actual parameter not altered by method</a:t>
            </a:r>
          </a:p>
          <a:p>
            <a:pPr eaLnBrk="1" hangingPunct="1"/>
            <a:r>
              <a:rPr lang="en-US" altLang="en-US" sz="2800"/>
              <a:t>Parameter of class type initialized with address of actual parameter object</a:t>
            </a:r>
          </a:p>
          <a:p>
            <a:pPr lvl="1" eaLnBrk="1" hangingPunct="1"/>
            <a:r>
              <a:rPr lang="en-US" altLang="en-US" sz="2400"/>
              <a:t>Value of actual parameter may be altered by method calls</a:t>
            </a:r>
          </a:p>
          <a:p>
            <a:pPr eaLnBrk="1" hangingPunct="1"/>
            <a:r>
              <a:rPr lang="en-US" altLang="en-US" sz="2800"/>
              <a:t>A method definition can include call to another method in same or different class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133EEB17-9FD1-4D33-D6BF-1C1D538B8C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930143B-C7B0-3AB2-7AEF-313336CF8F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Precondition comment states conditions that must be true before method invoked</a:t>
            </a:r>
          </a:p>
          <a:p>
            <a:pPr eaLnBrk="1" hangingPunct="1"/>
            <a:r>
              <a:rPr lang="en-US" altLang="en-US" sz="2800"/>
              <a:t>Postcondition comment describes resulting effects of method execution</a:t>
            </a:r>
          </a:p>
          <a:p>
            <a:pPr eaLnBrk="1" hangingPunct="1"/>
            <a:r>
              <a:rPr lang="en-US" altLang="en-US" sz="2800"/>
              <a:t>Utility program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javadoc</a:t>
            </a:r>
            <a:r>
              <a:rPr lang="en-US" altLang="en-US" sz="2800"/>
              <a:t> creates documentation</a:t>
            </a:r>
          </a:p>
          <a:p>
            <a:pPr eaLnBrk="1" hangingPunct="1"/>
            <a:r>
              <a:rPr lang="en-US" altLang="en-US" sz="2800"/>
              <a:t>Class designers use UML notation to describe classes</a:t>
            </a:r>
          </a:p>
          <a:p>
            <a:pPr eaLnBrk="1" hangingPunct="1"/>
            <a:r>
              <a:rPr lang="en-US" altLang="en-US" sz="2800"/>
              <a:t>Operators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2800"/>
              <a:t> and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==</a:t>
            </a:r>
            <a:r>
              <a:rPr lang="en-US" altLang="en-US" sz="2800"/>
              <a:t> behave differently with objects of class types (vs. primitive types)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F6763164-E815-E350-0EB7-52F696B0A2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C3791BBB-4870-56FC-A7ED-A3A898AB6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Designer of class should include an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equals</a:t>
            </a:r>
            <a:r>
              <a:rPr lang="en-US" altLang="en-US" sz="2800"/>
              <a:t>  method</a:t>
            </a:r>
          </a:p>
          <a:p>
            <a:pPr eaLnBrk="1" hangingPunct="1"/>
            <a:r>
              <a:rPr lang="en-US" altLang="en-US" sz="2800"/>
              <a:t>Graphics drawn by a JavaFX application normally done within </a:t>
            </a:r>
            <a:r>
              <a:rPr lang="en-US" altLang="en-US" sz="3000" b="1">
                <a:solidFill>
                  <a:schemeClr val="accent2"/>
                </a:solidFill>
                <a:latin typeface="Courier New" panose="02070309020205020404" pitchFamily="49" charset="0"/>
              </a:rPr>
              <a:t>GraphicsContext</a:t>
            </a:r>
          </a:p>
          <a:p>
            <a:pPr eaLnBrk="1" hangingPunct="1"/>
            <a:r>
              <a:rPr lang="en-US" altLang="en-US" sz="2800"/>
              <a:t>Labels added to a JavaFX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2852</TotalTime>
  <Words>2593</Words>
  <Application>Microsoft Macintosh PowerPoint</Application>
  <PresentationFormat>On-screen Show (4:3)</PresentationFormat>
  <Paragraphs>397</Paragraphs>
  <Slides>79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5" baseType="lpstr">
      <vt:lpstr>Arial</vt:lpstr>
      <vt:lpstr>Calibri</vt:lpstr>
      <vt:lpstr>Calibri Light</vt:lpstr>
      <vt:lpstr>Courier New</vt:lpstr>
      <vt:lpstr>Times New Roman</vt:lpstr>
      <vt:lpstr>Office Theme</vt:lpstr>
      <vt:lpstr>Defining Classes and Methods</vt:lpstr>
      <vt:lpstr>Objectives</vt:lpstr>
      <vt:lpstr>Objectives</vt:lpstr>
      <vt:lpstr>Class and Method Definitions: Outline</vt:lpstr>
      <vt:lpstr>Class and Method Definitions</vt:lpstr>
      <vt:lpstr>Class and Method Definitions</vt:lpstr>
      <vt:lpstr>Class and Method Definitions</vt:lpstr>
      <vt:lpstr>Class and Method Definitions</vt:lpstr>
      <vt:lpstr>Class Files and Separate Compilation</vt:lpstr>
      <vt:lpstr>Dog class and Instance Variables</vt:lpstr>
      <vt:lpstr>Using a Class and Its Methods</vt:lpstr>
      <vt:lpstr>Methods</vt:lpstr>
      <vt:lpstr>Methods</vt:lpstr>
      <vt:lpstr>Defining void Methods</vt:lpstr>
      <vt:lpstr>Defining void Methods</vt:lpstr>
      <vt:lpstr>Methods That Return a Value</vt:lpstr>
      <vt:lpstr>Second Example – Species Class</vt:lpstr>
      <vt:lpstr>The Keyword this</vt:lpstr>
      <vt:lpstr>The Keyword this</vt:lpstr>
      <vt:lpstr>Local Variables</vt:lpstr>
      <vt:lpstr>Local Variables</vt:lpstr>
      <vt:lpstr>Blocks</vt:lpstr>
      <vt:lpstr>Parameters of Primitive Type</vt:lpstr>
      <vt:lpstr>Parameters of Primitive Type</vt:lpstr>
      <vt:lpstr>Parameters of Primitive Type</vt:lpstr>
      <vt:lpstr>Information Hiding,  Encapsulation: Outline</vt:lpstr>
      <vt:lpstr>Information Hiding</vt:lpstr>
      <vt:lpstr>Pre- and Postcondition Comments</vt:lpstr>
      <vt:lpstr>Pre- and Postcondition Comments</vt:lpstr>
      <vt:lpstr>The public and private Modifiers</vt:lpstr>
      <vt:lpstr>Programming Example</vt:lpstr>
      <vt:lpstr>Programming Example</vt:lpstr>
      <vt:lpstr>Accessor and Mutator Methods</vt:lpstr>
      <vt:lpstr>Accessor and Mutator Methods</vt:lpstr>
      <vt:lpstr>Accessor and Mutator Methods</vt:lpstr>
      <vt:lpstr>Programming Example</vt:lpstr>
      <vt:lpstr>Programming Example</vt:lpstr>
      <vt:lpstr>Methods Calling Methods</vt:lpstr>
      <vt:lpstr>Methods Calling Methods</vt:lpstr>
      <vt:lpstr>Encapsulation</vt:lpstr>
      <vt:lpstr>Encapsulation</vt:lpstr>
      <vt:lpstr>Encapsulation</vt:lpstr>
      <vt:lpstr>Encapsulation</vt:lpstr>
      <vt:lpstr>Automatic Documentation  javadoc</vt:lpstr>
      <vt:lpstr>UML Class Diagrams</vt:lpstr>
      <vt:lpstr>UML Class Diagrams</vt:lpstr>
      <vt:lpstr>UML Class Diagrams</vt:lpstr>
      <vt:lpstr>Objects and References: Outline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Variables of a Class Type</vt:lpstr>
      <vt:lpstr>Defining an equals Method</vt:lpstr>
      <vt:lpstr>Demonstrating an equals Method</vt:lpstr>
      <vt:lpstr>Complete Programming Example</vt:lpstr>
      <vt:lpstr>Boolean-Valued Methods</vt:lpstr>
      <vt:lpstr>Unit Testing</vt:lpstr>
      <vt:lpstr>Parameters of a Class Type</vt:lpstr>
      <vt:lpstr>Programming Example</vt:lpstr>
      <vt:lpstr>Programming Example</vt:lpstr>
      <vt:lpstr>Graphics Supplement: Outline</vt:lpstr>
      <vt:lpstr>The GraphicsContext Class</vt:lpstr>
      <vt:lpstr>The GraphicsContext Class</vt:lpstr>
      <vt:lpstr>The GraphicsContext Class</vt:lpstr>
      <vt:lpstr>The GraphicsContext Class</vt:lpstr>
      <vt:lpstr>Drawing Images and Applying Effects</vt:lpstr>
      <vt:lpstr>Programming Example</vt:lpstr>
      <vt:lpstr>Adding Labels to a JavaFX Application</vt:lpstr>
      <vt:lpstr>Adding Labels to a JavaFX Application</vt:lpstr>
      <vt:lpstr>Summary</vt:lpstr>
      <vt:lpstr>Summary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Classes and Methods</dc:title>
  <dc:creator>Steve Armstrong</dc:creator>
  <cp:lastModifiedBy>Muhammad Asaduzzaman</cp:lastModifiedBy>
  <cp:revision>94</cp:revision>
  <cp:lastPrinted>2009-02-22T23:27:07Z</cp:lastPrinted>
  <dcterms:created xsi:type="dcterms:W3CDTF">2007-09-23T00:21:45Z</dcterms:created>
  <dcterms:modified xsi:type="dcterms:W3CDTF">2025-05-27T08:59:55Z</dcterms:modified>
</cp:coreProperties>
</file>