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aveSubsetFonts="1">
  <p:sldMasterIdLst>
    <p:sldMasterId id="2147483805" r:id="rId1"/>
  </p:sldMasterIdLst>
  <p:notesMasterIdLst>
    <p:notesMasterId r:id="rId65"/>
  </p:notesMasterIdLst>
  <p:sldIdLst>
    <p:sldId id="256" r:id="rId2"/>
    <p:sldId id="257" r:id="rId3"/>
    <p:sldId id="314" r:id="rId4"/>
    <p:sldId id="315" r:id="rId5"/>
    <p:sldId id="351" r:id="rId6"/>
    <p:sldId id="317" r:id="rId7"/>
    <p:sldId id="316" r:id="rId8"/>
    <p:sldId id="318" r:id="rId9"/>
    <p:sldId id="319" r:id="rId10"/>
    <p:sldId id="320" r:id="rId11"/>
    <p:sldId id="321" r:id="rId12"/>
    <p:sldId id="322" r:id="rId13"/>
    <p:sldId id="323" r:id="rId14"/>
    <p:sldId id="326" r:id="rId15"/>
    <p:sldId id="327" r:id="rId16"/>
    <p:sldId id="328" r:id="rId17"/>
    <p:sldId id="329" r:id="rId18"/>
    <p:sldId id="330" r:id="rId19"/>
    <p:sldId id="331" r:id="rId20"/>
    <p:sldId id="332" r:id="rId21"/>
    <p:sldId id="333" r:id="rId22"/>
    <p:sldId id="334" r:id="rId23"/>
    <p:sldId id="335" r:id="rId24"/>
    <p:sldId id="258" r:id="rId25"/>
    <p:sldId id="337" r:id="rId26"/>
    <p:sldId id="338" r:id="rId27"/>
    <p:sldId id="340" r:id="rId28"/>
    <p:sldId id="336" r:id="rId29"/>
    <p:sldId id="339" r:id="rId30"/>
    <p:sldId id="259" r:id="rId31"/>
    <p:sldId id="291" r:id="rId32"/>
    <p:sldId id="260" r:id="rId33"/>
    <p:sldId id="292" r:id="rId34"/>
    <p:sldId id="261" r:id="rId35"/>
    <p:sldId id="262" r:id="rId36"/>
    <p:sldId id="263" r:id="rId37"/>
    <p:sldId id="281" r:id="rId38"/>
    <p:sldId id="301" r:id="rId39"/>
    <p:sldId id="300" r:id="rId40"/>
    <p:sldId id="302" r:id="rId41"/>
    <p:sldId id="303" r:id="rId42"/>
    <p:sldId id="304" r:id="rId43"/>
    <p:sldId id="341" r:id="rId44"/>
    <p:sldId id="342" r:id="rId45"/>
    <p:sldId id="343" r:id="rId46"/>
    <p:sldId id="344" r:id="rId47"/>
    <p:sldId id="282" r:id="rId48"/>
    <p:sldId id="305" r:id="rId49"/>
    <p:sldId id="306" r:id="rId50"/>
    <p:sldId id="283" r:id="rId51"/>
    <p:sldId id="284" r:id="rId52"/>
    <p:sldId id="345" r:id="rId53"/>
    <p:sldId id="346" r:id="rId54"/>
    <p:sldId id="347" r:id="rId55"/>
    <p:sldId id="348" r:id="rId56"/>
    <p:sldId id="349" r:id="rId57"/>
    <p:sldId id="350" r:id="rId58"/>
    <p:sldId id="290" r:id="rId59"/>
    <p:sldId id="309" r:id="rId60"/>
    <p:sldId id="310" r:id="rId61"/>
    <p:sldId id="311" r:id="rId62"/>
    <p:sldId id="312" r:id="rId63"/>
    <p:sldId id="313" r:id="rId64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49" autoAdjust="0"/>
    <p:restoredTop sz="94640" autoAdjust="0"/>
  </p:normalViewPr>
  <p:slideViewPr>
    <p:cSldViewPr snapToGrid="0">
      <p:cViewPr varScale="1">
        <p:scale>
          <a:sx n="102" d="100"/>
          <a:sy n="102" d="100"/>
        </p:scale>
        <p:origin x="181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6AA737-0BFF-564D-BAFC-EFC84449BC5D}" type="datetimeFigureOut">
              <a:rPr lang="en-US" smtClean="0"/>
              <a:t>6/11/25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A49359-65B5-D545-ADBF-6E20B7723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068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A49359-65B5-D545-ADBF-6E20B772389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7201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>
            <a:extLst>
              <a:ext uri="{FF2B5EF4-FFF2-40B4-BE49-F238E27FC236}">
                <a16:creationId xmlns:a16="http://schemas.microsoft.com/office/drawing/2014/main" id="{DCFD2A70-A17C-4044-D3EE-E9C61F9203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513" y="525463"/>
            <a:ext cx="4505325" cy="179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8">
            <a:extLst>
              <a:ext uri="{FF2B5EF4-FFF2-40B4-BE49-F238E27FC236}">
                <a16:creationId xmlns:a16="http://schemas.microsoft.com/office/drawing/2014/main" id="{628ACA36-4DAE-2043-31DA-2E9C630F43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3088" y="2312988"/>
            <a:ext cx="16097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54E23534-4C75-D389-5332-BD6B2AFC7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C9F850-21C7-5146-8242-1B3EBC85D32A}" type="datetimeFigureOut">
              <a:rPr lang="en-US"/>
              <a:pPr>
                <a:defRPr/>
              </a:pPr>
              <a:t>6/11/25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94606F8-CA46-265E-627B-B94D95754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DCC5655-C663-E6A1-12D5-CAA176F35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834A3B-0014-364C-AFCD-153F5422681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994089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FDEB7A-79F7-DCA3-17F1-964973A8F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C24C0B-0725-DF40-8924-DCF69EA8C280}" type="datetimeFigureOut">
              <a:rPr lang="en-US"/>
              <a:pPr>
                <a:defRPr/>
              </a:pPr>
              <a:t>6/11/25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E8D47-E00B-5703-D324-53F837AB8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C51103-A546-76EE-DA03-6505E5F58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51C0DB6-F07B-C84A-8B1D-08FAF97BCAD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17517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D1E110-3591-EC6E-8CC5-E4FE18959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7D4940-E8F7-604B-8F0A-9C8A0899D5AE}" type="datetimeFigureOut">
              <a:rPr lang="en-US"/>
              <a:pPr>
                <a:defRPr/>
              </a:pPr>
              <a:t>6/11/25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36CC3B-315F-FA24-E30F-D87DB12E3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A4B55-A186-C136-082C-6EA2B2F8A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BEA441-0586-994D-AD77-CF6960C406D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448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FA0B706-D8E7-0D39-993C-76059A96D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9B96CC-C3E1-0B42-BDB8-79EF30267B50}" type="datetimeFigureOut">
              <a:rPr lang="en-US"/>
              <a:pPr>
                <a:defRPr/>
              </a:pPr>
              <a:t>6/11/25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B32C27B-203C-E3BC-0DFA-E63D236DE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A2C091E-351E-807E-EAE1-487DB8163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1EA47-D6AC-FB48-9657-9C99E5CC838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792615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ADB49B6D-2BA5-0DC8-2E48-2416F0E8C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8C53E8-3BE3-8A47-87F6-099CCF0589CD}" type="datetimeFigureOut">
              <a:rPr lang="en-US"/>
              <a:pPr>
                <a:defRPr/>
              </a:pPr>
              <a:t>6/11/25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29832332-FA40-FBD7-897F-981707B0B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CAD0000-4B6A-7102-79C0-B8975CFDA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D732D1-1215-A54E-B10D-2479F0D8067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447278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49263204-03E5-1DDE-B368-D1F83D58F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80D377-9284-CC49-A2A8-EF281816AE4A}" type="datetimeFigureOut">
              <a:rPr lang="en-US"/>
              <a:pPr>
                <a:defRPr/>
              </a:pPr>
              <a:t>6/11/25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53C36D1-3943-E592-EE70-6A7A0818D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05232EC-0D18-35EF-0CDC-685D292C8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1D02A9C-7D2F-6146-A43D-EE7E2509E8C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594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8A992090-E2BE-B448-C986-F9A720A14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818D8C-B4F3-C74F-B0A6-C67D785DAC80}" type="datetimeFigureOut">
              <a:rPr lang="en-US"/>
              <a:pPr>
                <a:defRPr/>
              </a:pPr>
              <a:t>6/11/25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23575125-715B-A3BD-F21E-75D7582AA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316D7E6-766C-C305-670F-2D9328302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90CABC3-7B8C-1643-B161-28AC59448A0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96537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777A10C-66F5-A228-5732-0612BF4A1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E9F8CE-BAC3-1F4C-A9C9-9BDA1CAFA4F5}" type="datetimeFigureOut">
              <a:rPr lang="en-US"/>
              <a:pPr>
                <a:defRPr/>
              </a:pPr>
              <a:t>6/11/25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FBBA016B-0226-696B-36FC-C04E43368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798B3A4-983B-4761-6F60-8DC4485A4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10BD86-655D-A847-9ACB-62CC1F5D832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88986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29D1CBC-2174-002E-84B8-CEF8BD376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032616-7795-6042-8CBB-99D8E73706BF}" type="datetimeFigureOut">
              <a:rPr lang="en-US"/>
              <a:pPr>
                <a:defRPr/>
              </a:pPr>
              <a:t>6/11/25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25D4691-76F1-4CCE-0B26-F023A8947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3566F2D-3F39-3BD0-D131-BB78487F6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4C15DC1-B508-E245-85D4-1992EFF02A3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603838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A055DD-231B-D88F-CF41-A20B891BA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EB1FF1-1CEC-D345-A706-46BC79526DC7}" type="datetimeFigureOut">
              <a:rPr lang="en-US"/>
              <a:pPr>
                <a:defRPr/>
              </a:pPr>
              <a:t>6/11/25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C7FF57-87D2-7378-BBE4-576FAB31A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0E83C0-D2DC-CC9F-2014-D3B2D0143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A84969-6C55-FE4E-8FA7-EA5467B8115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786356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5A517-D3AD-8C9E-9D3C-596FBF7F3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25F2DA-C94F-9249-A652-209040F21224}" type="datetimeFigureOut">
              <a:rPr lang="en-US"/>
              <a:pPr>
                <a:defRPr/>
              </a:pPr>
              <a:t>6/11/25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B948E0-68D4-5AFA-7B6C-4BF57D4A0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7E658C-26FB-85D2-91CD-71F9F4194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AA5A91-A7CD-E54F-92D4-DD2696A14EB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18789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D873C1B7-0B5D-B448-4BF2-70F22417DCB9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322AE179-1E83-55B4-7162-CDC8E877AC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844C96-EE2A-5F86-5B11-DB6CAD8019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F81C76E6-EBBC-B34C-A2DD-3E8EF8FDA64D}" type="datetimeFigureOut">
              <a:rPr lang="en-US"/>
              <a:pPr>
                <a:defRPr/>
              </a:pPr>
              <a:t>6/11/25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3BD683-70EA-A4B6-2987-546F783224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D620CC-7AC5-089F-C848-C6DA62662C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900">
                <a:solidFill>
                  <a:srgbClr val="898989"/>
                </a:solidFill>
              </a:defRPr>
            </a:lvl1pPr>
          </a:lstStyle>
          <a:p>
            <a:fld id="{AC69336D-8D10-EF40-93F9-ADD4DB8F55F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8B2D85BE-52CD-63EB-E7C2-83B6BB50798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85800" y="6400800"/>
            <a:ext cx="8229600" cy="57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en-US" sz="900" i="1" dirty="0"/>
              <a:t>JAVA: An Introduction to Problem Solving &amp; Programming, 8</a:t>
            </a:r>
            <a:r>
              <a:rPr lang="en-US" altLang="en-US" sz="900" baseline="30000" dirty="0"/>
              <a:t>th</a:t>
            </a:r>
            <a:r>
              <a:rPr lang="en-US" altLang="en-US" sz="900" dirty="0"/>
              <a:t> Ed. By Walter Savitch</a:t>
            </a:r>
            <a:br>
              <a:rPr lang="en-US" altLang="en-US" sz="900" dirty="0"/>
            </a:br>
            <a:r>
              <a:rPr lang="en-US" altLang="en-US" sz="900" dirty="0"/>
              <a:t>ISBN </a:t>
            </a:r>
            <a:r>
              <a:rPr lang="en-US" sz="900" dirty="0"/>
              <a:t>0134462033 </a:t>
            </a:r>
            <a:r>
              <a:rPr lang="en-US" altLang="en-US" sz="900" dirty="0"/>
              <a:t> © 2018 Pearson Education, Inc., Hoboken, NJ. All Rights Reserved</a:t>
            </a:r>
          </a:p>
          <a:p>
            <a:pPr algn="ctr" eaLnBrk="1" hangingPunct="1">
              <a:spcBef>
                <a:spcPct val="50000"/>
              </a:spcBef>
              <a:defRPr/>
            </a:pPr>
            <a:endParaRPr lang="en-US" sz="900" dirty="0">
              <a:solidFill>
                <a:prstClr val="black"/>
              </a:solidFill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4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CodeSamples4.htm#Listing 8.3" TargetMode="External"/><Relationship Id="rId2" Type="http://schemas.openxmlformats.org/officeDocument/2006/relationships/hyperlink" Target="CodeSamples4.htm#Listing 8.2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CodeSamples4.htm#Listing 8.4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../Local%20Settings/Temp/Temporary%20Directory%202%20for%2089512-86612-savitchC7-12.zip/CodeSamples4.htm#Listing 8.8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CodeSamples4.htm#Listing 8.6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hyperlink" Target="CodeSamples4.htm#Listing 8.7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CodeSamples4.htm#Listing 8.9" TargetMode="External"/><Relationship Id="rId2" Type="http://schemas.openxmlformats.org/officeDocument/2006/relationships/hyperlink" Target="CodeSamples4.htm#Listing 8.8" TargetMode="Externa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CodeSamples4.htm#Listing 8.11" TargetMode="External"/><Relationship Id="rId2" Type="http://schemas.openxmlformats.org/officeDocument/2006/relationships/hyperlink" Target="CodeSamples4.htm#Listing 8.10" TargetMode="Externa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hyperlink" Target="CodeSamples4.htm#Listing 8.12" TargetMode="Externa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hyperlink" Target="CodeSamples4.htm#Listing 8.13" TargetMode="Externa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CodeSamples4.htm#Listing 8.15" TargetMode="External"/><Relationship Id="rId2" Type="http://schemas.openxmlformats.org/officeDocument/2006/relationships/hyperlink" Target="CodeSamples4.htm#Listing 8.14" TargetMode="Externa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CodeSamples4.htm#Listing 8.17" TargetMode="External"/><Relationship Id="rId2" Type="http://schemas.openxmlformats.org/officeDocument/2006/relationships/hyperlink" Target="CodeSamples4.htm#Listing 8.16" TargetMode="Externa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hyperlink" Target="CodeSamples4.htm#Listing 8.18" TargetMode="Externa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hyperlink" Target="CodeSamples4.htm#Listing 8.19" TargetMode="Externa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hyperlink" Target="CodeSamples4.htm#Listing 8.21" TargetMode="External"/><Relationship Id="rId2" Type="http://schemas.openxmlformats.org/officeDocument/2006/relationships/hyperlink" Target="CodeSamples4.htm#Listing 8.20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hyperlink" Target="CodeSamples4.htm#Listing 8.22" TargetMode="Externa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hyperlink" Target="CodeSamples4.htm#Listing 8.23" TargetMode="Externa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hyperlink" Target="CodeSamples4.htm#Listing 8.24" TargetMode="Externa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>
            <a:extLst>
              <a:ext uri="{FF2B5EF4-FFF2-40B4-BE49-F238E27FC236}">
                <a16:creationId xmlns:a16="http://schemas.microsoft.com/office/drawing/2014/main" id="{26A8CCCF-6B3D-D7C7-3D32-5D89816C5D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992313"/>
            <a:ext cx="6858000" cy="2387600"/>
          </a:xfrm>
        </p:spPr>
        <p:txBody>
          <a:bodyPr/>
          <a:lstStyle/>
          <a:p>
            <a:pPr eaLnBrk="1" hangingPunct="1"/>
            <a:r>
              <a:rPr lang="en-US" altLang="en-US" dirty="0"/>
              <a:t>Inheritance, Polymorphism, and Interfaces</a:t>
            </a:r>
          </a:p>
        </p:txBody>
      </p:sp>
      <p:sp>
        <p:nvSpPr>
          <p:cNvPr id="3075" name="Subtitle 2">
            <a:extLst>
              <a:ext uri="{FF2B5EF4-FFF2-40B4-BE49-F238E27FC236}">
                <a16:creationId xmlns:a16="http://schemas.microsoft.com/office/drawing/2014/main" id="{242DCFC6-82C2-5526-63EE-635B190CFF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4471988"/>
            <a:ext cx="6858000" cy="1655762"/>
          </a:xfrm>
        </p:spPr>
        <p:txBody>
          <a:bodyPr/>
          <a:lstStyle/>
          <a:p>
            <a:pPr eaLnBrk="1" hangingPunct="1"/>
            <a:r>
              <a:rPr lang="en-US" altLang="en-US"/>
              <a:t>Chapter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>
            <a:extLst>
              <a:ext uri="{FF2B5EF4-FFF2-40B4-BE49-F238E27FC236}">
                <a16:creationId xmlns:a16="http://schemas.microsoft.com/office/drawing/2014/main" id="{2AF5F7AE-9AA8-009E-1ADE-DD67F15C5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Objectives</a:t>
            </a:r>
          </a:p>
        </p:txBody>
      </p:sp>
      <p:sp>
        <p:nvSpPr>
          <p:cNvPr id="4099" name="Content Placeholder 2">
            <a:extLst>
              <a:ext uri="{FF2B5EF4-FFF2-40B4-BE49-F238E27FC236}">
                <a16:creationId xmlns:a16="http://schemas.microsoft.com/office/drawing/2014/main" id="{41321DBA-7BA0-B9DA-4167-3D220DFAAA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Describe polymorphism and inheritance in general</a:t>
            </a:r>
          </a:p>
          <a:p>
            <a:pPr eaLnBrk="1" hangingPunct="1"/>
            <a:r>
              <a:rPr lang="en-US" altLang="en-US"/>
              <a:t>Define interfaces to specify methods</a:t>
            </a:r>
          </a:p>
          <a:p>
            <a:pPr eaLnBrk="1" hangingPunct="1"/>
            <a:r>
              <a:rPr lang="en-US" altLang="en-US"/>
              <a:t>Describe dynamic binding</a:t>
            </a:r>
          </a:p>
          <a:p>
            <a:pPr eaLnBrk="1" hangingPunct="1"/>
            <a:r>
              <a:rPr lang="en-US" altLang="en-US"/>
              <a:t>Define and use derived classes in Java</a:t>
            </a:r>
          </a:p>
          <a:p>
            <a:pPr eaLnBrk="1" hangingPunct="1"/>
            <a:r>
              <a:rPr lang="en-US" altLang="en-US"/>
              <a:t>Understand event-driven programming in JavaFX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>
            <a:extLst>
              <a:ext uri="{FF2B5EF4-FFF2-40B4-BE49-F238E27FC236}">
                <a16:creationId xmlns:a16="http://schemas.microsoft.com/office/drawing/2014/main" id="{DAF0E2F7-91C5-6D7A-9F79-59F24D97C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Inheritance Basics: Outline</a:t>
            </a:r>
          </a:p>
        </p:txBody>
      </p:sp>
      <p:sp>
        <p:nvSpPr>
          <p:cNvPr id="5123" name="Content Placeholder 2">
            <a:extLst>
              <a:ext uri="{FF2B5EF4-FFF2-40B4-BE49-F238E27FC236}">
                <a16:creationId xmlns:a16="http://schemas.microsoft.com/office/drawing/2014/main" id="{02208FE7-B855-B399-9526-B7C17052F4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Derived Classes</a:t>
            </a:r>
          </a:p>
          <a:p>
            <a:pPr eaLnBrk="1" hangingPunct="1"/>
            <a:r>
              <a:rPr lang="en-US" altLang="en-US"/>
              <a:t>Overriding Method Definitions</a:t>
            </a:r>
          </a:p>
          <a:p>
            <a:pPr eaLnBrk="1" hangingPunct="1"/>
            <a:r>
              <a:rPr lang="en-US" altLang="en-US"/>
              <a:t>Overriding Versus Overloading</a:t>
            </a:r>
          </a:p>
          <a:p>
            <a:pPr eaLnBrk="1" hangingPunct="1"/>
            <a:r>
              <a:rPr lang="en-US" altLang="en-US"/>
              <a:t>The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final</a:t>
            </a:r>
            <a:r>
              <a:rPr lang="en-US" altLang="en-US"/>
              <a:t> Modifier</a:t>
            </a:r>
          </a:p>
          <a:p>
            <a:pPr eaLnBrk="1" hangingPunct="1"/>
            <a:r>
              <a:rPr lang="en-US" altLang="en-US"/>
              <a:t>Private Instance Variables and Private Methods of a Base Class</a:t>
            </a:r>
          </a:p>
          <a:p>
            <a:pPr eaLnBrk="1" hangingPunct="1"/>
            <a:r>
              <a:rPr lang="en-US" altLang="en-US"/>
              <a:t>UML Inheritance Diagrams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88923D28-01E4-5BEB-9726-BF66960E0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Inheritance Basics</a:t>
            </a:r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4A9BBD3E-04BB-4076-11F8-2503930702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3997564"/>
            <a:ext cx="7886700" cy="1669137"/>
          </a:xfrm>
        </p:spPr>
        <p:txBody>
          <a:bodyPr/>
          <a:lstStyle/>
          <a:p>
            <a:pPr eaLnBrk="1" hangingPunct="1"/>
            <a:r>
              <a:rPr lang="en-US" altLang="en-US" dirty="0"/>
              <a:t>Inheritance allows programmer to define a general class</a:t>
            </a:r>
          </a:p>
          <a:p>
            <a:pPr eaLnBrk="1" hangingPunct="1"/>
            <a:r>
              <a:rPr lang="en-US" altLang="en-US" dirty="0"/>
              <a:t>Later you define a more specific class</a:t>
            </a:r>
          </a:p>
          <a:p>
            <a:pPr lvl="1" eaLnBrk="1" hangingPunct="1"/>
            <a:r>
              <a:rPr lang="en-US" altLang="en-US" dirty="0"/>
              <a:t>Adds new details to general definition</a:t>
            </a:r>
          </a:p>
          <a:p>
            <a:pPr eaLnBrk="1" hangingPunct="1"/>
            <a:r>
              <a:rPr lang="en-US" altLang="en-US" dirty="0"/>
              <a:t>New class inherits all properties of initial, general class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6052DD1-5DEE-84F6-54C2-AE64D8C8EA75}"/>
              </a:ext>
            </a:extLst>
          </p:cNvPr>
          <p:cNvSpPr txBox="1"/>
          <p:nvPr/>
        </p:nvSpPr>
        <p:spPr>
          <a:xfrm>
            <a:off x="628650" y="1690688"/>
            <a:ext cx="7886700" cy="1815882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Inheritance is a form of software reuse in which a new class is created by absorbing an existing class’s members and embellishing them with new or modified capabilities.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85272-6060-0684-FB5B-691075751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of Inheritance</a:t>
            </a:r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96F8FF24-8BFA-B8B4-AB99-94139191E8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973777"/>
            <a:ext cx="7886700" cy="2910446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82FB514-AA1A-CDEE-E888-71B81670BCCA}"/>
              </a:ext>
            </a:extLst>
          </p:cNvPr>
          <p:cNvSpPr txBox="1"/>
          <p:nvPr/>
        </p:nvSpPr>
        <p:spPr>
          <a:xfrm>
            <a:off x="628650" y="5167312"/>
            <a:ext cx="7886700" cy="954107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In C++, we call them base class and derived class.</a:t>
            </a:r>
          </a:p>
        </p:txBody>
      </p:sp>
    </p:spTree>
    <p:extLst>
      <p:ext uri="{BB962C8B-B14F-4D97-AF65-F5344CB8AC3E}">
        <p14:creationId xmlns:p14="http://schemas.microsoft.com/office/powerpoint/2010/main" val="38557506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5A00808A-4879-82B2-E2C5-441F519CD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Derived Classes</a:t>
            </a:r>
          </a:p>
        </p:txBody>
      </p:sp>
      <p:sp>
        <p:nvSpPr>
          <p:cNvPr id="7171" name="Content Placeholder 2">
            <a:extLst>
              <a:ext uri="{FF2B5EF4-FFF2-40B4-BE49-F238E27FC236}">
                <a16:creationId xmlns:a16="http://schemas.microsoft.com/office/drawing/2014/main" id="{D913251C-D6C2-B981-27C5-E119F8F8BC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Figure 8.1   A class hierarchy</a:t>
            </a:r>
          </a:p>
        </p:txBody>
      </p:sp>
      <p:pic>
        <p:nvPicPr>
          <p:cNvPr id="7172" name="Picture 5">
            <a:extLst>
              <a:ext uri="{FF2B5EF4-FFF2-40B4-BE49-F238E27FC236}">
                <a16:creationId xmlns:a16="http://schemas.microsoft.com/office/drawing/2014/main" id="{5835316B-AB3E-0519-C317-802D5F98AA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0825" y="2489200"/>
            <a:ext cx="6429375" cy="338137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C5785BEE-11D5-8404-DBD4-6925176AD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Derived Classes</a:t>
            </a:r>
          </a:p>
        </p:txBody>
      </p:sp>
      <p:sp>
        <p:nvSpPr>
          <p:cNvPr id="8195" name="Content Placeholder 2">
            <a:extLst>
              <a:ext uri="{FF2B5EF4-FFF2-40B4-BE49-F238E27FC236}">
                <a16:creationId xmlns:a16="http://schemas.microsoft.com/office/drawing/2014/main" id="{56BA07B6-E14F-EABD-4C75-BC173F1490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800" dirty="0"/>
              <a:t>Class </a:t>
            </a:r>
            <a:r>
              <a:rPr lang="en-US" altLang="en-US" sz="2800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Person</a:t>
            </a:r>
            <a:r>
              <a:rPr lang="en-US" altLang="en-US" sz="2800" dirty="0"/>
              <a:t> used as a </a:t>
            </a:r>
            <a:r>
              <a:rPr lang="en-US" altLang="en-US" sz="2800" i="1" dirty="0"/>
              <a:t>base</a:t>
            </a:r>
            <a:r>
              <a:rPr lang="en-US" altLang="en-US" sz="2800" dirty="0"/>
              <a:t> class</a:t>
            </a:r>
          </a:p>
          <a:p>
            <a:pPr lvl="1" eaLnBrk="1" hangingPunct="1"/>
            <a:r>
              <a:rPr lang="en-US" altLang="en-US" sz="2400" dirty="0"/>
              <a:t>Also called </a:t>
            </a:r>
            <a:r>
              <a:rPr lang="en-US" altLang="en-US" sz="2400" i="1" dirty="0"/>
              <a:t>superclass</a:t>
            </a:r>
            <a:endParaRPr lang="en-US" altLang="en-US" sz="2400" dirty="0"/>
          </a:p>
          <a:p>
            <a:pPr eaLnBrk="1" hangingPunct="1"/>
            <a:r>
              <a:rPr lang="en-US" altLang="en-US" sz="2800" dirty="0"/>
              <a:t>Now we declare </a:t>
            </a:r>
            <a:r>
              <a:rPr lang="en-US" altLang="en-US" sz="2800" i="1" dirty="0"/>
              <a:t>derived</a:t>
            </a:r>
            <a:r>
              <a:rPr lang="en-US" altLang="en-US" sz="2800" dirty="0"/>
              <a:t> class </a:t>
            </a:r>
            <a:r>
              <a:rPr lang="en-US" altLang="en-US" sz="2800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Student</a:t>
            </a:r>
          </a:p>
          <a:p>
            <a:pPr lvl="1" eaLnBrk="1" hangingPunct="1"/>
            <a:r>
              <a:rPr lang="en-US" altLang="en-US" sz="2400" dirty="0"/>
              <a:t>Also called </a:t>
            </a:r>
            <a:r>
              <a:rPr lang="en-US" altLang="en-US" sz="2400" i="1" dirty="0"/>
              <a:t>subclass</a:t>
            </a:r>
          </a:p>
          <a:p>
            <a:pPr lvl="1" eaLnBrk="1" hangingPunct="1"/>
            <a:r>
              <a:rPr lang="en-US" altLang="en-US" sz="2400" dirty="0"/>
              <a:t>Inherits methods from the superclass</a:t>
            </a:r>
          </a:p>
          <a:p>
            <a:pPr eaLnBrk="1" hangingPunct="1"/>
            <a:r>
              <a:rPr lang="en-US" altLang="en-US" sz="2800" dirty="0"/>
              <a:t>View </a:t>
            </a:r>
            <a:r>
              <a:rPr lang="en-US" altLang="en-US" sz="2800" dirty="0">
                <a:hlinkClick r:id="rId2" action="ppaction://hlinkfile"/>
              </a:rPr>
              <a:t>derived class</a:t>
            </a:r>
            <a:r>
              <a:rPr lang="en-US" altLang="en-US" sz="2800" dirty="0"/>
              <a:t>, listing 8.2</a:t>
            </a:r>
            <a:br>
              <a:rPr lang="en-US" altLang="en-US" sz="2800" dirty="0"/>
            </a:br>
            <a:r>
              <a:rPr lang="en-US" altLang="en-US" sz="2800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Student extends Person</a:t>
            </a:r>
          </a:p>
          <a:p>
            <a:pPr eaLnBrk="1" hangingPunct="1"/>
            <a:r>
              <a:rPr lang="en-US" altLang="en-US" sz="2800" dirty="0"/>
              <a:t>View </a:t>
            </a:r>
            <a:r>
              <a:rPr lang="en-US" altLang="en-US" sz="2800" dirty="0">
                <a:hlinkClick r:id="rId3" action="ppaction://hlinkfile"/>
              </a:rPr>
              <a:t>demo program</a:t>
            </a:r>
            <a:r>
              <a:rPr lang="en-US" altLang="en-US" sz="2800" dirty="0"/>
              <a:t>, listing 8.3</a:t>
            </a:r>
            <a:br>
              <a:rPr lang="en-US" altLang="en-US" sz="2800" dirty="0"/>
            </a:br>
            <a:r>
              <a:rPr lang="en-US" altLang="en-US" sz="2800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altLang="en-US" sz="2800" b="1" dirty="0" err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InheritanceDemo</a:t>
            </a:r>
            <a:endParaRPr lang="en-US" altLang="en-US" sz="2800" b="1" dirty="0">
              <a:solidFill>
                <a:srgbClr val="0033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8196" name="Picture 4">
            <a:extLst>
              <a:ext uri="{FF2B5EF4-FFF2-40B4-BE49-F238E27FC236}">
                <a16:creationId xmlns:a16="http://schemas.microsoft.com/office/drawing/2014/main" id="{1670B5AF-62F0-8CDF-3F65-2453421EA4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063" y="5373688"/>
            <a:ext cx="3276600" cy="85725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7" name="Text Box 7">
            <a:extLst>
              <a:ext uri="{FF2B5EF4-FFF2-40B4-BE49-F238E27FC236}">
                <a16:creationId xmlns:a16="http://schemas.microsoft.com/office/drawing/2014/main" id="{846B54D3-54D1-7B0F-0193-5BE0B95328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2525" y="4500563"/>
            <a:ext cx="1524000" cy="100647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000"/>
              <a:t>Sample </a:t>
            </a:r>
            <a:br>
              <a:rPr lang="en-US" altLang="en-US" sz="2000"/>
            </a:br>
            <a:r>
              <a:rPr lang="en-US" altLang="en-US" sz="2000"/>
              <a:t>screen output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3FF9482B-E200-4CE1-AE75-24206A394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Overriding Method Definitions</a:t>
            </a:r>
          </a:p>
        </p:txBody>
      </p:sp>
      <p:sp>
        <p:nvSpPr>
          <p:cNvPr id="9219" name="Content Placeholder 2">
            <a:extLst>
              <a:ext uri="{FF2B5EF4-FFF2-40B4-BE49-F238E27FC236}">
                <a16:creationId xmlns:a16="http://schemas.microsoft.com/office/drawing/2014/main" id="{B35F7C9B-20FB-E421-3612-BC3A702B49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Note method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writeOutput</a:t>
            </a:r>
            <a:r>
              <a:rPr lang="en-US" altLang="en-US"/>
              <a:t> in class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Student</a:t>
            </a:r>
            <a:endParaRPr lang="en-US" altLang="en-US" sz="2800" b="1">
              <a:solidFill>
                <a:srgbClr val="0033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 eaLnBrk="1" hangingPunct="1"/>
            <a:r>
              <a:rPr lang="en-US" altLang="en-US"/>
              <a:t>Class Person also has method with that name</a:t>
            </a:r>
          </a:p>
          <a:p>
            <a:pPr eaLnBrk="1" hangingPunct="1"/>
            <a:r>
              <a:rPr lang="en-US" altLang="en-US"/>
              <a:t>Method in subclass with same signature overrides method from base class</a:t>
            </a:r>
          </a:p>
          <a:p>
            <a:pPr lvl="1" eaLnBrk="1" hangingPunct="1"/>
            <a:r>
              <a:rPr lang="en-US" altLang="en-US"/>
              <a:t>Overriding method is the one used for objects of the derived class</a:t>
            </a:r>
          </a:p>
          <a:p>
            <a:pPr eaLnBrk="1" hangingPunct="1"/>
            <a:r>
              <a:rPr lang="en-US" altLang="en-US"/>
              <a:t>Overriding method must return same type of value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id="{80E61EF3-32F4-C017-8573-BFC36320C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Overriding Versus Overloading</a:t>
            </a:r>
          </a:p>
        </p:txBody>
      </p:sp>
      <p:sp>
        <p:nvSpPr>
          <p:cNvPr id="10243" name="Content Placeholder 2">
            <a:extLst>
              <a:ext uri="{FF2B5EF4-FFF2-40B4-BE49-F238E27FC236}">
                <a16:creationId xmlns:a16="http://schemas.microsoft.com/office/drawing/2014/main" id="{8F7CD76A-B061-1AF4-F32C-E49FC84529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Do not confuse overriding with overloading</a:t>
            </a:r>
          </a:p>
          <a:p>
            <a:pPr lvl="1" eaLnBrk="1" hangingPunct="1"/>
            <a:r>
              <a:rPr lang="en-US" altLang="en-US"/>
              <a:t>Overriding takes place in subclass – new method with same signature</a:t>
            </a:r>
          </a:p>
          <a:p>
            <a:pPr eaLnBrk="1" hangingPunct="1"/>
            <a:r>
              <a:rPr lang="en-US" altLang="en-US"/>
              <a:t>Overloading</a:t>
            </a:r>
          </a:p>
          <a:p>
            <a:pPr lvl="1" eaLnBrk="1" hangingPunct="1"/>
            <a:r>
              <a:rPr lang="en-US" altLang="en-US"/>
              <a:t>New method in same class with different signature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709EA-4FC7-9CC6-0ECA-A0F02BAFC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The </a:t>
            </a:r>
            <a:r>
              <a:rPr lang="en-US" b="1" dirty="0">
                <a:solidFill>
                  <a:srgbClr val="0033CC"/>
                </a:solidFill>
                <a:latin typeface="Courier New" pitchFamily="49" charset="0"/>
                <a:ea typeface="+mn-ea"/>
                <a:cs typeface="Courier New" pitchFamily="49" charset="0"/>
              </a:rPr>
              <a:t>final</a:t>
            </a:r>
            <a:r>
              <a:rPr lang="en-US" dirty="0"/>
              <a:t> Modifier</a:t>
            </a:r>
          </a:p>
        </p:txBody>
      </p:sp>
      <p:sp>
        <p:nvSpPr>
          <p:cNvPr id="11267" name="Content Placeholder 2">
            <a:extLst>
              <a:ext uri="{FF2B5EF4-FFF2-40B4-BE49-F238E27FC236}">
                <a16:creationId xmlns:a16="http://schemas.microsoft.com/office/drawing/2014/main" id="{FFEFF22B-F9AA-ABFF-B20C-99D889B80E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Possible to specify that a method </a:t>
            </a:r>
            <a:r>
              <a:rPr lang="en-US" altLang="en-US" u="sng"/>
              <a:t>cannot</a:t>
            </a:r>
            <a:r>
              <a:rPr lang="en-US" altLang="en-US"/>
              <a:t> be overridden in subclass</a:t>
            </a:r>
          </a:p>
          <a:p>
            <a:pPr eaLnBrk="1" hangingPunct="1"/>
            <a:r>
              <a:rPr lang="en-US" altLang="en-US"/>
              <a:t>Add modifier final to the heading</a:t>
            </a:r>
            <a:br>
              <a:rPr lang="en-US" altLang="en-US"/>
            </a:br>
            <a:r>
              <a:rPr lang="en-US" altLang="en-US" sz="2800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final void specialMethod()</a:t>
            </a:r>
          </a:p>
          <a:p>
            <a:pPr eaLnBrk="1" hangingPunct="1"/>
            <a:r>
              <a:rPr lang="en-US" altLang="en-US"/>
              <a:t>An entire class may be declared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final</a:t>
            </a:r>
            <a:endParaRPr lang="en-US" altLang="en-US" sz="2800" b="1">
              <a:solidFill>
                <a:srgbClr val="0033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 eaLnBrk="1" hangingPunct="1"/>
            <a:r>
              <a:rPr lang="en-US" altLang="en-US"/>
              <a:t>Thus cannot be used as a base class to derive any other class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A661839E-FB60-069C-CB18-D207DDA5E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Private Instance Variables, Methods</a:t>
            </a:r>
          </a:p>
        </p:txBody>
      </p:sp>
      <p:sp>
        <p:nvSpPr>
          <p:cNvPr id="12291" name="Content Placeholder 2">
            <a:extLst>
              <a:ext uri="{FF2B5EF4-FFF2-40B4-BE49-F238E27FC236}">
                <a16:creationId xmlns:a16="http://schemas.microsoft.com/office/drawing/2014/main" id="{3CB6D481-75F3-D4A7-7908-F88E56E868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Consider private instance variable in a base class</a:t>
            </a:r>
          </a:p>
          <a:p>
            <a:pPr lvl="1" eaLnBrk="1" hangingPunct="1"/>
            <a:r>
              <a:rPr lang="en-US" altLang="en-US"/>
              <a:t>It is not inherited in subclass</a:t>
            </a:r>
          </a:p>
          <a:p>
            <a:pPr lvl="1" eaLnBrk="1" hangingPunct="1"/>
            <a:r>
              <a:rPr lang="en-US" altLang="en-US"/>
              <a:t>It can be manipulated only by public accessor, modifier methods</a:t>
            </a:r>
          </a:p>
          <a:p>
            <a:pPr eaLnBrk="1" hangingPunct="1"/>
            <a:r>
              <a:rPr lang="en-US" altLang="en-US"/>
              <a:t>Similarly, private methods in a superclass not inherited by subclass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77E8FC33-5011-4151-8898-3BD2599BE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UML Inheritance Diagrams</a:t>
            </a:r>
          </a:p>
        </p:txBody>
      </p:sp>
      <p:sp>
        <p:nvSpPr>
          <p:cNvPr id="13315" name="Content Placeholder 2">
            <a:extLst>
              <a:ext uri="{FF2B5EF4-FFF2-40B4-BE49-F238E27FC236}">
                <a16:creationId xmlns:a16="http://schemas.microsoft.com/office/drawing/2014/main" id="{6DC60D43-B013-4B0E-1AEB-4E406C5B79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Figure 8.2 A class </a:t>
            </a:r>
            <a:br>
              <a:rPr lang="en-US" altLang="en-US"/>
            </a:br>
            <a:r>
              <a:rPr lang="en-US" altLang="en-US"/>
              <a:t>hierarchy in </a:t>
            </a:r>
            <a:br>
              <a:rPr lang="en-US" altLang="en-US"/>
            </a:br>
            <a:r>
              <a:rPr lang="en-US" altLang="en-US"/>
              <a:t>UML notation</a:t>
            </a:r>
          </a:p>
        </p:txBody>
      </p:sp>
      <p:pic>
        <p:nvPicPr>
          <p:cNvPr id="13316" name="Picture 4" descr="figure8-2.png">
            <a:extLst>
              <a:ext uri="{FF2B5EF4-FFF2-40B4-BE49-F238E27FC236}">
                <a16:creationId xmlns:a16="http://schemas.microsoft.com/office/drawing/2014/main" id="{4067810B-B1B3-30F6-5B33-113890DF30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1325" y="1257300"/>
            <a:ext cx="5589588" cy="4979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733144F7-9F11-1BAA-FBA7-BBE25EA99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UML Inheritance Diagrams</a:t>
            </a:r>
          </a:p>
        </p:txBody>
      </p:sp>
      <p:sp>
        <p:nvSpPr>
          <p:cNvPr id="14339" name="Content Placeholder 2">
            <a:extLst>
              <a:ext uri="{FF2B5EF4-FFF2-40B4-BE49-F238E27FC236}">
                <a16:creationId xmlns:a16="http://schemas.microsoft.com/office/drawing/2014/main" id="{BDD781F1-1D5C-E219-C98C-ACE67DE1B9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Figure 8.3 </a:t>
            </a:r>
            <a:br>
              <a:rPr lang="en-US" altLang="en-US"/>
            </a:br>
            <a:r>
              <a:rPr lang="en-US" altLang="en-US"/>
              <a:t>Some details </a:t>
            </a:r>
            <a:br>
              <a:rPr lang="en-US" altLang="en-US"/>
            </a:br>
            <a:r>
              <a:rPr lang="en-US" altLang="en-US"/>
              <a:t>of UML class </a:t>
            </a:r>
            <a:br>
              <a:rPr lang="en-US" altLang="en-US"/>
            </a:br>
            <a:r>
              <a:rPr lang="en-US" altLang="en-US"/>
              <a:t>hierarchy </a:t>
            </a:r>
            <a:br>
              <a:rPr lang="en-US" altLang="en-US"/>
            </a:br>
            <a:r>
              <a:rPr lang="en-US" altLang="en-US"/>
              <a:t>from </a:t>
            </a:r>
            <a:br>
              <a:rPr lang="en-US" altLang="en-US"/>
            </a:br>
            <a:r>
              <a:rPr lang="en-US" altLang="en-US"/>
              <a:t>figure 8.2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CB631AE-F785-E2C2-39CE-FBE091CE8075}"/>
              </a:ext>
            </a:extLst>
          </p:cNvPr>
          <p:cNvCxnSpPr/>
          <p:nvPr/>
        </p:nvCxnSpPr>
        <p:spPr>
          <a:xfrm rot="5400000" flipH="1" flipV="1">
            <a:off x="5731669" y="3606006"/>
            <a:ext cx="488950" cy="1588"/>
          </a:xfrm>
          <a:prstGeom prst="straightConnector1">
            <a:avLst/>
          </a:prstGeom>
          <a:ln w="28575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559" name="Picture 7">
            <a:extLst>
              <a:ext uri="{FF2B5EF4-FFF2-40B4-BE49-F238E27FC236}">
                <a16:creationId xmlns:a16="http://schemas.microsoft.com/office/drawing/2014/main" id="{2B5E3DB8-5452-2FEA-AEF5-6A253AAEE6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629025" y="1336675"/>
            <a:ext cx="4533900" cy="2028825"/>
          </a:xfrm>
          <a:prstGeom prst="rect">
            <a:avLst/>
          </a:prstGeom>
          <a:solidFill>
            <a:schemeClr val="accent1"/>
          </a:solidFill>
          <a:ln w="12700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</p:pic>
      <p:pic>
        <p:nvPicPr>
          <p:cNvPr id="23560" name="Picture 8">
            <a:extLst>
              <a:ext uri="{FF2B5EF4-FFF2-40B4-BE49-F238E27FC236}">
                <a16:creationId xmlns:a16="http://schemas.microsoft.com/office/drawing/2014/main" id="{E5D5DB7C-EB5E-91F1-E0C5-170A9597A1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73400" y="3848100"/>
            <a:ext cx="5756275" cy="2452688"/>
          </a:xfrm>
          <a:prstGeom prst="rect">
            <a:avLst/>
          </a:prstGeom>
          <a:solidFill>
            <a:schemeClr val="accent1"/>
          </a:solidFill>
          <a:ln w="12700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9ADBFDD0-F8FB-E28A-1DB6-77573E392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Constructors in Derived Classes</a:t>
            </a:r>
          </a:p>
        </p:txBody>
      </p:sp>
      <p:sp>
        <p:nvSpPr>
          <p:cNvPr id="15363" name="Content Placeholder 2">
            <a:extLst>
              <a:ext uri="{FF2B5EF4-FFF2-40B4-BE49-F238E27FC236}">
                <a16:creationId xmlns:a16="http://schemas.microsoft.com/office/drawing/2014/main" id="{146CF41A-E7C2-381E-121E-C02E599D5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03363"/>
            <a:ext cx="8229600" cy="4525962"/>
          </a:xfrm>
        </p:spPr>
        <p:txBody>
          <a:bodyPr/>
          <a:lstStyle/>
          <a:p>
            <a:pPr eaLnBrk="1" hangingPunct="1"/>
            <a:r>
              <a:rPr lang="en-US" altLang="en-US"/>
              <a:t>A derived class does not inherit constructors from base class</a:t>
            </a:r>
          </a:p>
          <a:p>
            <a:pPr lvl="1" eaLnBrk="1" hangingPunct="1"/>
            <a:r>
              <a:rPr lang="en-US" altLang="en-US"/>
              <a:t>Constructor in a subclass must invoke constructor from base class</a:t>
            </a:r>
          </a:p>
          <a:p>
            <a:pPr eaLnBrk="1" hangingPunct="1"/>
            <a:r>
              <a:rPr lang="en-US" altLang="en-US"/>
              <a:t>Use the reserve word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super</a:t>
            </a:r>
            <a:endParaRPr lang="en-US" altLang="en-US" sz="3600" b="1">
              <a:solidFill>
                <a:srgbClr val="0033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lvl="1" eaLnBrk="1" hangingPunct="1"/>
            <a:endParaRPr lang="en-US" altLang="en-US"/>
          </a:p>
          <a:p>
            <a:pPr lvl="1" eaLnBrk="1" hangingPunct="1"/>
            <a:r>
              <a:rPr lang="en-US" altLang="en-US"/>
              <a:t>Must be first action in the constructor</a:t>
            </a:r>
          </a:p>
          <a:p>
            <a:pPr eaLnBrk="1" hangingPunct="1"/>
            <a:endParaRPr lang="en-US" altLang="en-US"/>
          </a:p>
        </p:txBody>
      </p:sp>
      <p:pic>
        <p:nvPicPr>
          <p:cNvPr id="15364" name="Picture 4">
            <a:extLst>
              <a:ext uri="{FF2B5EF4-FFF2-40B4-BE49-F238E27FC236}">
                <a16:creationId xmlns:a16="http://schemas.microsoft.com/office/drawing/2014/main" id="{CDAFE486-F98F-BB11-C46B-544D8EE51E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5225" y="4225925"/>
            <a:ext cx="6656388" cy="132397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9F1613E4-2F85-FB64-8F49-89ED2E93D34F}"/>
              </a:ext>
            </a:extLst>
          </p:cNvPr>
          <p:cNvSpPr/>
          <p:nvPr/>
        </p:nvSpPr>
        <p:spPr>
          <a:xfrm>
            <a:off x="1322388" y="4513263"/>
            <a:ext cx="2724150" cy="6032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70454-4374-570D-7D8E-E7267E5CF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The </a:t>
            </a:r>
            <a:r>
              <a:rPr lang="en-US" sz="4000" b="1" dirty="0">
                <a:solidFill>
                  <a:srgbClr val="0033CC"/>
                </a:solidFill>
                <a:latin typeface="Courier New" pitchFamily="49" charset="0"/>
                <a:ea typeface="+mn-ea"/>
                <a:cs typeface="Courier New" pitchFamily="49" charset="0"/>
              </a:rPr>
              <a:t>this</a:t>
            </a:r>
            <a:r>
              <a:rPr lang="en-US" dirty="0"/>
              <a:t> Method – Again </a:t>
            </a:r>
          </a:p>
        </p:txBody>
      </p:sp>
      <p:sp>
        <p:nvSpPr>
          <p:cNvPr id="16387" name="Content Placeholder 2">
            <a:extLst>
              <a:ext uri="{FF2B5EF4-FFF2-40B4-BE49-F238E27FC236}">
                <a16:creationId xmlns:a16="http://schemas.microsoft.com/office/drawing/2014/main" id="{4A91EE6F-2F41-8115-258A-EB8A24185A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Also possible to use the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en-US" altLang="en-US"/>
              <a:t> keyword</a:t>
            </a:r>
          </a:p>
          <a:p>
            <a:pPr lvl="1" eaLnBrk="1" hangingPunct="1"/>
            <a:r>
              <a:rPr lang="en-US" altLang="en-US"/>
              <a:t>Use to call any constructor in the class</a:t>
            </a:r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When used in a constructor, this calls constructor in same class</a:t>
            </a:r>
          </a:p>
          <a:p>
            <a:pPr lvl="1" eaLnBrk="1" hangingPunct="1"/>
            <a:r>
              <a:rPr lang="en-US" altLang="en-US"/>
              <a:t>Contrast use of </a:t>
            </a:r>
            <a:r>
              <a:rPr lang="en-US" altLang="en-US" sz="3200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super</a:t>
            </a:r>
            <a:r>
              <a:rPr lang="en-US" altLang="en-US"/>
              <a:t> which invokes constructor of base class</a:t>
            </a:r>
          </a:p>
        </p:txBody>
      </p:sp>
      <p:pic>
        <p:nvPicPr>
          <p:cNvPr id="16388" name="Picture 4">
            <a:extLst>
              <a:ext uri="{FF2B5EF4-FFF2-40B4-BE49-F238E27FC236}">
                <a16:creationId xmlns:a16="http://schemas.microsoft.com/office/drawing/2014/main" id="{D9FBE2EC-AD89-9323-5EBE-954B03CE8E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1600" y="2786063"/>
            <a:ext cx="3343275" cy="1066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8ACF5896-8808-8533-98CE-023AD9CE9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Calling an Overridden Method</a:t>
            </a:r>
          </a:p>
        </p:txBody>
      </p:sp>
      <p:sp>
        <p:nvSpPr>
          <p:cNvPr id="17411" name="Content Placeholder 2">
            <a:extLst>
              <a:ext uri="{FF2B5EF4-FFF2-40B4-BE49-F238E27FC236}">
                <a16:creationId xmlns:a16="http://schemas.microsoft.com/office/drawing/2014/main" id="{FD887BC9-D90E-7D0F-9FE3-4FBDCC9E47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Reserved word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super</a:t>
            </a:r>
            <a:r>
              <a:rPr lang="en-US" altLang="en-US"/>
              <a:t> can also be used to call method in overridden method</a:t>
            </a:r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Calls method by same name in base class</a:t>
            </a:r>
          </a:p>
        </p:txBody>
      </p:sp>
      <p:pic>
        <p:nvPicPr>
          <p:cNvPr id="17412" name="Picture 4">
            <a:extLst>
              <a:ext uri="{FF2B5EF4-FFF2-40B4-BE49-F238E27FC236}">
                <a16:creationId xmlns:a16="http://schemas.microsoft.com/office/drawing/2014/main" id="{937A72EC-BAE7-5C96-6C3F-A07A6CCAA0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0188" y="2843213"/>
            <a:ext cx="6143625" cy="117157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147E8F3D-A115-B3FF-D3D9-8E509A2E600A}"/>
              </a:ext>
            </a:extLst>
          </p:cNvPr>
          <p:cNvSpPr/>
          <p:nvPr/>
        </p:nvSpPr>
        <p:spPr>
          <a:xfrm>
            <a:off x="1498600" y="3171825"/>
            <a:ext cx="2859088" cy="52546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2039E5F9-EEA9-6793-A625-3E848CC4E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Programming Example</a:t>
            </a:r>
          </a:p>
        </p:txBody>
      </p:sp>
      <p:sp>
        <p:nvSpPr>
          <p:cNvPr id="18435" name="Content Placeholder 2">
            <a:extLst>
              <a:ext uri="{FF2B5EF4-FFF2-40B4-BE49-F238E27FC236}">
                <a16:creationId xmlns:a16="http://schemas.microsoft.com/office/drawing/2014/main" id="{AD38891F-56FA-B832-25CB-BFA8011D16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 derived class of a derived class</a:t>
            </a:r>
          </a:p>
          <a:p>
            <a:pPr eaLnBrk="1" hangingPunct="1"/>
            <a:r>
              <a:rPr lang="en-US" altLang="en-US"/>
              <a:t>View </a:t>
            </a:r>
            <a:r>
              <a:rPr lang="en-US" altLang="en-US">
                <a:hlinkClick r:id="rId2" action="ppaction://hlinkfile"/>
              </a:rPr>
              <a:t>sample class</a:t>
            </a:r>
            <a:r>
              <a:rPr lang="en-US" altLang="en-US"/>
              <a:t>, listing 8.4</a:t>
            </a:r>
            <a:br>
              <a:rPr lang="en-US" altLang="en-US"/>
            </a:b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Undergraduate</a:t>
            </a:r>
          </a:p>
          <a:p>
            <a:pPr eaLnBrk="1" hangingPunct="1"/>
            <a:r>
              <a:rPr lang="en-US" altLang="en-US"/>
              <a:t>Has all public members of both</a:t>
            </a:r>
          </a:p>
          <a:p>
            <a:pPr lvl="1" eaLnBrk="1" hangingPunct="1"/>
            <a:r>
              <a:rPr lang="en-US" altLang="en-US" sz="3200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Person</a:t>
            </a:r>
          </a:p>
          <a:p>
            <a:pPr lvl="1" eaLnBrk="1" hangingPunct="1"/>
            <a:r>
              <a:rPr lang="en-US" altLang="en-US" sz="3200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Student</a:t>
            </a:r>
          </a:p>
          <a:p>
            <a:pPr eaLnBrk="1" hangingPunct="1"/>
            <a:r>
              <a:rPr lang="en-US" altLang="en-US"/>
              <a:t>This reuses the code in superclasses</a:t>
            </a:r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id="{4A70764E-CEA4-12EF-BB67-17345CAA0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Programming Example</a:t>
            </a:r>
          </a:p>
        </p:txBody>
      </p:sp>
      <p:sp>
        <p:nvSpPr>
          <p:cNvPr id="19459" name="Content Placeholder 2">
            <a:extLst>
              <a:ext uri="{FF2B5EF4-FFF2-40B4-BE49-F238E27FC236}">
                <a16:creationId xmlns:a16="http://schemas.microsoft.com/office/drawing/2014/main" id="{91ADF749-B48F-CF04-1F3D-94F68D0E76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176463"/>
            <a:ext cx="8229600" cy="3949700"/>
          </a:xfrm>
        </p:spPr>
        <p:txBody>
          <a:bodyPr/>
          <a:lstStyle/>
          <a:p>
            <a:pPr eaLnBrk="1" hangingPunct="1"/>
            <a:r>
              <a:rPr lang="en-US" altLang="en-US"/>
              <a:t>Figure 8.4 </a:t>
            </a:r>
            <a:br>
              <a:rPr lang="en-US" altLang="en-US"/>
            </a:br>
            <a:r>
              <a:rPr lang="en-US" altLang="en-US"/>
              <a:t>More details </a:t>
            </a:r>
            <a:br>
              <a:rPr lang="en-US" altLang="en-US"/>
            </a:br>
            <a:r>
              <a:rPr lang="en-US" altLang="en-US"/>
              <a:t>of the UML </a:t>
            </a:r>
            <a:br>
              <a:rPr lang="en-US" altLang="en-US"/>
            </a:br>
            <a:r>
              <a:rPr lang="en-US" altLang="en-US"/>
              <a:t>class </a:t>
            </a:r>
            <a:br>
              <a:rPr lang="en-US" altLang="en-US"/>
            </a:br>
            <a:r>
              <a:rPr lang="en-US" altLang="en-US"/>
              <a:t>hierarchy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B73A346-05FF-8890-739C-992096E4204B}"/>
              </a:ext>
            </a:extLst>
          </p:cNvPr>
          <p:cNvCxnSpPr/>
          <p:nvPr/>
        </p:nvCxnSpPr>
        <p:spPr>
          <a:xfrm rot="5400000" flipH="1" flipV="1">
            <a:off x="5878513" y="3883025"/>
            <a:ext cx="347662" cy="158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9BAD298-73E0-BB1F-FCAA-B14A26A3A805}"/>
              </a:ext>
            </a:extLst>
          </p:cNvPr>
          <p:cNvCxnSpPr/>
          <p:nvPr/>
        </p:nvCxnSpPr>
        <p:spPr>
          <a:xfrm rot="5400000" flipH="1" flipV="1">
            <a:off x="5799138" y="1463675"/>
            <a:ext cx="347662" cy="158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462" name="Picture 8">
            <a:extLst>
              <a:ext uri="{FF2B5EF4-FFF2-40B4-BE49-F238E27FC236}">
                <a16:creationId xmlns:a16="http://schemas.microsoft.com/office/drawing/2014/main" id="{26204393-2202-D660-B0ED-F0420B5DEB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4588" y="1666875"/>
            <a:ext cx="4654550" cy="2014538"/>
          </a:xfrm>
          <a:prstGeom prst="rect">
            <a:avLst/>
          </a:prstGeom>
          <a:solidFill>
            <a:schemeClr val="accent1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</p:pic>
      <p:pic>
        <p:nvPicPr>
          <p:cNvPr id="19463" name="Picture 9">
            <a:extLst>
              <a:ext uri="{FF2B5EF4-FFF2-40B4-BE49-F238E27FC236}">
                <a16:creationId xmlns:a16="http://schemas.microsoft.com/office/drawing/2014/main" id="{B96AF320-F4FE-CF70-881C-1DFE02417C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0613" y="4049713"/>
            <a:ext cx="4772025" cy="2171700"/>
          </a:xfrm>
          <a:prstGeom prst="rect">
            <a:avLst/>
          </a:prstGeom>
          <a:solidFill>
            <a:schemeClr val="accent1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F37C457B-D2E0-B011-6314-0501ACC80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Type Compatibility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5025D2AC-C70B-071E-43AE-595D3F9392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 the class hierarchy</a:t>
            </a:r>
          </a:p>
          <a:p>
            <a:pPr lvl="1" eaLnBrk="1" hangingPunct="1"/>
            <a:r>
              <a:rPr lang="en-US" altLang="en-US"/>
              <a:t>Each </a:t>
            </a:r>
            <a:r>
              <a:rPr lang="en-US" altLang="en-US" sz="3200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Undergraduate</a:t>
            </a:r>
            <a:r>
              <a:rPr lang="en-US" altLang="en-US"/>
              <a:t> is also a </a:t>
            </a:r>
            <a:r>
              <a:rPr lang="en-US" altLang="en-US" sz="3200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Student</a:t>
            </a:r>
          </a:p>
          <a:p>
            <a:pPr lvl="1" eaLnBrk="1" hangingPunct="1"/>
            <a:r>
              <a:rPr lang="en-US" altLang="en-US"/>
              <a:t>Each </a:t>
            </a:r>
            <a:r>
              <a:rPr lang="en-US" altLang="en-US" sz="3200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Student</a:t>
            </a:r>
            <a:r>
              <a:rPr lang="en-US" altLang="en-US"/>
              <a:t> is also a </a:t>
            </a:r>
            <a:r>
              <a:rPr lang="en-US" altLang="en-US" sz="3200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Person</a:t>
            </a:r>
          </a:p>
          <a:p>
            <a:pPr eaLnBrk="1" hangingPunct="1"/>
            <a:r>
              <a:rPr lang="en-US" altLang="en-US"/>
              <a:t>An object of a derived class can serve as an object of the base class</a:t>
            </a:r>
          </a:p>
          <a:p>
            <a:pPr lvl="1" eaLnBrk="1" hangingPunct="1"/>
            <a:r>
              <a:rPr lang="en-US" altLang="en-US"/>
              <a:t>Note this is </a:t>
            </a:r>
            <a:r>
              <a:rPr lang="en-US" altLang="en-US" u="sng"/>
              <a:t>not</a:t>
            </a:r>
            <a:r>
              <a:rPr lang="en-US" altLang="en-US"/>
              <a:t> typecasting</a:t>
            </a:r>
          </a:p>
          <a:p>
            <a:pPr eaLnBrk="1" hangingPunct="1"/>
            <a:r>
              <a:rPr lang="en-US" altLang="en-US"/>
              <a:t>An object of a class can be referenced by a variable of an ancestor type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>
            <a:extLst>
              <a:ext uri="{FF2B5EF4-FFF2-40B4-BE49-F238E27FC236}">
                <a16:creationId xmlns:a16="http://schemas.microsoft.com/office/drawing/2014/main" id="{A3733B7C-64E5-926F-AF0B-F21129441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Type Compatibility</a:t>
            </a:r>
          </a:p>
        </p:txBody>
      </p:sp>
      <p:sp>
        <p:nvSpPr>
          <p:cNvPr id="21507" name="Content Placeholder 2">
            <a:extLst>
              <a:ext uri="{FF2B5EF4-FFF2-40B4-BE49-F238E27FC236}">
                <a16:creationId xmlns:a16="http://schemas.microsoft.com/office/drawing/2014/main" id="{C134A1C4-B0A6-1D53-48C1-439BE728D8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Be aware of the "is-a" relationship</a:t>
            </a:r>
          </a:p>
          <a:p>
            <a:pPr lvl="1" eaLnBrk="1" hangingPunct="1"/>
            <a:r>
              <a:rPr lang="en-US" altLang="en-US"/>
              <a:t>A </a:t>
            </a:r>
            <a:r>
              <a:rPr lang="en-US" altLang="en-US" sz="3200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Student</a:t>
            </a:r>
            <a:r>
              <a:rPr lang="en-US" altLang="en-US"/>
              <a:t> </a:t>
            </a:r>
            <a:r>
              <a:rPr lang="en-US" altLang="en-US" i="1"/>
              <a:t>is a</a:t>
            </a:r>
            <a:r>
              <a:rPr lang="en-US" altLang="en-US"/>
              <a:t> </a:t>
            </a:r>
            <a:r>
              <a:rPr lang="en-US" altLang="en-US" sz="3200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Person</a:t>
            </a:r>
          </a:p>
          <a:p>
            <a:pPr eaLnBrk="1" hangingPunct="1"/>
            <a:r>
              <a:rPr lang="en-US" altLang="en-US"/>
              <a:t>Another relationship is the "has-a"</a:t>
            </a:r>
          </a:p>
          <a:p>
            <a:pPr lvl="1" eaLnBrk="1" hangingPunct="1"/>
            <a:r>
              <a:rPr lang="en-US" altLang="en-US"/>
              <a:t>A class can contain (as an instance variable) an object of another type</a:t>
            </a:r>
          </a:p>
          <a:p>
            <a:pPr lvl="1" eaLnBrk="1" hangingPunct="1"/>
            <a:r>
              <a:rPr lang="en-US" altLang="en-US"/>
              <a:t>If we specify a date of birth variable for </a:t>
            </a:r>
            <a:r>
              <a:rPr lang="en-US" altLang="en-US" sz="3200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Person</a:t>
            </a:r>
            <a:r>
              <a:rPr lang="en-US" altLang="en-US"/>
              <a:t> – it "has-a" </a:t>
            </a:r>
            <a:r>
              <a:rPr lang="en-US" altLang="en-US" sz="3200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Date</a:t>
            </a:r>
            <a:r>
              <a:rPr lang="en-US" altLang="en-US"/>
              <a:t> object</a:t>
            </a:r>
          </a:p>
          <a:p>
            <a:pPr lvl="1" eaLnBrk="1" hangingPunct="1"/>
            <a:endParaRPr lang="en-US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1F222-13EE-363C-5F6E-8D0F5002A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The Class </a:t>
            </a:r>
            <a:r>
              <a:rPr lang="en-US" b="1" dirty="0">
                <a:solidFill>
                  <a:srgbClr val="0033CC"/>
                </a:solidFill>
                <a:latin typeface="Courier New" pitchFamily="49" charset="0"/>
                <a:ea typeface="+mn-ea"/>
                <a:cs typeface="Courier New" pitchFamily="49" charset="0"/>
              </a:rPr>
              <a:t>Object</a:t>
            </a:r>
            <a:endParaRPr lang="en-US" sz="3200" b="1" dirty="0">
              <a:solidFill>
                <a:srgbClr val="0033CC"/>
              </a:solidFill>
              <a:latin typeface="Courier New" pitchFamily="49" charset="0"/>
              <a:ea typeface="+mn-ea"/>
              <a:cs typeface="Courier New" pitchFamily="49" charset="0"/>
            </a:endParaRPr>
          </a:p>
        </p:txBody>
      </p:sp>
      <p:sp>
        <p:nvSpPr>
          <p:cNvPr id="22531" name="Content Placeholder 2">
            <a:extLst>
              <a:ext uri="{FF2B5EF4-FFF2-40B4-BE49-F238E27FC236}">
                <a16:creationId xmlns:a16="http://schemas.microsoft.com/office/drawing/2014/main" id="{DD4BCBE0-C9F8-12A5-74C1-55E952087B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Java has a class that is the ultimate ancestor of every class</a:t>
            </a:r>
          </a:p>
          <a:p>
            <a:pPr lvl="1" eaLnBrk="1" hangingPunct="1"/>
            <a:r>
              <a:rPr lang="en-US" altLang="en-US"/>
              <a:t>The class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Object</a:t>
            </a:r>
            <a:endParaRPr lang="en-US" altLang="en-US" sz="3200" b="1">
              <a:solidFill>
                <a:srgbClr val="0033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/>
            <a:r>
              <a:rPr lang="en-US" altLang="en-US"/>
              <a:t>Thus possible to write a method with parameter of type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Object</a:t>
            </a:r>
          </a:p>
          <a:p>
            <a:pPr lvl="1" eaLnBrk="1" hangingPunct="1"/>
            <a:r>
              <a:rPr lang="en-US" altLang="en-US"/>
              <a:t>Actual parameter in the call can be object of </a:t>
            </a:r>
            <a:r>
              <a:rPr lang="en-US" altLang="en-US" u="sng"/>
              <a:t>any</a:t>
            </a:r>
            <a:r>
              <a:rPr lang="en-US" altLang="en-US"/>
              <a:t> type</a:t>
            </a:r>
          </a:p>
          <a:p>
            <a:pPr eaLnBrk="1" hangingPunct="1"/>
            <a:r>
              <a:rPr lang="en-US" altLang="en-US"/>
              <a:t>Example:  method </a:t>
            </a:r>
            <a:br>
              <a:rPr lang="en-US" altLang="en-US"/>
            </a:b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println(Object theObject)</a:t>
            </a:r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>
            <a:extLst>
              <a:ext uri="{FF2B5EF4-FFF2-40B4-BE49-F238E27FC236}">
                <a16:creationId xmlns:a16="http://schemas.microsoft.com/office/drawing/2014/main" id="{79B9F7DC-319F-74D1-BA66-5C0647F85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Class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Object</a:t>
            </a:r>
            <a:endParaRPr lang="en-US" altLang="en-US"/>
          </a:p>
        </p:txBody>
      </p:sp>
      <p:sp>
        <p:nvSpPr>
          <p:cNvPr id="23555" name="Content Placeholder 2">
            <a:extLst>
              <a:ext uri="{FF2B5EF4-FFF2-40B4-BE49-F238E27FC236}">
                <a16:creationId xmlns:a16="http://schemas.microsoft.com/office/drawing/2014/main" id="{821E3892-66DA-2475-B3FF-BE2B62C422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525963"/>
          </a:xfrm>
        </p:spPr>
        <p:txBody>
          <a:bodyPr/>
          <a:lstStyle/>
          <a:p>
            <a:pPr eaLnBrk="1" hangingPunct="1"/>
            <a:r>
              <a:rPr lang="en-US" altLang="en-US"/>
              <a:t>Class Object has some methods that every Java class inherits</a:t>
            </a:r>
          </a:p>
          <a:p>
            <a:pPr eaLnBrk="1" hangingPunct="1"/>
            <a:r>
              <a:rPr lang="en-US" altLang="en-US"/>
              <a:t>Examples</a:t>
            </a:r>
          </a:p>
          <a:p>
            <a:pPr lvl="1" eaLnBrk="1" hangingPunct="1"/>
            <a:r>
              <a:rPr lang="en-US" altLang="en-US"/>
              <a:t>Method </a:t>
            </a:r>
            <a:r>
              <a:rPr lang="en-US" altLang="en-US" sz="3200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equals</a:t>
            </a:r>
          </a:p>
          <a:p>
            <a:pPr lvl="1" eaLnBrk="1" hangingPunct="1"/>
            <a:r>
              <a:rPr lang="en-US" altLang="en-US"/>
              <a:t>Method </a:t>
            </a:r>
            <a:r>
              <a:rPr lang="en-US" altLang="en-US" sz="3200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toString</a:t>
            </a:r>
          </a:p>
          <a:p>
            <a:pPr eaLnBrk="1" hangingPunct="1"/>
            <a:r>
              <a:rPr lang="en-US" altLang="en-US"/>
              <a:t>Method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toString</a:t>
            </a:r>
            <a:r>
              <a:rPr lang="en-US" altLang="en-US"/>
              <a:t> called when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println(theObject) </a:t>
            </a:r>
            <a:r>
              <a:rPr lang="en-US" altLang="en-US"/>
              <a:t>invoked</a:t>
            </a:r>
          </a:p>
          <a:p>
            <a:pPr lvl="1" eaLnBrk="1" hangingPunct="1"/>
            <a:r>
              <a:rPr lang="en-US" altLang="en-US"/>
              <a:t>Best to define your own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toString</a:t>
            </a:r>
            <a:r>
              <a:rPr lang="en-US" altLang="en-US"/>
              <a:t> to handle this</a:t>
            </a:r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700CF-3E5C-AD25-BE85-F11853A55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A Better </a:t>
            </a:r>
            <a:r>
              <a:rPr lang="en-US" b="1" dirty="0">
                <a:solidFill>
                  <a:srgbClr val="0033CC"/>
                </a:solidFill>
                <a:latin typeface="Courier New" pitchFamily="49" charset="0"/>
                <a:ea typeface="+mn-ea"/>
                <a:cs typeface="Courier New" pitchFamily="49" charset="0"/>
              </a:rPr>
              <a:t>equals</a:t>
            </a:r>
            <a:r>
              <a:rPr lang="en-US" dirty="0"/>
              <a:t> Method</a:t>
            </a:r>
          </a:p>
        </p:txBody>
      </p:sp>
      <p:sp>
        <p:nvSpPr>
          <p:cNvPr id="24579" name="Content Placeholder 2">
            <a:extLst>
              <a:ext uri="{FF2B5EF4-FFF2-40B4-BE49-F238E27FC236}">
                <a16:creationId xmlns:a16="http://schemas.microsoft.com/office/drawing/2014/main" id="{4E7A3979-D7F2-DA1F-4BCB-D71D2960B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887538"/>
            <a:ext cx="8229600" cy="4198937"/>
          </a:xfrm>
        </p:spPr>
        <p:txBody>
          <a:bodyPr/>
          <a:lstStyle/>
          <a:p>
            <a:pPr eaLnBrk="1" hangingPunct="1"/>
            <a:r>
              <a:rPr lang="en-US" altLang="en-US"/>
              <a:t>Programmer of a class should override method equals from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Object</a:t>
            </a:r>
          </a:p>
          <a:p>
            <a:pPr eaLnBrk="1" hangingPunct="1"/>
            <a:r>
              <a:rPr lang="en-US" altLang="en-US"/>
              <a:t>View code of </a:t>
            </a:r>
            <a:r>
              <a:rPr lang="en-US" altLang="en-US">
                <a:hlinkClick r:id="rId2" action="ppaction://hlinkfile"/>
              </a:rPr>
              <a:t>sample override</a:t>
            </a:r>
            <a:r>
              <a:rPr lang="en-US" altLang="en-US"/>
              <a:t>, listing 8.8</a:t>
            </a:r>
            <a:br>
              <a:rPr lang="en-US" altLang="en-US"/>
            </a:b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boolean equals</a:t>
            </a:r>
            <a:b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(Object theObject)</a:t>
            </a:r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>
            <a:extLst>
              <a:ext uri="{FF2B5EF4-FFF2-40B4-BE49-F238E27FC236}">
                <a16:creationId xmlns:a16="http://schemas.microsoft.com/office/drawing/2014/main" id="{2926883A-8970-5E92-D7E8-CDE8254D9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Polymorphism</a:t>
            </a:r>
          </a:p>
        </p:txBody>
      </p:sp>
      <p:sp>
        <p:nvSpPr>
          <p:cNvPr id="25603" name="Content Placeholder 2">
            <a:extLst>
              <a:ext uri="{FF2B5EF4-FFF2-40B4-BE49-F238E27FC236}">
                <a16:creationId xmlns:a16="http://schemas.microsoft.com/office/drawing/2014/main" id="{37F0940B-D163-F676-4268-5281B3D327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1431925"/>
            <a:ext cx="8178800" cy="4694238"/>
          </a:xfrm>
        </p:spPr>
        <p:txBody>
          <a:bodyPr/>
          <a:lstStyle/>
          <a:p>
            <a:pPr eaLnBrk="1" hangingPunct="1"/>
            <a:r>
              <a:rPr lang="en-US" altLang="en-US"/>
              <a:t>Inheritance allows you to define a base class and derive classes from the base class</a:t>
            </a:r>
          </a:p>
          <a:p>
            <a:pPr eaLnBrk="1" hangingPunct="1"/>
            <a:r>
              <a:rPr lang="en-US" altLang="en-US"/>
              <a:t>Polymorphism allows you to make changes in the method definition for the derived classes and have those changes apply to methods written in the base class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8C5735C1-CA32-C0DD-DBED-7761D2872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4105275" cy="1143000"/>
          </a:xfrm>
        </p:spPr>
        <p:txBody>
          <a:bodyPr/>
          <a:lstStyle/>
          <a:p>
            <a:pPr eaLnBrk="1" hangingPunct="1"/>
            <a:r>
              <a:rPr lang="en-US" altLang="en-US"/>
              <a:t>Polymorphism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4F7397-A1F7-9858-8184-4AA200BD72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397000"/>
            <a:ext cx="4552950" cy="4926013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/>
              <a:t>Consider an array of </a:t>
            </a:r>
            <a:r>
              <a:rPr lang="en-US" sz="24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Person</a:t>
            </a:r>
          </a:p>
          <a:p>
            <a:pPr marL="0" indent="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Person[] people = new Person[4];</a:t>
            </a:r>
          </a:p>
          <a:p>
            <a:pPr marL="0" indent="0" eaLnBrk="1" fontAlgn="auto" hangingPunct="1">
              <a:spcAft>
                <a:spcPts val="0"/>
              </a:spcAft>
              <a:buFontTx/>
              <a:buNone/>
              <a:defRPr/>
            </a:pPr>
            <a:endParaRPr lang="en-US" sz="1800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/>
              <a:t>Since </a:t>
            </a:r>
            <a:r>
              <a:rPr lang="en-US" sz="20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Student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400" dirty="0"/>
              <a:t>and </a:t>
            </a:r>
            <a:r>
              <a:rPr lang="en-US" sz="20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Undergraduate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400" dirty="0"/>
              <a:t>are types of </a:t>
            </a:r>
            <a:r>
              <a:rPr lang="en-US" sz="20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Person</a:t>
            </a:r>
            <a:r>
              <a:rPr lang="en-US" sz="2400" dirty="0"/>
              <a:t>, we can assign them to </a:t>
            </a:r>
            <a:r>
              <a:rPr lang="en-US" sz="20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Person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dirty="0"/>
              <a:t>variables</a:t>
            </a:r>
          </a:p>
          <a:p>
            <a:pPr marL="0" indent="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people[0] = new Student("</a:t>
            </a:r>
            <a:r>
              <a:rPr lang="en-US" sz="1800" b="1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DeBanque</a:t>
            </a:r>
            <a:r>
              <a:rPr lang="en-US" sz="18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, Robin", 8812);</a:t>
            </a:r>
          </a:p>
          <a:p>
            <a:pPr marL="0" indent="0" eaLnBrk="1" fontAlgn="auto" hangingPunct="1">
              <a:spcAft>
                <a:spcPts val="0"/>
              </a:spcAft>
              <a:buFontTx/>
              <a:buNone/>
              <a:defRPr/>
            </a:pPr>
            <a:endParaRPr lang="en-US" sz="1800" b="1" dirty="0">
              <a:solidFill>
                <a:srgbClr val="0070C0"/>
              </a:solidFill>
              <a:latin typeface="Courier New" pitchFamily="49" charset="0"/>
              <a:cs typeface="Courier New" pitchFamily="49" charset="0"/>
            </a:endParaRPr>
          </a:p>
          <a:p>
            <a:pPr marL="0" indent="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people[1] = new Undergraduate("</a:t>
            </a:r>
            <a:r>
              <a:rPr lang="en-US" sz="1800" b="1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Cotty</a:t>
            </a:r>
            <a:r>
              <a:rPr lang="en-US" sz="18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, Manny", 8812, 1);</a:t>
            </a:r>
          </a:p>
          <a:p>
            <a:pPr marL="0" indent="0" eaLnBrk="1" fontAlgn="auto" hangingPunct="1">
              <a:spcAft>
                <a:spcPts val="0"/>
              </a:spcAft>
              <a:buFontTx/>
              <a:buNone/>
              <a:defRPr/>
            </a:pPr>
            <a:endParaRPr lang="en-US" sz="1600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26628" name="Picture 2">
            <a:extLst>
              <a:ext uri="{FF2B5EF4-FFF2-40B4-BE49-F238E27FC236}">
                <a16:creationId xmlns:a16="http://schemas.microsoft.com/office/drawing/2014/main" id="{9413802A-3975-8A4C-6361-6DF45E9DCD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1575" y="249238"/>
            <a:ext cx="4059238" cy="6073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>
            <a:extLst>
              <a:ext uri="{FF2B5EF4-FFF2-40B4-BE49-F238E27FC236}">
                <a16:creationId xmlns:a16="http://schemas.microsoft.com/office/drawing/2014/main" id="{4CEAD4F3-9502-9F80-DC14-282ECB033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Polymorphism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A271C0-51D3-31A9-E556-BDEC9FBE18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97000"/>
            <a:ext cx="8229600" cy="4525963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Given:</a:t>
            </a:r>
          </a:p>
          <a:p>
            <a:pPr marL="0" indent="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24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Person[] people = new Person[4];</a:t>
            </a:r>
          </a:p>
          <a:p>
            <a:pPr marL="0" indent="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24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people[0] = new Student("</a:t>
            </a:r>
            <a:r>
              <a:rPr lang="en-US" sz="2400" b="1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DeBanque</a:t>
            </a:r>
            <a:r>
              <a:rPr lang="en-US" sz="24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, Robin", 8812);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When invoking:</a:t>
            </a:r>
          </a:p>
          <a:p>
            <a:pPr marL="0" indent="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24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people[0].</a:t>
            </a:r>
            <a:r>
              <a:rPr lang="en-US" sz="2400" b="1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writeOutput</a:t>
            </a:r>
            <a:r>
              <a:rPr lang="en-US" sz="24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();</a:t>
            </a:r>
            <a:endParaRPr lang="en-US" sz="2400" dirty="0">
              <a:solidFill>
                <a:srgbClr val="0070C0"/>
              </a:solidFill>
              <a:latin typeface="Courier New" pitchFamily="49" charset="0"/>
              <a:cs typeface="Courier New" pitchFamily="49" charset="0"/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Which </a:t>
            </a:r>
            <a:r>
              <a:rPr lang="en-US" sz="2400" b="1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writeOutput</a:t>
            </a:r>
            <a:r>
              <a:rPr lang="en-US" sz="24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() </a:t>
            </a:r>
            <a:r>
              <a:rPr lang="en-US" dirty="0"/>
              <a:t>is invoked, the one defined for </a:t>
            </a:r>
            <a:r>
              <a:rPr lang="en-US" sz="24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Student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dirty="0"/>
              <a:t>or the one defined for </a:t>
            </a:r>
            <a:r>
              <a:rPr lang="en-US" sz="24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Person</a:t>
            </a:r>
            <a:r>
              <a:rPr lang="en-US" dirty="0"/>
              <a:t>?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Answer: The one defined for 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Student</a:t>
            </a:r>
            <a:r>
              <a:rPr lang="en-US" dirty="0">
                <a:solidFill>
                  <a:srgbClr val="0070C0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>
            <a:extLst>
              <a:ext uri="{FF2B5EF4-FFF2-40B4-BE49-F238E27FC236}">
                <a16:creationId xmlns:a16="http://schemas.microsoft.com/office/drawing/2014/main" id="{C0753AFB-FBE4-EAB1-9B95-4104528B9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An Inheritance as a Type</a:t>
            </a:r>
          </a:p>
        </p:txBody>
      </p:sp>
      <p:sp>
        <p:nvSpPr>
          <p:cNvPr id="28675" name="Content Placeholder 2">
            <a:extLst>
              <a:ext uri="{FF2B5EF4-FFF2-40B4-BE49-F238E27FC236}">
                <a16:creationId xmlns:a16="http://schemas.microsoft.com/office/drawing/2014/main" id="{F24BD00C-0177-4555-D370-43272E5BF1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method can substitute one object for another</a:t>
            </a:r>
          </a:p>
          <a:p>
            <a:pPr lvl="1" eaLnBrk="1" hangingPunct="1"/>
            <a:r>
              <a:rPr lang="en-US" altLang="en-US"/>
              <a:t>Called </a:t>
            </a:r>
            <a:r>
              <a:rPr lang="en-US" altLang="en-US" i="1"/>
              <a:t>polymorphism</a:t>
            </a:r>
          </a:p>
          <a:p>
            <a:pPr eaLnBrk="1" hangingPunct="1"/>
            <a:r>
              <a:rPr lang="en-US" altLang="en-US"/>
              <a:t>This is made possible by mechanism </a:t>
            </a:r>
          </a:p>
          <a:p>
            <a:pPr lvl="1" eaLnBrk="1" hangingPunct="1"/>
            <a:r>
              <a:rPr lang="en-US" altLang="en-US" i="1"/>
              <a:t>Dynamic binding</a:t>
            </a:r>
          </a:p>
          <a:p>
            <a:pPr lvl="1" eaLnBrk="1" hangingPunct="1"/>
            <a:r>
              <a:rPr lang="en-US" altLang="en-US"/>
              <a:t>Also known as </a:t>
            </a:r>
            <a:r>
              <a:rPr lang="en-US" altLang="en-US" i="1"/>
              <a:t>late binding</a:t>
            </a:r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>
            <a:extLst>
              <a:ext uri="{FF2B5EF4-FFF2-40B4-BE49-F238E27FC236}">
                <a16:creationId xmlns:a16="http://schemas.microsoft.com/office/drawing/2014/main" id="{D4B5BA43-44A4-3D7A-71A7-4B9807478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686800" cy="1143000"/>
          </a:xfrm>
        </p:spPr>
        <p:txBody>
          <a:bodyPr/>
          <a:lstStyle/>
          <a:p>
            <a:pPr eaLnBrk="1" hangingPunct="1"/>
            <a:r>
              <a:rPr lang="en-US" altLang="en-US" sz="4000"/>
              <a:t>Dynamic Binding and Inheritance</a:t>
            </a:r>
          </a:p>
        </p:txBody>
      </p:sp>
      <p:sp>
        <p:nvSpPr>
          <p:cNvPr id="29699" name="Content Placeholder 2">
            <a:extLst>
              <a:ext uri="{FF2B5EF4-FFF2-40B4-BE49-F238E27FC236}">
                <a16:creationId xmlns:a16="http://schemas.microsoft.com/office/drawing/2014/main" id="{C04BCDF7-2663-D50B-BC9F-DAA3380110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When an overridden method invoked</a:t>
            </a:r>
          </a:p>
          <a:p>
            <a:pPr lvl="1" eaLnBrk="1" hangingPunct="1"/>
            <a:r>
              <a:rPr lang="en-US" altLang="en-US"/>
              <a:t>Action matches method defined in class used to create object using </a:t>
            </a:r>
            <a:r>
              <a:rPr lang="en-US" altLang="en-US" sz="3200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</a:p>
          <a:p>
            <a:pPr lvl="1" eaLnBrk="1" hangingPunct="1"/>
            <a:r>
              <a:rPr lang="en-US" altLang="en-US"/>
              <a:t>Not determined by type of variable naming the object</a:t>
            </a:r>
          </a:p>
          <a:p>
            <a:pPr eaLnBrk="1" hangingPunct="1"/>
            <a:r>
              <a:rPr lang="en-US" altLang="en-US"/>
              <a:t>Variable of any ancestor class can reference object of descendant class</a:t>
            </a:r>
          </a:p>
          <a:p>
            <a:pPr lvl="1" eaLnBrk="1" hangingPunct="1"/>
            <a:r>
              <a:rPr lang="en-US" altLang="en-US"/>
              <a:t>Object always remembers which method actions to use for each method name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>
            <a:extLst>
              <a:ext uri="{FF2B5EF4-FFF2-40B4-BE49-F238E27FC236}">
                <a16:creationId xmlns:a16="http://schemas.microsoft.com/office/drawing/2014/main" id="{C748C849-D52C-8E76-04DF-5D51ED47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Polymorphism Example</a:t>
            </a:r>
          </a:p>
        </p:txBody>
      </p:sp>
      <p:sp>
        <p:nvSpPr>
          <p:cNvPr id="30723" name="Content Placeholder 2">
            <a:extLst>
              <a:ext uri="{FF2B5EF4-FFF2-40B4-BE49-F238E27FC236}">
                <a16:creationId xmlns:a16="http://schemas.microsoft.com/office/drawing/2014/main" id="{F3DAA251-6A9A-073F-B6E9-3A13AE9C7B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View </a:t>
            </a:r>
            <a:r>
              <a:rPr lang="en-US" altLang="en-US">
                <a:hlinkClick r:id="rId2" action="ppaction://hlinkfile"/>
              </a:rPr>
              <a:t>sample class</a:t>
            </a:r>
            <a:r>
              <a:rPr lang="en-US" altLang="en-US"/>
              <a:t>, listing 8.6</a:t>
            </a:r>
            <a:br>
              <a:rPr lang="en-US" altLang="en-US"/>
            </a:b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PolymorphismDemo</a:t>
            </a:r>
          </a:p>
          <a:p>
            <a:pPr eaLnBrk="1" hangingPunct="1"/>
            <a:r>
              <a:rPr lang="en-US" altLang="en-US"/>
              <a:t>Output</a:t>
            </a:r>
          </a:p>
        </p:txBody>
      </p:sp>
      <p:pic>
        <p:nvPicPr>
          <p:cNvPr id="30724" name="Picture 2">
            <a:extLst>
              <a:ext uri="{FF2B5EF4-FFF2-40B4-BE49-F238E27FC236}">
                <a16:creationId xmlns:a16="http://schemas.microsoft.com/office/drawing/2014/main" id="{BEAD8289-ACA8-E447-8B61-93CB2BC3BF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0688" y="2862263"/>
            <a:ext cx="2581275" cy="176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25" name="Picture 3">
            <a:extLst>
              <a:ext uri="{FF2B5EF4-FFF2-40B4-BE49-F238E27FC236}">
                <a16:creationId xmlns:a16="http://schemas.microsoft.com/office/drawing/2014/main" id="{62C786A5-E8FD-EDEF-B45F-004CF454E4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4338" y="4776788"/>
            <a:ext cx="2593975" cy="1466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>
            <a:extLst>
              <a:ext uri="{FF2B5EF4-FFF2-40B4-BE49-F238E27FC236}">
                <a16:creationId xmlns:a16="http://schemas.microsoft.com/office/drawing/2014/main" id="{BC3E9B2D-40E6-D206-7AAD-72B37FB5D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Class Interfaces</a:t>
            </a:r>
          </a:p>
        </p:txBody>
      </p:sp>
      <p:sp>
        <p:nvSpPr>
          <p:cNvPr id="31747" name="Content Placeholder 2">
            <a:extLst>
              <a:ext uri="{FF2B5EF4-FFF2-40B4-BE49-F238E27FC236}">
                <a16:creationId xmlns:a16="http://schemas.microsoft.com/office/drawing/2014/main" id="{47104D75-5F6A-47D6-2BA5-7E79FD9E2C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Consider a set of behaviors for pets</a:t>
            </a:r>
          </a:p>
          <a:p>
            <a:pPr lvl="1" eaLnBrk="1" hangingPunct="1"/>
            <a:r>
              <a:rPr lang="en-US" altLang="en-US"/>
              <a:t>Be named</a:t>
            </a:r>
          </a:p>
          <a:p>
            <a:pPr lvl="1" eaLnBrk="1" hangingPunct="1"/>
            <a:r>
              <a:rPr lang="en-US" altLang="en-US"/>
              <a:t>Eat</a:t>
            </a:r>
          </a:p>
          <a:p>
            <a:pPr lvl="1" eaLnBrk="1" hangingPunct="1"/>
            <a:r>
              <a:rPr lang="en-US" altLang="en-US"/>
              <a:t>Respond to a command</a:t>
            </a:r>
          </a:p>
          <a:p>
            <a:pPr eaLnBrk="1" hangingPunct="1"/>
            <a:r>
              <a:rPr lang="en-US" altLang="en-US"/>
              <a:t>We could specify method headings for these behaviors</a:t>
            </a:r>
          </a:p>
          <a:p>
            <a:pPr eaLnBrk="1" hangingPunct="1"/>
            <a:r>
              <a:rPr lang="en-US" altLang="en-US"/>
              <a:t>These method headings can form a class interface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>
            <a:extLst>
              <a:ext uri="{FF2B5EF4-FFF2-40B4-BE49-F238E27FC236}">
                <a16:creationId xmlns:a16="http://schemas.microsoft.com/office/drawing/2014/main" id="{62B075FB-18CB-EDC7-2145-D59B40EEB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Class Interfaces</a:t>
            </a:r>
          </a:p>
        </p:txBody>
      </p:sp>
      <p:sp>
        <p:nvSpPr>
          <p:cNvPr id="32771" name="Content Placeholder 2">
            <a:extLst>
              <a:ext uri="{FF2B5EF4-FFF2-40B4-BE49-F238E27FC236}">
                <a16:creationId xmlns:a16="http://schemas.microsoft.com/office/drawing/2014/main" id="{8BBE2356-C096-2F9C-F75B-EDA3422F3A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Now consider different classes that implement this interface</a:t>
            </a:r>
          </a:p>
          <a:p>
            <a:pPr lvl="1" eaLnBrk="1" hangingPunct="1"/>
            <a:r>
              <a:rPr lang="en-US" altLang="en-US"/>
              <a:t>They will each have the </a:t>
            </a:r>
            <a:r>
              <a:rPr lang="en-US" altLang="en-US" u="sng"/>
              <a:t>same behaviors</a:t>
            </a:r>
          </a:p>
          <a:p>
            <a:pPr lvl="1" eaLnBrk="1" hangingPunct="1"/>
            <a:r>
              <a:rPr lang="en-US" altLang="en-US" u="sng"/>
              <a:t>Nature</a:t>
            </a:r>
            <a:r>
              <a:rPr lang="en-US" altLang="en-US"/>
              <a:t> of the behaviors will be different</a:t>
            </a:r>
          </a:p>
          <a:p>
            <a:pPr eaLnBrk="1" hangingPunct="1"/>
            <a:r>
              <a:rPr lang="en-US" altLang="en-US"/>
              <a:t>Each of the classes implements the behaviors/methods differently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>
            <a:extLst>
              <a:ext uri="{FF2B5EF4-FFF2-40B4-BE49-F238E27FC236}">
                <a16:creationId xmlns:a16="http://schemas.microsoft.com/office/drawing/2014/main" id="{BCAD1C1F-AE39-48F6-C377-E66D30B08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Java Interfaces</a:t>
            </a:r>
          </a:p>
        </p:txBody>
      </p:sp>
      <p:sp>
        <p:nvSpPr>
          <p:cNvPr id="33795" name="Content Placeholder 2">
            <a:extLst>
              <a:ext uri="{FF2B5EF4-FFF2-40B4-BE49-F238E27FC236}">
                <a16:creationId xmlns:a16="http://schemas.microsoft.com/office/drawing/2014/main" id="{B84BA2F1-5FE1-985B-20F2-C429976C4D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 program component that contains headings for a number of public methods</a:t>
            </a:r>
          </a:p>
          <a:p>
            <a:pPr lvl="1" eaLnBrk="1" hangingPunct="1"/>
            <a:r>
              <a:rPr lang="en-US" altLang="en-US"/>
              <a:t>Will include comments that describe the methods</a:t>
            </a:r>
          </a:p>
          <a:p>
            <a:pPr eaLnBrk="1" hangingPunct="1"/>
            <a:r>
              <a:rPr lang="en-US" altLang="en-US"/>
              <a:t>Interface can also define public named constants</a:t>
            </a:r>
          </a:p>
          <a:p>
            <a:pPr eaLnBrk="1" hangingPunct="1"/>
            <a:r>
              <a:rPr lang="en-US" altLang="en-US"/>
              <a:t>View </a:t>
            </a:r>
            <a:r>
              <a:rPr lang="en-US" altLang="en-US">
                <a:hlinkClick r:id="rId2" action="ppaction://hlinkfile"/>
              </a:rPr>
              <a:t>example interface</a:t>
            </a:r>
            <a:r>
              <a:rPr lang="en-US" altLang="en-US"/>
              <a:t>, listing 8.7</a:t>
            </a:r>
            <a:br>
              <a:rPr lang="en-US" altLang="en-US"/>
            </a:br>
            <a:r>
              <a:rPr lang="en-US" altLang="en-US"/>
              <a:t>interface Measurable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>
            <a:extLst>
              <a:ext uri="{FF2B5EF4-FFF2-40B4-BE49-F238E27FC236}">
                <a16:creationId xmlns:a16="http://schemas.microsoft.com/office/drawing/2014/main" id="{0E301BB8-52A5-B5FC-DEA3-D3CDD0E77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Java Interfaces</a:t>
            </a:r>
          </a:p>
        </p:txBody>
      </p:sp>
      <p:sp>
        <p:nvSpPr>
          <p:cNvPr id="34819" name="Content Placeholder 2">
            <a:extLst>
              <a:ext uri="{FF2B5EF4-FFF2-40B4-BE49-F238E27FC236}">
                <a16:creationId xmlns:a16="http://schemas.microsoft.com/office/drawing/2014/main" id="{4DAB7DA1-BFD4-E651-FBBD-9F3017642B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Interface name begins with uppercase letter</a:t>
            </a:r>
          </a:p>
          <a:p>
            <a:pPr eaLnBrk="1" hangingPunct="1"/>
            <a:r>
              <a:rPr lang="en-US" altLang="en-US"/>
              <a:t>Stored in a file with suffix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.java</a:t>
            </a:r>
          </a:p>
          <a:p>
            <a:pPr eaLnBrk="1" hangingPunct="1"/>
            <a:r>
              <a:rPr lang="en-US" altLang="en-US"/>
              <a:t>Interface does not include </a:t>
            </a:r>
          </a:p>
          <a:p>
            <a:pPr lvl="1" eaLnBrk="1" hangingPunct="1"/>
            <a:r>
              <a:rPr lang="en-US" altLang="en-US"/>
              <a:t>Declarations of constructors</a:t>
            </a:r>
          </a:p>
          <a:p>
            <a:pPr lvl="1" eaLnBrk="1" hangingPunct="1"/>
            <a:r>
              <a:rPr lang="en-US" altLang="en-US"/>
              <a:t>Instance variables</a:t>
            </a:r>
          </a:p>
          <a:p>
            <a:pPr lvl="1" eaLnBrk="1" hangingPunct="1"/>
            <a:r>
              <a:rPr lang="en-US" altLang="en-US"/>
              <a:t>Method bodies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>
            <a:extLst>
              <a:ext uri="{FF2B5EF4-FFF2-40B4-BE49-F238E27FC236}">
                <a16:creationId xmlns:a16="http://schemas.microsoft.com/office/drawing/2014/main" id="{A92CD37B-D9E7-782D-28D7-757C40AF5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Implementing an Interface</a:t>
            </a:r>
          </a:p>
        </p:txBody>
      </p:sp>
      <p:sp>
        <p:nvSpPr>
          <p:cNvPr id="35843" name="Content Placeholder 2">
            <a:extLst>
              <a:ext uri="{FF2B5EF4-FFF2-40B4-BE49-F238E27FC236}">
                <a16:creationId xmlns:a16="http://schemas.microsoft.com/office/drawing/2014/main" id="{B3B1F637-F586-7B1A-1B1F-1540DB2367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525963"/>
          </a:xfrm>
        </p:spPr>
        <p:txBody>
          <a:bodyPr/>
          <a:lstStyle/>
          <a:p>
            <a:pPr eaLnBrk="1" hangingPunct="1"/>
            <a:r>
              <a:rPr lang="en-US" altLang="en-US"/>
              <a:t>To implement a method, a class must</a:t>
            </a:r>
          </a:p>
          <a:p>
            <a:pPr lvl="1" eaLnBrk="1" hangingPunct="1"/>
            <a:r>
              <a:rPr lang="en-US" altLang="en-US"/>
              <a:t>Include the phrase</a:t>
            </a:r>
            <a:br>
              <a:rPr lang="en-US" altLang="en-US"/>
            </a:br>
            <a:r>
              <a:rPr lang="en-US" altLang="en-US"/>
              <a:t>   </a:t>
            </a:r>
            <a:r>
              <a:rPr lang="en-US" altLang="en-US" sz="3200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implements </a:t>
            </a:r>
            <a:r>
              <a:rPr lang="en-US" altLang="en-US" sz="3200" b="1" i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Interface_name</a:t>
            </a:r>
          </a:p>
          <a:p>
            <a:pPr lvl="1" eaLnBrk="1" hangingPunct="1"/>
            <a:r>
              <a:rPr lang="en-US" altLang="en-US"/>
              <a:t>Define each specified method</a:t>
            </a:r>
          </a:p>
          <a:p>
            <a:pPr eaLnBrk="1" hangingPunct="1"/>
            <a:r>
              <a:rPr lang="en-US" altLang="en-US"/>
              <a:t>View </a:t>
            </a:r>
            <a:r>
              <a:rPr lang="en-US" altLang="en-US">
                <a:hlinkClick r:id="rId2" action="ppaction://hlinkfile"/>
              </a:rPr>
              <a:t>sample class</a:t>
            </a:r>
            <a:r>
              <a:rPr lang="en-US" altLang="en-US"/>
              <a:t>, listing 8.8</a:t>
            </a:r>
            <a:br>
              <a:rPr lang="en-US" altLang="en-US"/>
            </a:br>
            <a:r>
              <a:rPr lang="en-US" altLang="en-US" sz="2800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Rectangle implements Measurable</a:t>
            </a:r>
            <a:endParaRPr lang="en-US" altLang="en-US" b="1">
              <a:solidFill>
                <a:srgbClr val="0033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/>
            <a:r>
              <a:rPr lang="en-US" altLang="en-US"/>
              <a:t>View </a:t>
            </a:r>
            <a:r>
              <a:rPr lang="en-US" altLang="en-US">
                <a:hlinkClick r:id="rId3" action="ppaction://hlinkfile"/>
              </a:rPr>
              <a:t>another class</a:t>
            </a:r>
            <a:r>
              <a:rPr lang="en-US" altLang="en-US"/>
              <a:t>, listing 8.9 which also implements Measurable</a:t>
            </a:r>
            <a:br>
              <a:rPr lang="en-US" altLang="en-US"/>
            </a:br>
            <a:r>
              <a:rPr lang="en-US" altLang="en-US"/>
              <a:t>class Circle</a:t>
            </a:r>
          </a:p>
          <a:p>
            <a:pPr lvl="1" eaLnBrk="1" hangingPunct="1"/>
            <a:endParaRPr lang="en-US" altLang="en-US"/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>
            <a:extLst>
              <a:ext uri="{FF2B5EF4-FFF2-40B4-BE49-F238E27FC236}">
                <a16:creationId xmlns:a16="http://schemas.microsoft.com/office/drawing/2014/main" id="{F45C84C0-AE61-E7BC-082F-B4317F382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An Inheritance as a Type</a:t>
            </a:r>
          </a:p>
        </p:txBody>
      </p:sp>
      <p:sp>
        <p:nvSpPr>
          <p:cNvPr id="36867" name="Content Placeholder 2">
            <a:extLst>
              <a:ext uri="{FF2B5EF4-FFF2-40B4-BE49-F238E27FC236}">
                <a16:creationId xmlns:a16="http://schemas.microsoft.com/office/drawing/2014/main" id="{FFE56A0B-9A6C-6EA5-B9F7-6888B5515A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Possible to write a method that has a parameter as an interface type</a:t>
            </a:r>
          </a:p>
          <a:p>
            <a:pPr lvl="1" eaLnBrk="1" hangingPunct="1"/>
            <a:r>
              <a:rPr lang="en-US" altLang="en-US"/>
              <a:t>An interface is a reference type</a:t>
            </a:r>
          </a:p>
          <a:p>
            <a:pPr eaLnBrk="1" hangingPunct="1"/>
            <a:r>
              <a:rPr lang="en-US" altLang="en-US"/>
              <a:t>Program invokes the method passing it an object of any class which implements that interface</a:t>
            </a:r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>
            <a:extLst>
              <a:ext uri="{FF2B5EF4-FFF2-40B4-BE49-F238E27FC236}">
                <a16:creationId xmlns:a16="http://schemas.microsoft.com/office/drawing/2014/main" id="{1A105B7A-5176-8CDC-732B-FA51637C8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Extending an Interface</a:t>
            </a:r>
          </a:p>
        </p:txBody>
      </p:sp>
      <p:sp>
        <p:nvSpPr>
          <p:cNvPr id="37891" name="Content Placeholder 2">
            <a:extLst>
              <a:ext uri="{FF2B5EF4-FFF2-40B4-BE49-F238E27FC236}">
                <a16:creationId xmlns:a16="http://schemas.microsoft.com/office/drawing/2014/main" id="{586008F9-CB05-1807-6782-68713D006F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Possible to define a new interface which builds on an existing interface</a:t>
            </a:r>
          </a:p>
          <a:p>
            <a:pPr lvl="1" eaLnBrk="1" hangingPunct="1"/>
            <a:r>
              <a:rPr lang="en-US" altLang="en-US"/>
              <a:t>It is said to extend the existing interface</a:t>
            </a:r>
          </a:p>
          <a:p>
            <a:pPr eaLnBrk="1" hangingPunct="1"/>
            <a:r>
              <a:rPr lang="en-US" altLang="en-US"/>
              <a:t>A class that implements the new interface must implement all the methods of both interfaces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>
            <a:extLst>
              <a:ext uri="{FF2B5EF4-FFF2-40B4-BE49-F238E27FC236}">
                <a16:creationId xmlns:a16="http://schemas.microsoft.com/office/drawing/2014/main" id="{6F8FC8AB-96A8-5E31-371B-CD678EEBA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Case Study</a:t>
            </a:r>
          </a:p>
        </p:txBody>
      </p:sp>
      <p:sp>
        <p:nvSpPr>
          <p:cNvPr id="38915" name="Content Placeholder 2">
            <a:extLst>
              <a:ext uri="{FF2B5EF4-FFF2-40B4-BE49-F238E27FC236}">
                <a16:creationId xmlns:a16="http://schemas.microsoft.com/office/drawing/2014/main" id="{3BF82892-83C0-9F1C-B75F-6ADAB1A3E4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Character Graphics</a:t>
            </a:r>
          </a:p>
          <a:p>
            <a:pPr eaLnBrk="1" hangingPunct="1"/>
            <a:r>
              <a:rPr lang="en-US" altLang="en-US"/>
              <a:t>View interface for </a:t>
            </a:r>
            <a:r>
              <a:rPr lang="en-US" altLang="en-US">
                <a:hlinkClick r:id="rId2" action="ppaction://hlinkfile"/>
              </a:rPr>
              <a:t>simple shapes</a:t>
            </a:r>
            <a:r>
              <a:rPr lang="en-US" altLang="en-US"/>
              <a:t>, </a:t>
            </a:r>
            <a:br>
              <a:rPr lang="en-US" altLang="en-US"/>
            </a:br>
            <a:r>
              <a:rPr lang="en-US" altLang="en-US"/>
              <a:t>listing 8.10    </a:t>
            </a:r>
            <a:r>
              <a:rPr lang="en-US" altLang="en-US" sz="2800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interface ShapeInterface</a:t>
            </a:r>
            <a:endParaRPr lang="en-US" altLang="en-US" b="1">
              <a:solidFill>
                <a:srgbClr val="0033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/>
            <a:r>
              <a:rPr lang="en-US" altLang="en-US"/>
              <a:t>If we wish to create classes that draw rectangles and triangles</a:t>
            </a:r>
          </a:p>
          <a:p>
            <a:pPr lvl="1" eaLnBrk="1" hangingPunct="1"/>
            <a:r>
              <a:rPr lang="en-US" altLang="en-US"/>
              <a:t>We could create interfaces that extend </a:t>
            </a:r>
            <a:r>
              <a:rPr lang="en-US" altLang="en-US" sz="3200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ShapeInterface</a:t>
            </a:r>
          </a:p>
          <a:p>
            <a:pPr lvl="1" eaLnBrk="1" hangingPunct="1"/>
            <a:r>
              <a:rPr lang="en-US" altLang="en-US"/>
              <a:t>View </a:t>
            </a:r>
            <a:r>
              <a:rPr lang="en-US" altLang="en-US">
                <a:hlinkClick r:id="rId3" action="ppaction://hlinkfile"/>
              </a:rPr>
              <a:t>interfaces</a:t>
            </a:r>
            <a:r>
              <a:rPr lang="en-US" altLang="en-US"/>
              <a:t>,  listing 8.11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>
            <a:extLst>
              <a:ext uri="{FF2B5EF4-FFF2-40B4-BE49-F238E27FC236}">
                <a16:creationId xmlns:a16="http://schemas.microsoft.com/office/drawing/2014/main" id="{BAE66CD8-100F-986F-71C6-DE4D7EB63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Case Study</a:t>
            </a:r>
          </a:p>
        </p:txBody>
      </p:sp>
      <p:sp>
        <p:nvSpPr>
          <p:cNvPr id="39939" name="Content Placeholder 2">
            <a:extLst>
              <a:ext uri="{FF2B5EF4-FFF2-40B4-BE49-F238E27FC236}">
                <a16:creationId xmlns:a16="http://schemas.microsoft.com/office/drawing/2014/main" id="{CC52069D-94C6-AA5B-6A53-F854B4FAF7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Now view </a:t>
            </a:r>
            <a:r>
              <a:rPr lang="en-US" altLang="en-US">
                <a:hlinkClick r:id="rId2" action="ppaction://hlinkfile"/>
              </a:rPr>
              <a:t>base class</a:t>
            </a:r>
            <a:r>
              <a:rPr lang="en-US" altLang="en-US"/>
              <a:t>, listing 8.12 which uses (implements) previous interfaces</a:t>
            </a:r>
            <a:br>
              <a:rPr lang="en-US" altLang="en-US"/>
            </a:b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/>
              <a:t>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ShapeBasics</a:t>
            </a:r>
          </a:p>
          <a:p>
            <a:pPr eaLnBrk="1" hangingPunct="1"/>
            <a:r>
              <a:rPr lang="en-US" altLang="en-US"/>
              <a:t>Note</a:t>
            </a:r>
          </a:p>
          <a:p>
            <a:pPr lvl="1" eaLnBrk="1" hangingPunct="1"/>
            <a:r>
              <a:rPr lang="en-US" altLang="en-US"/>
              <a:t>Method </a:t>
            </a:r>
            <a:r>
              <a:rPr lang="en-US" altLang="en-US" sz="3200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drawAt</a:t>
            </a:r>
            <a:r>
              <a:rPr lang="en-US" altLang="en-US"/>
              <a:t> calls </a:t>
            </a:r>
            <a:r>
              <a:rPr lang="en-US" altLang="en-US" sz="3200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drawHere</a:t>
            </a:r>
          </a:p>
          <a:p>
            <a:pPr lvl="1" eaLnBrk="1" hangingPunct="1"/>
            <a:r>
              <a:rPr lang="en-US" altLang="en-US"/>
              <a:t>Derived classes must override </a:t>
            </a:r>
            <a:r>
              <a:rPr lang="en-US" altLang="en-US" sz="3200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drawHere</a:t>
            </a:r>
          </a:p>
          <a:p>
            <a:pPr lvl="1" eaLnBrk="1" hangingPunct="1"/>
            <a:r>
              <a:rPr lang="en-US" altLang="en-US"/>
              <a:t>Modifier </a:t>
            </a:r>
            <a:r>
              <a:rPr lang="en-US" altLang="en-US" sz="3200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extends</a:t>
            </a:r>
            <a:r>
              <a:rPr lang="en-US" altLang="en-US"/>
              <a:t> comes before </a:t>
            </a:r>
            <a:r>
              <a:rPr lang="en-US" altLang="en-US" sz="3200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implements</a:t>
            </a:r>
            <a:r>
              <a:rPr lang="en-US" altLang="en-US"/>
              <a:t> 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>
            <a:extLst>
              <a:ext uri="{FF2B5EF4-FFF2-40B4-BE49-F238E27FC236}">
                <a16:creationId xmlns:a16="http://schemas.microsoft.com/office/drawing/2014/main" id="{E55E83BB-76FB-0667-DE1E-524D982CD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Case Study</a:t>
            </a:r>
          </a:p>
        </p:txBody>
      </p:sp>
      <p:sp>
        <p:nvSpPr>
          <p:cNvPr id="40963" name="Content Placeholder 2">
            <a:extLst>
              <a:ext uri="{FF2B5EF4-FFF2-40B4-BE49-F238E27FC236}">
                <a16:creationId xmlns:a16="http://schemas.microsoft.com/office/drawing/2014/main" id="{6471F613-F546-E044-37ED-7F0B361B01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Figure 8.5 A sample rectangle and triangle</a:t>
            </a:r>
          </a:p>
        </p:txBody>
      </p:sp>
      <p:pic>
        <p:nvPicPr>
          <p:cNvPr id="40964" name="Picture 5">
            <a:extLst>
              <a:ext uri="{FF2B5EF4-FFF2-40B4-BE49-F238E27FC236}">
                <a16:creationId xmlns:a16="http://schemas.microsoft.com/office/drawing/2014/main" id="{069BFA71-77A2-A4D6-9E11-CC7765677E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0163" y="2511425"/>
            <a:ext cx="4086225" cy="341947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>
            <a:extLst>
              <a:ext uri="{FF2B5EF4-FFF2-40B4-BE49-F238E27FC236}">
                <a16:creationId xmlns:a16="http://schemas.microsoft.com/office/drawing/2014/main" id="{210B22B8-063A-51D5-7F26-BB5A4E17E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Case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23A0E-4949-01C4-8E9E-8465ACDC20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425575"/>
            <a:ext cx="8229600" cy="4525963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Note algorithm used by method </a:t>
            </a:r>
            <a:r>
              <a:rPr lang="en-US" b="1" dirty="0" err="1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drawHere</a:t>
            </a:r>
            <a:r>
              <a:rPr lang="en-US" dirty="0"/>
              <a:t> to draw a rectangle</a:t>
            </a:r>
          </a:p>
          <a:p>
            <a:pPr marL="971550" lvl="1" indent="-51435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dirty="0"/>
              <a:t>Draw the top line</a:t>
            </a:r>
          </a:p>
          <a:p>
            <a:pPr marL="971550" lvl="1" indent="-51435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dirty="0"/>
              <a:t>Draw the side lines</a:t>
            </a:r>
          </a:p>
          <a:p>
            <a:pPr marL="971550" lvl="1" indent="-51435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dirty="0"/>
              <a:t>Draw the bottom lines</a:t>
            </a:r>
          </a:p>
          <a:p>
            <a:pPr marL="571500" indent="-514350" eaLnBrk="1" fontAlgn="auto" hangingPunct="1">
              <a:spcAft>
                <a:spcPts val="0"/>
              </a:spcAft>
              <a:defRPr/>
            </a:pPr>
            <a:r>
              <a:rPr lang="en-US" dirty="0"/>
              <a:t>Subtasks of </a:t>
            </a:r>
            <a:r>
              <a:rPr lang="en-US" b="1" dirty="0" err="1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drawHere</a:t>
            </a:r>
            <a:r>
              <a:rPr lang="en-US" dirty="0"/>
              <a:t> are realized as private methods</a:t>
            </a:r>
          </a:p>
          <a:p>
            <a:pPr marL="571500" indent="-514350" eaLnBrk="1" fontAlgn="auto" hangingPunct="1">
              <a:spcAft>
                <a:spcPts val="0"/>
              </a:spcAft>
              <a:defRPr/>
            </a:pPr>
            <a:r>
              <a:rPr lang="en-US" dirty="0"/>
              <a:t>View </a:t>
            </a:r>
            <a:r>
              <a:rPr lang="en-US" dirty="0">
                <a:hlinkClick r:id="rId2" action="ppaction://hlinkfile"/>
              </a:rPr>
              <a:t>class definition</a:t>
            </a:r>
            <a:r>
              <a:rPr lang="en-US" dirty="0"/>
              <a:t>, listing 8.13</a:t>
            </a:r>
            <a:br>
              <a:rPr lang="en-US" dirty="0"/>
            </a:br>
            <a:r>
              <a:rPr lang="en-US" b="1" dirty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class Rectangle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>
            <a:extLst>
              <a:ext uri="{FF2B5EF4-FFF2-40B4-BE49-F238E27FC236}">
                <a16:creationId xmlns:a16="http://schemas.microsoft.com/office/drawing/2014/main" id="{0D594C08-5A10-B97D-23C6-5D27E3CDB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Case Study</a:t>
            </a:r>
          </a:p>
        </p:txBody>
      </p:sp>
      <p:sp>
        <p:nvSpPr>
          <p:cNvPr id="43011" name="Content Placeholder 2">
            <a:extLst>
              <a:ext uri="{FF2B5EF4-FFF2-40B4-BE49-F238E27FC236}">
                <a16:creationId xmlns:a16="http://schemas.microsoft.com/office/drawing/2014/main" id="{355B573F-2DDF-790D-77D9-6D5250F04E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View </a:t>
            </a:r>
            <a:r>
              <a:rPr lang="en-US" altLang="en-US">
                <a:hlinkClick r:id="rId2" action="ppaction://hlinkfile"/>
              </a:rPr>
              <a:t>next class </a:t>
            </a:r>
            <a:r>
              <a:rPr lang="en-US" altLang="en-US"/>
              <a:t>to be defined (and tested),</a:t>
            </a:r>
            <a:br>
              <a:rPr lang="en-US" altLang="en-US"/>
            </a:br>
            <a:r>
              <a:rPr lang="en-US" altLang="en-US"/>
              <a:t>listing 8.14     class Triangle</a:t>
            </a:r>
          </a:p>
          <a:p>
            <a:pPr eaLnBrk="1" hangingPunct="1"/>
            <a:r>
              <a:rPr lang="en-US" altLang="en-US"/>
              <a:t> It is a good practice to test the classes as we go</a:t>
            </a:r>
          </a:p>
          <a:p>
            <a:pPr eaLnBrk="1" hangingPunct="1"/>
            <a:r>
              <a:rPr lang="en-US" altLang="en-US"/>
              <a:t>View </a:t>
            </a:r>
            <a:r>
              <a:rPr lang="en-US" altLang="en-US">
                <a:hlinkClick r:id="rId3" action="ppaction://hlinkfile"/>
              </a:rPr>
              <a:t>demo program</a:t>
            </a:r>
            <a:r>
              <a:rPr lang="en-US" altLang="en-US"/>
              <a:t>, listing 8.15</a:t>
            </a:r>
            <a:br>
              <a:rPr lang="en-US" altLang="en-US"/>
            </a:b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TreeDemo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>
            <a:extLst>
              <a:ext uri="{FF2B5EF4-FFF2-40B4-BE49-F238E27FC236}">
                <a16:creationId xmlns:a16="http://schemas.microsoft.com/office/drawing/2014/main" id="{20530565-73F1-7E08-9D5C-A8C764164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Case Study</a:t>
            </a:r>
          </a:p>
        </p:txBody>
      </p:sp>
      <p:pic>
        <p:nvPicPr>
          <p:cNvPr id="44035" name="Picture 2">
            <a:extLst>
              <a:ext uri="{FF2B5EF4-FFF2-40B4-BE49-F238E27FC236}">
                <a16:creationId xmlns:a16="http://schemas.microsoft.com/office/drawing/2014/main" id="{276F182E-9915-ADC7-AA5F-46C7FF1ABC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8163" y="1450975"/>
            <a:ext cx="3105150" cy="473392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036" name="Text Box 7">
            <a:extLst>
              <a:ext uri="{FF2B5EF4-FFF2-40B4-BE49-F238E27FC236}">
                <a16:creationId xmlns:a16="http://schemas.microsoft.com/office/drawing/2014/main" id="{1E4B3A93-4E13-46A8-6EEA-49146D07F5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7200" y="2301875"/>
            <a:ext cx="1524000" cy="100647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000"/>
              <a:t>Sample </a:t>
            </a:r>
            <a:br>
              <a:rPr lang="en-US" altLang="en-US" sz="2000"/>
            </a:br>
            <a:r>
              <a:rPr lang="en-US" altLang="en-US" sz="2000"/>
              <a:t>screen output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>
            <a:extLst>
              <a:ext uri="{FF2B5EF4-FFF2-40B4-BE49-F238E27FC236}">
                <a16:creationId xmlns:a16="http://schemas.microsoft.com/office/drawing/2014/main" id="{E55FBFF5-1F5A-20E5-547F-5F9B9D540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Case Study</a:t>
            </a:r>
            <a:br>
              <a:rPr lang="en-US" altLang="en-US"/>
            </a:br>
            <a:r>
              <a:rPr lang="en-US" altLang="en-US"/>
              <a:t>The </a:t>
            </a:r>
            <a:r>
              <a:rPr lang="en-US" altLang="en-US" sz="4000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Comparable</a:t>
            </a:r>
            <a:r>
              <a:rPr lang="en-US" altLang="en-US" sz="4000">
                <a:solidFill>
                  <a:srgbClr val="0070C0"/>
                </a:solidFill>
              </a:rPr>
              <a:t> </a:t>
            </a:r>
            <a:r>
              <a:rPr lang="en-US" altLang="en-US"/>
              <a:t>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B9CC54-88A9-A6D8-1EF8-7DE79544E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Java has many predefined interfaces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One of them, the </a:t>
            </a:r>
            <a:r>
              <a:rPr lang="en-US" sz="28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Comparable</a:t>
            </a:r>
            <a:r>
              <a:rPr lang="en-US" sz="2800" dirty="0">
                <a:solidFill>
                  <a:srgbClr val="0070C0"/>
                </a:solidFill>
              </a:rPr>
              <a:t> </a:t>
            </a:r>
            <a:r>
              <a:rPr lang="en-US" dirty="0"/>
              <a:t>interface, is used to impose an ordering upon the objects that implement it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Requires that the method </a:t>
            </a:r>
            <a:r>
              <a:rPr lang="en-US" sz="2800" b="1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compareTo</a:t>
            </a:r>
            <a:r>
              <a:rPr lang="en-US" sz="2800" dirty="0">
                <a:solidFill>
                  <a:srgbClr val="0070C0"/>
                </a:solidFill>
              </a:rPr>
              <a:t> </a:t>
            </a:r>
            <a:r>
              <a:rPr lang="en-US" dirty="0"/>
              <a:t>be written</a:t>
            </a:r>
          </a:p>
          <a:p>
            <a:pPr marL="0" indent="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dirty="0"/>
              <a:t>	</a:t>
            </a:r>
            <a:r>
              <a:rPr lang="en-US" sz="24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public </a:t>
            </a:r>
            <a:r>
              <a:rPr lang="en-US" sz="2400" b="1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4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compareTo</a:t>
            </a:r>
            <a:r>
              <a:rPr lang="en-US" sz="24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(Object other);</a:t>
            </a:r>
            <a:endParaRPr lang="en-US" b="1" dirty="0">
              <a:solidFill>
                <a:srgbClr val="0070C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>
            <a:extLst>
              <a:ext uri="{FF2B5EF4-FFF2-40B4-BE49-F238E27FC236}">
                <a16:creationId xmlns:a16="http://schemas.microsoft.com/office/drawing/2014/main" id="{1AF19107-649D-D927-8A9A-C43087B15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Sorting an Array of Fruit 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0B3648-8101-9453-FDC9-DA1932A1B4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Initial (non-working) attempt to sort an array of </a:t>
            </a:r>
            <a:r>
              <a:rPr lang="en-US" b="1" dirty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Fruit</a:t>
            </a:r>
            <a:r>
              <a:rPr lang="en-US" dirty="0"/>
              <a:t> objects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View </a:t>
            </a:r>
            <a:r>
              <a:rPr lang="en-US" dirty="0">
                <a:hlinkClick r:id="rId2" action="ppaction://hlinkfile"/>
              </a:rPr>
              <a:t>class definition</a:t>
            </a:r>
            <a:r>
              <a:rPr lang="en-US" dirty="0"/>
              <a:t>, listing 8.16</a:t>
            </a:r>
            <a:br>
              <a:rPr lang="en-US" dirty="0"/>
            </a:br>
            <a:r>
              <a:rPr lang="en-US" b="1" dirty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class Fruit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View </a:t>
            </a:r>
            <a:r>
              <a:rPr lang="en-US" dirty="0">
                <a:hlinkClick r:id="rId3" action="ppaction://hlinkfile"/>
              </a:rPr>
              <a:t>test class</a:t>
            </a:r>
            <a:r>
              <a:rPr lang="en-US" dirty="0"/>
              <a:t>, listing 8.17</a:t>
            </a:r>
            <a:br>
              <a:rPr lang="en-US" dirty="0"/>
            </a:br>
            <a:r>
              <a:rPr lang="en-US" b="1" dirty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class </a:t>
            </a:r>
            <a:r>
              <a:rPr lang="en-US" b="1" dirty="0" err="1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FruitDemo</a:t>
            </a:r>
            <a:endParaRPr lang="en-US" b="1" dirty="0">
              <a:solidFill>
                <a:srgbClr val="0033CC"/>
              </a:solidFill>
              <a:latin typeface="Courier New" pitchFamily="49" charset="0"/>
              <a:cs typeface="Courier New" pitchFamily="49" charset="0"/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Result: Exception in thread “main”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dirty="0">
                <a:cs typeface="Courier New" pitchFamily="49" charset="0"/>
              </a:rPr>
              <a:t>Sort tries to invoke </a:t>
            </a:r>
            <a:r>
              <a:rPr lang="en-US" b="1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compareTo</a:t>
            </a:r>
            <a:r>
              <a:rPr lang="en-US" dirty="0">
                <a:cs typeface="Courier New" pitchFamily="49" charset="0"/>
              </a:rPr>
              <a:t> method but it doesn’t exist</a:t>
            </a:r>
          </a:p>
          <a:p>
            <a:pPr marL="0" indent="0" eaLnBrk="1" fontAlgn="auto" hangingPunct="1">
              <a:spcAft>
                <a:spcPts val="0"/>
              </a:spcAft>
              <a:buFontTx/>
              <a:buNone/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>
            <a:extLst>
              <a:ext uri="{FF2B5EF4-FFF2-40B4-BE49-F238E27FC236}">
                <a16:creationId xmlns:a16="http://schemas.microsoft.com/office/drawing/2014/main" id="{0E5CDEFF-B0F8-6ADF-EB4D-4F06C3645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Sorting an Array of Fruit 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47B367-95FA-7C45-821D-E54F075C2E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Working attempt to sort an array of </a:t>
            </a:r>
            <a:r>
              <a:rPr lang="en-US" b="1" dirty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Fruit</a:t>
            </a:r>
            <a:r>
              <a:rPr lang="en-US" dirty="0"/>
              <a:t> objects – implement </a:t>
            </a:r>
            <a:r>
              <a:rPr lang="en-US" sz="28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Comparable</a:t>
            </a:r>
            <a:r>
              <a:rPr lang="en-US" dirty="0"/>
              <a:t>, write </a:t>
            </a:r>
            <a:r>
              <a:rPr lang="en-US" b="1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compareTo</a:t>
            </a:r>
            <a:r>
              <a:rPr lang="en-US" dirty="0">
                <a:cs typeface="Courier New" pitchFamily="49" charset="0"/>
              </a:rPr>
              <a:t> </a:t>
            </a:r>
            <a:r>
              <a:rPr lang="en-US" dirty="0"/>
              <a:t>method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View </a:t>
            </a:r>
            <a:r>
              <a:rPr lang="en-US" dirty="0">
                <a:hlinkClick r:id="rId2" action="ppaction://hlinkfile"/>
              </a:rPr>
              <a:t>class definition</a:t>
            </a:r>
            <a:r>
              <a:rPr lang="en-US" dirty="0"/>
              <a:t>, listing 8.18</a:t>
            </a:r>
            <a:br>
              <a:rPr lang="en-US" dirty="0"/>
            </a:br>
            <a:r>
              <a:rPr lang="en-US" b="1" dirty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class Fruit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Result: Exception in thread “main”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dirty="0">
                <a:cs typeface="Courier New" pitchFamily="49" charset="0"/>
              </a:rPr>
              <a:t>Sort tries to invoke method but it doesn’t exist</a:t>
            </a:r>
          </a:p>
          <a:p>
            <a:pPr marL="0" indent="0" eaLnBrk="1" fontAlgn="auto" hangingPunct="1">
              <a:spcAft>
                <a:spcPts val="0"/>
              </a:spcAft>
              <a:buFontTx/>
              <a:buNone/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>
            <a:extLst>
              <a:ext uri="{FF2B5EF4-FFF2-40B4-BE49-F238E27FC236}">
                <a16:creationId xmlns:a16="http://schemas.microsoft.com/office/drawing/2014/main" id="{7C29A14C-F163-A5E3-909D-83DE5FD45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compareTo</a:t>
            </a:r>
            <a:r>
              <a:rPr lang="en-US" altLang="en-US" sz="4000">
                <a:solidFill>
                  <a:srgbClr val="0070C0"/>
                </a:solidFill>
              </a:rPr>
              <a:t> </a:t>
            </a:r>
            <a:r>
              <a:rPr lang="en-US" altLang="en-US"/>
              <a:t>Method</a:t>
            </a:r>
          </a:p>
        </p:txBody>
      </p:sp>
      <p:sp>
        <p:nvSpPr>
          <p:cNvPr id="48131" name="Content Placeholder 2">
            <a:extLst>
              <a:ext uri="{FF2B5EF4-FFF2-40B4-BE49-F238E27FC236}">
                <a16:creationId xmlns:a16="http://schemas.microsoft.com/office/drawing/2014/main" id="{24A1AC9E-A16C-B355-14FF-38049B2CFD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An alternate definition that will sort by length of the fruit name</a:t>
            </a:r>
          </a:p>
          <a:p>
            <a:pPr eaLnBrk="1" hangingPunct="1"/>
            <a:endParaRPr lang="en-US" altLang="en-US"/>
          </a:p>
        </p:txBody>
      </p:sp>
      <p:pic>
        <p:nvPicPr>
          <p:cNvPr id="48132" name="Picture 2">
            <a:extLst>
              <a:ext uri="{FF2B5EF4-FFF2-40B4-BE49-F238E27FC236}">
                <a16:creationId xmlns:a16="http://schemas.microsoft.com/office/drawing/2014/main" id="{F26BF391-9DCF-1301-1DFF-21FAC99444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9400" y="2752725"/>
            <a:ext cx="4435475" cy="2205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8133" name="Picture 4">
            <a:extLst>
              <a:ext uri="{FF2B5EF4-FFF2-40B4-BE49-F238E27FC236}">
                <a16:creationId xmlns:a16="http://schemas.microsoft.com/office/drawing/2014/main" id="{F93BA799-8523-40F2-7A30-65424930C0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9400" y="4894263"/>
            <a:ext cx="5554663" cy="1320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>
            <a:extLst>
              <a:ext uri="{FF2B5EF4-FFF2-40B4-BE49-F238E27FC236}">
                <a16:creationId xmlns:a16="http://schemas.microsoft.com/office/drawing/2014/main" id="{ABC17B61-0948-CD8C-1BF7-5883EF44B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Abstract Classes</a:t>
            </a:r>
          </a:p>
        </p:txBody>
      </p:sp>
      <p:sp>
        <p:nvSpPr>
          <p:cNvPr id="49155" name="Content Placeholder 2">
            <a:extLst>
              <a:ext uri="{FF2B5EF4-FFF2-40B4-BE49-F238E27FC236}">
                <a16:creationId xmlns:a16="http://schemas.microsoft.com/office/drawing/2014/main" id="{F06BA553-4E3C-65DF-F468-9A693D1426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Class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ShapeBasics</a:t>
            </a:r>
            <a:r>
              <a:rPr lang="en-US" altLang="en-US"/>
              <a:t> is designed to be a base class for other classes</a:t>
            </a:r>
          </a:p>
          <a:p>
            <a:pPr lvl="1" eaLnBrk="1" hangingPunct="1"/>
            <a:r>
              <a:rPr lang="en-US" altLang="en-US"/>
              <a:t>Method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drawHere</a:t>
            </a:r>
            <a:r>
              <a:rPr lang="en-US" altLang="en-US"/>
              <a:t> will be redefined for each subclass</a:t>
            </a:r>
          </a:p>
          <a:p>
            <a:pPr lvl="1" eaLnBrk="1" hangingPunct="1"/>
            <a:r>
              <a:rPr lang="en-US" altLang="en-US"/>
              <a:t>It should be declared </a:t>
            </a:r>
            <a:r>
              <a:rPr lang="en-US" altLang="en-US" i="1"/>
              <a:t>abstract</a:t>
            </a:r>
            <a:r>
              <a:rPr lang="en-US" altLang="en-US"/>
              <a:t> – a method that has no body</a:t>
            </a:r>
          </a:p>
          <a:p>
            <a:pPr eaLnBrk="1" hangingPunct="1"/>
            <a:r>
              <a:rPr lang="en-US" altLang="en-US"/>
              <a:t>This makes the </a:t>
            </a:r>
            <a:r>
              <a:rPr lang="en-US" altLang="en-US" u="sng"/>
              <a:t>class</a:t>
            </a:r>
            <a:r>
              <a:rPr lang="en-US" altLang="en-US"/>
              <a:t> abstract</a:t>
            </a:r>
          </a:p>
          <a:p>
            <a:pPr eaLnBrk="1" hangingPunct="1"/>
            <a:r>
              <a:rPr lang="en-US" altLang="en-US"/>
              <a:t>You cannot create an object of an abstract class – thus its role as base class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>
            <a:extLst>
              <a:ext uri="{FF2B5EF4-FFF2-40B4-BE49-F238E27FC236}">
                <a16:creationId xmlns:a16="http://schemas.microsoft.com/office/drawing/2014/main" id="{65389AEA-83B6-ABAB-64D3-5504B06F7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Abstract Classes</a:t>
            </a:r>
          </a:p>
        </p:txBody>
      </p:sp>
      <p:sp>
        <p:nvSpPr>
          <p:cNvPr id="50179" name="Content Placeholder 2">
            <a:extLst>
              <a:ext uri="{FF2B5EF4-FFF2-40B4-BE49-F238E27FC236}">
                <a16:creationId xmlns:a16="http://schemas.microsoft.com/office/drawing/2014/main" id="{9BE76030-DBDA-7770-D5CD-98721A2C8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Not all methods of an abstract class are abstract methods</a:t>
            </a:r>
          </a:p>
          <a:p>
            <a:pPr eaLnBrk="1" hangingPunct="1"/>
            <a:r>
              <a:rPr lang="en-US" altLang="en-US"/>
              <a:t>Abstract class makes it easier to define a base class</a:t>
            </a:r>
          </a:p>
          <a:p>
            <a:pPr lvl="1" eaLnBrk="1" hangingPunct="1"/>
            <a:r>
              <a:rPr lang="en-US" altLang="en-US"/>
              <a:t>Specifies the obligation of designer to override the abstract methods for each subclass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>
            <a:extLst>
              <a:ext uri="{FF2B5EF4-FFF2-40B4-BE49-F238E27FC236}">
                <a16:creationId xmlns:a16="http://schemas.microsoft.com/office/drawing/2014/main" id="{5B33EF97-7303-6A31-E987-E979F81CD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Abstract Classes</a:t>
            </a:r>
          </a:p>
        </p:txBody>
      </p:sp>
      <p:sp>
        <p:nvSpPr>
          <p:cNvPr id="51203" name="Content Placeholder 2">
            <a:extLst>
              <a:ext uri="{FF2B5EF4-FFF2-40B4-BE49-F238E27FC236}">
                <a16:creationId xmlns:a16="http://schemas.microsoft.com/office/drawing/2014/main" id="{A629D8ED-A281-CB6F-F130-5530BCCA91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Cannot have an instance of an abstract class</a:t>
            </a:r>
          </a:p>
          <a:p>
            <a:pPr lvl="1" eaLnBrk="1" hangingPunct="1"/>
            <a:r>
              <a:rPr lang="en-US" altLang="en-US"/>
              <a:t>But OK to have a parameter of that type</a:t>
            </a:r>
          </a:p>
          <a:p>
            <a:pPr eaLnBrk="1" hangingPunct="1"/>
            <a:r>
              <a:rPr lang="en-US" altLang="en-US"/>
              <a:t>View </a:t>
            </a:r>
            <a:r>
              <a:rPr lang="en-US" altLang="en-US">
                <a:hlinkClick r:id="rId2" action="ppaction://hlinkfile"/>
              </a:rPr>
              <a:t>abstract version</a:t>
            </a:r>
            <a:r>
              <a:rPr lang="en-US" altLang="en-US"/>
              <a:t>, listing 8.19</a:t>
            </a:r>
            <a:br>
              <a:rPr lang="en-US" altLang="en-US"/>
            </a:b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abstract class ShapeBase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>
            <a:extLst>
              <a:ext uri="{FF2B5EF4-FFF2-40B4-BE49-F238E27FC236}">
                <a16:creationId xmlns:a16="http://schemas.microsoft.com/office/drawing/2014/main" id="{4234961F-E273-1590-8B28-6808623E0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Dynamic Binding and Inheritance</a:t>
            </a:r>
          </a:p>
        </p:txBody>
      </p:sp>
      <p:sp>
        <p:nvSpPr>
          <p:cNvPr id="52227" name="Content Placeholder 2">
            <a:extLst>
              <a:ext uri="{FF2B5EF4-FFF2-40B4-BE49-F238E27FC236}">
                <a16:creationId xmlns:a16="http://schemas.microsoft.com/office/drawing/2014/main" id="{9445E124-2645-3148-D8FE-A5BAAF1B62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8" y="1366838"/>
            <a:ext cx="8229600" cy="4525962"/>
          </a:xfrm>
        </p:spPr>
        <p:txBody>
          <a:bodyPr/>
          <a:lstStyle/>
          <a:p>
            <a:pPr eaLnBrk="1" hangingPunct="1"/>
            <a:r>
              <a:rPr lang="en-US" altLang="en-US"/>
              <a:t>Note how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drawAt</a:t>
            </a:r>
            <a:r>
              <a:rPr lang="en-US" altLang="en-US"/>
              <a:t> (in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ShapeBasics</a:t>
            </a:r>
            <a:r>
              <a:rPr lang="en-US" altLang="en-US"/>
              <a:t>) makes a call to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drawHere</a:t>
            </a:r>
          </a:p>
          <a:p>
            <a:pPr eaLnBrk="1" hangingPunct="1"/>
            <a:r>
              <a:rPr lang="en-US" altLang="en-US"/>
              <a:t>Class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Rectangle</a:t>
            </a:r>
            <a:r>
              <a:rPr lang="en-US" altLang="en-US"/>
              <a:t> overrides method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drawHere</a:t>
            </a:r>
          </a:p>
          <a:p>
            <a:pPr lvl="1" eaLnBrk="1" hangingPunct="1"/>
            <a:r>
              <a:rPr lang="en-US" altLang="en-US"/>
              <a:t>How does </a:t>
            </a:r>
            <a:r>
              <a:rPr lang="en-US" altLang="en-US" sz="3200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drawAt</a:t>
            </a:r>
            <a:r>
              <a:rPr lang="en-US" altLang="en-US"/>
              <a:t> know where to find the correct </a:t>
            </a:r>
            <a:r>
              <a:rPr lang="en-US" altLang="en-US" sz="3200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drawHere</a:t>
            </a:r>
            <a:r>
              <a:rPr lang="en-US" altLang="en-US"/>
              <a:t>?</a:t>
            </a:r>
          </a:p>
          <a:p>
            <a:pPr eaLnBrk="1" hangingPunct="1"/>
            <a:r>
              <a:rPr lang="en-US" altLang="en-US"/>
              <a:t>Happens with dynamic or late binding</a:t>
            </a:r>
          </a:p>
          <a:p>
            <a:pPr lvl="1" eaLnBrk="1" hangingPunct="1"/>
            <a:r>
              <a:rPr lang="en-US" altLang="en-US"/>
              <a:t>Address of correct code to be executed determined at run time</a:t>
            </a:r>
          </a:p>
          <a:p>
            <a:pPr lvl="1" eaLnBrk="1" hangingPunct="1"/>
            <a:endParaRPr lang="en-US" alt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>
            <a:extLst>
              <a:ext uri="{FF2B5EF4-FFF2-40B4-BE49-F238E27FC236}">
                <a16:creationId xmlns:a16="http://schemas.microsoft.com/office/drawing/2014/main" id="{542052CA-203E-5E16-9C1B-2A228663A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Graphics Supplement: Outline</a:t>
            </a:r>
          </a:p>
        </p:txBody>
      </p:sp>
      <p:sp>
        <p:nvSpPr>
          <p:cNvPr id="53251" name="Content Placeholder 2">
            <a:extLst>
              <a:ext uri="{FF2B5EF4-FFF2-40B4-BE49-F238E27FC236}">
                <a16:creationId xmlns:a16="http://schemas.microsoft.com/office/drawing/2014/main" id="{67A0DA4B-D826-14D2-6349-139D1B23D3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Event-Driven Programming</a:t>
            </a:r>
          </a:p>
          <a:p>
            <a:pPr lvl="1" eaLnBrk="1" hangingPunct="1"/>
            <a:r>
              <a:rPr lang="en-US" altLang="en-US"/>
              <a:t>Separate class to handle events</a:t>
            </a:r>
          </a:p>
          <a:p>
            <a:pPr lvl="1" eaLnBrk="1" hangingPunct="1"/>
            <a:r>
              <a:rPr lang="en-US" altLang="en-US"/>
              <a:t>Anonymous inner class</a:t>
            </a:r>
          </a:p>
          <a:p>
            <a:pPr lvl="1" eaLnBrk="1" hangingPunct="1"/>
            <a:r>
              <a:rPr lang="en-US" altLang="en-US"/>
              <a:t>Same class as the window</a:t>
            </a:r>
          </a:p>
          <a:p>
            <a:pPr lvl="1" eaLnBrk="1" hangingPunct="1"/>
            <a:endParaRPr lang="en-US" alt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>
            <a:extLst>
              <a:ext uri="{FF2B5EF4-FFF2-40B4-BE49-F238E27FC236}">
                <a16:creationId xmlns:a16="http://schemas.microsoft.com/office/drawing/2014/main" id="{91B18B59-7432-7F15-4400-771492B48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Event Firing and Event Listeners</a:t>
            </a:r>
          </a:p>
        </p:txBody>
      </p:sp>
      <p:sp>
        <p:nvSpPr>
          <p:cNvPr id="54275" name="Content Placeholder 2">
            <a:extLst>
              <a:ext uri="{FF2B5EF4-FFF2-40B4-BE49-F238E27FC236}">
                <a16:creationId xmlns:a16="http://schemas.microsoft.com/office/drawing/2014/main" id="{C1EBBB0D-2B51-2F4F-5396-1E3430A816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An </a:t>
            </a:r>
            <a:r>
              <a:rPr lang="en-US" altLang="en-US" b="1"/>
              <a:t>event object</a:t>
            </a:r>
            <a:r>
              <a:rPr lang="en-US" altLang="en-US"/>
              <a:t> is generated when something happens, like a button is clicked, the mouse is moved, the mouse is over a component, the mouse leaves a component, etc.</a:t>
            </a:r>
          </a:p>
          <a:p>
            <a:r>
              <a:rPr lang="en-US" altLang="en-US"/>
              <a:t>You specify what happens when the event occurs by creating an </a:t>
            </a:r>
            <a:r>
              <a:rPr lang="en-US" altLang="en-US" b="1"/>
              <a:t>event handler </a:t>
            </a:r>
            <a:r>
              <a:rPr lang="en-US" altLang="en-US"/>
              <a:t>or</a:t>
            </a:r>
            <a:r>
              <a:rPr lang="en-US" altLang="en-US" b="1"/>
              <a:t> listener</a:t>
            </a:r>
          </a:p>
          <a:p>
            <a:endParaRPr lang="en-US" altLang="en-US"/>
          </a:p>
        </p:txBody>
      </p:sp>
      <p:pic>
        <p:nvPicPr>
          <p:cNvPr id="54276" name="Picture 3">
            <a:extLst>
              <a:ext uri="{FF2B5EF4-FFF2-40B4-BE49-F238E27FC236}">
                <a16:creationId xmlns:a16="http://schemas.microsoft.com/office/drawing/2014/main" id="{D965C604-21BA-4A40-B8DF-224FDFF225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5425" y="3749675"/>
            <a:ext cx="6537325" cy="227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>
            <a:extLst>
              <a:ext uri="{FF2B5EF4-FFF2-40B4-BE49-F238E27FC236}">
                <a16:creationId xmlns:a16="http://schemas.microsoft.com/office/drawing/2014/main" id="{D903AD36-45FD-6B22-DA73-8C016BEB4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An Event Handler for a Button Click</a:t>
            </a:r>
          </a:p>
        </p:txBody>
      </p:sp>
      <p:pic>
        <p:nvPicPr>
          <p:cNvPr id="55299" name="Picture 4">
            <a:extLst>
              <a:ext uri="{FF2B5EF4-FFF2-40B4-BE49-F238E27FC236}">
                <a16:creationId xmlns:a16="http://schemas.microsoft.com/office/drawing/2014/main" id="{72ADCBFC-3959-2D0F-0AB0-CC07FD6895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5050" y="1412875"/>
            <a:ext cx="6692900" cy="4532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300" name="Text Box 7">
            <a:extLst>
              <a:ext uri="{FF2B5EF4-FFF2-40B4-BE49-F238E27FC236}">
                <a16:creationId xmlns:a16="http://schemas.microsoft.com/office/drawing/2014/main" id="{1A746216-5675-B395-A525-F478D7BC16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6200" y="5146675"/>
            <a:ext cx="3175000" cy="1016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000"/>
              <a:t>You write the </a:t>
            </a:r>
            <a:r>
              <a:rPr lang="en-US" alt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handle</a:t>
            </a:r>
            <a:r>
              <a:rPr lang="en-US" altLang="en-US" sz="2000"/>
              <a:t> method! It is invoked via polymorphism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>
            <a:extLst>
              <a:ext uri="{FF2B5EF4-FFF2-40B4-BE49-F238E27FC236}">
                <a16:creationId xmlns:a16="http://schemas.microsoft.com/office/drawing/2014/main" id="{522243F7-2108-635F-FB78-8B6EE01C0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Event Handling with a Separate Class</a:t>
            </a:r>
          </a:p>
        </p:txBody>
      </p:sp>
      <p:sp>
        <p:nvSpPr>
          <p:cNvPr id="51203" name="Content Placeholder 2">
            <a:extLst>
              <a:ext uri="{FF2B5EF4-FFF2-40B4-BE49-F238E27FC236}">
                <a16:creationId xmlns:a16="http://schemas.microsoft.com/office/drawing/2014/main" id="{0813468C-965C-FD38-9C6F-57D185545D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 dirty="0"/>
              <a:t>We can write a class whose purpose is specifically to handle a particular event, in this case, to react to a button click</a:t>
            </a:r>
          </a:p>
          <a:p>
            <a:pPr eaLnBrk="1" hangingPunct="1">
              <a:defRPr/>
            </a:pPr>
            <a:r>
              <a:rPr lang="en-US" altLang="en-US" dirty="0"/>
              <a:t>View </a:t>
            </a:r>
            <a:r>
              <a:rPr lang="en-US" altLang="en-US" dirty="0">
                <a:hlinkClick r:id="rId2" action="ppaction://hlinkfile"/>
              </a:rPr>
              <a:t>event handling demo 1</a:t>
            </a:r>
            <a:r>
              <a:rPr lang="en-US" altLang="en-US" dirty="0"/>
              <a:t>, listing 8.20, </a:t>
            </a:r>
            <a:r>
              <a:rPr lang="en-US" altLang="en-US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ButtonDemo1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n-US" altLang="en-US" dirty="0"/>
              <a:t> 	and </a:t>
            </a:r>
            <a:r>
              <a:rPr lang="en-US" altLang="en-US" dirty="0">
                <a:hlinkClick r:id="rId3" action="ppaction://hlinkfile"/>
              </a:rPr>
              <a:t>event handler</a:t>
            </a:r>
            <a:r>
              <a:rPr lang="en-US" altLang="en-US" dirty="0"/>
              <a:t>, listing 8.21, </a:t>
            </a:r>
            <a:r>
              <a:rPr lang="en-US" altLang="en-US" b="1" dirty="0" err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HandleButtonClick</a:t>
            </a:r>
            <a:endParaRPr lang="en-US" altLang="en-US" b="1" dirty="0">
              <a:solidFill>
                <a:srgbClr val="0033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defRPr/>
            </a:pPr>
            <a:endParaRPr lang="en-US" altLang="en-US" b="1" dirty="0">
              <a:solidFill>
                <a:srgbClr val="0033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56324" name="Picture 3">
            <a:extLst>
              <a:ext uri="{FF2B5EF4-FFF2-40B4-BE49-F238E27FC236}">
                <a16:creationId xmlns:a16="http://schemas.microsoft.com/office/drawing/2014/main" id="{D1970ECA-575B-F7C4-B465-39854CD92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600" y="3870325"/>
            <a:ext cx="3571875" cy="154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325" name="Text Box 2">
            <a:extLst>
              <a:ext uri="{FF2B5EF4-FFF2-40B4-BE49-F238E27FC236}">
                <a16:creationId xmlns:a16="http://schemas.microsoft.com/office/drawing/2014/main" id="{076578EB-499A-C3B1-0E72-52CD15C99B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3625" y="3870325"/>
            <a:ext cx="3355975" cy="157162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7000"/>
              </a:lnSpc>
              <a:spcBef>
                <a:spcPts val="600"/>
              </a:spcBef>
              <a:spcAft>
                <a:spcPts val="800"/>
              </a:spcAft>
            </a:pPr>
            <a:r>
              <a:rPr lang="en-US" altLang="en-US" sz="1600">
                <a:solidFill>
                  <a:srgbClr val="5B9BD5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program outputs “It is sunny!” to the console when the “Sunny” button is clicked, and “It is cloudy.” When the “Cloudy” button is clicked.</a:t>
            </a:r>
            <a:endParaRPr lang="en-US" altLang="en-US" sz="16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altLang="en-US" sz="11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>
            <a:extLst>
              <a:ext uri="{FF2B5EF4-FFF2-40B4-BE49-F238E27FC236}">
                <a16:creationId xmlns:a16="http://schemas.microsoft.com/office/drawing/2014/main" id="{62AFF357-7B7B-B2F2-AB0B-D1237201B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Event Handling in the Main GUI Class</a:t>
            </a:r>
          </a:p>
        </p:txBody>
      </p:sp>
      <p:sp>
        <p:nvSpPr>
          <p:cNvPr id="57347" name="Content Placeholder 2">
            <a:extLst>
              <a:ext uri="{FF2B5EF4-FFF2-40B4-BE49-F238E27FC236}">
                <a16:creationId xmlns:a16="http://schemas.microsoft.com/office/drawing/2014/main" id="{71D87553-3811-A7E7-B566-8F71BC5928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41475"/>
            <a:ext cx="7886700" cy="4351338"/>
          </a:xfrm>
        </p:spPr>
        <p:txBody>
          <a:bodyPr/>
          <a:lstStyle/>
          <a:p>
            <a:pPr eaLnBrk="1" hangingPunct="1"/>
            <a:r>
              <a:rPr lang="en-US" altLang="en-US"/>
              <a:t>We can put the event handler in the same class as the GUI; this allows the event handler to have easy access to any GUI class variables</a:t>
            </a:r>
          </a:p>
          <a:p>
            <a:pPr lvl="1" eaLnBrk="1" hangingPunct="1"/>
            <a:r>
              <a:rPr lang="en-US" altLang="en-US"/>
              <a:t>Add the handler and implement the ActionListener</a:t>
            </a:r>
          </a:p>
          <a:p>
            <a:pPr eaLnBrk="1" hangingPunct="1"/>
            <a:r>
              <a:rPr lang="en-US" altLang="en-US"/>
              <a:t>View </a:t>
            </a:r>
            <a:r>
              <a:rPr lang="en-US" altLang="en-US">
                <a:hlinkClick r:id="rId2" action="ppaction://hlinkfile"/>
              </a:rPr>
              <a:t>event handling demo 2</a:t>
            </a:r>
            <a:r>
              <a:rPr lang="en-US" altLang="en-US"/>
              <a:t>, listing 8.22,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ButtonDemo2</a:t>
            </a:r>
          </a:p>
          <a:p>
            <a:pPr eaLnBrk="1" hangingPunct="1"/>
            <a:endParaRPr lang="en-US" altLang="en-US" b="1">
              <a:solidFill>
                <a:srgbClr val="0033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57348" name="Picture 5">
            <a:extLst>
              <a:ext uri="{FF2B5EF4-FFF2-40B4-BE49-F238E27FC236}">
                <a16:creationId xmlns:a16="http://schemas.microsoft.com/office/drawing/2014/main" id="{0896B106-B1A4-5AF3-D33B-7B2E502954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8800" y="3336925"/>
            <a:ext cx="3048000" cy="304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1">
            <a:extLst>
              <a:ext uri="{FF2B5EF4-FFF2-40B4-BE49-F238E27FC236}">
                <a16:creationId xmlns:a16="http://schemas.microsoft.com/office/drawing/2014/main" id="{B593EC71-AE31-D5FE-22EF-787FE8D22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Event Handling in an Anonymous Inner Class</a:t>
            </a:r>
          </a:p>
        </p:txBody>
      </p:sp>
      <p:sp>
        <p:nvSpPr>
          <p:cNvPr id="58371" name="Content Placeholder 2">
            <a:extLst>
              <a:ext uri="{FF2B5EF4-FFF2-40B4-BE49-F238E27FC236}">
                <a16:creationId xmlns:a16="http://schemas.microsoft.com/office/drawing/2014/main" id="{9B652626-F540-4A80-9B8C-5ADDA55CD8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41475"/>
            <a:ext cx="7886700" cy="4351338"/>
          </a:xfrm>
        </p:spPr>
        <p:txBody>
          <a:bodyPr/>
          <a:lstStyle/>
          <a:p>
            <a:pPr eaLnBrk="1" hangingPunct="1"/>
            <a:r>
              <a:rPr lang="en-US" altLang="en-US"/>
              <a:t>We can create a new event handler by creating an </a:t>
            </a:r>
            <a:r>
              <a:rPr lang="en-US" altLang="en-US" b="1"/>
              <a:t>anonymous inner class</a:t>
            </a:r>
            <a:r>
              <a:rPr lang="en-US" altLang="en-US"/>
              <a:t> for each event we want to handle</a:t>
            </a:r>
          </a:p>
          <a:p>
            <a:pPr lvl="1" eaLnBrk="1" hangingPunct="1"/>
            <a:r>
              <a:rPr lang="en-US" altLang="en-US"/>
              <a:t>This is a class with no name that we declare and instantiate at the same time</a:t>
            </a:r>
          </a:p>
          <a:p>
            <a:pPr eaLnBrk="1" hangingPunct="1"/>
            <a:r>
              <a:rPr lang="en-US" altLang="en-US"/>
              <a:t>View </a:t>
            </a:r>
            <a:r>
              <a:rPr lang="en-US" altLang="en-US">
                <a:hlinkClick r:id="rId2" action="ppaction://hlinkfile"/>
              </a:rPr>
              <a:t>event handling demo 3</a:t>
            </a:r>
            <a:r>
              <a:rPr lang="en-US" altLang="en-US"/>
              <a:t>, listing 8.23,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ButtonDemo3</a:t>
            </a:r>
          </a:p>
          <a:p>
            <a:pPr eaLnBrk="1" hangingPunct="1"/>
            <a:endParaRPr lang="en-US" altLang="en-US" b="1">
              <a:solidFill>
                <a:srgbClr val="0033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58372" name="Picture 6">
            <a:extLst>
              <a:ext uri="{FF2B5EF4-FFF2-40B4-BE49-F238E27FC236}">
                <a16:creationId xmlns:a16="http://schemas.microsoft.com/office/drawing/2014/main" id="{AACD048D-4527-A613-3AC2-536C6F9230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4650" y="3817938"/>
            <a:ext cx="4230688" cy="1833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8373" name="Rectangle 2">
            <a:extLst>
              <a:ext uri="{FF2B5EF4-FFF2-40B4-BE49-F238E27FC236}">
                <a16:creationId xmlns:a16="http://schemas.microsoft.com/office/drawing/2014/main" id="{73C730D9-ECF6-EFCE-417D-BC7564BC2F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9975" y="4683125"/>
            <a:ext cx="2365375" cy="38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7000"/>
              </a:lnSpc>
              <a:spcBef>
                <a:spcPts val="600"/>
              </a:spcBef>
              <a:spcAft>
                <a:spcPts val="800"/>
              </a:spcAft>
            </a:pPr>
            <a:r>
              <a:rPr lang="en-US" altLang="en-US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(After clicking “Sunny”)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>
            <a:extLst>
              <a:ext uri="{FF2B5EF4-FFF2-40B4-BE49-F238E27FC236}">
                <a16:creationId xmlns:a16="http://schemas.microsoft.com/office/drawing/2014/main" id="{5914BBA3-B37F-0901-180B-FF6B27C8C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Event Handling Example – Adding Numbers</a:t>
            </a:r>
          </a:p>
        </p:txBody>
      </p:sp>
      <p:sp>
        <p:nvSpPr>
          <p:cNvPr id="59395" name="Content Placeholder 2">
            <a:extLst>
              <a:ext uri="{FF2B5EF4-FFF2-40B4-BE49-F238E27FC236}">
                <a16:creationId xmlns:a16="http://schemas.microsoft.com/office/drawing/2014/main" id="{A3C9EB37-50D6-17F6-8F2A-D859C03868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41475"/>
            <a:ext cx="7886700" cy="4351338"/>
          </a:xfrm>
        </p:spPr>
        <p:txBody>
          <a:bodyPr/>
          <a:lstStyle/>
          <a:p>
            <a:pPr eaLnBrk="1" hangingPunct="1"/>
            <a:r>
              <a:rPr lang="en-US" altLang="en-US"/>
              <a:t>An example that ties together layouts (GridPane with BorderPane) and event handling to add two numbers together is shown in AddingNumbersApp</a:t>
            </a:r>
          </a:p>
          <a:p>
            <a:pPr eaLnBrk="1" hangingPunct="1"/>
            <a:r>
              <a:rPr lang="en-US" altLang="en-US"/>
              <a:t>View </a:t>
            </a:r>
            <a:r>
              <a:rPr lang="en-US" altLang="en-US">
                <a:hlinkClick r:id="rId2" action="ppaction://hlinkfile"/>
              </a:rPr>
              <a:t>event handling demo 4</a:t>
            </a:r>
            <a:r>
              <a:rPr lang="en-US" altLang="en-US"/>
              <a:t>, listing 8.24,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AddingNumbersApp</a:t>
            </a:r>
          </a:p>
          <a:p>
            <a:pPr eaLnBrk="1" hangingPunct="1"/>
            <a:endParaRPr lang="en-US" altLang="en-US" b="1">
              <a:solidFill>
                <a:srgbClr val="0033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59396" name="Picture 5">
            <a:extLst>
              <a:ext uri="{FF2B5EF4-FFF2-40B4-BE49-F238E27FC236}">
                <a16:creationId xmlns:a16="http://schemas.microsoft.com/office/drawing/2014/main" id="{ECADD9CD-BF73-178F-5455-257A7B903F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6813" y="3267075"/>
            <a:ext cx="6810375" cy="2725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>
            <a:extLst>
              <a:ext uri="{FF2B5EF4-FFF2-40B4-BE49-F238E27FC236}">
                <a16:creationId xmlns:a16="http://schemas.microsoft.com/office/drawing/2014/main" id="{CFEDB35E-CCD8-B79F-C17B-27C1B5947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Summary</a:t>
            </a:r>
          </a:p>
        </p:txBody>
      </p:sp>
      <p:sp>
        <p:nvSpPr>
          <p:cNvPr id="60419" name="Content Placeholder 2">
            <a:extLst>
              <a:ext uri="{FF2B5EF4-FFF2-40B4-BE49-F238E27FC236}">
                <a16:creationId xmlns:a16="http://schemas.microsoft.com/office/drawing/2014/main" id="{A68AD67C-71E0-9B6A-48A1-5652D44EF5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An interface contains </a:t>
            </a:r>
          </a:p>
          <a:p>
            <a:pPr lvl="1" eaLnBrk="1" hangingPunct="1"/>
            <a:r>
              <a:rPr lang="en-US" altLang="en-US"/>
              <a:t>Headings of public methods</a:t>
            </a:r>
          </a:p>
          <a:p>
            <a:pPr lvl="1" eaLnBrk="1" hangingPunct="1"/>
            <a:r>
              <a:rPr lang="en-US" altLang="en-US"/>
              <a:t>Definitions of named constants</a:t>
            </a:r>
          </a:p>
          <a:p>
            <a:pPr lvl="1" eaLnBrk="1" hangingPunct="1"/>
            <a:r>
              <a:rPr lang="en-US" altLang="en-US"/>
              <a:t>No constructors, no private instance variables</a:t>
            </a:r>
          </a:p>
          <a:p>
            <a:pPr eaLnBrk="1" hangingPunct="1"/>
            <a:r>
              <a:rPr lang="en-US" altLang="en-US"/>
              <a:t>Class which implements an interface must</a:t>
            </a:r>
          </a:p>
          <a:p>
            <a:pPr lvl="1" eaLnBrk="1" hangingPunct="1"/>
            <a:r>
              <a:rPr lang="en-US" altLang="en-US"/>
              <a:t>Define a body for every interface method specified </a:t>
            </a:r>
          </a:p>
          <a:p>
            <a:pPr eaLnBrk="1" hangingPunct="1"/>
            <a:r>
              <a:rPr lang="en-US" altLang="en-US"/>
              <a:t>Interface enables designer to specify methods for another programmer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1">
            <a:extLst>
              <a:ext uri="{FF2B5EF4-FFF2-40B4-BE49-F238E27FC236}">
                <a16:creationId xmlns:a16="http://schemas.microsoft.com/office/drawing/2014/main" id="{D6B5403B-246A-E15B-6909-BA0B5FB6B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Summary</a:t>
            </a:r>
          </a:p>
        </p:txBody>
      </p:sp>
      <p:sp>
        <p:nvSpPr>
          <p:cNvPr id="61443" name="Content Placeholder 2">
            <a:extLst>
              <a:ext uri="{FF2B5EF4-FFF2-40B4-BE49-F238E27FC236}">
                <a16:creationId xmlns:a16="http://schemas.microsoft.com/office/drawing/2014/main" id="{31AD69E9-FA02-F513-DADF-10FD9D3337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Interface is a reference type</a:t>
            </a:r>
          </a:p>
          <a:p>
            <a:pPr lvl="1" eaLnBrk="1" hangingPunct="1"/>
            <a:r>
              <a:rPr lang="en-US" altLang="en-US"/>
              <a:t>Can be used as variable or parameter type</a:t>
            </a:r>
          </a:p>
          <a:p>
            <a:pPr eaLnBrk="1" hangingPunct="1"/>
            <a:r>
              <a:rPr lang="en-US" altLang="en-US"/>
              <a:t>Interface can be extended to create another interface</a:t>
            </a:r>
          </a:p>
          <a:p>
            <a:pPr eaLnBrk="1" hangingPunct="1"/>
            <a:r>
              <a:rPr lang="en-US" altLang="en-US"/>
              <a:t>Dynamic (late) binding enables objects of different classes to substitute for one another</a:t>
            </a:r>
          </a:p>
          <a:p>
            <a:pPr lvl="1" eaLnBrk="1" hangingPunct="1"/>
            <a:r>
              <a:rPr lang="en-US" altLang="en-US"/>
              <a:t>Must have identical interfaces</a:t>
            </a:r>
          </a:p>
          <a:p>
            <a:pPr lvl="1" eaLnBrk="1" hangingPunct="1"/>
            <a:r>
              <a:rPr lang="en-US" altLang="en-US"/>
              <a:t>Called polymorphism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itle 1">
            <a:extLst>
              <a:ext uri="{FF2B5EF4-FFF2-40B4-BE49-F238E27FC236}">
                <a16:creationId xmlns:a16="http://schemas.microsoft.com/office/drawing/2014/main" id="{E1FFAA6B-F0BB-62E5-97EA-A530D3E1A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Summary</a:t>
            </a:r>
          </a:p>
        </p:txBody>
      </p:sp>
      <p:sp>
        <p:nvSpPr>
          <p:cNvPr id="62467" name="Content Placeholder 2">
            <a:extLst>
              <a:ext uri="{FF2B5EF4-FFF2-40B4-BE49-F238E27FC236}">
                <a16:creationId xmlns:a16="http://schemas.microsoft.com/office/drawing/2014/main" id="{56AE2798-9685-F0F4-C31E-AFCBBA38BB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Derived class obtained from base class by adding instance variables and methods</a:t>
            </a:r>
          </a:p>
          <a:p>
            <a:pPr lvl="1" eaLnBrk="1" hangingPunct="1"/>
            <a:r>
              <a:rPr lang="en-US" altLang="en-US"/>
              <a:t>Derived class inherits all public elements of base class</a:t>
            </a:r>
          </a:p>
          <a:p>
            <a:pPr eaLnBrk="1" hangingPunct="1"/>
            <a:r>
              <a:rPr lang="en-US" altLang="en-US"/>
              <a:t>Constructor of derived class must first call a constructor of base class</a:t>
            </a:r>
          </a:p>
          <a:p>
            <a:pPr lvl="1" eaLnBrk="1" hangingPunct="1"/>
            <a:r>
              <a:rPr lang="en-US" altLang="en-US"/>
              <a:t>If not explicitly called, Java automatically calls default constructor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itle 1">
            <a:extLst>
              <a:ext uri="{FF2B5EF4-FFF2-40B4-BE49-F238E27FC236}">
                <a16:creationId xmlns:a16="http://schemas.microsoft.com/office/drawing/2014/main" id="{178B2632-0E7C-8C8C-DE8A-6A18CCD92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Summary</a:t>
            </a:r>
          </a:p>
        </p:txBody>
      </p:sp>
      <p:sp>
        <p:nvSpPr>
          <p:cNvPr id="63491" name="Content Placeholder 2">
            <a:extLst>
              <a:ext uri="{FF2B5EF4-FFF2-40B4-BE49-F238E27FC236}">
                <a16:creationId xmlns:a16="http://schemas.microsoft.com/office/drawing/2014/main" id="{1EC5AC45-CBA0-390A-0946-6A4A2DB8AD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Within constructor</a:t>
            </a:r>
          </a:p>
          <a:p>
            <a:pPr lvl="1" eaLnBrk="1" hangingPunct="1"/>
            <a:r>
              <a:rPr lang="en-US" altLang="en-US" sz="3200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en-US" altLang="en-US"/>
              <a:t> calls constructor of same class</a:t>
            </a:r>
          </a:p>
          <a:p>
            <a:pPr lvl="1" eaLnBrk="1" hangingPunct="1"/>
            <a:r>
              <a:rPr lang="en-US" altLang="en-US" sz="3200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super</a:t>
            </a:r>
            <a:r>
              <a:rPr lang="en-US" altLang="en-US"/>
              <a:t> invokes constructor of base class</a:t>
            </a:r>
          </a:p>
          <a:p>
            <a:pPr eaLnBrk="1" hangingPunct="1"/>
            <a:r>
              <a:rPr lang="en-US" altLang="en-US"/>
              <a:t>Method from base class can be overridden</a:t>
            </a:r>
          </a:p>
          <a:p>
            <a:pPr lvl="1" eaLnBrk="1" hangingPunct="1"/>
            <a:r>
              <a:rPr lang="en-US" altLang="en-US"/>
              <a:t>Must have same signature</a:t>
            </a:r>
          </a:p>
          <a:p>
            <a:pPr eaLnBrk="1" hangingPunct="1"/>
            <a:r>
              <a:rPr lang="en-US" altLang="en-US"/>
              <a:t>If signature is different, method is overloaded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itle 1">
            <a:extLst>
              <a:ext uri="{FF2B5EF4-FFF2-40B4-BE49-F238E27FC236}">
                <a16:creationId xmlns:a16="http://schemas.microsoft.com/office/drawing/2014/main" id="{41B294A5-A6E4-D1BC-2BBC-D37F1D77C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Summary</a:t>
            </a:r>
          </a:p>
        </p:txBody>
      </p:sp>
      <p:sp>
        <p:nvSpPr>
          <p:cNvPr id="64515" name="Content Placeholder 2">
            <a:extLst>
              <a:ext uri="{FF2B5EF4-FFF2-40B4-BE49-F238E27FC236}">
                <a16:creationId xmlns:a16="http://schemas.microsoft.com/office/drawing/2014/main" id="{2FF1C0B6-96BF-D8EF-4461-DDA9220B04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Overridden method can be called with preface of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super</a:t>
            </a:r>
          </a:p>
          <a:p>
            <a:pPr eaLnBrk="1" hangingPunct="1"/>
            <a:r>
              <a:rPr lang="en-US" altLang="en-US"/>
              <a:t> Private elements of base class cannot be accessed directly by name in derived class</a:t>
            </a:r>
          </a:p>
          <a:p>
            <a:pPr eaLnBrk="1" hangingPunct="1"/>
            <a:r>
              <a:rPr lang="en-US" altLang="en-US"/>
              <a:t>Object of derived class has type of both base and derived classes</a:t>
            </a:r>
          </a:p>
          <a:p>
            <a:pPr eaLnBrk="1" hangingPunct="1"/>
            <a:r>
              <a:rPr lang="en-US" altLang="en-US"/>
              <a:t>Legal to assign object of derived class to variable of any ancestor type</a:t>
            </a:r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itle 1">
            <a:extLst>
              <a:ext uri="{FF2B5EF4-FFF2-40B4-BE49-F238E27FC236}">
                <a16:creationId xmlns:a16="http://schemas.microsoft.com/office/drawing/2014/main" id="{556F3063-E21A-E570-1768-AC943710E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Summary</a:t>
            </a:r>
          </a:p>
        </p:txBody>
      </p:sp>
      <p:sp>
        <p:nvSpPr>
          <p:cNvPr id="65539" name="Content Placeholder 2">
            <a:extLst>
              <a:ext uri="{FF2B5EF4-FFF2-40B4-BE49-F238E27FC236}">
                <a16:creationId xmlns:a16="http://schemas.microsoft.com/office/drawing/2014/main" id="{1A4709D6-7D6E-FF3C-9C0D-E04ABBEF63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Every class is descendant of class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Object</a:t>
            </a:r>
          </a:p>
          <a:p>
            <a:pPr eaLnBrk="1" hangingPunct="1"/>
            <a:r>
              <a:rPr lang="en-US" altLang="en-US"/>
              <a:t>JavaFX uses interfaces to implement listeners for events like button clicks</a:t>
            </a:r>
          </a:p>
          <a:p>
            <a:pPr eaLnBrk="1" hangingPunct="1"/>
            <a:r>
              <a:rPr lang="en-US" altLang="en-US"/>
              <a:t>The event listener can be implemented as its own class, part of the GUI class, or as an anonymous inner class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938</TotalTime>
  <Words>2360</Words>
  <Application>Microsoft Macintosh PowerPoint</Application>
  <PresentationFormat>On-screen Show (4:3)</PresentationFormat>
  <Paragraphs>325</Paragraphs>
  <Slides>63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69" baseType="lpstr">
      <vt:lpstr>Aptos</vt:lpstr>
      <vt:lpstr>Arial</vt:lpstr>
      <vt:lpstr>Calibri</vt:lpstr>
      <vt:lpstr>Calibri Light</vt:lpstr>
      <vt:lpstr>Courier New</vt:lpstr>
      <vt:lpstr>Office Theme</vt:lpstr>
      <vt:lpstr>Inheritance, Polymorphism, and Interfaces</vt:lpstr>
      <vt:lpstr>Objectives</vt:lpstr>
      <vt:lpstr>Inheritance Basics: Outline</vt:lpstr>
      <vt:lpstr>Inheritance Basics</vt:lpstr>
      <vt:lpstr>Examples of Inheritance</vt:lpstr>
      <vt:lpstr>Derived Classes</vt:lpstr>
      <vt:lpstr>Derived Classes</vt:lpstr>
      <vt:lpstr>Overriding Method Definitions</vt:lpstr>
      <vt:lpstr>Overriding Versus Overloading</vt:lpstr>
      <vt:lpstr>The final Modifier</vt:lpstr>
      <vt:lpstr>Private Instance Variables, Methods</vt:lpstr>
      <vt:lpstr>UML Inheritance Diagrams</vt:lpstr>
      <vt:lpstr>UML Inheritance Diagrams</vt:lpstr>
      <vt:lpstr>Constructors in Derived Classes</vt:lpstr>
      <vt:lpstr>The this Method – Again </vt:lpstr>
      <vt:lpstr>Calling an Overridden Method</vt:lpstr>
      <vt:lpstr>Programming Example</vt:lpstr>
      <vt:lpstr>Programming Example</vt:lpstr>
      <vt:lpstr>Type Compatibility</vt:lpstr>
      <vt:lpstr>Type Compatibility</vt:lpstr>
      <vt:lpstr>The Class Object</vt:lpstr>
      <vt:lpstr>The Class Object</vt:lpstr>
      <vt:lpstr>A Better equals Method</vt:lpstr>
      <vt:lpstr>Polymorphism</vt:lpstr>
      <vt:lpstr>Polymorphism</vt:lpstr>
      <vt:lpstr>Polymorphism</vt:lpstr>
      <vt:lpstr>An Inheritance as a Type</vt:lpstr>
      <vt:lpstr>Dynamic Binding and Inheritance</vt:lpstr>
      <vt:lpstr>Polymorphism Example</vt:lpstr>
      <vt:lpstr>Class Interfaces</vt:lpstr>
      <vt:lpstr>Class Interfaces</vt:lpstr>
      <vt:lpstr>Java Interfaces</vt:lpstr>
      <vt:lpstr>Java Interfaces</vt:lpstr>
      <vt:lpstr>Implementing an Interface</vt:lpstr>
      <vt:lpstr>An Inheritance as a Type</vt:lpstr>
      <vt:lpstr>Extending an Interface</vt:lpstr>
      <vt:lpstr>Case Study</vt:lpstr>
      <vt:lpstr>Case Study</vt:lpstr>
      <vt:lpstr>Case Study</vt:lpstr>
      <vt:lpstr>Case Study</vt:lpstr>
      <vt:lpstr>Case Study</vt:lpstr>
      <vt:lpstr>Case Study</vt:lpstr>
      <vt:lpstr>Case Study The Comparable Interface</vt:lpstr>
      <vt:lpstr>Sorting an Array of Fruit Objects</vt:lpstr>
      <vt:lpstr>Sorting an Array of Fruit Objects</vt:lpstr>
      <vt:lpstr>compareTo Method</vt:lpstr>
      <vt:lpstr>Abstract Classes</vt:lpstr>
      <vt:lpstr>Abstract Classes</vt:lpstr>
      <vt:lpstr>Abstract Classes</vt:lpstr>
      <vt:lpstr>Dynamic Binding and Inheritance</vt:lpstr>
      <vt:lpstr>Graphics Supplement: Outline</vt:lpstr>
      <vt:lpstr>Event Firing and Event Listeners</vt:lpstr>
      <vt:lpstr>An Event Handler for a Button Click</vt:lpstr>
      <vt:lpstr>Event Handling with a Separate Class</vt:lpstr>
      <vt:lpstr>Event Handling in the Main GUI Class</vt:lpstr>
      <vt:lpstr>Event Handling in an Anonymous Inner Class</vt:lpstr>
      <vt:lpstr>Event Handling Example – Adding Numbers</vt:lpstr>
      <vt:lpstr>Summary</vt:lpstr>
      <vt:lpstr>Summary</vt:lpstr>
      <vt:lpstr>Summary</vt:lpstr>
      <vt:lpstr>Summary</vt:lpstr>
      <vt:lpstr>Summary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Polymorphism and Inheritance</dc:title>
  <dc:creator>Steve Armstrong</dc:creator>
  <cp:lastModifiedBy>Muhammad Asaduzzaman</cp:lastModifiedBy>
  <cp:revision>93</cp:revision>
  <dcterms:created xsi:type="dcterms:W3CDTF">2007-10-13T15:36:21Z</dcterms:created>
  <dcterms:modified xsi:type="dcterms:W3CDTF">2025-06-11T11:47:08Z</dcterms:modified>
</cp:coreProperties>
</file>