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tags/tag7.xml" ContentType="application/vnd.openxmlformats-officedocument.presentationml.tags+xml"/>
  <Override PartName="/ppt/notesSlides/notesSlide8.xml" ContentType="application/vnd.openxmlformats-officedocument.presentationml.notesSlide+xml"/>
  <Override PartName="/ppt/tags/tag8.xml" ContentType="application/vnd.openxmlformats-officedocument.presentationml.tags+xml"/>
  <Override PartName="/ppt/notesSlides/notesSlide9.xml" ContentType="application/vnd.openxmlformats-officedocument.presentationml.notesSlide+xml"/>
  <Override PartName="/ppt/tags/tag9.xml" ContentType="application/vnd.openxmlformats-officedocument.presentationml.tags+xml"/>
  <Override PartName="/ppt/notesSlides/notesSlide10.xml" ContentType="application/vnd.openxmlformats-officedocument.presentationml.notesSlide+xml"/>
  <Override PartName="/ppt/tags/tag10.xml" ContentType="application/vnd.openxmlformats-officedocument.presentationml.tags+xml"/>
  <Override PartName="/ppt/notesSlides/notesSlide11.xml" ContentType="application/vnd.openxmlformats-officedocument.presentationml.notesSlide+xml"/>
  <Override PartName="/ppt/tags/tag11.xml" ContentType="application/vnd.openxmlformats-officedocument.presentationml.tags+xml"/>
  <Override PartName="/ppt/notesSlides/notesSlide12.xml" ContentType="application/vnd.openxmlformats-officedocument.presentationml.notesSlide+xml"/>
  <Override PartName="/ppt/tags/tag12.xml" ContentType="application/vnd.openxmlformats-officedocument.presentationml.tags+xml"/>
  <Override PartName="/ppt/notesSlides/notesSlide13.xml" ContentType="application/vnd.openxmlformats-officedocument.presentationml.notesSlide+xml"/>
  <Override PartName="/ppt/tags/tag13.xml" ContentType="application/vnd.openxmlformats-officedocument.presentationml.tags+xml"/>
  <Override PartName="/ppt/notesSlides/notesSlide14.xml" ContentType="application/vnd.openxmlformats-officedocument.presentationml.notesSlide+xml"/>
  <Override PartName="/ppt/tags/tag14.xml" ContentType="application/vnd.openxmlformats-officedocument.presentationml.tags+xml"/>
  <Override PartName="/ppt/notesSlides/notesSlide15.xml" ContentType="application/vnd.openxmlformats-officedocument.presentationml.notesSlide+xml"/>
  <Override PartName="/ppt/tags/tag15.xml" ContentType="application/vnd.openxmlformats-officedocument.presentationml.tags+xml"/>
  <Override PartName="/ppt/notesSlides/notesSlide16.xml" ContentType="application/vnd.openxmlformats-officedocument.presentationml.notesSlide+xml"/>
  <Override PartName="/ppt/tags/tag16.xml" ContentType="application/vnd.openxmlformats-officedocument.presentationml.tags+xml"/>
  <Override PartName="/ppt/notesSlides/notesSlide17.xml" ContentType="application/vnd.openxmlformats-officedocument.presentationml.notesSlide+xml"/>
  <Override PartName="/ppt/tags/tag17.xml" ContentType="application/vnd.openxmlformats-officedocument.presentationml.tags+xml"/>
  <Override PartName="/ppt/notesSlides/notesSlide18.xml" ContentType="application/vnd.openxmlformats-officedocument.presentationml.notesSlide+xml"/>
  <Override PartName="/ppt/tags/tag18.xml" ContentType="application/vnd.openxmlformats-officedocument.presentationml.tags+xml"/>
  <Override PartName="/ppt/notesSlides/notesSlide19.xml" ContentType="application/vnd.openxmlformats-officedocument.presentationml.notesSlide+xml"/>
  <Override PartName="/ppt/tags/tag19.xml" ContentType="application/vnd.openxmlformats-officedocument.presentationml.tags+xml"/>
  <Override PartName="/ppt/notesSlides/notesSlide20.xml" ContentType="application/vnd.openxmlformats-officedocument.presentationml.notesSlide+xml"/>
  <Override PartName="/ppt/tags/tag20.xml" ContentType="application/vnd.openxmlformats-officedocument.presentationml.tags+xml"/>
  <Override PartName="/ppt/notesSlides/notesSlide21.xml" ContentType="application/vnd.openxmlformats-officedocument.presentationml.notesSlide+xml"/>
  <Override PartName="/ppt/tags/tag21.xml" ContentType="application/vnd.openxmlformats-officedocument.presentationml.tags+xml"/>
  <Override PartName="/ppt/notesSlides/notesSlide22.xml" ContentType="application/vnd.openxmlformats-officedocument.presentationml.notesSlide+xml"/>
  <Override PartName="/ppt/tags/tag22.xml" ContentType="application/vnd.openxmlformats-officedocument.presentationml.tags+xml"/>
  <Override PartName="/ppt/notesSlides/notesSlide23.xml" ContentType="application/vnd.openxmlformats-officedocument.presentationml.notesSlide+xml"/>
  <Override PartName="/ppt/tags/tag23.xml" ContentType="application/vnd.openxmlformats-officedocument.presentationml.tags+xml"/>
  <Override PartName="/ppt/notesSlides/notesSlide24.xml" ContentType="application/vnd.openxmlformats-officedocument.presentationml.notesSlide+xml"/>
  <Override PartName="/ppt/tags/tag24.xml" ContentType="application/vnd.openxmlformats-officedocument.presentationml.tags+xml"/>
  <Override PartName="/ppt/notesSlides/notesSlide25.xml" ContentType="application/vnd.openxmlformats-officedocument.presentationml.notesSlide+xml"/>
  <Override PartName="/ppt/tags/tag25.xml" ContentType="application/vnd.openxmlformats-officedocument.presentationml.tags+xml"/>
  <Override PartName="/ppt/notesSlides/notesSlide26.xml" ContentType="application/vnd.openxmlformats-officedocument.presentationml.notesSlide+xml"/>
  <Override PartName="/ppt/tags/tag26.xml" ContentType="application/vnd.openxmlformats-officedocument.presentationml.tags+xml"/>
  <Override PartName="/ppt/notesSlides/notesSlide27.xml" ContentType="application/vnd.openxmlformats-officedocument.presentationml.notesSlide+xml"/>
  <Override PartName="/ppt/tags/tag27.xml" ContentType="application/vnd.openxmlformats-officedocument.presentationml.tags+xml"/>
  <Override PartName="/ppt/notesSlides/notesSlide28.xml" ContentType="application/vnd.openxmlformats-officedocument.presentationml.notesSlide+xml"/>
  <Override PartName="/ppt/tags/tag28.xml" ContentType="application/vnd.openxmlformats-officedocument.presentationml.tags+xml"/>
  <Override PartName="/ppt/notesSlides/notesSlide29.xml" ContentType="application/vnd.openxmlformats-officedocument.presentationml.notesSlide+xml"/>
  <Override PartName="/ppt/tags/tag29.xml" ContentType="application/vnd.openxmlformats-officedocument.presentationml.tags+xml"/>
  <Override PartName="/ppt/notesSlides/notesSlide30.xml" ContentType="application/vnd.openxmlformats-officedocument.presentationml.notesSlide+xml"/>
  <Override PartName="/ppt/tags/tag30.xml" ContentType="application/vnd.openxmlformats-officedocument.presentationml.tags+xml"/>
  <Override PartName="/ppt/notesSlides/notesSlide31.xml" ContentType="application/vnd.openxmlformats-officedocument.presentationml.notesSlide+xml"/>
  <Override PartName="/ppt/tags/tag31.xml" ContentType="application/vnd.openxmlformats-officedocument.presentationml.tags+xml"/>
  <Override PartName="/ppt/notesSlides/notesSlide32.xml" ContentType="application/vnd.openxmlformats-officedocument.presentationml.notesSlide+xml"/>
  <Override PartName="/ppt/tags/tag32.xml" ContentType="application/vnd.openxmlformats-officedocument.presentationml.tags+xml"/>
  <Override PartName="/ppt/notesSlides/notesSlide33.xml" ContentType="application/vnd.openxmlformats-officedocument.presentationml.notesSlide+xml"/>
  <Override PartName="/ppt/tags/tag33.xml" ContentType="application/vnd.openxmlformats-officedocument.presentationml.tags+xml"/>
  <Override PartName="/ppt/notesSlides/notesSlide34.xml" ContentType="application/vnd.openxmlformats-officedocument.presentationml.notesSlide+xml"/>
  <Override PartName="/ppt/tags/tag34.xml" ContentType="application/vnd.openxmlformats-officedocument.presentationml.tags+xml"/>
  <Override PartName="/ppt/notesSlides/notesSlide35.xml" ContentType="application/vnd.openxmlformats-officedocument.presentationml.notesSlide+xml"/>
  <Override PartName="/ppt/tags/tag35.xml" ContentType="application/vnd.openxmlformats-officedocument.presentationml.tags+xml"/>
  <Override PartName="/ppt/notesSlides/notesSlide36.xml" ContentType="application/vnd.openxmlformats-officedocument.presentationml.notesSlide+xml"/>
  <Override PartName="/ppt/tags/tag36.xml" ContentType="application/vnd.openxmlformats-officedocument.presentationml.tags+xml"/>
  <Override PartName="/ppt/notesSlides/notesSlide37.xml" ContentType="application/vnd.openxmlformats-officedocument.presentationml.notesSlide+xml"/>
  <Override PartName="/ppt/tags/tag37.xml" ContentType="application/vnd.openxmlformats-officedocument.presentationml.tags+xml"/>
  <Override PartName="/ppt/notesSlides/notesSlide38.xml" ContentType="application/vnd.openxmlformats-officedocument.presentationml.notesSlide+xml"/>
  <Override PartName="/ppt/tags/tag38.xml" ContentType="application/vnd.openxmlformats-officedocument.presentationml.tags+xml"/>
  <Override PartName="/ppt/notesSlides/notesSlide39.xml" ContentType="application/vnd.openxmlformats-officedocument.presentationml.notesSlide+xml"/>
  <Override PartName="/ppt/tags/tag39.xml" ContentType="application/vnd.openxmlformats-officedocument.presentationml.tags+xml"/>
  <Override PartName="/ppt/notesSlides/notesSlide40.xml" ContentType="application/vnd.openxmlformats-officedocument.presentationml.notesSlide+xml"/>
  <Override PartName="/ppt/tags/tag40.xml" ContentType="application/vnd.openxmlformats-officedocument.presentationml.tags+xml"/>
  <Override PartName="/ppt/notesSlides/notesSlide41.xml" ContentType="application/vnd.openxmlformats-officedocument.presentationml.notesSlide+xml"/>
  <Override PartName="/ppt/tags/tag41.xml" ContentType="application/vnd.openxmlformats-officedocument.presentationml.tags+xml"/>
  <Override PartName="/ppt/notesSlides/notesSlide42.xml" ContentType="application/vnd.openxmlformats-officedocument.presentationml.notesSlide+xml"/>
  <Override PartName="/ppt/tags/tag42.xml" ContentType="application/vnd.openxmlformats-officedocument.presentationml.tags+xml"/>
  <Override PartName="/ppt/notesSlides/notesSlide43.xml" ContentType="application/vnd.openxmlformats-officedocument.presentationml.notesSlide+xml"/>
  <Override PartName="/ppt/tags/tag43.xml" ContentType="application/vnd.openxmlformats-officedocument.presentationml.tags+xml"/>
  <Override PartName="/ppt/notesSlides/notesSlide44.xml" ContentType="application/vnd.openxmlformats-officedocument.presentationml.notesSlide+xml"/>
  <Override PartName="/ppt/tags/tag44.xml" ContentType="application/vnd.openxmlformats-officedocument.presentationml.tags+xml"/>
  <Override PartName="/ppt/notesSlides/notesSlide45.xml" ContentType="application/vnd.openxmlformats-officedocument.presentationml.notesSlide+xml"/>
  <Override PartName="/ppt/tags/tag45.xml" ContentType="application/vnd.openxmlformats-officedocument.presentationml.tags+xml"/>
  <Override PartName="/ppt/notesSlides/notesSlide46.xml" ContentType="application/vnd.openxmlformats-officedocument.presentationml.notesSlide+xml"/>
  <Override PartName="/ppt/tags/tag46.xml" ContentType="application/vnd.openxmlformats-officedocument.presentationml.tags+xml"/>
  <Override PartName="/ppt/notesSlides/notesSlide47.xml" ContentType="application/vnd.openxmlformats-officedocument.presentationml.notesSlide+xml"/>
  <Override PartName="/ppt/tags/tag47.xml" ContentType="application/vnd.openxmlformats-officedocument.presentationml.tags+xml"/>
  <Override PartName="/ppt/notesSlides/notesSlide48.xml" ContentType="application/vnd.openxmlformats-officedocument.presentationml.notesSlide+xml"/>
  <Override PartName="/ppt/tags/tag48.xml" ContentType="application/vnd.openxmlformats-officedocument.presentationml.tags+xml"/>
  <Override PartName="/ppt/notesSlides/notesSlide49.xml" ContentType="application/vnd.openxmlformats-officedocument.presentationml.notesSlide+xml"/>
  <Override PartName="/ppt/tags/tag49.xml" ContentType="application/vnd.openxmlformats-officedocument.presentationml.tags+xml"/>
  <Override PartName="/ppt/notesSlides/notesSlide50.xml" ContentType="application/vnd.openxmlformats-officedocument.presentationml.notesSlide+xml"/>
  <Override PartName="/ppt/tags/tag50.xml" ContentType="application/vnd.openxmlformats-officedocument.presentationml.tags+xml"/>
  <Override PartName="/ppt/notesSlides/notesSlide51.xml" ContentType="application/vnd.openxmlformats-officedocument.presentationml.notesSlide+xml"/>
  <Override PartName="/ppt/tags/tag51.xml" ContentType="application/vnd.openxmlformats-officedocument.presentationml.tags+xml"/>
  <Override PartName="/ppt/notesSlides/notesSlide52.xml" ContentType="application/vnd.openxmlformats-officedocument.presentationml.notesSlide+xml"/>
  <Override PartName="/ppt/tags/tag52.xml" ContentType="application/vnd.openxmlformats-officedocument.presentationml.tags+xml"/>
  <Override PartName="/ppt/notesSlides/notesSlide53.xml" ContentType="application/vnd.openxmlformats-officedocument.presentationml.notesSlide+xml"/>
  <Override PartName="/ppt/tags/tag53.xml" ContentType="application/vnd.openxmlformats-officedocument.presentationml.tags+xml"/>
  <Override PartName="/ppt/notesSlides/notesSlide54.xml" ContentType="application/vnd.openxmlformats-officedocument.presentationml.notesSlide+xml"/>
  <Override PartName="/ppt/tags/tag54.xml" ContentType="application/vnd.openxmlformats-officedocument.presentationml.tags+xml"/>
  <Override PartName="/ppt/notesSlides/notesSlide55.xml" ContentType="application/vnd.openxmlformats-officedocument.presentationml.notesSlide+xml"/>
  <Override PartName="/ppt/tags/tag55.xml" ContentType="application/vnd.openxmlformats-officedocument.presentationml.tags+xml"/>
  <Override PartName="/ppt/notesSlides/notesSlide56.xml" ContentType="application/vnd.openxmlformats-officedocument.presentationml.notesSlide+xml"/>
  <Override PartName="/ppt/tags/tag56.xml" ContentType="application/vnd.openxmlformats-officedocument.presentationml.tags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59"/>
  </p:notesMasterIdLst>
  <p:sldIdLst>
    <p:sldId id="256" r:id="rId2"/>
    <p:sldId id="310" r:id="rId3"/>
    <p:sldId id="354" r:id="rId4"/>
    <p:sldId id="355" r:id="rId5"/>
    <p:sldId id="356" r:id="rId6"/>
    <p:sldId id="357" r:id="rId7"/>
    <p:sldId id="352" r:id="rId8"/>
    <p:sldId id="359" r:id="rId9"/>
    <p:sldId id="299" r:id="rId10"/>
    <p:sldId id="265" r:id="rId11"/>
    <p:sldId id="300" r:id="rId12"/>
    <p:sldId id="301" r:id="rId13"/>
    <p:sldId id="302" r:id="rId14"/>
    <p:sldId id="303" r:id="rId15"/>
    <p:sldId id="305" r:id="rId16"/>
    <p:sldId id="306" r:id="rId17"/>
    <p:sldId id="304" r:id="rId18"/>
    <p:sldId id="361" r:id="rId19"/>
    <p:sldId id="362" r:id="rId20"/>
    <p:sldId id="360" r:id="rId21"/>
    <p:sldId id="311" r:id="rId22"/>
    <p:sldId id="312" r:id="rId23"/>
    <p:sldId id="313" r:id="rId24"/>
    <p:sldId id="328" r:id="rId25"/>
    <p:sldId id="329" r:id="rId26"/>
    <p:sldId id="330" r:id="rId27"/>
    <p:sldId id="331" r:id="rId28"/>
    <p:sldId id="333" r:id="rId29"/>
    <p:sldId id="337" r:id="rId30"/>
    <p:sldId id="336" r:id="rId31"/>
    <p:sldId id="332" r:id="rId32"/>
    <p:sldId id="334" r:id="rId33"/>
    <p:sldId id="335" r:id="rId34"/>
    <p:sldId id="267" r:id="rId35"/>
    <p:sldId id="314" r:id="rId36"/>
    <p:sldId id="268" r:id="rId37"/>
    <p:sldId id="315" r:id="rId38"/>
    <p:sldId id="316" r:id="rId39"/>
    <p:sldId id="269" r:id="rId40"/>
    <p:sldId id="344" r:id="rId41"/>
    <p:sldId id="338" r:id="rId42"/>
    <p:sldId id="339" r:id="rId43"/>
    <p:sldId id="340" r:id="rId44"/>
    <p:sldId id="341" r:id="rId45"/>
    <p:sldId id="342" r:id="rId46"/>
    <p:sldId id="343" r:id="rId47"/>
    <p:sldId id="317" r:id="rId48"/>
    <p:sldId id="319" r:id="rId49"/>
    <p:sldId id="321" r:id="rId50"/>
    <p:sldId id="322" r:id="rId51"/>
    <p:sldId id="363" r:id="rId52"/>
    <p:sldId id="364" r:id="rId53"/>
    <p:sldId id="353" r:id="rId54"/>
    <p:sldId id="348" r:id="rId55"/>
    <p:sldId id="347" r:id="rId56"/>
    <p:sldId id="365" r:id="rId57"/>
    <p:sldId id="346" r:id="rId5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F674663-8059-407E-81A8-506948F93833}">
          <p14:sldIdLst>
            <p14:sldId id="256"/>
            <p14:sldId id="310"/>
            <p14:sldId id="354"/>
            <p14:sldId id="355"/>
            <p14:sldId id="356"/>
            <p14:sldId id="357"/>
            <p14:sldId id="352"/>
            <p14:sldId id="359"/>
            <p14:sldId id="299"/>
            <p14:sldId id="265"/>
            <p14:sldId id="300"/>
            <p14:sldId id="301"/>
            <p14:sldId id="302"/>
            <p14:sldId id="303"/>
            <p14:sldId id="305"/>
            <p14:sldId id="306"/>
            <p14:sldId id="304"/>
            <p14:sldId id="361"/>
            <p14:sldId id="362"/>
            <p14:sldId id="360"/>
            <p14:sldId id="311"/>
            <p14:sldId id="312"/>
            <p14:sldId id="313"/>
            <p14:sldId id="328"/>
            <p14:sldId id="329"/>
            <p14:sldId id="330"/>
            <p14:sldId id="331"/>
            <p14:sldId id="333"/>
            <p14:sldId id="337"/>
            <p14:sldId id="336"/>
            <p14:sldId id="332"/>
            <p14:sldId id="334"/>
            <p14:sldId id="335"/>
            <p14:sldId id="267"/>
            <p14:sldId id="314"/>
            <p14:sldId id="268"/>
            <p14:sldId id="315"/>
            <p14:sldId id="316"/>
            <p14:sldId id="269"/>
            <p14:sldId id="344"/>
            <p14:sldId id="338"/>
            <p14:sldId id="339"/>
            <p14:sldId id="340"/>
            <p14:sldId id="341"/>
            <p14:sldId id="342"/>
            <p14:sldId id="343"/>
            <p14:sldId id="317"/>
            <p14:sldId id="319"/>
            <p14:sldId id="321"/>
            <p14:sldId id="322"/>
            <p14:sldId id="363"/>
            <p14:sldId id="364"/>
            <p14:sldId id="353"/>
            <p14:sldId id="348"/>
            <p14:sldId id="347"/>
            <p14:sldId id="365"/>
            <p14:sldId id="346"/>
          </p14:sldIdLst>
        </p14:section>
        <p14:section name="motivation" id="{35AA79B0-8D2C-43A1-AD77-0AA2DF6D9FE4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hmed E Hassan" initials="AEH" lastIdx="20" clrIdx="0">
    <p:extLst>
      <p:ext uri="{19B8F6BF-5375-455C-9EA6-DF929625EA0E}">
        <p15:presenceInfo xmlns:p15="http://schemas.microsoft.com/office/powerpoint/2012/main" userId="Ahmed E Hassan" providerId="None"/>
      </p:ext>
    </p:extLst>
  </p:cmAuthor>
  <p:cmAuthor id="2" name="wang shaowei" initials="ws" lastIdx="3" clrIdx="1">
    <p:extLst>
      <p:ext uri="{19B8F6BF-5375-455C-9EA6-DF929625EA0E}">
        <p15:presenceInfo xmlns:p15="http://schemas.microsoft.com/office/powerpoint/2012/main" userId="2ee205089b2fa34b" providerId="Windows Live"/>
      </p:ext>
    </p:extLst>
  </p:cmAuthor>
  <p:cmAuthor id="3" name="Ahmed Hassan" initials="AH" lastIdx="12" clrIdx="2">
    <p:extLst>
      <p:ext uri="{19B8F6BF-5375-455C-9EA6-DF929625EA0E}">
        <p15:presenceInfo xmlns:p15="http://schemas.microsoft.com/office/powerpoint/2012/main" userId="S::hassan@queensu.ca::4102316f-6d29-4484-8423-77af86da7306" providerId="AD"/>
      </p:ext>
    </p:extLst>
  </p:cmAuthor>
  <p:cmAuthor id="4" name="Microsoft Office User" initials="MOU" lastIdx="3" clrIdx="3"/>
  <p:cmAuthor id="5" name="Muhammad Asaduzzaman" initials="" lastIdx="14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EE7D2F"/>
    <a:srgbClr val="F4F5F0"/>
    <a:srgbClr val="1936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084"/>
    <p:restoredTop sz="91208" autoAdjust="0"/>
  </p:normalViewPr>
  <p:slideViewPr>
    <p:cSldViewPr snapToGrid="0">
      <p:cViewPr varScale="1">
        <p:scale>
          <a:sx n="98" d="100"/>
          <a:sy n="98" d="100"/>
        </p:scale>
        <p:origin x="1232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CFEEB3-8704-4D92-8DD8-0006BCEB3232}" type="datetimeFigureOut">
              <a:rPr lang="en-US" smtClean="0"/>
              <a:t>1/15/24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108295-F378-479B-B4C4-EE1FE2025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040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843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8358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1125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6407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4188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7884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5868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234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8551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7127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5216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2016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8356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1467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4460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0540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3982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9759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013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3327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14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8916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18849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6171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11206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54399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14553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29181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65778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67918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87968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77678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41067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28903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01171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45944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66370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28983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20740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1013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07763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00497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59321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24309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40635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51930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24684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5561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14897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14574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31032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55531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19645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20520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29280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26227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3059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D3A93-5F34-0140-A4C1-4EAC2E844B8E}" type="datetime1">
              <a:rPr lang="en-CA" smtClean="0"/>
              <a:t>2024-01-15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717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62D11-3CF5-5A45-BCC2-C2BD74B9FC5D}" type="datetime1">
              <a:rPr lang="en-CA" smtClean="0"/>
              <a:t>2024-01-15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330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9C2AB-007C-D646-B598-012C2C29DFA2}" type="datetime1">
              <a:rPr lang="en-CA" smtClean="0"/>
              <a:t>2024-01-15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930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5A3AD-CDCC-6547-B57A-FB59B06BEE89}" type="datetime1">
              <a:rPr lang="en-CA" smtClean="0"/>
              <a:t>2024-01-15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469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BC64B-AE42-4D4D-B93E-B0E2D5CEDDC9}" type="datetime1">
              <a:rPr lang="en-CA" smtClean="0"/>
              <a:t>2024-01-15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040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43E53-3B36-0C4A-809A-3C209156E3ED}" type="datetime1">
              <a:rPr lang="en-CA" smtClean="0"/>
              <a:t>2024-01-15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039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CAAC8-C2A9-D94C-BD9A-DCA9E954316F}" type="datetime1">
              <a:rPr lang="en-CA" smtClean="0"/>
              <a:t>2024-01-15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529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E4EC1-0EB9-AA47-876E-26E419EAD7B5}" type="datetime1">
              <a:rPr lang="en-CA" smtClean="0"/>
              <a:t>2024-01-15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232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06A69-06AA-DA41-888F-7E71770E2D5C}" type="datetime1">
              <a:rPr lang="en-CA" smtClean="0"/>
              <a:t>2024-01-15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681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BC16D-652D-FD49-AAC4-9F56195B2CE6}" type="datetime1">
              <a:rPr lang="en-CA" smtClean="0"/>
              <a:t>2024-01-15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990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14E21-F84E-024D-AD3B-D0AF53A755A2}" type="datetime1">
              <a:rPr lang="en-CA" smtClean="0"/>
              <a:t>2024-01-15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546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4EEDE8-C377-6042-8A81-747D33F2E166}" type="datetime1">
              <a:rPr lang="en-CA" smtClean="0"/>
              <a:t>2024-01-15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5EE1B9-BF1E-4A9E-A347-25B7544482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601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10" Type="http://schemas.openxmlformats.org/officeDocument/2006/relationships/image" Target="../media/image7.svg"/><Relationship Id="rId4" Type="http://schemas.openxmlformats.org/officeDocument/2006/relationships/image" Target="../media/image1.jpeg"/><Relationship Id="rId9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Relationship Id="rId4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Relationship Id="rId4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Relationship Id="rId4" Type="http://schemas.openxmlformats.org/officeDocument/2006/relationships/image" Target="../media/image2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Relationship Id="rId4" Type="http://schemas.openxmlformats.org/officeDocument/2006/relationships/image" Target="../media/image2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Relationship Id="rId4" Type="http://schemas.openxmlformats.org/officeDocument/2006/relationships/image" Target="../media/image2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Relationship Id="rId4" Type="http://schemas.openxmlformats.org/officeDocument/2006/relationships/image" Target="../media/image2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Relationship Id="rId4" Type="http://schemas.openxmlformats.org/officeDocument/2006/relationships/image" Target="../media/image2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Relationship Id="rId4" Type="http://schemas.openxmlformats.org/officeDocument/2006/relationships/image" Target="../media/image2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Relationship Id="rId4" Type="http://schemas.openxmlformats.org/officeDocument/2006/relationships/image" Target="../media/image2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Relationship Id="rId4" Type="http://schemas.openxmlformats.org/officeDocument/2006/relationships/image" Target="../media/image2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Relationship Id="rId4" Type="http://schemas.openxmlformats.org/officeDocument/2006/relationships/image" Target="../media/image2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Relationship Id="rId4" Type="http://schemas.openxmlformats.org/officeDocument/2006/relationships/image" Target="../media/image26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0.xml"/><Relationship Id="rId4" Type="http://schemas.openxmlformats.org/officeDocument/2006/relationships/image" Target="../media/image2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1.xml"/><Relationship Id="rId4" Type="http://schemas.openxmlformats.org/officeDocument/2006/relationships/image" Target="../media/image2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2.xml"/><Relationship Id="rId4" Type="http://schemas.openxmlformats.org/officeDocument/2006/relationships/image" Target="../media/image2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3.xml"/><Relationship Id="rId4" Type="http://schemas.openxmlformats.org/officeDocument/2006/relationships/image" Target="../media/image2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4.xml"/><Relationship Id="rId4" Type="http://schemas.openxmlformats.org/officeDocument/2006/relationships/image" Target="../media/image3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5.xml"/><Relationship Id="rId4" Type="http://schemas.openxmlformats.org/officeDocument/2006/relationships/image" Target="../media/image3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7.xml"/><Relationship Id="rId4" Type="http://schemas.openxmlformats.org/officeDocument/2006/relationships/image" Target="../media/image3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8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9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.xml"/><Relationship Id="rId4" Type="http://schemas.openxmlformats.org/officeDocument/2006/relationships/image" Target="../media/image3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7" Type="http://schemas.openxmlformats.org/officeDocument/2006/relationships/hyperlink" Target="https://github.com/parvez2014/ObserverPatternJDKTutorial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.xml"/><Relationship Id="rId6" Type="http://schemas.openxmlformats.org/officeDocument/2006/relationships/hyperlink" Target="https://github.com/parvez2014/ObserverPatternCustomTutorial" TargetMode="External"/><Relationship Id="rId5" Type="http://schemas.openxmlformats.org/officeDocument/2006/relationships/image" Target="../media/image36.jpg"/><Relationship Id="rId4" Type="http://schemas.openxmlformats.org/officeDocument/2006/relationships/image" Target="../media/image35.jp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.xml"/><Relationship Id="rId4" Type="http://schemas.openxmlformats.org/officeDocument/2006/relationships/image" Target="../media/image37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5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7" Type="http://schemas.openxmlformats.org/officeDocument/2006/relationships/image" Target="../media/image4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6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F8B0D-0870-4E5D-A9E7-9686403109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60634"/>
            <a:ext cx="9144000" cy="1829088"/>
          </a:xfrm>
          <a:solidFill>
            <a:srgbClr val="002060">
              <a:alpha val="90000"/>
            </a:srgbClr>
          </a:solidFill>
          <a:ln>
            <a:solidFill>
              <a:srgbClr val="002060"/>
            </a:solidFill>
          </a:ln>
        </p:spPr>
        <p:txBody>
          <a:bodyPr anchor="ctr">
            <a:noAutofit/>
          </a:bodyPr>
          <a:lstStyle/>
          <a:p>
            <a:r>
              <a:rPr lang="en-CA" sz="5500" b="1" dirty="0">
                <a:solidFill>
                  <a:schemeClr val="bg1"/>
                </a:solidFill>
              </a:rPr>
              <a:t>Software Design Patterns</a:t>
            </a:r>
            <a:br>
              <a:rPr lang="en-CA" sz="5500" b="1" dirty="0">
                <a:solidFill>
                  <a:schemeClr val="bg1"/>
                </a:solidFill>
              </a:rPr>
            </a:br>
            <a:r>
              <a:rPr lang="en-CA" sz="4600" b="1" dirty="0">
                <a:solidFill>
                  <a:schemeClr val="bg1"/>
                </a:solidFill>
              </a:rPr>
              <a:t>Introduction to the Observer Pattern</a:t>
            </a:r>
            <a:endParaRPr lang="en-US" sz="4600" b="1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4E503C-025B-4F93-BFA1-9B0864F2B9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3346" y="4057234"/>
            <a:ext cx="7258050" cy="1768078"/>
          </a:xfrm>
        </p:spPr>
        <p:txBody>
          <a:bodyPr>
            <a:normAutofit/>
          </a:bodyPr>
          <a:lstStyle/>
          <a:p>
            <a:r>
              <a:rPr lang="en-US" sz="3200" b="1" dirty="0"/>
              <a:t>Muhammad Asaduzzaman</a:t>
            </a:r>
          </a:p>
          <a:p>
            <a:r>
              <a:rPr lang="en-US" dirty="0"/>
              <a:t>School of Computer Science, University of Windsor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02372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FFE84-4A01-4DEF-8A10-B0ADD1B5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0"/>
            <a:ext cx="9144000" cy="1325563"/>
          </a:xfrm>
          <a:solidFill>
            <a:srgbClr val="002060">
              <a:alpha val="90000"/>
            </a:srgbClr>
          </a:solidFill>
          <a:ln>
            <a:solidFill>
              <a:srgbClr val="002060"/>
            </a:solidFill>
          </a:ln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Topics</a:t>
            </a:r>
          </a:p>
        </p:txBody>
      </p:sp>
      <p:sp>
        <p:nvSpPr>
          <p:cNvPr id="5" name="AutoShape 2" descr="Image result for zju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D0A502-2AE9-5D4A-B4E7-1B08E08B4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2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62209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FFE84-4A01-4DEF-8A10-B0ADD1B5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0"/>
            <a:ext cx="9144000" cy="1325563"/>
          </a:xfrm>
          <a:solidFill>
            <a:srgbClr val="002060">
              <a:alpha val="90000"/>
            </a:srgbClr>
          </a:solidFill>
          <a:ln>
            <a:solidFill>
              <a:srgbClr val="002060"/>
            </a:solidFill>
          </a:ln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Topics</a:t>
            </a:r>
          </a:p>
        </p:txBody>
      </p:sp>
      <p:sp>
        <p:nvSpPr>
          <p:cNvPr id="5" name="AutoShape 2" descr="Image result for zju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3A8288-6FF6-8649-B444-B2987FB444DE}"/>
              </a:ext>
            </a:extLst>
          </p:cNvPr>
          <p:cNvSpPr txBox="1"/>
          <p:nvPr/>
        </p:nvSpPr>
        <p:spPr>
          <a:xfrm>
            <a:off x="320446" y="2065756"/>
            <a:ext cx="3863627" cy="584775"/>
          </a:xfrm>
          <a:prstGeom prst="rect">
            <a:avLst/>
          </a:prstGeom>
          <a:solidFill>
            <a:srgbClr val="C0000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127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CA" sz="3200" b="1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Importance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713E88-B414-F54C-9F44-0F2E23C9A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3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95000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FFE84-4A01-4DEF-8A10-B0ADD1B5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0"/>
            <a:ext cx="9144000" cy="1325563"/>
          </a:xfrm>
          <a:solidFill>
            <a:srgbClr val="002060">
              <a:alpha val="90000"/>
            </a:srgbClr>
          </a:solidFill>
          <a:ln>
            <a:solidFill>
              <a:srgbClr val="002060"/>
            </a:solidFill>
          </a:ln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Topics</a:t>
            </a:r>
          </a:p>
        </p:txBody>
      </p:sp>
      <p:sp>
        <p:nvSpPr>
          <p:cNvPr id="5" name="AutoShape 2" descr="Image result for zju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F02F74-7651-4442-8766-343F39525047}"/>
              </a:ext>
            </a:extLst>
          </p:cNvPr>
          <p:cNvSpPr txBox="1"/>
          <p:nvPr/>
        </p:nvSpPr>
        <p:spPr>
          <a:xfrm>
            <a:off x="307975" y="2744788"/>
            <a:ext cx="3876098" cy="584775"/>
          </a:xfrm>
          <a:prstGeom prst="rect">
            <a:avLst/>
          </a:prstGeom>
          <a:solidFill>
            <a:srgbClr val="C0000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127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CA" sz="3200" b="1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Problem Description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3A8288-6FF6-8649-B444-B2987FB444DE}"/>
              </a:ext>
            </a:extLst>
          </p:cNvPr>
          <p:cNvSpPr txBox="1"/>
          <p:nvPr/>
        </p:nvSpPr>
        <p:spPr>
          <a:xfrm>
            <a:off x="320446" y="2065756"/>
            <a:ext cx="3863627" cy="584775"/>
          </a:xfrm>
          <a:prstGeom prst="rect">
            <a:avLst/>
          </a:prstGeom>
          <a:solidFill>
            <a:srgbClr val="C0000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127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CA" sz="3200" b="1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Importance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D90787-6ABB-FF4F-BFCB-311FA3E4E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4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93818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FFE84-4A01-4DEF-8A10-B0ADD1B5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0"/>
            <a:ext cx="9144000" cy="1325563"/>
          </a:xfrm>
          <a:solidFill>
            <a:srgbClr val="002060">
              <a:alpha val="90000"/>
            </a:srgbClr>
          </a:solidFill>
          <a:ln>
            <a:solidFill>
              <a:srgbClr val="002060"/>
            </a:solidFill>
          </a:ln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Topics</a:t>
            </a:r>
          </a:p>
        </p:txBody>
      </p:sp>
      <p:sp>
        <p:nvSpPr>
          <p:cNvPr id="5" name="AutoShape 2" descr="Image result for zju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F02F74-7651-4442-8766-343F39525047}"/>
              </a:ext>
            </a:extLst>
          </p:cNvPr>
          <p:cNvSpPr txBox="1"/>
          <p:nvPr/>
        </p:nvSpPr>
        <p:spPr>
          <a:xfrm>
            <a:off x="307975" y="2744788"/>
            <a:ext cx="3876098" cy="584775"/>
          </a:xfrm>
          <a:prstGeom prst="rect">
            <a:avLst/>
          </a:prstGeom>
          <a:solidFill>
            <a:srgbClr val="C0000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127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CA" sz="3200" b="1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Problem Description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BBFAD5-B2B4-9045-8E69-8039E55F27BE}"/>
              </a:ext>
            </a:extLst>
          </p:cNvPr>
          <p:cNvSpPr txBox="1"/>
          <p:nvPr/>
        </p:nvSpPr>
        <p:spPr>
          <a:xfrm>
            <a:off x="307975" y="3466205"/>
            <a:ext cx="3876098" cy="584775"/>
          </a:xfrm>
          <a:prstGeom prst="rect">
            <a:avLst/>
          </a:prstGeom>
          <a:solidFill>
            <a:srgbClr val="C0000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127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CA" sz="3200" b="1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Solution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3A8288-6FF6-8649-B444-B2987FB444DE}"/>
              </a:ext>
            </a:extLst>
          </p:cNvPr>
          <p:cNvSpPr txBox="1"/>
          <p:nvPr/>
        </p:nvSpPr>
        <p:spPr>
          <a:xfrm>
            <a:off x="320446" y="2065756"/>
            <a:ext cx="3863627" cy="584775"/>
          </a:xfrm>
          <a:prstGeom prst="rect">
            <a:avLst/>
          </a:prstGeom>
          <a:solidFill>
            <a:srgbClr val="C0000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127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CA" sz="3200" b="1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Importance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6F0662-200E-654F-822F-8810240CA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5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50286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FFE84-4A01-4DEF-8A10-B0ADD1B5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0"/>
            <a:ext cx="9144000" cy="1325563"/>
          </a:xfrm>
          <a:solidFill>
            <a:srgbClr val="002060">
              <a:alpha val="90000"/>
            </a:srgbClr>
          </a:solidFill>
          <a:ln>
            <a:solidFill>
              <a:srgbClr val="002060"/>
            </a:solidFill>
          </a:ln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Topics</a:t>
            </a:r>
          </a:p>
        </p:txBody>
      </p:sp>
      <p:sp>
        <p:nvSpPr>
          <p:cNvPr id="5" name="AutoShape 2" descr="Image result for zju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F02F74-7651-4442-8766-343F39525047}"/>
              </a:ext>
            </a:extLst>
          </p:cNvPr>
          <p:cNvSpPr txBox="1"/>
          <p:nvPr/>
        </p:nvSpPr>
        <p:spPr>
          <a:xfrm>
            <a:off x="307975" y="2744788"/>
            <a:ext cx="3876098" cy="584775"/>
          </a:xfrm>
          <a:prstGeom prst="rect">
            <a:avLst/>
          </a:prstGeom>
          <a:solidFill>
            <a:srgbClr val="C0000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127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CA" sz="3200" b="1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Problem Description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BBFAD5-B2B4-9045-8E69-8039E55F27BE}"/>
              </a:ext>
            </a:extLst>
          </p:cNvPr>
          <p:cNvSpPr txBox="1"/>
          <p:nvPr/>
        </p:nvSpPr>
        <p:spPr>
          <a:xfrm>
            <a:off x="307975" y="3466205"/>
            <a:ext cx="3876098" cy="584775"/>
          </a:xfrm>
          <a:prstGeom prst="rect">
            <a:avLst/>
          </a:prstGeom>
          <a:solidFill>
            <a:srgbClr val="C0000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127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CA" sz="3200" b="1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Solution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38AF71-299E-764B-83D7-DB91B666D541}"/>
              </a:ext>
            </a:extLst>
          </p:cNvPr>
          <p:cNvSpPr txBox="1"/>
          <p:nvPr/>
        </p:nvSpPr>
        <p:spPr>
          <a:xfrm>
            <a:off x="307975" y="4169268"/>
            <a:ext cx="3876098" cy="584775"/>
          </a:xfrm>
          <a:prstGeom prst="rect">
            <a:avLst/>
          </a:prstGeom>
          <a:solidFill>
            <a:srgbClr val="C0000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127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CA" sz="3200" b="1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Using Observer Pattern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3A8288-6FF6-8649-B444-B2987FB444DE}"/>
              </a:ext>
            </a:extLst>
          </p:cNvPr>
          <p:cNvSpPr txBox="1"/>
          <p:nvPr/>
        </p:nvSpPr>
        <p:spPr>
          <a:xfrm>
            <a:off x="320446" y="2065756"/>
            <a:ext cx="3863627" cy="584775"/>
          </a:xfrm>
          <a:prstGeom prst="rect">
            <a:avLst/>
          </a:prstGeom>
          <a:solidFill>
            <a:srgbClr val="C0000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127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CA" sz="3200" b="1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Importance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C5D02E-0BB4-A842-A817-A4465A054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25547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FFE84-4A01-4DEF-8A10-B0ADD1B5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0"/>
            <a:ext cx="9144000" cy="1325563"/>
          </a:xfrm>
          <a:solidFill>
            <a:srgbClr val="002060">
              <a:alpha val="90000"/>
            </a:srgbClr>
          </a:solidFill>
          <a:ln>
            <a:solidFill>
              <a:srgbClr val="002060"/>
            </a:solidFill>
          </a:ln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Topics</a:t>
            </a:r>
          </a:p>
        </p:txBody>
      </p:sp>
      <p:sp>
        <p:nvSpPr>
          <p:cNvPr id="5" name="AutoShape 2" descr="Image result for zju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F02F74-7651-4442-8766-343F39525047}"/>
              </a:ext>
            </a:extLst>
          </p:cNvPr>
          <p:cNvSpPr txBox="1"/>
          <p:nvPr/>
        </p:nvSpPr>
        <p:spPr>
          <a:xfrm>
            <a:off x="307975" y="2744788"/>
            <a:ext cx="3876098" cy="584775"/>
          </a:xfrm>
          <a:prstGeom prst="rect">
            <a:avLst/>
          </a:prstGeom>
          <a:solidFill>
            <a:srgbClr val="C0000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127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CA" sz="3200" b="1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Problem Description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BBFAD5-B2B4-9045-8E69-8039E55F27BE}"/>
              </a:ext>
            </a:extLst>
          </p:cNvPr>
          <p:cNvSpPr txBox="1"/>
          <p:nvPr/>
        </p:nvSpPr>
        <p:spPr>
          <a:xfrm>
            <a:off x="307975" y="3466205"/>
            <a:ext cx="3876098" cy="584775"/>
          </a:xfrm>
          <a:prstGeom prst="rect">
            <a:avLst/>
          </a:prstGeom>
          <a:solidFill>
            <a:srgbClr val="C0000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127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CA" sz="3200" b="1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Solution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38AF71-299E-764B-83D7-DB91B666D541}"/>
              </a:ext>
            </a:extLst>
          </p:cNvPr>
          <p:cNvSpPr txBox="1"/>
          <p:nvPr/>
        </p:nvSpPr>
        <p:spPr>
          <a:xfrm>
            <a:off x="307975" y="4169268"/>
            <a:ext cx="3876098" cy="584775"/>
          </a:xfrm>
          <a:prstGeom prst="rect">
            <a:avLst/>
          </a:prstGeom>
          <a:solidFill>
            <a:srgbClr val="C0000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127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CA" sz="3200" b="1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Using Observer Pattern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BD97FF-E3E7-3B47-9BAE-C84DD34ECC6E}"/>
              </a:ext>
            </a:extLst>
          </p:cNvPr>
          <p:cNvSpPr txBox="1"/>
          <p:nvPr/>
        </p:nvSpPr>
        <p:spPr>
          <a:xfrm>
            <a:off x="307975" y="4881684"/>
            <a:ext cx="3876098" cy="584775"/>
          </a:xfrm>
          <a:prstGeom prst="rect">
            <a:avLst/>
          </a:prstGeom>
          <a:solidFill>
            <a:srgbClr val="C0000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127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CA" sz="3200" b="1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Implementation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3A8288-6FF6-8649-B444-B2987FB444DE}"/>
              </a:ext>
            </a:extLst>
          </p:cNvPr>
          <p:cNvSpPr txBox="1"/>
          <p:nvPr/>
        </p:nvSpPr>
        <p:spPr>
          <a:xfrm>
            <a:off x="320446" y="2065756"/>
            <a:ext cx="3863627" cy="584775"/>
          </a:xfrm>
          <a:prstGeom prst="rect">
            <a:avLst/>
          </a:prstGeom>
          <a:solidFill>
            <a:srgbClr val="C0000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127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CA" sz="3200" b="1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Importance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4D836D-2B8C-C449-BB7B-76F3732BF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7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65513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FFE84-4A01-4DEF-8A10-B0ADD1B5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0"/>
            <a:ext cx="9144000" cy="1325563"/>
          </a:xfrm>
          <a:solidFill>
            <a:srgbClr val="002060">
              <a:alpha val="90000"/>
            </a:srgbClr>
          </a:solidFill>
          <a:ln>
            <a:solidFill>
              <a:srgbClr val="002060"/>
            </a:solidFill>
          </a:ln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Learning Outcomes</a:t>
            </a:r>
          </a:p>
        </p:txBody>
      </p:sp>
      <p:sp>
        <p:nvSpPr>
          <p:cNvPr id="5" name="AutoShape 2" descr="Image result for zju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77B687-7185-3942-9E21-90ADC211D94D}"/>
              </a:ext>
            </a:extLst>
          </p:cNvPr>
          <p:cNvSpPr txBox="1"/>
          <p:nvPr/>
        </p:nvSpPr>
        <p:spPr>
          <a:xfrm>
            <a:off x="1241921" y="2175164"/>
            <a:ext cx="6759479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400" dirty="0"/>
              <a:t>Understand the purpose of design patterns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CA" sz="2400" dirty="0"/>
              <a:t>Understand the necessity of dealing with changes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CA" sz="2400" dirty="0"/>
              <a:t>Describe the context of using the observer pattern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CA" sz="2400" dirty="0"/>
              <a:t>Learn how to use the observer pattern in Java</a:t>
            </a:r>
          </a:p>
          <a:p>
            <a:pPr marL="285750" indent="-285750">
              <a:buFont typeface="Wingdings" pitchFamily="2" charset="2"/>
              <a:buChar char="q"/>
            </a:pPr>
            <a:endParaRPr lang="en-CA" sz="2400" dirty="0"/>
          </a:p>
          <a:p>
            <a:pPr marL="285750" indent="-285750">
              <a:buFont typeface="Wingdings" pitchFamily="2" charset="2"/>
              <a:buChar char="q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76A85-3DA3-424B-99DA-3E1C34501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8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00593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FFE84-4A01-4DEF-8A10-B0ADD1B5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0"/>
            <a:ext cx="9144000" cy="1325563"/>
          </a:xfrm>
          <a:solidFill>
            <a:srgbClr val="002060">
              <a:alpha val="90000"/>
            </a:srgbClr>
          </a:solidFill>
          <a:ln>
            <a:solidFill>
              <a:srgbClr val="002060"/>
            </a:solidFill>
          </a:ln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Why should we learn design patterns?</a:t>
            </a:r>
          </a:p>
        </p:txBody>
      </p:sp>
      <p:sp>
        <p:nvSpPr>
          <p:cNvPr id="5" name="AutoShape 2" descr="Image result for zju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009619-8E82-9348-8249-7AC741FCF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9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12750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FFE84-4A01-4DEF-8A10-B0ADD1B5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0"/>
            <a:ext cx="9144000" cy="1325563"/>
          </a:xfrm>
          <a:solidFill>
            <a:srgbClr val="002060">
              <a:alpha val="90000"/>
            </a:srgbClr>
          </a:solidFill>
          <a:ln>
            <a:solidFill>
              <a:srgbClr val="002060"/>
            </a:solidFill>
          </a:ln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Why should we learn design patterns?</a:t>
            </a:r>
          </a:p>
        </p:txBody>
      </p:sp>
      <p:sp>
        <p:nvSpPr>
          <p:cNvPr id="5" name="AutoShape 2" descr="Image result for zju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AE40EE-838E-1E47-A1FE-1025CF781F6B}"/>
              </a:ext>
            </a:extLst>
          </p:cNvPr>
          <p:cNvSpPr txBox="1"/>
          <p:nvPr/>
        </p:nvSpPr>
        <p:spPr>
          <a:xfrm>
            <a:off x="751114" y="1992086"/>
            <a:ext cx="791935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“Each pattern describes a problem which occurs over and over again in our environment, and then describes the core of the solution to that problem in such a way that that you can use this solution a million times over, without ever doing it the same way twice”</a:t>
            </a:r>
          </a:p>
        </p:txBody>
      </p:sp>
      <p:pic>
        <p:nvPicPr>
          <p:cNvPr id="1026" name="Picture 2" descr="Bookstore: A Pattern Language">
            <a:extLst>
              <a:ext uri="{FF2B5EF4-FFF2-40B4-BE49-F238E27FC236}">
                <a16:creationId xmlns:a16="http://schemas.microsoft.com/office/drawing/2014/main" id="{78747EE8-EF60-7A4D-A8D5-D0680B7C3D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3768" y="3796952"/>
            <a:ext cx="2043978" cy="2950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1FC91F1-FECF-3049-A2D6-7DF1BDE1840D}"/>
              </a:ext>
            </a:extLst>
          </p:cNvPr>
          <p:cNvSpPr txBox="1"/>
          <p:nvPr/>
        </p:nvSpPr>
        <p:spPr>
          <a:xfrm>
            <a:off x="2556014" y="3868346"/>
            <a:ext cx="30725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-Christopher Alexander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1957B6-23AE-6248-99A7-B11707CE9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10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521484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FFE84-4A01-4DEF-8A10-B0ADD1B5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0"/>
            <a:ext cx="9144000" cy="1325563"/>
          </a:xfrm>
          <a:solidFill>
            <a:srgbClr val="002060">
              <a:alpha val="90000"/>
            </a:srgbClr>
          </a:solidFill>
          <a:ln>
            <a:solidFill>
              <a:srgbClr val="002060"/>
            </a:solidFill>
          </a:ln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Why should we learn design patterns?</a:t>
            </a:r>
          </a:p>
        </p:txBody>
      </p:sp>
      <p:sp>
        <p:nvSpPr>
          <p:cNvPr id="5" name="AutoShape 2" descr="Image result for zju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AE40EE-838E-1E47-A1FE-1025CF781F6B}"/>
              </a:ext>
            </a:extLst>
          </p:cNvPr>
          <p:cNvSpPr txBox="1"/>
          <p:nvPr/>
        </p:nvSpPr>
        <p:spPr>
          <a:xfrm>
            <a:off x="751114" y="1992086"/>
            <a:ext cx="791935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“Each pattern </a:t>
            </a:r>
            <a:r>
              <a:rPr lang="en-US" sz="2400" b="1" dirty="0">
                <a:solidFill>
                  <a:srgbClr val="C00000"/>
                </a:solidFill>
              </a:rPr>
              <a:t>describes a problem which occurs over and over again</a:t>
            </a:r>
            <a:r>
              <a:rPr lang="en-US" sz="2400" dirty="0"/>
              <a:t> in our environment, and then describes the core of the solution to that problem in such a way that that you can use this solution a million times over, without ever doing it the same way twice”</a:t>
            </a:r>
          </a:p>
        </p:txBody>
      </p:sp>
      <p:pic>
        <p:nvPicPr>
          <p:cNvPr id="1026" name="Picture 2" descr="Bookstore: A Pattern Language">
            <a:extLst>
              <a:ext uri="{FF2B5EF4-FFF2-40B4-BE49-F238E27FC236}">
                <a16:creationId xmlns:a16="http://schemas.microsoft.com/office/drawing/2014/main" id="{78747EE8-EF60-7A4D-A8D5-D0680B7C3D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3768" y="3796952"/>
            <a:ext cx="2043978" cy="2950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1FC91F1-FECF-3049-A2D6-7DF1BDE1840D}"/>
              </a:ext>
            </a:extLst>
          </p:cNvPr>
          <p:cNvSpPr txBox="1"/>
          <p:nvPr/>
        </p:nvSpPr>
        <p:spPr>
          <a:xfrm>
            <a:off x="2556014" y="3868346"/>
            <a:ext cx="30725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-Christopher Alexander</a:t>
            </a:r>
          </a:p>
        </p:txBody>
      </p:sp>
      <p:pic>
        <p:nvPicPr>
          <p:cNvPr id="8" name="Graphic 7" descr="Badge 1">
            <a:extLst>
              <a:ext uri="{FF2B5EF4-FFF2-40B4-BE49-F238E27FC236}">
                <a16:creationId xmlns:a16="http://schemas.microsoft.com/office/drawing/2014/main" id="{5AC7C615-BC1A-714E-9238-8CC395C67B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90458" y="1677671"/>
            <a:ext cx="512619" cy="512619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1C5B52-140D-EE41-8137-69AF2AEF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11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78995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FFE84-4A01-4DEF-8A10-B0ADD1B5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0"/>
            <a:ext cx="9144000" cy="1325563"/>
          </a:xfrm>
          <a:solidFill>
            <a:srgbClr val="002060">
              <a:alpha val="90000"/>
            </a:srgbClr>
          </a:solidFill>
          <a:ln>
            <a:solidFill>
              <a:srgbClr val="002060"/>
            </a:solidFill>
          </a:ln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Why should we learn design patterns?</a:t>
            </a:r>
          </a:p>
        </p:txBody>
      </p:sp>
      <p:sp>
        <p:nvSpPr>
          <p:cNvPr id="5" name="AutoShape 2" descr="Image result for zju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AE40EE-838E-1E47-A1FE-1025CF781F6B}"/>
              </a:ext>
            </a:extLst>
          </p:cNvPr>
          <p:cNvSpPr txBox="1"/>
          <p:nvPr/>
        </p:nvSpPr>
        <p:spPr>
          <a:xfrm>
            <a:off x="751114" y="1992086"/>
            <a:ext cx="791935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“Each pattern </a:t>
            </a:r>
            <a:r>
              <a:rPr lang="en-US" sz="2400" b="1" dirty="0">
                <a:solidFill>
                  <a:srgbClr val="C00000"/>
                </a:solidFill>
              </a:rPr>
              <a:t>describes a problem which occurs over and over again</a:t>
            </a:r>
            <a:r>
              <a:rPr lang="en-US" sz="2400" dirty="0"/>
              <a:t> in our environment, and then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describes the core of the solution to that problem</a:t>
            </a:r>
            <a:r>
              <a:rPr lang="en-US" sz="2400" dirty="0"/>
              <a:t> in such a way that that you can use this solution a million times over, without ever doing it the same way twice”</a:t>
            </a:r>
          </a:p>
        </p:txBody>
      </p:sp>
      <p:pic>
        <p:nvPicPr>
          <p:cNvPr id="1026" name="Picture 2" descr="Bookstore: A Pattern Language">
            <a:extLst>
              <a:ext uri="{FF2B5EF4-FFF2-40B4-BE49-F238E27FC236}">
                <a16:creationId xmlns:a16="http://schemas.microsoft.com/office/drawing/2014/main" id="{78747EE8-EF60-7A4D-A8D5-D0680B7C3D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3768" y="3796952"/>
            <a:ext cx="2043978" cy="2950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1FC91F1-FECF-3049-A2D6-7DF1BDE1840D}"/>
              </a:ext>
            </a:extLst>
          </p:cNvPr>
          <p:cNvSpPr txBox="1"/>
          <p:nvPr/>
        </p:nvSpPr>
        <p:spPr>
          <a:xfrm>
            <a:off x="2556014" y="3868346"/>
            <a:ext cx="30725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-Christopher Alexander</a:t>
            </a:r>
          </a:p>
        </p:txBody>
      </p:sp>
      <p:pic>
        <p:nvPicPr>
          <p:cNvPr id="8" name="Graphic 7" descr="Badge 1">
            <a:extLst>
              <a:ext uri="{FF2B5EF4-FFF2-40B4-BE49-F238E27FC236}">
                <a16:creationId xmlns:a16="http://schemas.microsoft.com/office/drawing/2014/main" id="{41708846-C0D1-3140-B1AF-14FF956F97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90458" y="1677671"/>
            <a:ext cx="512619" cy="512619"/>
          </a:xfrm>
          <a:prstGeom prst="rect">
            <a:avLst/>
          </a:prstGeom>
        </p:spPr>
      </p:pic>
      <p:pic>
        <p:nvPicPr>
          <p:cNvPr id="9" name="Graphic 8" descr="Badge">
            <a:extLst>
              <a:ext uri="{FF2B5EF4-FFF2-40B4-BE49-F238E27FC236}">
                <a16:creationId xmlns:a16="http://schemas.microsoft.com/office/drawing/2014/main" id="{D2C0DC0B-EFFF-1E4E-92A9-1A58937A393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08126" y="2298770"/>
            <a:ext cx="512619" cy="512619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835BD-3E53-C74B-913C-094049D0A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12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37999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FFE84-4A01-4DEF-8A10-B0ADD1B5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0"/>
            <a:ext cx="9144000" cy="1325563"/>
          </a:xfrm>
          <a:solidFill>
            <a:srgbClr val="002060">
              <a:alpha val="90000"/>
            </a:srgbClr>
          </a:solidFill>
          <a:ln>
            <a:solidFill>
              <a:srgbClr val="002060"/>
            </a:solidFill>
          </a:ln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Why should we learn design patterns?</a:t>
            </a:r>
          </a:p>
        </p:txBody>
      </p:sp>
      <p:sp>
        <p:nvSpPr>
          <p:cNvPr id="5" name="AutoShape 2" descr="Image result for zju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AE40EE-838E-1E47-A1FE-1025CF781F6B}"/>
              </a:ext>
            </a:extLst>
          </p:cNvPr>
          <p:cNvSpPr txBox="1"/>
          <p:nvPr/>
        </p:nvSpPr>
        <p:spPr>
          <a:xfrm>
            <a:off x="751114" y="1992086"/>
            <a:ext cx="791935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“Each pattern </a:t>
            </a:r>
            <a:r>
              <a:rPr lang="en-US" sz="2400" b="1" dirty="0">
                <a:solidFill>
                  <a:srgbClr val="C00000"/>
                </a:solidFill>
              </a:rPr>
              <a:t>describes a problem which occurs over and over again</a:t>
            </a:r>
            <a:r>
              <a:rPr lang="en-US" sz="2400" dirty="0"/>
              <a:t> in our environment, and then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describes the core of the solution to that problem</a:t>
            </a:r>
            <a:r>
              <a:rPr lang="en-US" sz="2400" dirty="0"/>
              <a:t> in such a way that that you can </a:t>
            </a:r>
            <a:r>
              <a:rPr lang="en-US" sz="2400" b="1" dirty="0">
                <a:solidFill>
                  <a:schemeClr val="accent2"/>
                </a:solidFill>
              </a:rPr>
              <a:t>use this solution a million times over</a:t>
            </a:r>
            <a:r>
              <a:rPr lang="en-US" sz="2400" dirty="0"/>
              <a:t>, without ever doing it the same way twice”</a:t>
            </a:r>
          </a:p>
        </p:txBody>
      </p:sp>
      <p:pic>
        <p:nvPicPr>
          <p:cNvPr id="1026" name="Picture 2" descr="Bookstore: A Pattern Language">
            <a:extLst>
              <a:ext uri="{FF2B5EF4-FFF2-40B4-BE49-F238E27FC236}">
                <a16:creationId xmlns:a16="http://schemas.microsoft.com/office/drawing/2014/main" id="{78747EE8-EF60-7A4D-A8D5-D0680B7C3D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3768" y="3796952"/>
            <a:ext cx="2043978" cy="2950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1FC91F1-FECF-3049-A2D6-7DF1BDE1840D}"/>
              </a:ext>
            </a:extLst>
          </p:cNvPr>
          <p:cNvSpPr txBox="1"/>
          <p:nvPr/>
        </p:nvSpPr>
        <p:spPr>
          <a:xfrm>
            <a:off x="2556014" y="3868346"/>
            <a:ext cx="30725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-Christopher Alexander</a:t>
            </a:r>
          </a:p>
        </p:txBody>
      </p:sp>
      <p:pic>
        <p:nvPicPr>
          <p:cNvPr id="8" name="Graphic 7" descr="Badge 1">
            <a:extLst>
              <a:ext uri="{FF2B5EF4-FFF2-40B4-BE49-F238E27FC236}">
                <a16:creationId xmlns:a16="http://schemas.microsoft.com/office/drawing/2014/main" id="{E56A29E4-B2E8-E740-AB35-5C0F6DB871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90458" y="1677671"/>
            <a:ext cx="512619" cy="512619"/>
          </a:xfrm>
          <a:prstGeom prst="rect">
            <a:avLst/>
          </a:prstGeom>
        </p:spPr>
      </p:pic>
      <p:pic>
        <p:nvPicPr>
          <p:cNvPr id="10" name="Graphic 9" descr="Badge">
            <a:extLst>
              <a:ext uri="{FF2B5EF4-FFF2-40B4-BE49-F238E27FC236}">
                <a16:creationId xmlns:a16="http://schemas.microsoft.com/office/drawing/2014/main" id="{D50B0D6E-B19C-BB4C-A235-2EA19962B28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08126" y="2298770"/>
            <a:ext cx="512619" cy="512619"/>
          </a:xfrm>
          <a:prstGeom prst="rect">
            <a:avLst/>
          </a:prstGeom>
        </p:spPr>
      </p:pic>
      <p:pic>
        <p:nvPicPr>
          <p:cNvPr id="12" name="Graphic 11" descr="Badge 3">
            <a:extLst>
              <a:ext uri="{FF2B5EF4-FFF2-40B4-BE49-F238E27FC236}">
                <a16:creationId xmlns:a16="http://schemas.microsoft.com/office/drawing/2014/main" id="{F1D6A888-A6FF-E641-9535-152DBD82361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14900" y="3089560"/>
            <a:ext cx="512619" cy="512619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88A956-FAAD-E64A-BFF9-6E0A020D4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13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349869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FFE84-4A01-4DEF-8A10-B0ADD1B5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0"/>
            <a:ext cx="9144000" cy="1325563"/>
          </a:xfrm>
          <a:solidFill>
            <a:srgbClr val="002060">
              <a:alpha val="90000"/>
            </a:srgbClr>
          </a:solidFill>
          <a:ln>
            <a:solidFill>
              <a:srgbClr val="002060"/>
            </a:solidFill>
          </a:ln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Why are design patterns important?</a:t>
            </a:r>
          </a:p>
        </p:txBody>
      </p:sp>
      <p:sp>
        <p:nvSpPr>
          <p:cNvPr id="5" name="AutoShape 2" descr="Image result for zju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1BF9DC-BFA4-674F-9CE7-FCB965907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14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084138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FFE84-4A01-4DEF-8A10-B0ADD1B5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0"/>
            <a:ext cx="9144000" cy="1325563"/>
          </a:xfrm>
          <a:solidFill>
            <a:srgbClr val="002060">
              <a:alpha val="90000"/>
            </a:srgbClr>
          </a:solidFill>
          <a:ln>
            <a:solidFill>
              <a:srgbClr val="002060"/>
            </a:solidFill>
          </a:ln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Why are design patterns important?</a:t>
            </a:r>
          </a:p>
        </p:txBody>
      </p:sp>
      <p:sp>
        <p:nvSpPr>
          <p:cNvPr id="5" name="AutoShape 2" descr="Image result for zju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 descr="A picture containing logo&#10;&#10;Description automatically generated">
            <a:extLst>
              <a:ext uri="{FF2B5EF4-FFF2-40B4-BE49-F238E27FC236}">
                <a16:creationId xmlns:a16="http://schemas.microsoft.com/office/drawing/2014/main" id="{42B5793D-8FBB-C34C-A3A7-4677ABAA28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999" y="3129110"/>
            <a:ext cx="3338305" cy="228031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B85732-2AD4-504A-B735-8C06E267D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15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951675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FFE84-4A01-4DEF-8A10-B0ADD1B5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0"/>
            <a:ext cx="9144000" cy="1325563"/>
          </a:xfrm>
          <a:solidFill>
            <a:srgbClr val="002060">
              <a:alpha val="90000"/>
            </a:srgbClr>
          </a:solidFill>
          <a:ln>
            <a:solidFill>
              <a:srgbClr val="002060"/>
            </a:solidFill>
          </a:ln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Why are design patterns important?</a:t>
            </a:r>
          </a:p>
        </p:txBody>
      </p:sp>
      <p:sp>
        <p:nvSpPr>
          <p:cNvPr id="5" name="AutoShape 2" descr="Image result for zju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 descr="A picture containing logo&#10;&#10;Description automatically generated">
            <a:extLst>
              <a:ext uri="{FF2B5EF4-FFF2-40B4-BE49-F238E27FC236}">
                <a16:creationId xmlns:a16="http://schemas.microsoft.com/office/drawing/2014/main" id="{42B5793D-8FBB-C34C-A3A7-4677ABAA28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999" y="3129110"/>
            <a:ext cx="3338305" cy="2280319"/>
          </a:xfrm>
          <a:prstGeom prst="rect">
            <a:avLst/>
          </a:prstGeom>
        </p:spPr>
      </p:pic>
      <p:pic>
        <p:nvPicPr>
          <p:cNvPr id="10" name="Picture 9" descr="A picture containing icon&#10;&#10;Description automatically generated">
            <a:extLst>
              <a:ext uri="{FF2B5EF4-FFF2-40B4-BE49-F238E27FC236}">
                <a16:creationId xmlns:a16="http://schemas.microsoft.com/office/drawing/2014/main" id="{C0372EA3-B839-1649-8B63-8E80D2B86C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4988" y="1705028"/>
            <a:ext cx="1941230" cy="1979368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DDFC838-F1DC-7542-9183-E7201B601C30}"/>
              </a:ext>
            </a:extLst>
          </p:cNvPr>
          <p:cNvCxnSpPr>
            <a:cxnSpLocks/>
          </p:cNvCxnSpPr>
          <p:nvPr/>
        </p:nvCxnSpPr>
        <p:spPr>
          <a:xfrm flipV="1">
            <a:off x="4077593" y="2997051"/>
            <a:ext cx="1301526" cy="1096779"/>
          </a:xfrm>
          <a:prstGeom prst="straightConnector1">
            <a:avLst/>
          </a:prstGeom>
          <a:ln w="1270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3A92D4-D959-D24E-9632-2EA5CA73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16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359739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FFE84-4A01-4DEF-8A10-B0ADD1B5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0"/>
            <a:ext cx="9144000" cy="1325563"/>
          </a:xfrm>
          <a:solidFill>
            <a:srgbClr val="002060">
              <a:alpha val="90000"/>
            </a:srgbClr>
          </a:solidFill>
          <a:ln>
            <a:solidFill>
              <a:srgbClr val="002060"/>
            </a:solidFill>
          </a:ln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Why are design patterns important?</a:t>
            </a:r>
          </a:p>
        </p:txBody>
      </p:sp>
      <p:sp>
        <p:nvSpPr>
          <p:cNvPr id="5" name="AutoShape 2" descr="Image result for zju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 descr="A picture containing logo&#10;&#10;Description automatically generated">
            <a:extLst>
              <a:ext uri="{FF2B5EF4-FFF2-40B4-BE49-F238E27FC236}">
                <a16:creationId xmlns:a16="http://schemas.microsoft.com/office/drawing/2014/main" id="{42B5793D-8FBB-C34C-A3A7-4677ABAA28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999" y="3129110"/>
            <a:ext cx="3338305" cy="2280319"/>
          </a:xfrm>
          <a:prstGeom prst="rect">
            <a:avLst/>
          </a:prstGeom>
        </p:spPr>
      </p:pic>
      <p:pic>
        <p:nvPicPr>
          <p:cNvPr id="8" name="Picture 7" descr="A picture containing icon&#10;&#10;Description automatically generated">
            <a:extLst>
              <a:ext uri="{FF2B5EF4-FFF2-40B4-BE49-F238E27FC236}">
                <a16:creationId xmlns:a16="http://schemas.microsoft.com/office/drawing/2014/main" id="{82E7F63F-A816-6C4F-ADBD-0DC9022DC5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4988" y="1705028"/>
            <a:ext cx="1941230" cy="1979368"/>
          </a:xfrm>
          <a:prstGeom prst="rect">
            <a:avLst/>
          </a:prstGeom>
        </p:spPr>
      </p:pic>
      <p:pic>
        <p:nvPicPr>
          <p:cNvPr id="10" name="Picture 9" descr="A picture containing schematic&#10;&#10;Description automatically generated">
            <a:extLst>
              <a:ext uri="{FF2B5EF4-FFF2-40B4-BE49-F238E27FC236}">
                <a16:creationId xmlns:a16="http://schemas.microsoft.com/office/drawing/2014/main" id="{92E099D8-1BC4-854C-81F7-0C6E839876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4988" y="4269269"/>
            <a:ext cx="2005361" cy="2280319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91FB5B3-3A1C-D34F-8322-DF84A3EC2CDA}"/>
              </a:ext>
            </a:extLst>
          </p:cNvPr>
          <p:cNvCxnSpPr>
            <a:cxnSpLocks/>
          </p:cNvCxnSpPr>
          <p:nvPr/>
        </p:nvCxnSpPr>
        <p:spPr>
          <a:xfrm>
            <a:off x="4109658" y="4372436"/>
            <a:ext cx="1269461" cy="1169052"/>
          </a:xfrm>
          <a:prstGeom prst="straightConnector1">
            <a:avLst/>
          </a:prstGeom>
          <a:ln w="1270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B32143E-1C2C-3F4B-B944-4A35E8182593}"/>
              </a:ext>
            </a:extLst>
          </p:cNvPr>
          <p:cNvCxnSpPr>
            <a:cxnSpLocks/>
          </p:cNvCxnSpPr>
          <p:nvPr/>
        </p:nvCxnSpPr>
        <p:spPr>
          <a:xfrm flipV="1">
            <a:off x="4077593" y="2997051"/>
            <a:ext cx="1301526" cy="1096779"/>
          </a:xfrm>
          <a:prstGeom prst="straightConnector1">
            <a:avLst/>
          </a:prstGeom>
          <a:ln w="1270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EC7596-34D8-0D4F-B2B8-6D66E7627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17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988601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FFE84-4A01-4DEF-8A10-B0ADD1B5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0"/>
            <a:ext cx="9144000" cy="1325563"/>
          </a:xfrm>
          <a:solidFill>
            <a:srgbClr val="002060">
              <a:alpha val="90000"/>
            </a:srgbClr>
          </a:solidFill>
          <a:ln>
            <a:solidFill>
              <a:srgbClr val="002060"/>
            </a:solidFill>
          </a:ln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A Catalog of Design Patterns</a:t>
            </a:r>
          </a:p>
        </p:txBody>
      </p:sp>
      <p:sp>
        <p:nvSpPr>
          <p:cNvPr id="5" name="AutoShape 2" descr="Image result for zju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7E8E988-F110-084F-8206-727E48B3DB98}"/>
              </a:ext>
            </a:extLst>
          </p:cNvPr>
          <p:cNvSpPr txBox="1">
            <a:spLocks noChangeArrowheads="1"/>
          </p:cNvSpPr>
          <p:nvPr/>
        </p:nvSpPr>
        <p:spPr>
          <a:xfrm>
            <a:off x="460375" y="1714260"/>
            <a:ext cx="8437418" cy="50051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860425" algn="l"/>
                <a:tab pos="1143000" algn="l"/>
                <a:tab pos="1431925" algn="l"/>
                <a:tab pos="3311525" algn="l"/>
                <a:tab pos="6630988" algn="l"/>
              </a:tabLst>
            </a:pPr>
            <a:r>
              <a:rPr lang="en-US" altLang="en-US" b="1" dirty="0">
                <a:solidFill>
                  <a:srgbClr val="262626"/>
                </a:solidFill>
              </a:rPr>
              <a:t>Creational Patterns	</a:t>
            </a:r>
            <a:r>
              <a:rPr lang="en-US" altLang="en-US" sz="1800" i="1" dirty="0">
                <a:solidFill>
                  <a:srgbClr val="262626"/>
                </a:solidFill>
              </a:rPr>
              <a:t>(abstracting the object-instantiation process)</a:t>
            </a:r>
            <a:endParaRPr lang="en-US" altLang="en-US" sz="800" dirty="0">
              <a:solidFill>
                <a:srgbClr val="262626"/>
              </a:solidFill>
            </a:endParaRPr>
          </a:p>
          <a:p>
            <a:pPr lvl="1">
              <a:tabLst>
                <a:tab pos="860425" algn="l"/>
                <a:tab pos="1143000" algn="l"/>
                <a:tab pos="1431925" algn="l"/>
                <a:tab pos="3311525" algn="l"/>
                <a:tab pos="6630988" algn="l"/>
              </a:tabLst>
            </a:pPr>
            <a:r>
              <a:rPr lang="en-US" altLang="en-US" dirty="0">
                <a:solidFill>
                  <a:srgbClr val="404040"/>
                </a:solidFill>
              </a:rPr>
              <a:t>Factory Method	Abstract Factory	Singleton</a:t>
            </a:r>
          </a:p>
          <a:p>
            <a:pPr lvl="1">
              <a:tabLst>
                <a:tab pos="860425" algn="l"/>
                <a:tab pos="1143000" algn="l"/>
                <a:tab pos="1431925" algn="l"/>
                <a:tab pos="3311525" algn="l"/>
                <a:tab pos="6630988" algn="l"/>
              </a:tabLst>
            </a:pPr>
            <a:r>
              <a:rPr lang="en-US" altLang="en-US" dirty="0">
                <a:solidFill>
                  <a:srgbClr val="404040"/>
                </a:solidFill>
              </a:rPr>
              <a:t>Builder	Prototype</a:t>
            </a:r>
          </a:p>
          <a:p>
            <a:pPr lvl="1">
              <a:tabLst>
                <a:tab pos="860425" algn="l"/>
                <a:tab pos="1143000" algn="l"/>
                <a:tab pos="1431925" algn="l"/>
                <a:tab pos="3311525" algn="l"/>
                <a:tab pos="6630988" algn="l"/>
              </a:tabLst>
            </a:pPr>
            <a:endParaRPr lang="en-US" altLang="en-US" sz="1200" dirty="0">
              <a:solidFill>
                <a:srgbClr val="40404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C19897-0521-624B-8646-9815AA0E2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18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769287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FFE84-4A01-4DEF-8A10-B0ADD1B5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0"/>
            <a:ext cx="9144000" cy="1325563"/>
          </a:xfrm>
          <a:solidFill>
            <a:srgbClr val="002060">
              <a:alpha val="90000"/>
            </a:srgbClr>
          </a:solidFill>
          <a:ln>
            <a:solidFill>
              <a:srgbClr val="002060"/>
            </a:solidFill>
          </a:ln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A Catalog of Design Patterns</a:t>
            </a:r>
          </a:p>
        </p:txBody>
      </p:sp>
      <p:sp>
        <p:nvSpPr>
          <p:cNvPr id="5" name="AutoShape 2" descr="Image result for zju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7E8E988-F110-084F-8206-727E48B3DB98}"/>
              </a:ext>
            </a:extLst>
          </p:cNvPr>
          <p:cNvSpPr txBox="1">
            <a:spLocks noChangeArrowheads="1"/>
          </p:cNvSpPr>
          <p:nvPr/>
        </p:nvSpPr>
        <p:spPr>
          <a:xfrm>
            <a:off x="460375" y="1714260"/>
            <a:ext cx="8437418" cy="50051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860425" algn="l"/>
                <a:tab pos="1143000" algn="l"/>
                <a:tab pos="1431925" algn="l"/>
                <a:tab pos="3311525" algn="l"/>
                <a:tab pos="6630988" algn="l"/>
              </a:tabLst>
            </a:pPr>
            <a:r>
              <a:rPr lang="en-US" altLang="en-US" b="1" dirty="0">
                <a:solidFill>
                  <a:srgbClr val="262626"/>
                </a:solidFill>
              </a:rPr>
              <a:t>Creational Patterns	</a:t>
            </a:r>
            <a:r>
              <a:rPr lang="en-US" altLang="en-US" sz="1800" i="1" dirty="0">
                <a:solidFill>
                  <a:srgbClr val="262626"/>
                </a:solidFill>
              </a:rPr>
              <a:t>(abstracting the object-instantiation process)</a:t>
            </a:r>
            <a:endParaRPr lang="en-US" altLang="en-US" sz="800" dirty="0">
              <a:solidFill>
                <a:srgbClr val="262626"/>
              </a:solidFill>
            </a:endParaRPr>
          </a:p>
          <a:p>
            <a:pPr lvl="1">
              <a:tabLst>
                <a:tab pos="860425" algn="l"/>
                <a:tab pos="1143000" algn="l"/>
                <a:tab pos="1431925" algn="l"/>
                <a:tab pos="3311525" algn="l"/>
                <a:tab pos="6630988" algn="l"/>
              </a:tabLst>
            </a:pPr>
            <a:r>
              <a:rPr lang="en-US" altLang="en-US" dirty="0">
                <a:solidFill>
                  <a:srgbClr val="404040"/>
                </a:solidFill>
              </a:rPr>
              <a:t>Factory Method	Abstract Factory	Singleton</a:t>
            </a:r>
          </a:p>
          <a:p>
            <a:pPr lvl="1">
              <a:tabLst>
                <a:tab pos="860425" algn="l"/>
                <a:tab pos="1143000" algn="l"/>
                <a:tab pos="1431925" algn="l"/>
                <a:tab pos="3311525" algn="l"/>
                <a:tab pos="6630988" algn="l"/>
              </a:tabLst>
            </a:pPr>
            <a:r>
              <a:rPr lang="en-US" altLang="en-US" dirty="0">
                <a:solidFill>
                  <a:srgbClr val="404040"/>
                </a:solidFill>
              </a:rPr>
              <a:t>Builder	Prototype</a:t>
            </a:r>
          </a:p>
          <a:p>
            <a:pPr lvl="1">
              <a:tabLst>
                <a:tab pos="860425" algn="l"/>
                <a:tab pos="1143000" algn="l"/>
                <a:tab pos="1431925" algn="l"/>
                <a:tab pos="3311525" algn="l"/>
                <a:tab pos="6630988" algn="l"/>
              </a:tabLst>
            </a:pPr>
            <a:endParaRPr lang="en-US" altLang="en-US" sz="1200" dirty="0">
              <a:solidFill>
                <a:srgbClr val="404040"/>
              </a:solidFill>
            </a:endParaRPr>
          </a:p>
          <a:p>
            <a:pPr>
              <a:tabLst>
                <a:tab pos="860425" algn="l"/>
                <a:tab pos="1143000" algn="l"/>
                <a:tab pos="1431925" algn="l"/>
                <a:tab pos="3311525" algn="l"/>
                <a:tab pos="6630988" algn="l"/>
              </a:tabLst>
            </a:pPr>
            <a:r>
              <a:rPr lang="en-US" altLang="en-US" b="1" dirty="0">
                <a:solidFill>
                  <a:srgbClr val="262626"/>
                </a:solidFill>
              </a:rPr>
              <a:t>Structural Patterns</a:t>
            </a:r>
            <a:r>
              <a:rPr lang="en-US" altLang="en-US" dirty="0">
                <a:solidFill>
                  <a:srgbClr val="262626"/>
                </a:solidFill>
              </a:rPr>
              <a:t>	</a:t>
            </a:r>
            <a:r>
              <a:rPr lang="en-US" altLang="en-US" sz="1800" i="1" dirty="0">
                <a:solidFill>
                  <a:srgbClr val="262626"/>
                </a:solidFill>
              </a:rPr>
              <a:t>(how objects/classes can be combined)</a:t>
            </a:r>
            <a:endParaRPr lang="en-US" altLang="en-US" sz="800" dirty="0">
              <a:solidFill>
                <a:srgbClr val="262626"/>
              </a:solidFill>
            </a:endParaRPr>
          </a:p>
          <a:p>
            <a:pPr lvl="1">
              <a:tabLst>
                <a:tab pos="860425" algn="l"/>
                <a:tab pos="1143000" algn="l"/>
                <a:tab pos="1431925" algn="l"/>
                <a:tab pos="3311525" algn="l"/>
                <a:tab pos="6630988" algn="l"/>
              </a:tabLst>
            </a:pPr>
            <a:r>
              <a:rPr lang="en-US" altLang="en-US" dirty="0">
                <a:solidFill>
                  <a:srgbClr val="404040"/>
                </a:solidFill>
              </a:rPr>
              <a:t>Adapter	Bridge	Composite</a:t>
            </a:r>
          </a:p>
          <a:p>
            <a:pPr lvl="1">
              <a:tabLst>
                <a:tab pos="860425" algn="l"/>
                <a:tab pos="1143000" algn="l"/>
                <a:tab pos="1431925" algn="l"/>
                <a:tab pos="3311525" algn="l"/>
                <a:tab pos="6630988" algn="l"/>
              </a:tabLst>
            </a:pPr>
            <a:r>
              <a:rPr lang="en-US" altLang="en-US" dirty="0">
                <a:solidFill>
                  <a:srgbClr val="404040"/>
                </a:solidFill>
              </a:rPr>
              <a:t>Decorator	Facade	Flyweight</a:t>
            </a:r>
          </a:p>
          <a:p>
            <a:pPr lvl="1">
              <a:tabLst>
                <a:tab pos="860425" algn="l"/>
                <a:tab pos="1143000" algn="l"/>
                <a:tab pos="1431925" algn="l"/>
                <a:tab pos="3311525" algn="l"/>
                <a:tab pos="6630988" algn="l"/>
              </a:tabLst>
            </a:pPr>
            <a:r>
              <a:rPr lang="en-US" altLang="en-US" dirty="0">
                <a:solidFill>
                  <a:srgbClr val="404040"/>
                </a:solidFill>
              </a:rPr>
              <a:t>Proxy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83D9E3-3823-4348-908C-3F020FB7F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19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29251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FFE84-4A01-4DEF-8A10-B0ADD1B5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0"/>
            <a:ext cx="9144000" cy="1325563"/>
          </a:xfrm>
          <a:solidFill>
            <a:srgbClr val="002060">
              <a:alpha val="90000"/>
            </a:srgbClr>
          </a:solidFill>
          <a:ln>
            <a:solidFill>
              <a:srgbClr val="002060"/>
            </a:solidFill>
          </a:ln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A Catalog of Design Patterns</a:t>
            </a:r>
          </a:p>
        </p:txBody>
      </p:sp>
      <p:sp>
        <p:nvSpPr>
          <p:cNvPr id="5" name="AutoShape 2" descr="Image result for zju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7E8E988-F110-084F-8206-727E48B3DB98}"/>
              </a:ext>
            </a:extLst>
          </p:cNvPr>
          <p:cNvSpPr txBox="1">
            <a:spLocks noChangeArrowheads="1"/>
          </p:cNvSpPr>
          <p:nvPr/>
        </p:nvSpPr>
        <p:spPr>
          <a:xfrm>
            <a:off x="460375" y="1714260"/>
            <a:ext cx="8437418" cy="500519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860425" algn="l"/>
                <a:tab pos="1143000" algn="l"/>
                <a:tab pos="1431925" algn="l"/>
                <a:tab pos="3311525" algn="l"/>
                <a:tab pos="6630988" algn="l"/>
              </a:tabLst>
            </a:pPr>
            <a:r>
              <a:rPr lang="en-US" altLang="en-US" b="1" dirty="0">
                <a:solidFill>
                  <a:srgbClr val="262626"/>
                </a:solidFill>
              </a:rPr>
              <a:t>Creational Patterns	</a:t>
            </a:r>
            <a:r>
              <a:rPr lang="en-US" altLang="en-US" sz="1800" i="1" dirty="0">
                <a:solidFill>
                  <a:srgbClr val="262626"/>
                </a:solidFill>
              </a:rPr>
              <a:t>(abstracting the object-instantiation process)</a:t>
            </a:r>
            <a:endParaRPr lang="en-US" altLang="en-US" sz="800" dirty="0">
              <a:solidFill>
                <a:srgbClr val="262626"/>
              </a:solidFill>
            </a:endParaRPr>
          </a:p>
          <a:p>
            <a:pPr lvl="1">
              <a:tabLst>
                <a:tab pos="860425" algn="l"/>
                <a:tab pos="1143000" algn="l"/>
                <a:tab pos="1431925" algn="l"/>
                <a:tab pos="3311525" algn="l"/>
                <a:tab pos="6630988" algn="l"/>
              </a:tabLst>
            </a:pPr>
            <a:r>
              <a:rPr lang="en-US" altLang="en-US" dirty="0">
                <a:solidFill>
                  <a:srgbClr val="404040"/>
                </a:solidFill>
              </a:rPr>
              <a:t>Factory Method	Abstract Factory	Singleton</a:t>
            </a:r>
          </a:p>
          <a:p>
            <a:pPr lvl="1">
              <a:tabLst>
                <a:tab pos="860425" algn="l"/>
                <a:tab pos="1143000" algn="l"/>
                <a:tab pos="1431925" algn="l"/>
                <a:tab pos="3311525" algn="l"/>
                <a:tab pos="6630988" algn="l"/>
              </a:tabLst>
            </a:pPr>
            <a:r>
              <a:rPr lang="en-US" altLang="en-US" dirty="0">
                <a:solidFill>
                  <a:srgbClr val="404040"/>
                </a:solidFill>
              </a:rPr>
              <a:t>Builder	Prototype</a:t>
            </a:r>
          </a:p>
          <a:p>
            <a:pPr lvl="1">
              <a:tabLst>
                <a:tab pos="860425" algn="l"/>
                <a:tab pos="1143000" algn="l"/>
                <a:tab pos="1431925" algn="l"/>
                <a:tab pos="3311525" algn="l"/>
                <a:tab pos="6630988" algn="l"/>
              </a:tabLst>
            </a:pPr>
            <a:endParaRPr lang="en-US" altLang="en-US" sz="1200" dirty="0">
              <a:solidFill>
                <a:srgbClr val="404040"/>
              </a:solidFill>
            </a:endParaRPr>
          </a:p>
          <a:p>
            <a:pPr>
              <a:tabLst>
                <a:tab pos="860425" algn="l"/>
                <a:tab pos="1143000" algn="l"/>
                <a:tab pos="1431925" algn="l"/>
                <a:tab pos="3311525" algn="l"/>
                <a:tab pos="6630988" algn="l"/>
              </a:tabLst>
            </a:pPr>
            <a:r>
              <a:rPr lang="en-US" altLang="en-US" b="1" dirty="0">
                <a:solidFill>
                  <a:srgbClr val="262626"/>
                </a:solidFill>
              </a:rPr>
              <a:t>Structural Patterns</a:t>
            </a:r>
            <a:r>
              <a:rPr lang="en-US" altLang="en-US" dirty="0">
                <a:solidFill>
                  <a:srgbClr val="262626"/>
                </a:solidFill>
              </a:rPr>
              <a:t>	</a:t>
            </a:r>
            <a:r>
              <a:rPr lang="en-US" altLang="en-US" sz="1800" i="1" dirty="0">
                <a:solidFill>
                  <a:srgbClr val="262626"/>
                </a:solidFill>
              </a:rPr>
              <a:t>(how objects/classes can be combined)</a:t>
            </a:r>
            <a:endParaRPr lang="en-US" altLang="en-US" sz="800" dirty="0">
              <a:solidFill>
                <a:srgbClr val="262626"/>
              </a:solidFill>
            </a:endParaRPr>
          </a:p>
          <a:p>
            <a:pPr lvl="1">
              <a:tabLst>
                <a:tab pos="860425" algn="l"/>
                <a:tab pos="1143000" algn="l"/>
                <a:tab pos="1431925" algn="l"/>
                <a:tab pos="3311525" algn="l"/>
                <a:tab pos="6630988" algn="l"/>
              </a:tabLst>
            </a:pPr>
            <a:r>
              <a:rPr lang="en-US" altLang="en-US" dirty="0">
                <a:solidFill>
                  <a:srgbClr val="404040"/>
                </a:solidFill>
              </a:rPr>
              <a:t>Adapter	Bridge	Composite</a:t>
            </a:r>
          </a:p>
          <a:p>
            <a:pPr lvl="1">
              <a:tabLst>
                <a:tab pos="860425" algn="l"/>
                <a:tab pos="1143000" algn="l"/>
                <a:tab pos="1431925" algn="l"/>
                <a:tab pos="3311525" algn="l"/>
                <a:tab pos="6630988" algn="l"/>
              </a:tabLst>
            </a:pPr>
            <a:r>
              <a:rPr lang="en-US" altLang="en-US" dirty="0">
                <a:solidFill>
                  <a:srgbClr val="404040"/>
                </a:solidFill>
              </a:rPr>
              <a:t>Decorator	Facade	Flyweight</a:t>
            </a:r>
          </a:p>
          <a:p>
            <a:pPr lvl="1">
              <a:tabLst>
                <a:tab pos="860425" algn="l"/>
                <a:tab pos="1143000" algn="l"/>
                <a:tab pos="1431925" algn="l"/>
                <a:tab pos="3311525" algn="l"/>
                <a:tab pos="6630988" algn="l"/>
              </a:tabLst>
            </a:pPr>
            <a:r>
              <a:rPr lang="en-US" altLang="en-US" dirty="0">
                <a:solidFill>
                  <a:srgbClr val="404040"/>
                </a:solidFill>
              </a:rPr>
              <a:t>Proxy</a:t>
            </a:r>
          </a:p>
          <a:p>
            <a:pPr lvl="1">
              <a:tabLst>
                <a:tab pos="860425" algn="l"/>
                <a:tab pos="1143000" algn="l"/>
                <a:tab pos="1431925" algn="l"/>
                <a:tab pos="3311525" algn="l"/>
                <a:tab pos="6630988" algn="l"/>
              </a:tabLst>
            </a:pPr>
            <a:endParaRPr lang="en-US" altLang="en-US" sz="1200" dirty="0">
              <a:solidFill>
                <a:srgbClr val="404040"/>
              </a:solidFill>
            </a:endParaRPr>
          </a:p>
          <a:p>
            <a:pPr>
              <a:tabLst>
                <a:tab pos="860425" algn="l"/>
                <a:tab pos="1143000" algn="l"/>
                <a:tab pos="1431925" algn="l"/>
                <a:tab pos="3311525" algn="l"/>
                <a:tab pos="6630988" algn="l"/>
              </a:tabLst>
            </a:pPr>
            <a:r>
              <a:rPr lang="en-US" altLang="en-US" b="1" dirty="0">
                <a:solidFill>
                  <a:srgbClr val="262626"/>
                </a:solidFill>
              </a:rPr>
              <a:t>Behavioral Patterns</a:t>
            </a:r>
            <a:r>
              <a:rPr lang="en-US" altLang="en-US" sz="1800" dirty="0">
                <a:solidFill>
                  <a:srgbClr val="262626"/>
                </a:solidFill>
              </a:rPr>
              <a:t>	</a:t>
            </a:r>
            <a:r>
              <a:rPr lang="en-US" altLang="en-US" sz="1800" i="1" dirty="0">
                <a:solidFill>
                  <a:srgbClr val="262626"/>
                </a:solidFill>
              </a:rPr>
              <a:t>(communication between objects)</a:t>
            </a:r>
            <a:endParaRPr lang="en-US" altLang="en-US" sz="800" dirty="0">
              <a:solidFill>
                <a:srgbClr val="262626"/>
              </a:solidFill>
            </a:endParaRPr>
          </a:p>
          <a:p>
            <a:pPr lvl="1">
              <a:tabLst>
                <a:tab pos="860425" algn="l"/>
                <a:tab pos="1143000" algn="l"/>
                <a:tab pos="1431925" algn="l"/>
                <a:tab pos="3311525" algn="l"/>
                <a:tab pos="6630988" algn="l"/>
              </a:tabLst>
            </a:pPr>
            <a:r>
              <a:rPr lang="en-US" altLang="en-US" dirty="0">
                <a:solidFill>
                  <a:srgbClr val="404040"/>
                </a:solidFill>
              </a:rPr>
              <a:t>Command	Interpreter	Iterator</a:t>
            </a:r>
          </a:p>
          <a:p>
            <a:pPr lvl="1">
              <a:tabLst>
                <a:tab pos="860425" algn="l"/>
                <a:tab pos="1143000" algn="l"/>
                <a:tab pos="1431925" algn="l"/>
                <a:tab pos="3311525" algn="l"/>
                <a:tab pos="6630988" algn="l"/>
              </a:tabLst>
            </a:pPr>
            <a:r>
              <a:rPr lang="en-US" altLang="en-US" dirty="0">
                <a:solidFill>
                  <a:srgbClr val="404040"/>
                </a:solidFill>
              </a:rPr>
              <a:t>Mediator	Observer	State</a:t>
            </a:r>
          </a:p>
          <a:p>
            <a:pPr lvl="1">
              <a:tabLst>
                <a:tab pos="860425" algn="l"/>
                <a:tab pos="1143000" algn="l"/>
                <a:tab pos="1431925" algn="l"/>
                <a:tab pos="3311525" algn="l"/>
                <a:tab pos="6630988" algn="l"/>
              </a:tabLst>
            </a:pPr>
            <a:r>
              <a:rPr lang="en-US" altLang="en-US" dirty="0">
                <a:solidFill>
                  <a:srgbClr val="404040"/>
                </a:solidFill>
              </a:rPr>
              <a:t>Strategy	Chain of Responsibility	Visitor</a:t>
            </a:r>
          </a:p>
          <a:p>
            <a:pPr lvl="1">
              <a:tabLst>
                <a:tab pos="860425" algn="l"/>
                <a:tab pos="1143000" algn="l"/>
                <a:tab pos="1431925" algn="l"/>
                <a:tab pos="3311525" algn="l"/>
                <a:tab pos="6630988" algn="l"/>
              </a:tabLst>
            </a:pPr>
            <a:r>
              <a:rPr lang="en-US" altLang="en-US" dirty="0">
                <a:solidFill>
                  <a:srgbClr val="404040"/>
                </a:solidFill>
              </a:rPr>
              <a:t>Template Method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FC801C-72C3-F447-8179-16498B025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20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949828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FFE84-4A01-4DEF-8A10-B0ADD1B5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0"/>
            <a:ext cx="9144000" cy="1325563"/>
          </a:xfrm>
          <a:solidFill>
            <a:srgbClr val="002060">
              <a:alpha val="90000"/>
            </a:srgbClr>
          </a:solidFill>
          <a:ln>
            <a:solidFill>
              <a:srgbClr val="002060"/>
            </a:solidFill>
          </a:ln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Problem Description</a:t>
            </a:r>
          </a:p>
        </p:txBody>
      </p:sp>
      <p:sp>
        <p:nvSpPr>
          <p:cNvPr id="5" name="AutoShape 2" descr="Image result for zju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57A4862C-60B2-D148-9E49-F8969DCE45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020" y="5288141"/>
            <a:ext cx="1103853" cy="1198573"/>
          </a:xfrm>
          <a:prstGeom prst="rect">
            <a:avLst/>
          </a:prstGeom>
        </p:spPr>
      </p:pic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id="{C74401BD-8344-5842-850C-6BE87FB151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165" y="3429000"/>
            <a:ext cx="1229880" cy="1168000"/>
          </a:xfrm>
          <a:prstGeom prst="rect">
            <a:avLst/>
          </a:prstGeom>
        </p:spPr>
      </p:pic>
      <p:pic>
        <p:nvPicPr>
          <p:cNvPr id="11" name="Picture 10" descr="A close up of a clock&#10;&#10;Description automatically generated">
            <a:extLst>
              <a:ext uri="{FF2B5EF4-FFF2-40B4-BE49-F238E27FC236}">
                <a16:creationId xmlns:a16="http://schemas.microsoft.com/office/drawing/2014/main" id="{B5FE4BBE-E17B-3842-A5A8-F8F01528DD0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165" y="1725923"/>
            <a:ext cx="1271443" cy="132635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69005AA-B005-B34B-807F-27BC06C8256E}"/>
              </a:ext>
            </a:extLst>
          </p:cNvPr>
          <p:cNvSpPr txBox="1"/>
          <p:nvPr/>
        </p:nvSpPr>
        <p:spPr>
          <a:xfrm>
            <a:off x="307975" y="2875049"/>
            <a:ext cx="2215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Pressure Sensor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6A8C04-D3D5-0A4D-9F84-D8351844C740}"/>
              </a:ext>
            </a:extLst>
          </p:cNvPr>
          <p:cNvSpPr txBox="1"/>
          <p:nvPr/>
        </p:nvSpPr>
        <p:spPr>
          <a:xfrm>
            <a:off x="371970" y="4508082"/>
            <a:ext cx="18906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Temperature </a:t>
            </a:r>
          </a:p>
          <a:p>
            <a:pPr algn="ctr"/>
            <a:r>
              <a:rPr lang="en-US" sz="2400" b="1" dirty="0"/>
              <a:t>Sensor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51DB56-E9E4-8C4C-8033-1DDD931EA25F}"/>
              </a:ext>
            </a:extLst>
          </p:cNvPr>
          <p:cNvSpPr txBox="1"/>
          <p:nvPr/>
        </p:nvSpPr>
        <p:spPr>
          <a:xfrm>
            <a:off x="169383" y="6348167"/>
            <a:ext cx="22958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Humidity Sensor</a:t>
            </a:r>
          </a:p>
        </p:txBody>
      </p:sp>
      <p:pic>
        <p:nvPicPr>
          <p:cNvPr id="16" name="Picture 15" descr="Icon&#10;&#10;Description automatically generated">
            <a:extLst>
              <a:ext uri="{FF2B5EF4-FFF2-40B4-BE49-F238E27FC236}">
                <a16:creationId xmlns:a16="http://schemas.microsoft.com/office/drawing/2014/main" id="{B6F99CCF-9931-BD44-8F48-4BF115930F0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3542" y="3331433"/>
            <a:ext cx="1403163" cy="1265328"/>
          </a:xfrm>
          <a:prstGeom prst="rect">
            <a:avLst/>
          </a:prstGeom>
        </p:spPr>
      </p:pic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3AD457A-BF3C-514A-8438-15B798D858B3}"/>
              </a:ext>
            </a:extLst>
          </p:cNvPr>
          <p:cNvCxnSpPr>
            <a:cxnSpLocks/>
          </p:cNvCxnSpPr>
          <p:nvPr/>
        </p:nvCxnSpPr>
        <p:spPr>
          <a:xfrm flipH="1" flipV="1">
            <a:off x="1905369" y="2557802"/>
            <a:ext cx="1158690" cy="939375"/>
          </a:xfrm>
          <a:prstGeom prst="straightConnector1">
            <a:avLst/>
          </a:prstGeom>
          <a:ln w="1270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F9AB902-DB13-6F44-BCD7-A3017495A146}"/>
              </a:ext>
            </a:extLst>
          </p:cNvPr>
          <p:cNvCxnSpPr>
            <a:cxnSpLocks/>
          </p:cNvCxnSpPr>
          <p:nvPr/>
        </p:nvCxnSpPr>
        <p:spPr>
          <a:xfrm flipH="1">
            <a:off x="1895359" y="4618610"/>
            <a:ext cx="1125915" cy="1154800"/>
          </a:xfrm>
          <a:prstGeom prst="straightConnector1">
            <a:avLst/>
          </a:prstGeom>
          <a:ln w="1270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656AE30-1107-FB45-93B6-DCEE1F96DE70}"/>
              </a:ext>
            </a:extLst>
          </p:cNvPr>
          <p:cNvCxnSpPr>
            <a:cxnSpLocks/>
          </p:cNvCxnSpPr>
          <p:nvPr/>
        </p:nvCxnSpPr>
        <p:spPr>
          <a:xfrm flipH="1">
            <a:off x="1842608" y="4183488"/>
            <a:ext cx="1053237" cy="0"/>
          </a:xfrm>
          <a:prstGeom prst="straightConnector1">
            <a:avLst/>
          </a:prstGeom>
          <a:ln w="1270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1C02BA33-A70F-A34A-8D44-1D2B62A03D7C}"/>
              </a:ext>
            </a:extLst>
          </p:cNvPr>
          <p:cNvSpPr txBox="1"/>
          <p:nvPr/>
        </p:nvSpPr>
        <p:spPr>
          <a:xfrm>
            <a:off x="2969671" y="4670813"/>
            <a:ext cx="13634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Weather </a:t>
            </a:r>
          </a:p>
          <a:p>
            <a:pPr algn="ctr"/>
            <a:r>
              <a:rPr lang="en-US" sz="2400" b="1" dirty="0"/>
              <a:t>Station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81B41A-8ADD-E043-B781-10EF00646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21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606615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FFE84-4A01-4DEF-8A10-B0ADD1B5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0"/>
            <a:ext cx="9144000" cy="1325563"/>
          </a:xfrm>
          <a:solidFill>
            <a:srgbClr val="002060">
              <a:alpha val="90000"/>
            </a:srgbClr>
          </a:solidFill>
          <a:ln>
            <a:solidFill>
              <a:srgbClr val="002060"/>
            </a:solidFill>
          </a:ln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Problem Description</a:t>
            </a:r>
          </a:p>
        </p:txBody>
      </p:sp>
      <p:sp>
        <p:nvSpPr>
          <p:cNvPr id="5" name="AutoShape 2" descr="Image result for zju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57A4862C-60B2-D148-9E49-F8969DCE45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020" y="5288141"/>
            <a:ext cx="1103853" cy="1198573"/>
          </a:xfrm>
          <a:prstGeom prst="rect">
            <a:avLst/>
          </a:prstGeom>
        </p:spPr>
      </p:pic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id="{C74401BD-8344-5842-850C-6BE87FB151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165" y="3429000"/>
            <a:ext cx="1229880" cy="1168000"/>
          </a:xfrm>
          <a:prstGeom prst="rect">
            <a:avLst/>
          </a:prstGeom>
        </p:spPr>
      </p:pic>
      <p:pic>
        <p:nvPicPr>
          <p:cNvPr id="11" name="Picture 10" descr="A close up of a clock&#10;&#10;Description automatically generated">
            <a:extLst>
              <a:ext uri="{FF2B5EF4-FFF2-40B4-BE49-F238E27FC236}">
                <a16:creationId xmlns:a16="http://schemas.microsoft.com/office/drawing/2014/main" id="{B5FE4BBE-E17B-3842-A5A8-F8F01528DD0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165" y="1725923"/>
            <a:ext cx="1271443" cy="132635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69005AA-B005-B34B-807F-27BC06C8256E}"/>
              </a:ext>
            </a:extLst>
          </p:cNvPr>
          <p:cNvSpPr txBox="1"/>
          <p:nvPr/>
        </p:nvSpPr>
        <p:spPr>
          <a:xfrm>
            <a:off x="307975" y="2875049"/>
            <a:ext cx="2215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Pressure Sensor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6A8C04-D3D5-0A4D-9F84-D8351844C740}"/>
              </a:ext>
            </a:extLst>
          </p:cNvPr>
          <p:cNvSpPr txBox="1"/>
          <p:nvPr/>
        </p:nvSpPr>
        <p:spPr>
          <a:xfrm>
            <a:off x="371970" y="4508082"/>
            <a:ext cx="18906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Temperature </a:t>
            </a:r>
          </a:p>
          <a:p>
            <a:pPr algn="ctr"/>
            <a:r>
              <a:rPr lang="en-US" sz="2400" b="1" dirty="0"/>
              <a:t>Sensor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51DB56-E9E4-8C4C-8033-1DDD931EA25F}"/>
              </a:ext>
            </a:extLst>
          </p:cNvPr>
          <p:cNvSpPr txBox="1"/>
          <p:nvPr/>
        </p:nvSpPr>
        <p:spPr>
          <a:xfrm>
            <a:off x="169383" y="6348167"/>
            <a:ext cx="22958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Humidity Sensor</a:t>
            </a:r>
          </a:p>
        </p:txBody>
      </p:sp>
      <p:pic>
        <p:nvPicPr>
          <p:cNvPr id="16" name="Picture 15" descr="Icon&#10;&#10;Description automatically generated">
            <a:extLst>
              <a:ext uri="{FF2B5EF4-FFF2-40B4-BE49-F238E27FC236}">
                <a16:creationId xmlns:a16="http://schemas.microsoft.com/office/drawing/2014/main" id="{B6F99CCF-9931-BD44-8F48-4BF115930F0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3542" y="3331433"/>
            <a:ext cx="1403163" cy="1265328"/>
          </a:xfrm>
          <a:prstGeom prst="rect">
            <a:avLst/>
          </a:prstGeom>
        </p:spPr>
      </p:pic>
      <p:pic>
        <p:nvPicPr>
          <p:cNvPr id="18" name="Picture 17" descr="Icon&#10;&#10;Description automatically generated">
            <a:extLst>
              <a:ext uri="{FF2B5EF4-FFF2-40B4-BE49-F238E27FC236}">
                <a16:creationId xmlns:a16="http://schemas.microsoft.com/office/drawing/2014/main" id="{E26B0D1B-15F2-1342-AD71-10FBD00FE97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9203" y="3525508"/>
            <a:ext cx="917226" cy="1130535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F42ABD7-DA6B-444A-87D8-0B5F0D1E8D03}"/>
              </a:ext>
            </a:extLst>
          </p:cNvPr>
          <p:cNvCxnSpPr>
            <a:cxnSpLocks/>
          </p:cNvCxnSpPr>
          <p:nvPr/>
        </p:nvCxnSpPr>
        <p:spPr>
          <a:xfrm flipV="1">
            <a:off x="4143478" y="4186544"/>
            <a:ext cx="1131610" cy="3056"/>
          </a:xfrm>
          <a:prstGeom prst="straightConnector1">
            <a:avLst/>
          </a:prstGeom>
          <a:ln w="1270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3AD457A-BF3C-514A-8438-15B798D858B3}"/>
              </a:ext>
            </a:extLst>
          </p:cNvPr>
          <p:cNvCxnSpPr>
            <a:cxnSpLocks/>
          </p:cNvCxnSpPr>
          <p:nvPr/>
        </p:nvCxnSpPr>
        <p:spPr>
          <a:xfrm flipH="1" flipV="1">
            <a:off x="1905369" y="2557802"/>
            <a:ext cx="1158690" cy="939375"/>
          </a:xfrm>
          <a:prstGeom prst="straightConnector1">
            <a:avLst/>
          </a:prstGeom>
          <a:ln w="1270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F9AB902-DB13-6F44-BCD7-A3017495A146}"/>
              </a:ext>
            </a:extLst>
          </p:cNvPr>
          <p:cNvCxnSpPr>
            <a:cxnSpLocks/>
          </p:cNvCxnSpPr>
          <p:nvPr/>
        </p:nvCxnSpPr>
        <p:spPr>
          <a:xfrm flipH="1">
            <a:off x="1895359" y="4618610"/>
            <a:ext cx="1125915" cy="1154800"/>
          </a:xfrm>
          <a:prstGeom prst="straightConnector1">
            <a:avLst/>
          </a:prstGeom>
          <a:ln w="1270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656AE30-1107-FB45-93B6-DCEE1F96DE70}"/>
              </a:ext>
            </a:extLst>
          </p:cNvPr>
          <p:cNvCxnSpPr>
            <a:cxnSpLocks/>
          </p:cNvCxnSpPr>
          <p:nvPr/>
        </p:nvCxnSpPr>
        <p:spPr>
          <a:xfrm flipH="1">
            <a:off x="1842608" y="4183488"/>
            <a:ext cx="1053237" cy="0"/>
          </a:xfrm>
          <a:prstGeom prst="straightConnector1">
            <a:avLst/>
          </a:prstGeom>
          <a:ln w="1270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1C02BA33-A70F-A34A-8D44-1D2B62A03D7C}"/>
              </a:ext>
            </a:extLst>
          </p:cNvPr>
          <p:cNvSpPr txBox="1"/>
          <p:nvPr/>
        </p:nvSpPr>
        <p:spPr>
          <a:xfrm>
            <a:off x="2969671" y="4670813"/>
            <a:ext cx="13634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Weather </a:t>
            </a:r>
          </a:p>
          <a:p>
            <a:pPr algn="ctr"/>
            <a:r>
              <a:rPr lang="en-US" sz="2400" b="1" dirty="0"/>
              <a:t>Station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E4B1079-89C4-EA43-85EF-A8B1EDB7CB6B}"/>
              </a:ext>
            </a:extLst>
          </p:cNvPr>
          <p:cNvSpPr txBox="1"/>
          <p:nvPr/>
        </p:nvSpPr>
        <p:spPr>
          <a:xfrm>
            <a:off x="4810881" y="4644935"/>
            <a:ext cx="136345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Weather </a:t>
            </a:r>
          </a:p>
          <a:p>
            <a:pPr algn="ctr"/>
            <a:r>
              <a:rPr lang="en-US" sz="2400" b="1" dirty="0"/>
              <a:t>Data</a:t>
            </a:r>
          </a:p>
          <a:p>
            <a:pPr algn="ctr"/>
            <a:r>
              <a:rPr lang="en-US" sz="2400" b="1" dirty="0"/>
              <a:t>Object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645BBE-1A4C-2749-8E50-16C2350BD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22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819185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FFE84-4A01-4DEF-8A10-B0ADD1B5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0"/>
            <a:ext cx="9144000" cy="1325563"/>
          </a:xfrm>
          <a:solidFill>
            <a:srgbClr val="002060">
              <a:alpha val="90000"/>
            </a:srgbClr>
          </a:solidFill>
          <a:ln>
            <a:solidFill>
              <a:srgbClr val="002060"/>
            </a:solidFill>
          </a:ln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Problem Description</a:t>
            </a:r>
          </a:p>
        </p:txBody>
      </p:sp>
      <p:sp>
        <p:nvSpPr>
          <p:cNvPr id="5" name="AutoShape 2" descr="Image result for zju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57A4862C-60B2-D148-9E49-F8969DCE45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020" y="5288141"/>
            <a:ext cx="1103853" cy="1198573"/>
          </a:xfrm>
          <a:prstGeom prst="rect">
            <a:avLst/>
          </a:prstGeom>
        </p:spPr>
      </p:pic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id="{C74401BD-8344-5842-850C-6BE87FB151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165" y="3429000"/>
            <a:ext cx="1229880" cy="1168000"/>
          </a:xfrm>
          <a:prstGeom prst="rect">
            <a:avLst/>
          </a:prstGeom>
        </p:spPr>
      </p:pic>
      <p:pic>
        <p:nvPicPr>
          <p:cNvPr id="11" name="Picture 10" descr="A close up of a clock&#10;&#10;Description automatically generated">
            <a:extLst>
              <a:ext uri="{FF2B5EF4-FFF2-40B4-BE49-F238E27FC236}">
                <a16:creationId xmlns:a16="http://schemas.microsoft.com/office/drawing/2014/main" id="{B5FE4BBE-E17B-3842-A5A8-F8F01528DD0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165" y="1725923"/>
            <a:ext cx="1271443" cy="132635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69005AA-B005-B34B-807F-27BC06C8256E}"/>
              </a:ext>
            </a:extLst>
          </p:cNvPr>
          <p:cNvSpPr txBox="1"/>
          <p:nvPr/>
        </p:nvSpPr>
        <p:spPr>
          <a:xfrm>
            <a:off x="307975" y="2875049"/>
            <a:ext cx="2215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Pressure Sensor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6A8C04-D3D5-0A4D-9F84-D8351844C740}"/>
              </a:ext>
            </a:extLst>
          </p:cNvPr>
          <p:cNvSpPr txBox="1"/>
          <p:nvPr/>
        </p:nvSpPr>
        <p:spPr>
          <a:xfrm>
            <a:off x="371970" y="4508082"/>
            <a:ext cx="18906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Temperature </a:t>
            </a:r>
          </a:p>
          <a:p>
            <a:pPr algn="ctr"/>
            <a:r>
              <a:rPr lang="en-US" sz="2400" b="1" dirty="0"/>
              <a:t>Sensor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51DB56-E9E4-8C4C-8033-1DDD931EA25F}"/>
              </a:ext>
            </a:extLst>
          </p:cNvPr>
          <p:cNvSpPr txBox="1"/>
          <p:nvPr/>
        </p:nvSpPr>
        <p:spPr>
          <a:xfrm>
            <a:off x="169383" y="6348167"/>
            <a:ext cx="22958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Humidity Sensor</a:t>
            </a:r>
          </a:p>
        </p:txBody>
      </p:sp>
      <p:pic>
        <p:nvPicPr>
          <p:cNvPr id="16" name="Picture 15" descr="Icon&#10;&#10;Description automatically generated">
            <a:extLst>
              <a:ext uri="{FF2B5EF4-FFF2-40B4-BE49-F238E27FC236}">
                <a16:creationId xmlns:a16="http://schemas.microsoft.com/office/drawing/2014/main" id="{B6F99CCF-9931-BD44-8F48-4BF115930F0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3542" y="3331433"/>
            <a:ext cx="1403163" cy="1265328"/>
          </a:xfrm>
          <a:prstGeom prst="rect">
            <a:avLst/>
          </a:prstGeom>
        </p:spPr>
      </p:pic>
      <p:pic>
        <p:nvPicPr>
          <p:cNvPr id="18" name="Picture 17" descr="Icon&#10;&#10;Description automatically generated">
            <a:extLst>
              <a:ext uri="{FF2B5EF4-FFF2-40B4-BE49-F238E27FC236}">
                <a16:creationId xmlns:a16="http://schemas.microsoft.com/office/drawing/2014/main" id="{E26B0D1B-15F2-1342-AD71-10FBD00FE97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9203" y="3525508"/>
            <a:ext cx="917226" cy="1130535"/>
          </a:xfrm>
          <a:prstGeom prst="rect">
            <a:avLst/>
          </a:prstGeom>
        </p:spPr>
      </p:pic>
      <p:pic>
        <p:nvPicPr>
          <p:cNvPr id="20" name="Picture 19" descr="A picture containing shape&#10;&#10;Description automatically generated">
            <a:extLst>
              <a:ext uri="{FF2B5EF4-FFF2-40B4-BE49-F238E27FC236}">
                <a16:creationId xmlns:a16="http://schemas.microsoft.com/office/drawing/2014/main" id="{C26EC265-BAB0-CA47-80BF-E72C6ADD61F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8631" y="1822039"/>
            <a:ext cx="1597394" cy="1322071"/>
          </a:xfrm>
          <a:prstGeom prst="rect">
            <a:avLst/>
          </a:prstGeom>
        </p:spPr>
      </p:pic>
      <p:pic>
        <p:nvPicPr>
          <p:cNvPr id="21" name="Picture 20" descr="A picture containing shape&#10;&#10;Description automatically generated">
            <a:extLst>
              <a:ext uri="{FF2B5EF4-FFF2-40B4-BE49-F238E27FC236}">
                <a16:creationId xmlns:a16="http://schemas.microsoft.com/office/drawing/2014/main" id="{75E5BB96-E605-8044-8DD7-C9938F1D804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8631" y="3525509"/>
            <a:ext cx="1597394" cy="1322071"/>
          </a:xfrm>
          <a:prstGeom prst="rect">
            <a:avLst/>
          </a:prstGeom>
        </p:spPr>
      </p:pic>
      <p:pic>
        <p:nvPicPr>
          <p:cNvPr id="22" name="Picture 21" descr="A picture containing shape&#10;&#10;Description automatically generated">
            <a:extLst>
              <a:ext uri="{FF2B5EF4-FFF2-40B4-BE49-F238E27FC236}">
                <a16:creationId xmlns:a16="http://schemas.microsoft.com/office/drawing/2014/main" id="{65195922-BF76-3746-B71E-AF8CB63B43C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8631" y="5226391"/>
            <a:ext cx="1597394" cy="1322071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F42ABD7-DA6B-444A-87D8-0B5F0D1E8D03}"/>
              </a:ext>
            </a:extLst>
          </p:cNvPr>
          <p:cNvCxnSpPr>
            <a:cxnSpLocks/>
          </p:cNvCxnSpPr>
          <p:nvPr/>
        </p:nvCxnSpPr>
        <p:spPr>
          <a:xfrm flipV="1">
            <a:off x="4143478" y="4186544"/>
            <a:ext cx="1131610" cy="3056"/>
          </a:xfrm>
          <a:prstGeom prst="straightConnector1">
            <a:avLst/>
          </a:prstGeom>
          <a:ln w="1270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76F6A2F-BCCB-614B-BD2E-3EE437CAC1BA}"/>
              </a:ext>
            </a:extLst>
          </p:cNvPr>
          <p:cNvCxnSpPr>
            <a:cxnSpLocks/>
          </p:cNvCxnSpPr>
          <p:nvPr/>
        </p:nvCxnSpPr>
        <p:spPr>
          <a:xfrm flipV="1">
            <a:off x="6107021" y="4183488"/>
            <a:ext cx="1131610" cy="3056"/>
          </a:xfrm>
          <a:prstGeom prst="straightConnector1">
            <a:avLst/>
          </a:prstGeom>
          <a:ln w="1270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67BE236-64C4-7E45-8A9F-C06DA0ABF511}"/>
              </a:ext>
            </a:extLst>
          </p:cNvPr>
          <p:cNvCxnSpPr>
            <a:cxnSpLocks/>
            <a:endCxn id="20" idx="1"/>
          </p:cNvCxnSpPr>
          <p:nvPr/>
        </p:nvCxnSpPr>
        <p:spPr>
          <a:xfrm flipV="1">
            <a:off x="6107021" y="2483075"/>
            <a:ext cx="1131610" cy="1066528"/>
          </a:xfrm>
          <a:prstGeom prst="straightConnector1">
            <a:avLst/>
          </a:prstGeom>
          <a:ln w="1270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28C995A-B45D-8C47-9C2F-0587A162D801}"/>
              </a:ext>
            </a:extLst>
          </p:cNvPr>
          <p:cNvCxnSpPr>
            <a:cxnSpLocks/>
          </p:cNvCxnSpPr>
          <p:nvPr/>
        </p:nvCxnSpPr>
        <p:spPr>
          <a:xfrm>
            <a:off x="6052041" y="4743903"/>
            <a:ext cx="1186590" cy="954573"/>
          </a:xfrm>
          <a:prstGeom prst="straightConnector1">
            <a:avLst/>
          </a:prstGeom>
          <a:ln w="1270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3AD457A-BF3C-514A-8438-15B798D858B3}"/>
              </a:ext>
            </a:extLst>
          </p:cNvPr>
          <p:cNvCxnSpPr>
            <a:cxnSpLocks/>
          </p:cNvCxnSpPr>
          <p:nvPr/>
        </p:nvCxnSpPr>
        <p:spPr>
          <a:xfrm flipH="1" flipV="1">
            <a:off x="1905369" y="2557802"/>
            <a:ext cx="1158690" cy="939375"/>
          </a:xfrm>
          <a:prstGeom prst="straightConnector1">
            <a:avLst/>
          </a:prstGeom>
          <a:ln w="1270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F9AB902-DB13-6F44-BCD7-A3017495A146}"/>
              </a:ext>
            </a:extLst>
          </p:cNvPr>
          <p:cNvCxnSpPr>
            <a:cxnSpLocks/>
          </p:cNvCxnSpPr>
          <p:nvPr/>
        </p:nvCxnSpPr>
        <p:spPr>
          <a:xfrm flipH="1">
            <a:off x="1895359" y="4618610"/>
            <a:ext cx="1125915" cy="1154800"/>
          </a:xfrm>
          <a:prstGeom prst="straightConnector1">
            <a:avLst/>
          </a:prstGeom>
          <a:ln w="1270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656AE30-1107-FB45-93B6-DCEE1F96DE70}"/>
              </a:ext>
            </a:extLst>
          </p:cNvPr>
          <p:cNvCxnSpPr>
            <a:cxnSpLocks/>
          </p:cNvCxnSpPr>
          <p:nvPr/>
        </p:nvCxnSpPr>
        <p:spPr>
          <a:xfrm flipH="1">
            <a:off x="1842608" y="4183488"/>
            <a:ext cx="1053237" cy="0"/>
          </a:xfrm>
          <a:prstGeom prst="straightConnector1">
            <a:avLst/>
          </a:prstGeom>
          <a:ln w="1270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1C02BA33-A70F-A34A-8D44-1D2B62A03D7C}"/>
              </a:ext>
            </a:extLst>
          </p:cNvPr>
          <p:cNvSpPr txBox="1"/>
          <p:nvPr/>
        </p:nvSpPr>
        <p:spPr>
          <a:xfrm>
            <a:off x="2969671" y="4670813"/>
            <a:ext cx="13634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Weather </a:t>
            </a:r>
          </a:p>
          <a:p>
            <a:pPr algn="ctr"/>
            <a:r>
              <a:rPr lang="en-US" sz="2400" b="1" dirty="0"/>
              <a:t>Station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E4B1079-89C4-EA43-85EF-A8B1EDB7CB6B}"/>
              </a:ext>
            </a:extLst>
          </p:cNvPr>
          <p:cNvSpPr txBox="1"/>
          <p:nvPr/>
        </p:nvSpPr>
        <p:spPr>
          <a:xfrm>
            <a:off x="4810881" y="4644935"/>
            <a:ext cx="136345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Weather </a:t>
            </a:r>
          </a:p>
          <a:p>
            <a:pPr algn="ctr"/>
            <a:r>
              <a:rPr lang="en-US" sz="2400" b="1" dirty="0"/>
              <a:t>Data</a:t>
            </a:r>
          </a:p>
          <a:p>
            <a:pPr algn="ctr"/>
            <a:r>
              <a:rPr lang="en-US" sz="2400" b="1" dirty="0"/>
              <a:t>Object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8B2184E-DFB4-1F49-8B79-4AAD477360EF}"/>
              </a:ext>
            </a:extLst>
          </p:cNvPr>
          <p:cNvSpPr txBox="1"/>
          <p:nvPr/>
        </p:nvSpPr>
        <p:spPr>
          <a:xfrm>
            <a:off x="7392101" y="3035512"/>
            <a:ext cx="13348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Display 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5A6F698-352B-C540-B69B-6A6A2C7539E7}"/>
              </a:ext>
            </a:extLst>
          </p:cNvPr>
          <p:cNvSpPr txBox="1"/>
          <p:nvPr/>
        </p:nvSpPr>
        <p:spPr>
          <a:xfrm>
            <a:off x="7437177" y="4710650"/>
            <a:ext cx="13348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Display 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F60240B-3F6F-A345-8401-56BA626F3978}"/>
              </a:ext>
            </a:extLst>
          </p:cNvPr>
          <p:cNvSpPr txBox="1"/>
          <p:nvPr/>
        </p:nvSpPr>
        <p:spPr>
          <a:xfrm>
            <a:off x="7437177" y="6396335"/>
            <a:ext cx="13348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Display 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E74CE2-41FF-904D-84C6-D36A973F6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23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375646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FFE84-4A01-4DEF-8A10-B0ADD1B5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0"/>
            <a:ext cx="9144000" cy="1325563"/>
          </a:xfrm>
          <a:solidFill>
            <a:srgbClr val="002060">
              <a:alpha val="90000"/>
            </a:srgbClr>
          </a:solidFill>
          <a:ln>
            <a:solidFill>
              <a:srgbClr val="002060"/>
            </a:solidFill>
          </a:ln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Weather Data Object</a:t>
            </a:r>
          </a:p>
        </p:txBody>
      </p:sp>
      <p:sp>
        <p:nvSpPr>
          <p:cNvPr id="5" name="AutoShape 2" descr="Image result for zju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1FBDD178-4587-984F-A54F-AEF52595C2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9050" y="2271906"/>
            <a:ext cx="4025900" cy="40005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1F518A-33B0-7347-93C9-3B33E9F43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24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685424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FFE84-4A01-4DEF-8A10-B0ADD1B5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0"/>
            <a:ext cx="9144000" cy="1325563"/>
          </a:xfrm>
          <a:solidFill>
            <a:srgbClr val="002060">
              <a:alpha val="90000"/>
            </a:srgbClr>
          </a:solidFill>
          <a:ln>
            <a:solidFill>
              <a:srgbClr val="002060"/>
            </a:solidFill>
          </a:ln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Weather Data Object</a:t>
            </a:r>
          </a:p>
        </p:txBody>
      </p:sp>
      <p:sp>
        <p:nvSpPr>
          <p:cNvPr id="5" name="AutoShape 2" descr="Image result for zju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632D298C-719B-1341-B5E1-80A3E52D58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713" y="1783531"/>
            <a:ext cx="6071270" cy="490713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BE1418-1E07-EC43-8CA2-72E0EBA12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25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009600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B7CFCDF6-0997-6C41-B232-7C772B61E7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713" y="1852806"/>
            <a:ext cx="5909759" cy="49071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72FFE84-4A01-4DEF-8A10-B0ADD1B5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0"/>
            <a:ext cx="9144000" cy="1325563"/>
          </a:xfrm>
          <a:solidFill>
            <a:srgbClr val="002060">
              <a:alpha val="90000"/>
            </a:srgbClr>
          </a:solidFill>
          <a:ln>
            <a:solidFill>
              <a:srgbClr val="002060"/>
            </a:solidFill>
          </a:ln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Weather Data Object</a:t>
            </a:r>
          </a:p>
        </p:txBody>
      </p:sp>
      <p:sp>
        <p:nvSpPr>
          <p:cNvPr id="5" name="AutoShape 2" descr="Image result for zju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E6C727-3856-8B4E-B5D1-4BD8C419F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26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828602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AE948A6A-87DD-6745-9883-8A027B54A9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713" y="1779974"/>
            <a:ext cx="5697196" cy="49445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72FFE84-4A01-4DEF-8A10-B0ADD1B5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0"/>
            <a:ext cx="9144000" cy="1325563"/>
          </a:xfrm>
          <a:solidFill>
            <a:srgbClr val="002060">
              <a:alpha val="90000"/>
            </a:srgbClr>
          </a:solidFill>
          <a:ln>
            <a:solidFill>
              <a:srgbClr val="002060"/>
            </a:solidFill>
          </a:ln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Weather Data Object</a:t>
            </a:r>
          </a:p>
        </p:txBody>
      </p:sp>
      <p:sp>
        <p:nvSpPr>
          <p:cNvPr id="5" name="AutoShape 2" descr="Image result for zju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D7728F-CD6B-DF42-988C-B6E019AC9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27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27631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A00DEE9D-AC1A-C74A-AF6D-A7C0DCD898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146" y="1816389"/>
            <a:ext cx="7432854" cy="48717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72FFE84-4A01-4DEF-8A10-B0ADD1B5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0"/>
            <a:ext cx="9144000" cy="1325563"/>
          </a:xfrm>
          <a:solidFill>
            <a:srgbClr val="002060">
              <a:alpha val="90000"/>
            </a:srgbClr>
          </a:solidFill>
          <a:ln>
            <a:solidFill>
              <a:srgbClr val="002060"/>
            </a:solidFill>
          </a:ln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Weather Data Object</a:t>
            </a:r>
          </a:p>
        </p:txBody>
      </p:sp>
      <p:sp>
        <p:nvSpPr>
          <p:cNvPr id="5" name="AutoShape 2" descr="Image result for zju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AA117D-60AB-DE4A-9D94-F672C52FF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28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057386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A00DEE9D-AC1A-C74A-AF6D-A7C0DCD898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146" y="1816389"/>
            <a:ext cx="7432854" cy="48717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72FFE84-4A01-4DEF-8A10-B0ADD1B5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0"/>
            <a:ext cx="9144000" cy="1325563"/>
          </a:xfrm>
          <a:solidFill>
            <a:srgbClr val="002060">
              <a:alpha val="90000"/>
            </a:srgbClr>
          </a:solidFill>
          <a:ln>
            <a:solidFill>
              <a:srgbClr val="002060"/>
            </a:solidFill>
          </a:ln>
        </p:spPr>
        <p:txBody>
          <a:bodyPr>
            <a:normAutofit/>
          </a:bodyPr>
          <a:lstStyle/>
          <a:p>
            <a:pPr algn="ctr"/>
            <a:r>
              <a:rPr lang="en-CA" sz="3600" b="1" dirty="0">
                <a:solidFill>
                  <a:schemeClr val="bg1"/>
                </a:solidFill>
              </a:rPr>
              <a:t>Identify the aspects of the application that vary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5" name="AutoShape 2" descr="Image result for zju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4485AD-CCD3-D647-BA5C-BB163A44A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29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590316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A00DEE9D-AC1A-C74A-AF6D-A7C0DCD898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146" y="1816389"/>
            <a:ext cx="7432854" cy="48717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72FFE84-4A01-4DEF-8A10-B0ADD1B5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0"/>
            <a:ext cx="9144000" cy="1325563"/>
          </a:xfrm>
          <a:solidFill>
            <a:srgbClr val="002060">
              <a:alpha val="90000"/>
            </a:srgbClr>
          </a:solidFill>
          <a:ln>
            <a:solidFill>
              <a:srgbClr val="002060"/>
            </a:solidFill>
          </a:ln>
        </p:spPr>
        <p:txBody>
          <a:bodyPr>
            <a:normAutofit/>
          </a:bodyPr>
          <a:lstStyle/>
          <a:p>
            <a:pPr algn="ctr"/>
            <a:r>
              <a:rPr lang="en-CA" sz="3600" b="1" dirty="0">
                <a:solidFill>
                  <a:schemeClr val="bg1"/>
                </a:solidFill>
              </a:rPr>
              <a:t>Identify the aspects of the application that vary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5" name="AutoShape 2" descr="Image result for zju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Horizontal Scroll 6">
            <a:extLst>
              <a:ext uri="{FF2B5EF4-FFF2-40B4-BE49-F238E27FC236}">
                <a16:creationId xmlns:a16="http://schemas.microsoft.com/office/drawing/2014/main" id="{680AA47E-B57A-714C-AFB7-A411DE3E2EBD}"/>
              </a:ext>
            </a:extLst>
          </p:cNvPr>
          <p:cNvSpPr/>
          <p:nvPr/>
        </p:nvSpPr>
        <p:spPr>
          <a:xfrm>
            <a:off x="350416" y="5874327"/>
            <a:ext cx="8443168" cy="813813"/>
          </a:xfrm>
          <a:prstGeom prst="horizontalScroll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CA" sz="2800" b="1" dirty="0">
                <a:solidFill>
                  <a:schemeClr val="bg1"/>
                </a:solidFill>
              </a:rPr>
              <a:t>Which part of this method can vary?</a:t>
            </a:r>
            <a:endParaRPr lang="en-US" sz="2800" b="1" dirty="0">
              <a:solidFill>
                <a:schemeClr val="bg1"/>
              </a:solidFill>
            </a:endParaRPr>
          </a:p>
          <a:p>
            <a:pPr algn="ctr"/>
            <a:endParaRPr lang="en-CA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D941ED-AFC4-3147-8EF7-A9658FBD2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30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700048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A00DEE9D-AC1A-C74A-AF6D-A7C0DCD898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146" y="1816389"/>
            <a:ext cx="7432854" cy="48717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72FFE84-4A01-4DEF-8A10-B0ADD1B5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0"/>
            <a:ext cx="9144000" cy="1325563"/>
          </a:xfrm>
          <a:solidFill>
            <a:srgbClr val="002060">
              <a:alpha val="90000"/>
            </a:srgbClr>
          </a:solidFill>
          <a:ln>
            <a:solidFill>
              <a:srgbClr val="002060"/>
            </a:solidFill>
          </a:ln>
        </p:spPr>
        <p:txBody>
          <a:bodyPr>
            <a:normAutofit/>
          </a:bodyPr>
          <a:lstStyle/>
          <a:p>
            <a:pPr algn="ctr"/>
            <a:r>
              <a:rPr lang="en-CA" sz="3600" b="1" dirty="0">
                <a:solidFill>
                  <a:schemeClr val="bg1"/>
                </a:solidFill>
              </a:rPr>
              <a:t>Identify the aspects of the application that vary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5" name="AutoShape 2" descr="Image result for zju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74392CE-073E-B541-946D-D8AA36319EA0}"/>
              </a:ext>
            </a:extLst>
          </p:cNvPr>
          <p:cNvSpPr/>
          <p:nvPr/>
        </p:nvSpPr>
        <p:spPr>
          <a:xfrm>
            <a:off x="2743200" y="3214253"/>
            <a:ext cx="3823855" cy="1066800"/>
          </a:xfrm>
          <a:prstGeom prst="round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Line Callout 1 8">
            <a:extLst>
              <a:ext uri="{FF2B5EF4-FFF2-40B4-BE49-F238E27FC236}">
                <a16:creationId xmlns:a16="http://schemas.microsoft.com/office/drawing/2014/main" id="{7BF93408-35BF-A948-B1E1-CF233ED3172A}"/>
              </a:ext>
            </a:extLst>
          </p:cNvPr>
          <p:cNvSpPr/>
          <p:nvPr/>
        </p:nvSpPr>
        <p:spPr>
          <a:xfrm>
            <a:off x="6830290" y="2798117"/>
            <a:ext cx="1870365" cy="630883"/>
          </a:xfrm>
          <a:prstGeom prst="borderCallout1">
            <a:avLst>
              <a:gd name="adj1" fmla="val 44837"/>
              <a:gd name="adj2" fmla="val 1191"/>
              <a:gd name="adj3" fmla="val 109108"/>
              <a:gd name="adj4" fmla="val -1318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Not changed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A4BC3C-C0C2-944E-A9AD-B35D469E9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31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25310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A00DEE9D-AC1A-C74A-AF6D-A7C0DCD898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146" y="1816389"/>
            <a:ext cx="7432854" cy="48717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72FFE84-4A01-4DEF-8A10-B0ADD1B5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0"/>
            <a:ext cx="9144000" cy="1325563"/>
          </a:xfrm>
          <a:solidFill>
            <a:srgbClr val="002060">
              <a:alpha val="90000"/>
            </a:srgbClr>
          </a:solidFill>
          <a:ln>
            <a:solidFill>
              <a:srgbClr val="002060"/>
            </a:solidFill>
          </a:ln>
        </p:spPr>
        <p:txBody>
          <a:bodyPr>
            <a:normAutofit/>
          </a:bodyPr>
          <a:lstStyle/>
          <a:p>
            <a:pPr algn="ctr"/>
            <a:r>
              <a:rPr lang="en-CA" sz="3600" b="1" dirty="0">
                <a:solidFill>
                  <a:schemeClr val="bg1"/>
                </a:solidFill>
              </a:rPr>
              <a:t>Identify the aspects of the application that vary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5" name="AutoShape 2" descr="Image result for zju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74392CE-073E-B541-946D-D8AA36319EA0}"/>
              </a:ext>
            </a:extLst>
          </p:cNvPr>
          <p:cNvSpPr/>
          <p:nvPr/>
        </p:nvSpPr>
        <p:spPr>
          <a:xfrm>
            <a:off x="2743200" y="3214253"/>
            <a:ext cx="3823855" cy="1066800"/>
          </a:xfrm>
          <a:prstGeom prst="round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Line Callout 1 8">
            <a:extLst>
              <a:ext uri="{FF2B5EF4-FFF2-40B4-BE49-F238E27FC236}">
                <a16:creationId xmlns:a16="http://schemas.microsoft.com/office/drawing/2014/main" id="{7BF93408-35BF-A948-B1E1-CF233ED3172A}"/>
              </a:ext>
            </a:extLst>
          </p:cNvPr>
          <p:cNvSpPr/>
          <p:nvPr/>
        </p:nvSpPr>
        <p:spPr>
          <a:xfrm>
            <a:off x="6830290" y="2798117"/>
            <a:ext cx="1870365" cy="630883"/>
          </a:xfrm>
          <a:prstGeom prst="borderCallout1">
            <a:avLst>
              <a:gd name="adj1" fmla="val 44837"/>
              <a:gd name="adj2" fmla="val 1191"/>
              <a:gd name="adj3" fmla="val 109108"/>
              <a:gd name="adj4" fmla="val -1318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Not changed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C4CE461-5299-0448-B684-389EBE9F59AD}"/>
              </a:ext>
            </a:extLst>
          </p:cNvPr>
          <p:cNvSpPr/>
          <p:nvPr/>
        </p:nvSpPr>
        <p:spPr>
          <a:xfrm>
            <a:off x="2660070" y="4417796"/>
            <a:ext cx="6400801" cy="1066800"/>
          </a:xfrm>
          <a:prstGeom prst="round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Line Callout 1 10">
            <a:extLst>
              <a:ext uri="{FF2B5EF4-FFF2-40B4-BE49-F238E27FC236}">
                <a16:creationId xmlns:a16="http://schemas.microsoft.com/office/drawing/2014/main" id="{454A06D5-4FC8-C84B-B5FB-2C42DD911600}"/>
              </a:ext>
            </a:extLst>
          </p:cNvPr>
          <p:cNvSpPr/>
          <p:nvPr/>
        </p:nvSpPr>
        <p:spPr>
          <a:xfrm>
            <a:off x="5631871" y="5664561"/>
            <a:ext cx="3068783" cy="808831"/>
          </a:xfrm>
          <a:prstGeom prst="borderCallout1">
            <a:avLst>
              <a:gd name="adj1" fmla="val 44837"/>
              <a:gd name="adj2" fmla="val 1191"/>
              <a:gd name="adj3" fmla="val -22655"/>
              <a:gd name="adj4" fmla="val -3244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Likely to be changed</a:t>
            </a:r>
            <a:br>
              <a:rPr lang="en-US" sz="2400" dirty="0"/>
            </a:br>
            <a:r>
              <a:rPr lang="en-US" sz="2400" dirty="0"/>
              <a:t>why?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08E8EC-4061-CB40-A07B-5B94DF062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32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704420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A00DEE9D-AC1A-C74A-AF6D-A7C0DCD898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146" y="1816389"/>
            <a:ext cx="7432854" cy="48717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72FFE84-4A01-4DEF-8A10-B0ADD1B5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0"/>
            <a:ext cx="9144000" cy="1325563"/>
          </a:xfrm>
          <a:solidFill>
            <a:srgbClr val="002060">
              <a:alpha val="90000"/>
            </a:srgbClr>
          </a:solidFill>
          <a:ln>
            <a:solidFill>
              <a:srgbClr val="002060"/>
            </a:solidFill>
          </a:ln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Program to interface, not to implementation!</a:t>
            </a:r>
          </a:p>
        </p:txBody>
      </p:sp>
      <p:sp>
        <p:nvSpPr>
          <p:cNvPr id="5" name="AutoShape 2" descr="Image result for zju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74392CE-073E-B541-946D-D8AA36319EA0}"/>
              </a:ext>
            </a:extLst>
          </p:cNvPr>
          <p:cNvSpPr/>
          <p:nvPr/>
        </p:nvSpPr>
        <p:spPr>
          <a:xfrm>
            <a:off x="2743200" y="3214253"/>
            <a:ext cx="3823855" cy="1066800"/>
          </a:xfrm>
          <a:prstGeom prst="round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Line Callout 1 8">
            <a:extLst>
              <a:ext uri="{FF2B5EF4-FFF2-40B4-BE49-F238E27FC236}">
                <a16:creationId xmlns:a16="http://schemas.microsoft.com/office/drawing/2014/main" id="{7BF93408-35BF-A948-B1E1-CF233ED3172A}"/>
              </a:ext>
            </a:extLst>
          </p:cNvPr>
          <p:cNvSpPr/>
          <p:nvPr/>
        </p:nvSpPr>
        <p:spPr>
          <a:xfrm>
            <a:off x="6830290" y="2798117"/>
            <a:ext cx="1870365" cy="630883"/>
          </a:xfrm>
          <a:prstGeom prst="borderCallout1">
            <a:avLst>
              <a:gd name="adj1" fmla="val 44837"/>
              <a:gd name="adj2" fmla="val 1191"/>
              <a:gd name="adj3" fmla="val 109108"/>
              <a:gd name="adj4" fmla="val -1318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Not changed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C4CE461-5299-0448-B684-389EBE9F59AD}"/>
              </a:ext>
            </a:extLst>
          </p:cNvPr>
          <p:cNvSpPr/>
          <p:nvPr/>
        </p:nvSpPr>
        <p:spPr>
          <a:xfrm>
            <a:off x="2660070" y="4417796"/>
            <a:ext cx="6400801" cy="1066800"/>
          </a:xfrm>
          <a:prstGeom prst="round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Line Callout 1 10">
            <a:extLst>
              <a:ext uri="{FF2B5EF4-FFF2-40B4-BE49-F238E27FC236}">
                <a16:creationId xmlns:a16="http://schemas.microsoft.com/office/drawing/2014/main" id="{454A06D5-4FC8-C84B-B5FB-2C42DD911600}"/>
              </a:ext>
            </a:extLst>
          </p:cNvPr>
          <p:cNvSpPr/>
          <p:nvPr/>
        </p:nvSpPr>
        <p:spPr>
          <a:xfrm>
            <a:off x="5631872" y="5664561"/>
            <a:ext cx="2805546" cy="630883"/>
          </a:xfrm>
          <a:prstGeom prst="borderCallout1">
            <a:avLst>
              <a:gd name="adj1" fmla="val 44837"/>
              <a:gd name="adj2" fmla="val 1191"/>
              <a:gd name="adj3" fmla="val -22655"/>
              <a:gd name="adj4" fmla="val -3244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Likely to be changed</a:t>
            </a:r>
          </a:p>
        </p:txBody>
      </p:sp>
      <p:sp>
        <p:nvSpPr>
          <p:cNvPr id="13" name="Horizontal Scroll 12">
            <a:extLst>
              <a:ext uri="{FF2B5EF4-FFF2-40B4-BE49-F238E27FC236}">
                <a16:creationId xmlns:a16="http://schemas.microsoft.com/office/drawing/2014/main" id="{DF25ECF0-D23A-C146-9130-992C6DDBBF32}"/>
              </a:ext>
            </a:extLst>
          </p:cNvPr>
          <p:cNvSpPr/>
          <p:nvPr/>
        </p:nvSpPr>
        <p:spPr>
          <a:xfrm>
            <a:off x="623754" y="1729896"/>
            <a:ext cx="8180522" cy="729123"/>
          </a:xfrm>
          <a:prstGeom prst="horizontalScroll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CA" sz="2400" b="1" dirty="0">
                <a:solidFill>
                  <a:schemeClr val="bg1"/>
                </a:solidFill>
              </a:rPr>
              <a:t>Current implementation is not reusable </a:t>
            </a:r>
            <a:endParaRPr lang="en-US" sz="2400" b="1" dirty="0">
              <a:solidFill>
                <a:schemeClr val="bg1"/>
              </a:solidFill>
            </a:endParaRPr>
          </a:p>
          <a:p>
            <a:pPr algn="ctr"/>
            <a:endParaRPr lang="en-CA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63B3AA-71CF-A644-AAA8-C951D1E7E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33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908654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FFE84-4A01-4DEF-8A10-B0ADD1B5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0"/>
            <a:ext cx="9144000" cy="1325563"/>
          </a:xfrm>
          <a:solidFill>
            <a:srgbClr val="002060">
              <a:alpha val="90000"/>
            </a:srgbClr>
          </a:solidFill>
          <a:ln>
            <a:solidFill>
              <a:srgbClr val="002060"/>
            </a:solidFill>
          </a:ln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Observer Pattern</a:t>
            </a:r>
          </a:p>
        </p:txBody>
      </p:sp>
      <p:sp>
        <p:nvSpPr>
          <p:cNvPr id="5" name="AutoShape 2" descr="Image result for zju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F2B0B653-EA3F-904D-92C1-1DBB03368C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48" y="2087739"/>
            <a:ext cx="7007225" cy="33810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54AA56C-366F-984D-9F5B-8AFFBC9407F2}"/>
              </a:ext>
            </a:extLst>
          </p:cNvPr>
          <p:cNvSpPr txBox="1"/>
          <p:nvPr/>
        </p:nvSpPr>
        <p:spPr>
          <a:xfrm>
            <a:off x="5170668" y="1883306"/>
            <a:ext cx="39733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Notify observers of any events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8B92F1-6670-DB4A-BAE9-C8A09BA73022}"/>
              </a:ext>
            </a:extLst>
          </p:cNvPr>
          <p:cNvSpPr txBox="1"/>
          <p:nvPr/>
        </p:nvSpPr>
        <p:spPr>
          <a:xfrm>
            <a:off x="1136983" y="4593346"/>
            <a:ext cx="1093599" cy="384721"/>
          </a:xfrm>
          <a:prstGeom prst="rect">
            <a:avLst/>
          </a:prstGeom>
          <a:solidFill>
            <a:srgbClr val="4472C4"/>
          </a:solidFill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chemeClr val="bg1"/>
                </a:solidFill>
              </a:rPr>
              <a:t>Observer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080A12-AF09-964A-AEE3-A69C85402E4F}"/>
              </a:ext>
            </a:extLst>
          </p:cNvPr>
          <p:cNvSpPr/>
          <p:nvPr/>
        </p:nvSpPr>
        <p:spPr>
          <a:xfrm>
            <a:off x="4061070" y="2549404"/>
            <a:ext cx="1109599" cy="461665"/>
          </a:xfrm>
          <a:prstGeom prst="rect">
            <a:avLst/>
          </a:prstGeom>
          <a:solidFill>
            <a:srgbClr val="EE7D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0907C6-E183-6A45-AA85-06DFA2EE5157}"/>
              </a:ext>
            </a:extLst>
          </p:cNvPr>
          <p:cNvSpPr txBox="1"/>
          <p:nvPr/>
        </p:nvSpPr>
        <p:spPr>
          <a:xfrm>
            <a:off x="4061069" y="2549404"/>
            <a:ext cx="11095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Subject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9925D6-86C3-7641-9809-8D87C7F47B13}"/>
              </a:ext>
            </a:extLst>
          </p:cNvPr>
          <p:cNvSpPr txBox="1"/>
          <p:nvPr/>
        </p:nvSpPr>
        <p:spPr>
          <a:xfrm>
            <a:off x="2912050" y="4593345"/>
            <a:ext cx="1093599" cy="384721"/>
          </a:xfrm>
          <a:prstGeom prst="rect">
            <a:avLst/>
          </a:prstGeom>
          <a:solidFill>
            <a:srgbClr val="4472C4"/>
          </a:solidFill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chemeClr val="bg1"/>
                </a:solidFill>
              </a:rPr>
              <a:t>Observer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2F3E17-3328-5744-93B6-8DB41DCB2341}"/>
              </a:ext>
            </a:extLst>
          </p:cNvPr>
          <p:cNvSpPr txBox="1"/>
          <p:nvPr/>
        </p:nvSpPr>
        <p:spPr>
          <a:xfrm>
            <a:off x="4665433" y="4593345"/>
            <a:ext cx="1093599" cy="384721"/>
          </a:xfrm>
          <a:prstGeom prst="rect">
            <a:avLst/>
          </a:prstGeom>
          <a:solidFill>
            <a:srgbClr val="4472C4"/>
          </a:solidFill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chemeClr val="bg1"/>
                </a:solidFill>
              </a:rPr>
              <a:t>Observer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8E58BC-AA08-1948-B520-ACA4A30881A7}"/>
              </a:ext>
            </a:extLst>
          </p:cNvPr>
          <p:cNvSpPr txBox="1"/>
          <p:nvPr/>
        </p:nvSpPr>
        <p:spPr>
          <a:xfrm>
            <a:off x="6453279" y="4593344"/>
            <a:ext cx="1093599" cy="384721"/>
          </a:xfrm>
          <a:prstGeom prst="rect">
            <a:avLst/>
          </a:prstGeom>
          <a:solidFill>
            <a:srgbClr val="4472C4"/>
          </a:solidFill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chemeClr val="bg1"/>
                </a:solidFill>
              </a:rPr>
              <a:t>Observer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6757DC3-8542-AB40-8B0D-70ABAC532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34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367873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FFE84-4A01-4DEF-8A10-B0ADD1B5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0"/>
            <a:ext cx="9144000" cy="1325563"/>
          </a:xfrm>
          <a:solidFill>
            <a:srgbClr val="002060">
              <a:alpha val="90000"/>
            </a:srgbClr>
          </a:solidFill>
          <a:ln>
            <a:solidFill>
              <a:srgbClr val="002060"/>
            </a:solidFill>
          </a:ln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Observer Pattern</a:t>
            </a:r>
          </a:p>
        </p:txBody>
      </p:sp>
      <p:sp>
        <p:nvSpPr>
          <p:cNvPr id="5" name="AutoShape 2" descr="Image result for zju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F2B0B653-EA3F-904D-92C1-1DBB03368C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48" y="2087739"/>
            <a:ext cx="7007225" cy="33810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873A599-9614-364C-A7F4-ED85CA196B90}"/>
              </a:ext>
            </a:extLst>
          </p:cNvPr>
          <p:cNvSpPr txBox="1"/>
          <p:nvPr/>
        </p:nvSpPr>
        <p:spPr>
          <a:xfrm>
            <a:off x="5170668" y="1883306"/>
            <a:ext cx="39733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Notify observers of any events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612BA9-0F9C-CB43-A675-3628C8B26BFA}"/>
              </a:ext>
            </a:extLst>
          </p:cNvPr>
          <p:cNvSpPr txBox="1"/>
          <p:nvPr/>
        </p:nvSpPr>
        <p:spPr>
          <a:xfrm>
            <a:off x="1228878" y="6028318"/>
            <a:ext cx="53333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Observer pattern provides loose coupling</a:t>
            </a:r>
          </a:p>
        </p:txBody>
      </p:sp>
      <p:pic>
        <p:nvPicPr>
          <p:cNvPr id="14338" name="Picture 2" descr="Why Does a Thumbs-Up Gesture Mean “okay”? | guernseydonkey.com">
            <a:extLst>
              <a:ext uri="{FF2B5EF4-FFF2-40B4-BE49-F238E27FC236}">
                <a16:creationId xmlns:a16="http://schemas.microsoft.com/office/drawing/2014/main" id="{34226FC5-9714-3940-8272-15AED91824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034" y="5641778"/>
            <a:ext cx="730844" cy="894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5D4DE0E-E560-7649-836D-0C0481D0F7A5}"/>
              </a:ext>
            </a:extLst>
          </p:cNvPr>
          <p:cNvSpPr/>
          <p:nvPr/>
        </p:nvSpPr>
        <p:spPr>
          <a:xfrm>
            <a:off x="4061070" y="2549404"/>
            <a:ext cx="1109599" cy="461665"/>
          </a:xfrm>
          <a:prstGeom prst="rect">
            <a:avLst/>
          </a:prstGeom>
          <a:solidFill>
            <a:srgbClr val="EE7D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4E455B-4933-7C4E-B272-5738C1E43078}"/>
              </a:ext>
            </a:extLst>
          </p:cNvPr>
          <p:cNvSpPr txBox="1"/>
          <p:nvPr/>
        </p:nvSpPr>
        <p:spPr>
          <a:xfrm>
            <a:off x="4061069" y="2549404"/>
            <a:ext cx="11095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Subject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7BB6DB-0401-4841-98B5-2E7DC1024AA9}"/>
              </a:ext>
            </a:extLst>
          </p:cNvPr>
          <p:cNvSpPr txBox="1"/>
          <p:nvPr/>
        </p:nvSpPr>
        <p:spPr>
          <a:xfrm>
            <a:off x="1136983" y="4593346"/>
            <a:ext cx="1093599" cy="384721"/>
          </a:xfrm>
          <a:prstGeom prst="rect">
            <a:avLst/>
          </a:prstGeom>
          <a:solidFill>
            <a:srgbClr val="4472C4"/>
          </a:solidFill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chemeClr val="bg1"/>
                </a:solidFill>
              </a:rPr>
              <a:t>Observer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9968C9-15D4-3A40-8272-7E0E3A47D215}"/>
              </a:ext>
            </a:extLst>
          </p:cNvPr>
          <p:cNvSpPr txBox="1"/>
          <p:nvPr/>
        </p:nvSpPr>
        <p:spPr>
          <a:xfrm>
            <a:off x="2912050" y="4593345"/>
            <a:ext cx="1093599" cy="384721"/>
          </a:xfrm>
          <a:prstGeom prst="rect">
            <a:avLst/>
          </a:prstGeom>
          <a:solidFill>
            <a:srgbClr val="4472C4"/>
          </a:solidFill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chemeClr val="bg1"/>
                </a:solidFill>
              </a:rPr>
              <a:t>Observer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46F1A6-3307-2141-AA1D-5D3568AE3DA9}"/>
              </a:ext>
            </a:extLst>
          </p:cNvPr>
          <p:cNvSpPr txBox="1"/>
          <p:nvPr/>
        </p:nvSpPr>
        <p:spPr>
          <a:xfrm>
            <a:off x="4665433" y="4593345"/>
            <a:ext cx="1093599" cy="384721"/>
          </a:xfrm>
          <a:prstGeom prst="rect">
            <a:avLst/>
          </a:prstGeom>
          <a:solidFill>
            <a:srgbClr val="4472C4"/>
          </a:solidFill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chemeClr val="bg1"/>
                </a:solidFill>
              </a:rPr>
              <a:t>Observer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669C91-27E7-7444-A5BF-27741E647568}"/>
              </a:ext>
            </a:extLst>
          </p:cNvPr>
          <p:cNvSpPr txBox="1"/>
          <p:nvPr/>
        </p:nvSpPr>
        <p:spPr>
          <a:xfrm>
            <a:off x="6453279" y="4593344"/>
            <a:ext cx="1093599" cy="384721"/>
          </a:xfrm>
          <a:prstGeom prst="rect">
            <a:avLst/>
          </a:prstGeom>
          <a:solidFill>
            <a:srgbClr val="4472C4"/>
          </a:solidFill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chemeClr val="bg1"/>
                </a:solidFill>
              </a:rPr>
              <a:t>Observer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E5906F-3043-FE4D-B850-B7BDCBA39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35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208905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FFE84-4A01-4DEF-8A10-B0ADD1B5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0"/>
            <a:ext cx="9144000" cy="1325563"/>
          </a:xfrm>
          <a:solidFill>
            <a:srgbClr val="002060">
              <a:alpha val="90000"/>
            </a:srgbClr>
          </a:solidFill>
          <a:ln>
            <a:solidFill>
              <a:srgbClr val="002060"/>
            </a:solidFill>
          </a:ln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Observer Pattern</a:t>
            </a:r>
          </a:p>
        </p:txBody>
      </p:sp>
      <p:sp>
        <p:nvSpPr>
          <p:cNvPr id="5" name="AutoShape 2" descr="Image result for zju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 descr="Icon&#10;&#10;Description automatically generated">
            <a:extLst>
              <a:ext uri="{FF2B5EF4-FFF2-40B4-BE49-F238E27FC236}">
                <a16:creationId xmlns:a16="http://schemas.microsoft.com/office/drawing/2014/main" id="{C5D65C9F-59F6-9342-9663-93CB02BC22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75" y="2047247"/>
            <a:ext cx="8229600" cy="411909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BB2362-C8D5-FF48-8D6A-8DB94B023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36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367239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FFE84-4A01-4DEF-8A10-B0ADD1B5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0"/>
            <a:ext cx="9144000" cy="1325563"/>
          </a:xfrm>
          <a:solidFill>
            <a:srgbClr val="002060">
              <a:alpha val="90000"/>
            </a:srgbClr>
          </a:solidFill>
          <a:ln>
            <a:solidFill>
              <a:srgbClr val="002060"/>
            </a:solidFill>
          </a:ln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Observer Pattern</a:t>
            </a:r>
          </a:p>
        </p:txBody>
      </p:sp>
      <p:sp>
        <p:nvSpPr>
          <p:cNvPr id="5" name="AutoShape 2" descr="Image result for zju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D630D66B-59BC-5944-8555-BC7D2DAE97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778" y="2331288"/>
            <a:ext cx="8578443" cy="4259122"/>
          </a:xfrm>
          <a:prstGeom prst="rect">
            <a:avLst/>
          </a:prstGeom>
        </p:spPr>
      </p:pic>
      <p:sp>
        <p:nvSpPr>
          <p:cNvPr id="12" name="Line Callout 1 11">
            <a:extLst>
              <a:ext uri="{FF2B5EF4-FFF2-40B4-BE49-F238E27FC236}">
                <a16:creationId xmlns:a16="http://schemas.microsoft.com/office/drawing/2014/main" id="{0BC34747-6600-E541-AFAC-05E5F5DEDC68}"/>
              </a:ext>
            </a:extLst>
          </p:cNvPr>
          <p:cNvSpPr/>
          <p:nvPr/>
        </p:nvSpPr>
        <p:spPr>
          <a:xfrm>
            <a:off x="2840181" y="1672695"/>
            <a:ext cx="1731819" cy="630883"/>
          </a:xfrm>
          <a:prstGeom prst="borderCallout1">
            <a:avLst>
              <a:gd name="adj1" fmla="val 44837"/>
              <a:gd name="adj2" fmla="val 1191"/>
              <a:gd name="adj3" fmla="val 232087"/>
              <a:gd name="adj4" fmla="val -2438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Latex Editor</a:t>
            </a:r>
          </a:p>
        </p:txBody>
      </p:sp>
      <p:sp>
        <p:nvSpPr>
          <p:cNvPr id="13" name="Line Callout 1 12">
            <a:extLst>
              <a:ext uri="{FF2B5EF4-FFF2-40B4-BE49-F238E27FC236}">
                <a16:creationId xmlns:a16="http://schemas.microsoft.com/office/drawing/2014/main" id="{E6C8B3D2-B25A-C447-858D-1ED37249EA0E}"/>
              </a:ext>
            </a:extLst>
          </p:cNvPr>
          <p:cNvSpPr/>
          <p:nvPr/>
        </p:nvSpPr>
        <p:spPr>
          <a:xfrm>
            <a:off x="5638800" y="1672695"/>
            <a:ext cx="1731819" cy="630883"/>
          </a:xfrm>
          <a:prstGeom prst="borderCallout1">
            <a:avLst>
              <a:gd name="adj1" fmla="val 44837"/>
              <a:gd name="adj2" fmla="val 1191"/>
              <a:gd name="adj3" fmla="val 232087"/>
              <a:gd name="adj4" fmla="val -2438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Pdf Viewer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6F1B05-CE2D-1942-9A78-07BBEAC57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37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86098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FFE84-4A01-4DEF-8A10-B0ADD1B5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0"/>
            <a:ext cx="9144000" cy="1325563"/>
          </a:xfrm>
          <a:solidFill>
            <a:srgbClr val="002060">
              <a:alpha val="90000"/>
            </a:srgbClr>
          </a:solidFill>
          <a:ln>
            <a:solidFill>
              <a:srgbClr val="002060"/>
            </a:solidFill>
          </a:ln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Observer Pattern</a:t>
            </a:r>
          </a:p>
        </p:txBody>
      </p:sp>
      <p:sp>
        <p:nvSpPr>
          <p:cNvPr id="5" name="AutoShape 2" descr="Image result for zju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D630D66B-59BC-5944-8555-BC7D2DAE97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778" y="2331288"/>
            <a:ext cx="8578443" cy="4259122"/>
          </a:xfrm>
          <a:prstGeom prst="rect">
            <a:avLst/>
          </a:prstGeom>
        </p:spPr>
      </p:pic>
      <p:sp>
        <p:nvSpPr>
          <p:cNvPr id="9" name="Line Callout 1 8">
            <a:extLst>
              <a:ext uri="{FF2B5EF4-FFF2-40B4-BE49-F238E27FC236}">
                <a16:creationId xmlns:a16="http://schemas.microsoft.com/office/drawing/2014/main" id="{CF5F051B-2C9F-9943-87B7-BDC7E8103DE2}"/>
              </a:ext>
            </a:extLst>
          </p:cNvPr>
          <p:cNvSpPr/>
          <p:nvPr/>
        </p:nvSpPr>
        <p:spPr>
          <a:xfrm>
            <a:off x="2840181" y="1672695"/>
            <a:ext cx="2646219" cy="630883"/>
          </a:xfrm>
          <a:prstGeom prst="borderCallout1">
            <a:avLst>
              <a:gd name="adj1" fmla="val 44837"/>
              <a:gd name="adj2" fmla="val 1191"/>
              <a:gd name="adj3" fmla="val 232087"/>
              <a:gd name="adj4" fmla="val -2438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Notify any changes to observers</a:t>
            </a:r>
          </a:p>
        </p:txBody>
      </p:sp>
      <p:sp>
        <p:nvSpPr>
          <p:cNvPr id="7" name="Line Callout 1 6">
            <a:extLst>
              <a:ext uri="{FF2B5EF4-FFF2-40B4-BE49-F238E27FC236}">
                <a16:creationId xmlns:a16="http://schemas.microsoft.com/office/drawing/2014/main" id="{E550CBEA-D61B-114D-8584-15343027D834}"/>
              </a:ext>
            </a:extLst>
          </p:cNvPr>
          <p:cNvSpPr/>
          <p:nvPr/>
        </p:nvSpPr>
        <p:spPr>
          <a:xfrm>
            <a:off x="5985164" y="1700405"/>
            <a:ext cx="1468581" cy="577257"/>
          </a:xfrm>
          <a:prstGeom prst="borderCallout1">
            <a:avLst>
              <a:gd name="adj1" fmla="val 44837"/>
              <a:gd name="adj2" fmla="val 1191"/>
              <a:gd name="adj3" fmla="val 232087"/>
              <a:gd name="adj4" fmla="val -2438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Observer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8CF5C5-A979-2E41-94A8-02F604B14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38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906018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FFE84-4A01-4DEF-8A10-B0ADD1B5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0"/>
            <a:ext cx="9144000" cy="1325563"/>
          </a:xfrm>
          <a:solidFill>
            <a:srgbClr val="002060">
              <a:alpha val="90000"/>
            </a:srgbClr>
          </a:solidFill>
          <a:ln>
            <a:solidFill>
              <a:srgbClr val="002060"/>
            </a:solidFill>
          </a:ln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Observer Pattern</a:t>
            </a:r>
          </a:p>
        </p:txBody>
      </p:sp>
      <p:sp>
        <p:nvSpPr>
          <p:cNvPr id="5" name="AutoShape 2" descr="Image result for zju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386" name="Picture 2" descr="Using Observer Pattern in Java. Sometimes more than one object must be… |  by Pablo Osinaga | Medium">
            <a:extLst>
              <a:ext uri="{FF2B5EF4-FFF2-40B4-BE49-F238E27FC236}">
                <a16:creationId xmlns:a16="http://schemas.microsoft.com/office/drawing/2014/main" id="{5374913E-A012-4E43-9252-8BD623C317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693" y="2008909"/>
            <a:ext cx="6878613" cy="4358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1F375E-F875-4948-B3B1-C3CE33737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39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94523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FFE84-4A01-4DEF-8A10-B0ADD1B5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8"/>
            <a:ext cx="9144000" cy="1325563"/>
          </a:xfrm>
          <a:solidFill>
            <a:srgbClr val="002060">
              <a:alpha val="90000"/>
            </a:srgbClr>
          </a:solidFill>
          <a:ln>
            <a:solidFill>
              <a:srgbClr val="002060"/>
            </a:solidFill>
          </a:ln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Let’s test the program</a:t>
            </a:r>
          </a:p>
        </p:txBody>
      </p:sp>
      <p:sp>
        <p:nvSpPr>
          <p:cNvPr id="5" name="AutoShape 2" descr="Image result for zju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5DAD92-460B-5542-8BEF-C36080248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40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984656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FFE84-4A01-4DEF-8A10-B0ADD1B5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0"/>
            <a:ext cx="9144000" cy="1325563"/>
          </a:xfrm>
          <a:solidFill>
            <a:srgbClr val="002060">
              <a:alpha val="90000"/>
            </a:srgbClr>
          </a:solidFill>
          <a:ln>
            <a:solidFill>
              <a:srgbClr val="002060"/>
            </a:solidFill>
          </a:ln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Using the Observer Pattern</a:t>
            </a:r>
          </a:p>
        </p:txBody>
      </p:sp>
      <p:sp>
        <p:nvSpPr>
          <p:cNvPr id="5" name="AutoShape 2" descr="Image result for zju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 descr="A picture containing indoor, table&#10;&#10;Description automatically generated">
            <a:extLst>
              <a:ext uri="{FF2B5EF4-FFF2-40B4-BE49-F238E27FC236}">
                <a16:creationId xmlns:a16="http://schemas.microsoft.com/office/drawing/2014/main" id="{0F6AACE4-D865-284E-A947-6D46193AE8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191" y="2172121"/>
            <a:ext cx="7087755" cy="2138374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8DE812B-8ADB-EB48-A608-450509A36977}"/>
              </a:ext>
            </a:extLst>
          </p:cNvPr>
          <p:cNvSpPr/>
          <p:nvPr/>
        </p:nvSpPr>
        <p:spPr>
          <a:xfrm>
            <a:off x="3089563" y="2116701"/>
            <a:ext cx="1787237" cy="363259"/>
          </a:xfrm>
          <a:prstGeom prst="round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Line Callout 1 8">
            <a:extLst>
              <a:ext uri="{FF2B5EF4-FFF2-40B4-BE49-F238E27FC236}">
                <a16:creationId xmlns:a16="http://schemas.microsoft.com/office/drawing/2014/main" id="{2E3ABBBE-74AD-DE4B-B859-CA5862B60234}"/>
              </a:ext>
            </a:extLst>
          </p:cNvPr>
          <p:cNvSpPr/>
          <p:nvPr/>
        </p:nvSpPr>
        <p:spPr>
          <a:xfrm>
            <a:off x="5015345" y="3429000"/>
            <a:ext cx="2715491" cy="630883"/>
          </a:xfrm>
          <a:prstGeom prst="borderCallout1">
            <a:avLst>
              <a:gd name="adj1" fmla="val 44837"/>
              <a:gd name="adj2" fmla="val 1191"/>
              <a:gd name="adj3" fmla="val -150027"/>
              <a:gd name="adj4" fmla="val -3660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Implements the Subject interface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16E0E0-0B82-6843-ACCC-005FCE10B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41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221263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FFE84-4A01-4DEF-8A10-B0ADD1B5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0"/>
            <a:ext cx="9144000" cy="1325563"/>
          </a:xfrm>
          <a:solidFill>
            <a:srgbClr val="002060">
              <a:alpha val="90000"/>
            </a:srgbClr>
          </a:solidFill>
          <a:ln>
            <a:solidFill>
              <a:srgbClr val="002060"/>
            </a:solidFill>
          </a:ln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Using the Observer Pattern</a:t>
            </a:r>
          </a:p>
        </p:txBody>
      </p:sp>
      <p:sp>
        <p:nvSpPr>
          <p:cNvPr id="5" name="AutoShape 2" descr="Image result for zju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 descr="A picture containing indoor, table&#10;&#10;Description automatically generated">
            <a:extLst>
              <a:ext uri="{FF2B5EF4-FFF2-40B4-BE49-F238E27FC236}">
                <a16:creationId xmlns:a16="http://schemas.microsoft.com/office/drawing/2014/main" id="{0F6AACE4-D865-284E-A947-6D46193AE8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191" y="2172121"/>
            <a:ext cx="7087755" cy="2138374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08F0B39-52F4-0245-A05C-83ED9A1B13EE}"/>
              </a:ext>
            </a:extLst>
          </p:cNvPr>
          <p:cNvSpPr/>
          <p:nvPr/>
        </p:nvSpPr>
        <p:spPr>
          <a:xfrm>
            <a:off x="5597237" y="2485833"/>
            <a:ext cx="1385454" cy="363259"/>
          </a:xfrm>
          <a:prstGeom prst="round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Line Callout 1 8">
            <a:extLst>
              <a:ext uri="{FF2B5EF4-FFF2-40B4-BE49-F238E27FC236}">
                <a16:creationId xmlns:a16="http://schemas.microsoft.com/office/drawing/2014/main" id="{135664DF-1C90-F148-8B4D-B67B1E77A9FC}"/>
              </a:ext>
            </a:extLst>
          </p:cNvPr>
          <p:cNvSpPr/>
          <p:nvPr/>
        </p:nvSpPr>
        <p:spPr>
          <a:xfrm>
            <a:off x="5056909" y="3993324"/>
            <a:ext cx="2715491" cy="630883"/>
          </a:xfrm>
          <a:prstGeom prst="borderCallout1">
            <a:avLst>
              <a:gd name="adj1" fmla="val 916"/>
              <a:gd name="adj2" fmla="val 46089"/>
              <a:gd name="adj3" fmla="val -180772"/>
              <a:gd name="adj4" fmla="val 4604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Maintains a list of Observers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9BE3C4-B03D-0346-B079-D3D8A9566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42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995172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FB48D1AB-70DA-FE46-A183-B68ECC1F29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776" y="2172121"/>
            <a:ext cx="7893916" cy="366612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72FFE84-4A01-4DEF-8A10-B0ADD1B5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0"/>
            <a:ext cx="9144000" cy="1325563"/>
          </a:xfrm>
          <a:solidFill>
            <a:srgbClr val="002060">
              <a:alpha val="90000"/>
            </a:srgbClr>
          </a:solidFill>
          <a:ln>
            <a:solidFill>
              <a:srgbClr val="002060"/>
            </a:solidFill>
          </a:ln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Using the Observer Pattern</a:t>
            </a:r>
          </a:p>
        </p:txBody>
      </p:sp>
      <p:sp>
        <p:nvSpPr>
          <p:cNvPr id="5" name="AutoShape 2" descr="Image result for zju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6634D02-3388-9B40-8135-B44DEF40A625}"/>
              </a:ext>
            </a:extLst>
          </p:cNvPr>
          <p:cNvSpPr/>
          <p:nvPr/>
        </p:nvSpPr>
        <p:spPr>
          <a:xfrm>
            <a:off x="1482436" y="4356197"/>
            <a:ext cx="7024255" cy="728421"/>
          </a:xfrm>
          <a:prstGeom prst="round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Line Callout 1 8">
            <a:extLst>
              <a:ext uri="{FF2B5EF4-FFF2-40B4-BE49-F238E27FC236}">
                <a16:creationId xmlns:a16="http://schemas.microsoft.com/office/drawing/2014/main" id="{485564FC-1155-694C-838C-3B0D80FA46BC}"/>
              </a:ext>
            </a:extLst>
          </p:cNvPr>
          <p:cNvSpPr/>
          <p:nvPr/>
        </p:nvSpPr>
        <p:spPr>
          <a:xfrm>
            <a:off x="2092037" y="5584178"/>
            <a:ext cx="3297382" cy="630883"/>
          </a:xfrm>
          <a:prstGeom prst="borderCallout1">
            <a:avLst>
              <a:gd name="adj1" fmla="val 47033"/>
              <a:gd name="adj2" fmla="val 99660"/>
              <a:gd name="adj3" fmla="val -81950"/>
              <a:gd name="adj4" fmla="val 1169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Create a list that will contain the observers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A5A786-2D1B-B549-9690-1181D06EB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43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941419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FFE84-4A01-4DEF-8A10-B0ADD1B5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0"/>
            <a:ext cx="9144000" cy="1325563"/>
          </a:xfrm>
          <a:solidFill>
            <a:srgbClr val="002060">
              <a:alpha val="90000"/>
            </a:srgbClr>
          </a:solidFill>
          <a:ln>
            <a:solidFill>
              <a:srgbClr val="002060"/>
            </a:solidFill>
          </a:ln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Using the Observer Pattern</a:t>
            </a:r>
          </a:p>
        </p:txBody>
      </p:sp>
      <p:sp>
        <p:nvSpPr>
          <p:cNvPr id="5" name="AutoShape 2" descr="Image result for zju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C9016FDE-D298-3D4A-9CE8-623B69E065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236" y="1752340"/>
            <a:ext cx="7358500" cy="4838070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AE718EC-50F1-8F41-A0D6-666275672015}"/>
              </a:ext>
            </a:extLst>
          </p:cNvPr>
          <p:cNvSpPr/>
          <p:nvPr/>
        </p:nvSpPr>
        <p:spPr>
          <a:xfrm>
            <a:off x="1690254" y="5076634"/>
            <a:ext cx="7024255" cy="1171766"/>
          </a:xfrm>
          <a:prstGeom prst="round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Line Callout 1 8">
            <a:extLst>
              <a:ext uri="{FF2B5EF4-FFF2-40B4-BE49-F238E27FC236}">
                <a16:creationId xmlns:a16="http://schemas.microsoft.com/office/drawing/2014/main" id="{656E510B-B10C-7644-9FF3-B36969721F0C}"/>
              </a:ext>
            </a:extLst>
          </p:cNvPr>
          <p:cNvSpPr/>
          <p:nvPr/>
        </p:nvSpPr>
        <p:spPr>
          <a:xfrm>
            <a:off x="5251741" y="3352800"/>
            <a:ext cx="3297382" cy="630883"/>
          </a:xfrm>
          <a:prstGeom prst="borderCallout1">
            <a:avLst>
              <a:gd name="adj1" fmla="val 101934"/>
              <a:gd name="adj2" fmla="val 41257"/>
              <a:gd name="adj3" fmla="val 273811"/>
              <a:gd name="adj4" fmla="val 982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Use the method to add an observer to the list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8FD1AD-1DE1-924D-9582-14776559D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44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361415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25FCA22D-F5D6-8A41-8DD2-7FF80DDAAC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236" y="1752340"/>
            <a:ext cx="6492874" cy="50402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72FFE84-4A01-4DEF-8A10-B0ADD1B5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0"/>
            <a:ext cx="9144000" cy="1325563"/>
          </a:xfrm>
          <a:solidFill>
            <a:srgbClr val="002060">
              <a:alpha val="90000"/>
            </a:srgbClr>
          </a:solidFill>
          <a:ln>
            <a:solidFill>
              <a:srgbClr val="002060"/>
            </a:solidFill>
          </a:ln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Using the Observer Pattern</a:t>
            </a:r>
          </a:p>
        </p:txBody>
      </p:sp>
      <p:sp>
        <p:nvSpPr>
          <p:cNvPr id="5" name="AutoShape 2" descr="Image result for zju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E9E8505-DAED-334F-B4F3-0DFDBFF2CA57}"/>
              </a:ext>
            </a:extLst>
          </p:cNvPr>
          <p:cNvSpPr/>
          <p:nvPr/>
        </p:nvSpPr>
        <p:spPr>
          <a:xfrm>
            <a:off x="1745673" y="5527963"/>
            <a:ext cx="5070764" cy="914400"/>
          </a:xfrm>
          <a:prstGeom prst="round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Line Callout 1 10">
            <a:extLst>
              <a:ext uri="{FF2B5EF4-FFF2-40B4-BE49-F238E27FC236}">
                <a16:creationId xmlns:a16="http://schemas.microsoft.com/office/drawing/2014/main" id="{6970154A-56D0-CD42-B785-A876C2006DB9}"/>
              </a:ext>
            </a:extLst>
          </p:cNvPr>
          <p:cNvSpPr/>
          <p:nvPr/>
        </p:nvSpPr>
        <p:spPr>
          <a:xfrm>
            <a:off x="4821381" y="4087090"/>
            <a:ext cx="3629891" cy="630883"/>
          </a:xfrm>
          <a:prstGeom prst="borderCallout1">
            <a:avLst>
              <a:gd name="adj1" fmla="val 101934"/>
              <a:gd name="adj2" fmla="val 41257"/>
              <a:gd name="adj3" fmla="val 273811"/>
              <a:gd name="adj4" fmla="val 982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Use the method to remove any observer from the list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CFE38B-1347-8F43-87E9-8F131C623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45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855117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012295CC-257C-1D49-998C-C24A0A58D3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236" y="1753124"/>
            <a:ext cx="7636454" cy="48719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72FFE84-4A01-4DEF-8A10-B0ADD1B5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0"/>
            <a:ext cx="9144000" cy="1325563"/>
          </a:xfrm>
          <a:solidFill>
            <a:srgbClr val="002060">
              <a:alpha val="90000"/>
            </a:srgbClr>
          </a:solidFill>
          <a:ln>
            <a:solidFill>
              <a:srgbClr val="002060"/>
            </a:solidFill>
          </a:ln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Using the Observer Pattern</a:t>
            </a:r>
          </a:p>
        </p:txBody>
      </p:sp>
      <p:sp>
        <p:nvSpPr>
          <p:cNvPr id="5" name="AutoShape 2" descr="Image result for zju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6EC847A-C780-CB4B-8C76-E7950F684114}"/>
              </a:ext>
            </a:extLst>
          </p:cNvPr>
          <p:cNvSpPr/>
          <p:nvPr/>
        </p:nvSpPr>
        <p:spPr>
          <a:xfrm>
            <a:off x="1819854" y="4475017"/>
            <a:ext cx="6841835" cy="1246909"/>
          </a:xfrm>
          <a:prstGeom prst="round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Line Callout 1 9">
            <a:extLst>
              <a:ext uri="{FF2B5EF4-FFF2-40B4-BE49-F238E27FC236}">
                <a16:creationId xmlns:a16="http://schemas.microsoft.com/office/drawing/2014/main" id="{8A215A71-4D09-6F42-BF0A-3E1A444700DE}"/>
              </a:ext>
            </a:extLst>
          </p:cNvPr>
          <p:cNvSpPr/>
          <p:nvPr/>
        </p:nvSpPr>
        <p:spPr>
          <a:xfrm>
            <a:off x="4843463" y="2941014"/>
            <a:ext cx="3629891" cy="630883"/>
          </a:xfrm>
          <a:prstGeom prst="borderCallout1">
            <a:avLst>
              <a:gd name="adj1" fmla="val 101934"/>
              <a:gd name="adj2" fmla="val 41257"/>
              <a:gd name="adj3" fmla="val 243066"/>
              <a:gd name="adj4" fmla="val 1478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Notify observers when any changes occur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594E7E-5DBE-024A-904C-AD7F8834D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46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0584801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FFE84-4A01-4DEF-8A10-B0ADD1B5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0"/>
            <a:ext cx="9144000" cy="1325563"/>
          </a:xfrm>
          <a:solidFill>
            <a:srgbClr val="002060">
              <a:alpha val="90000"/>
            </a:srgbClr>
          </a:solidFill>
          <a:ln>
            <a:solidFill>
              <a:srgbClr val="002060"/>
            </a:solidFill>
          </a:ln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Observer Pattern Support in Java</a:t>
            </a:r>
          </a:p>
        </p:txBody>
      </p:sp>
      <p:sp>
        <p:nvSpPr>
          <p:cNvPr id="5" name="AutoShape 2" descr="Image result for zju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34EB9F-58D3-204A-AB33-48968F4925B1}"/>
              </a:ext>
            </a:extLst>
          </p:cNvPr>
          <p:cNvSpPr txBox="1"/>
          <p:nvPr/>
        </p:nvSpPr>
        <p:spPr>
          <a:xfrm>
            <a:off x="1191491" y="1995055"/>
            <a:ext cx="383162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400" dirty="0"/>
              <a:t>Import java.util.observable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2400" dirty="0"/>
              <a:t>Import java.util.observer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576835-8DF2-744D-85CA-324B152E7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47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3855093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FFE84-4A01-4DEF-8A10-B0ADD1B5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0"/>
            <a:ext cx="9144000" cy="1325563"/>
          </a:xfrm>
          <a:solidFill>
            <a:srgbClr val="002060">
              <a:alpha val="90000"/>
            </a:srgbClr>
          </a:solidFill>
          <a:ln>
            <a:solidFill>
              <a:srgbClr val="002060"/>
            </a:solidFill>
          </a:ln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Examples of observer pattern in JDK</a:t>
            </a:r>
          </a:p>
        </p:txBody>
      </p:sp>
      <p:sp>
        <p:nvSpPr>
          <p:cNvPr id="5" name="AutoShape 2" descr="Image result for zju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9AB407B5-EB66-6945-A3EC-853D78859B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6910" y="2046897"/>
            <a:ext cx="6248400" cy="339572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B49A9D-B312-9445-B09E-6F80B43DD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48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3135014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FFE84-4A01-4DEF-8A10-B0ADD1B5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0"/>
            <a:ext cx="9144000" cy="1325563"/>
          </a:xfrm>
          <a:solidFill>
            <a:srgbClr val="002060">
              <a:alpha val="90000"/>
            </a:srgbClr>
          </a:solidFill>
          <a:ln>
            <a:solidFill>
              <a:srgbClr val="002060"/>
            </a:solidFill>
          </a:ln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Examples of observer pattern in JDK</a:t>
            </a:r>
          </a:p>
        </p:txBody>
      </p:sp>
      <p:sp>
        <p:nvSpPr>
          <p:cNvPr id="5" name="AutoShape 2" descr="Image result for zju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" name="Picture 15" descr="Diagram&#10;&#10;Description automatically generated">
            <a:extLst>
              <a:ext uri="{FF2B5EF4-FFF2-40B4-BE49-F238E27FC236}">
                <a16:creationId xmlns:a16="http://schemas.microsoft.com/office/drawing/2014/main" id="{7148FDE6-D1E5-0644-8B69-A89C85DF7E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21179"/>
            <a:ext cx="4227839" cy="229764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58B00FF-3351-A545-A6B4-0B976F562BAD}"/>
              </a:ext>
            </a:extLst>
          </p:cNvPr>
          <p:cNvSpPr/>
          <p:nvPr/>
        </p:nvSpPr>
        <p:spPr>
          <a:xfrm>
            <a:off x="5320144" y="5606340"/>
            <a:ext cx="1870365" cy="7251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400" dirty="0"/>
              <a:t>A menu item</a:t>
            </a:r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1F930A-7EEE-5644-AF16-BECF1374B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49</a:t>
            </a:fld>
            <a:endParaRPr lang="en-US"/>
          </a:p>
        </p:txBody>
      </p:sp>
      <p:pic>
        <p:nvPicPr>
          <p:cNvPr id="7" name="Picture 6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1E98A555-57E7-0C43-88A7-E22E461D1A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4589" y="2113466"/>
            <a:ext cx="4779411" cy="2972561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005E9EB-C5C9-1747-B154-24D6542EB194}"/>
              </a:ext>
            </a:extLst>
          </p:cNvPr>
          <p:cNvCxnSpPr>
            <a:cxnSpLocks/>
          </p:cNvCxnSpPr>
          <p:nvPr/>
        </p:nvCxnSpPr>
        <p:spPr>
          <a:xfrm flipV="1">
            <a:off x="7190509" y="4696691"/>
            <a:ext cx="124691" cy="90965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44535566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FFE84-4A01-4DEF-8A10-B0ADD1B5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0"/>
            <a:ext cx="9144000" cy="1325563"/>
          </a:xfrm>
          <a:solidFill>
            <a:srgbClr val="002060">
              <a:alpha val="90000"/>
            </a:srgbClr>
          </a:solidFill>
          <a:ln>
            <a:solidFill>
              <a:srgbClr val="002060"/>
            </a:solidFill>
          </a:ln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Examples of observer pattern in JDK</a:t>
            </a:r>
          </a:p>
        </p:txBody>
      </p:sp>
      <p:sp>
        <p:nvSpPr>
          <p:cNvPr id="5" name="AutoShape 2" descr="Image result for zju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9AB407B5-EB66-6945-A3EC-853D78859B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21179"/>
            <a:ext cx="4227839" cy="229764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78F7A9-6491-EB49-977F-2B4C740A7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50</a:t>
            </a:fld>
            <a:endParaRPr lang="en-US"/>
          </a:p>
        </p:txBody>
      </p:sp>
      <p:pic>
        <p:nvPicPr>
          <p:cNvPr id="16" name="Picture 15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3135FBF6-5DF3-3345-867F-779E95E0E9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4589" y="2113466"/>
            <a:ext cx="4779411" cy="29725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CF590F7-8D41-D44F-A381-DA0A1536FE31}"/>
              </a:ext>
            </a:extLst>
          </p:cNvPr>
          <p:cNvSpPr/>
          <p:nvPr/>
        </p:nvSpPr>
        <p:spPr>
          <a:xfrm>
            <a:off x="2424545" y="5460876"/>
            <a:ext cx="1524002" cy="7251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Observers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1F0EAB-7498-D241-B0CB-50177100DB3B}"/>
              </a:ext>
            </a:extLst>
          </p:cNvPr>
          <p:cNvSpPr txBox="1"/>
          <p:nvPr/>
        </p:nvSpPr>
        <p:spPr>
          <a:xfrm>
            <a:off x="4158566" y="5337889"/>
            <a:ext cx="9539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Notify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B9501FB-BCD1-5940-8608-2BA12A54347D}"/>
              </a:ext>
            </a:extLst>
          </p:cNvPr>
          <p:cNvSpPr/>
          <p:nvPr/>
        </p:nvSpPr>
        <p:spPr>
          <a:xfrm>
            <a:off x="5250871" y="5460875"/>
            <a:ext cx="3602181" cy="7251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Clicking on the </a:t>
            </a:r>
            <a:r>
              <a:rPr lang="en-CA" sz="2400" dirty="0"/>
              <a:t>menu item</a:t>
            </a:r>
            <a:endParaRPr lang="en-US" sz="2400" dirty="0"/>
          </a:p>
          <a:p>
            <a:pPr algn="ctr"/>
            <a:r>
              <a:rPr lang="en-US" sz="2400" dirty="0"/>
              <a:t>will create an event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1F782E9-3F7D-674E-B123-BECED9C2049F}"/>
              </a:ext>
            </a:extLst>
          </p:cNvPr>
          <p:cNvCxnSpPr>
            <a:stCxn id="13" idx="1"/>
            <a:endCxn id="11" idx="3"/>
          </p:cNvCxnSpPr>
          <p:nvPr/>
        </p:nvCxnSpPr>
        <p:spPr>
          <a:xfrm flipH="1">
            <a:off x="3948547" y="5823469"/>
            <a:ext cx="1302324" cy="1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2D8CFBE-001A-1C44-8FAC-D6FB8221774B}"/>
              </a:ext>
            </a:extLst>
          </p:cNvPr>
          <p:cNvCxnSpPr>
            <a:cxnSpLocks/>
          </p:cNvCxnSpPr>
          <p:nvPr/>
        </p:nvCxnSpPr>
        <p:spPr>
          <a:xfrm flipH="1" flipV="1">
            <a:off x="7329055" y="4818821"/>
            <a:ext cx="124690" cy="642054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54095920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FFE84-4A01-4DEF-8A10-B0ADD1B5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0"/>
            <a:ext cx="9144000" cy="1325563"/>
          </a:xfrm>
          <a:solidFill>
            <a:srgbClr val="002060">
              <a:alpha val="90000"/>
            </a:srgbClr>
          </a:solidFill>
          <a:ln>
            <a:solidFill>
              <a:srgbClr val="002060"/>
            </a:solidFill>
          </a:ln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Tasks</a:t>
            </a:r>
          </a:p>
        </p:txBody>
      </p:sp>
      <p:sp>
        <p:nvSpPr>
          <p:cNvPr id="5" name="AutoShape 2" descr="Image result for zju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7ECE98-2A20-0B44-9E2B-AE8F79F7E162}"/>
              </a:ext>
            </a:extLst>
          </p:cNvPr>
          <p:cNvSpPr txBox="1"/>
          <p:nvPr/>
        </p:nvSpPr>
        <p:spPr>
          <a:xfrm>
            <a:off x="1579419" y="1995055"/>
            <a:ext cx="73013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400" dirty="0"/>
              <a:t>Can you identify the advantages and disadvantages of using </a:t>
            </a:r>
            <a:r>
              <a:rPr lang="en-CA" sz="2400" dirty="0"/>
              <a:t>Java’s observable class or the observer interface?</a:t>
            </a:r>
            <a:endParaRPr lang="en-US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6496714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FFE84-4A01-4DEF-8A10-B0ADD1B5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0"/>
            <a:ext cx="9144000" cy="1325563"/>
          </a:xfrm>
          <a:solidFill>
            <a:srgbClr val="002060">
              <a:alpha val="90000"/>
            </a:srgbClr>
          </a:solidFill>
          <a:ln>
            <a:solidFill>
              <a:srgbClr val="002060"/>
            </a:solidFill>
          </a:ln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Tasks</a:t>
            </a:r>
          </a:p>
        </p:txBody>
      </p:sp>
      <p:sp>
        <p:nvSpPr>
          <p:cNvPr id="5" name="AutoShape 2" descr="Image result for zju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7ECE98-2A20-0B44-9E2B-AE8F79F7E162}"/>
              </a:ext>
            </a:extLst>
          </p:cNvPr>
          <p:cNvSpPr txBox="1"/>
          <p:nvPr/>
        </p:nvSpPr>
        <p:spPr>
          <a:xfrm>
            <a:off x="1579419" y="1995055"/>
            <a:ext cx="73013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400" dirty="0"/>
              <a:t>Can you identify the advantages and disadvantages of using </a:t>
            </a:r>
            <a:r>
              <a:rPr lang="en-CA" sz="2400" dirty="0"/>
              <a:t>Java’s observable class or the observer interface?</a:t>
            </a:r>
            <a:endParaRPr lang="en-US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23B8DC-64C2-914D-833C-640D6D5CD27C}"/>
              </a:ext>
            </a:extLst>
          </p:cNvPr>
          <p:cNvSpPr txBox="1"/>
          <p:nvPr/>
        </p:nvSpPr>
        <p:spPr>
          <a:xfrm>
            <a:off x="1579419" y="5759413"/>
            <a:ext cx="73013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400" dirty="0"/>
              <a:t>Can you identify any design issues in the above code? How can we fix that?</a:t>
            </a:r>
          </a:p>
        </p:txBody>
      </p:sp>
      <p:pic>
        <p:nvPicPr>
          <p:cNvPr id="4" name="Picture 3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5FC0D2CA-C4DE-6C4E-8ED2-65822EF196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350" y="3168782"/>
            <a:ext cx="7099300" cy="22479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2563412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FFE84-4A01-4DEF-8A10-B0ADD1B5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0"/>
            <a:ext cx="9144000" cy="1325563"/>
          </a:xfrm>
          <a:solidFill>
            <a:srgbClr val="002060">
              <a:alpha val="90000"/>
            </a:srgbClr>
          </a:solidFill>
          <a:ln>
            <a:solidFill>
              <a:srgbClr val="002060"/>
            </a:solidFill>
          </a:ln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Resources</a:t>
            </a:r>
          </a:p>
        </p:txBody>
      </p:sp>
      <p:sp>
        <p:nvSpPr>
          <p:cNvPr id="5" name="AutoShape 2" descr="Image result for zju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 descr="Text, timeline&#10;&#10;Description automatically generated">
            <a:extLst>
              <a:ext uri="{FF2B5EF4-FFF2-40B4-BE49-F238E27FC236}">
                <a16:creationId xmlns:a16="http://schemas.microsoft.com/office/drawing/2014/main" id="{BE190896-1DCA-8340-A77B-E99037203D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7065" y="1852804"/>
            <a:ext cx="2727063" cy="3428999"/>
          </a:xfrm>
          <a:prstGeom prst="rect">
            <a:avLst/>
          </a:prstGeom>
        </p:spPr>
      </p:pic>
      <p:pic>
        <p:nvPicPr>
          <p:cNvPr id="10" name="Picture 9" descr="A screenshot of a newspaper&#10;&#10;Description automatically generated">
            <a:extLst>
              <a:ext uri="{FF2B5EF4-FFF2-40B4-BE49-F238E27FC236}">
                <a16:creationId xmlns:a16="http://schemas.microsoft.com/office/drawing/2014/main" id="{698FFACB-1D60-1948-BBFC-63845E0EF2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6998" y="1852805"/>
            <a:ext cx="3428999" cy="342899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36D0361-FCC4-0C4C-A178-4517CB1157BB}"/>
              </a:ext>
            </a:extLst>
          </p:cNvPr>
          <p:cNvSpPr txBox="1"/>
          <p:nvPr/>
        </p:nvSpPr>
        <p:spPr>
          <a:xfrm>
            <a:off x="1347065" y="5541818"/>
            <a:ext cx="62081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6"/>
              </a:rPr>
              <a:t>https://github.com/parvez2014/ObserverPatternCustomTutorial</a:t>
            </a:r>
            <a:endParaRPr lang="en-US" dirty="0"/>
          </a:p>
          <a:p>
            <a:r>
              <a:rPr lang="en-US" dirty="0">
                <a:hlinkClick r:id="rId7"/>
              </a:rPr>
              <a:t>https://github.com/parvez2014/ObserverPatternJDKTutorial</a:t>
            </a:r>
            <a:endParaRPr lang="en-US" dirty="0"/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2DA3FB-1366-E64E-9B2D-C16A99D21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53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8026227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 descr="Image result for zju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339678E0-0069-2E45-9B07-EA6110BA5D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575" y="159201"/>
            <a:ext cx="4320918" cy="3152037"/>
          </a:xfrm>
          <a:prstGeom prst="rect">
            <a:avLst/>
          </a:prstGeom>
          <a:ln w="25400">
            <a:solidFill>
              <a:srgbClr val="002060"/>
            </a:solidFill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F6DCCE-6F1B-3842-A7AC-A5D4B3FB8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54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0107310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 descr="Image result for zju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339678E0-0069-2E45-9B07-EA6110BA5D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575" y="159201"/>
            <a:ext cx="4320918" cy="3152037"/>
          </a:xfrm>
          <a:prstGeom prst="rect">
            <a:avLst/>
          </a:prstGeom>
          <a:ln w="25400">
            <a:solidFill>
              <a:srgbClr val="002060"/>
            </a:solidFill>
          </a:ln>
        </p:spPr>
      </p:pic>
      <p:pic>
        <p:nvPicPr>
          <p:cNvPr id="12" name="Picture 11" descr="Diagram&#10;&#10;Description automatically generated">
            <a:extLst>
              <a:ext uri="{FF2B5EF4-FFF2-40B4-BE49-F238E27FC236}">
                <a16:creationId xmlns:a16="http://schemas.microsoft.com/office/drawing/2014/main" id="{DF32FD9A-3837-754A-A8F6-15CA4CC56D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7428" y="148911"/>
            <a:ext cx="4250997" cy="3162328"/>
          </a:xfrm>
          <a:prstGeom prst="rect">
            <a:avLst/>
          </a:prstGeom>
          <a:ln w="25400">
            <a:solidFill>
              <a:srgbClr val="002060"/>
            </a:solidFill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470FE3-5AA6-7544-AC1D-319BD6A9C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55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8391236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 descr="Image result for zju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339678E0-0069-2E45-9B07-EA6110BA5D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575" y="159201"/>
            <a:ext cx="4320918" cy="3152037"/>
          </a:xfrm>
          <a:prstGeom prst="rect">
            <a:avLst/>
          </a:prstGeom>
          <a:ln w="25400">
            <a:solidFill>
              <a:srgbClr val="002060"/>
            </a:solidFill>
          </a:ln>
        </p:spPr>
      </p:pic>
      <p:pic>
        <p:nvPicPr>
          <p:cNvPr id="12" name="Picture 11" descr="Diagram&#10;&#10;Description automatically generated">
            <a:extLst>
              <a:ext uri="{FF2B5EF4-FFF2-40B4-BE49-F238E27FC236}">
                <a16:creationId xmlns:a16="http://schemas.microsoft.com/office/drawing/2014/main" id="{DF32FD9A-3837-754A-A8F6-15CA4CC56D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7428" y="148911"/>
            <a:ext cx="4250997" cy="3162328"/>
          </a:xfrm>
          <a:prstGeom prst="rect">
            <a:avLst/>
          </a:prstGeom>
          <a:ln w="25400">
            <a:solidFill>
              <a:srgbClr val="002060"/>
            </a:solidFill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3EB1AE-D028-BA48-8F3E-852FBD972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56</a:t>
            </a:fld>
            <a:endParaRPr lang="en-US"/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B2B905D3-6E02-794A-B1B8-42FB269AE2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575" y="3516163"/>
            <a:ext cx="4320918" cy="3166925"/>
          </a:xfrm>
          <a:prstGeom prst="rect">
            <a:avLst/>
          </a:prstGeom>
          <a:ln w="25400">
            <a:solidFill>
              <a:srgbClr val="002060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23206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 descr="Image result for zju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339678E0-0069-2E45-9B07-EA6110BA5D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575" y="159201"/>
            <a:ext cx="4320918" cy="3152037"/>
          </a:xfrm>
          <a:prstGeom prst="rect">
            <a:avLst/>
          </a:prstGeom>
          <a:ln w="25400">
            <a:solidFill>
              <a:srgbClr val="002060"/>
            </a:solidFill>
          </a:ln>
        </p:spPr>
      </p:pic>
      <p:pic>
        <p:nvPicPr>
          <p:cNvPr id="12" name="Picture 11" descr="Diagram&#10;&#10;Description automatically generated">
            <a:extLst>
              <a:ext uri="{FF2B5EF4-FFF2-40B4-BE49-F238E27FC236}">
                <a16:creationId xmlns:a16="http://schemas.microsoft.com/office/drawing/2014/main" id="{DF32FD9A-3837-754A-A8F6-15CA4CC56D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7428" y="148911"/>
            <a:ext cx="4250997" cy="3162328"/>
          </a:xfrm>
          <a:prstGeom prst="rect">
            <a:avLst/>
          </a:prstGeom>
          <a:ln w="25400">
            <a:solidFill>
              <a:srgbClr val="002060"/>
            </a:solidFill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3EB1AE-D028-BA48-8F3E-852FBD972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57</a:t>
            </a:fld>
            <a:endParaRPr lang="en-US"/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B2B905D3-6E02-794A-B1B8-42FB269AE2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575" y="3516163"/>
            <a:ext cx="4320918" cy="3166925"/>
          </a:xfrm>
          <a:prstGeom prst="rect">
            <a:avLst/>
          </a:prstGeom>
          <a:ln w="25400">
            <a:solidFill>
              <a:srgbClr val="002060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D5EA1E-6F76-D44E-B4E0-58CEC88DA95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7428" y="3516162"/>
            <a:ext cx="4250996" cy="3166925"/>
          </a:xfrm>
          <a:prstGeom prst="rect">
            <a:avLst/>
          </a:prstGeom>
          <a:ln w="25400">
            <a:solidFill>
              <a:srgbClr val="002060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999514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13430</TotalTime>
  <Words>981</Words>
  <Application>Microsoft Macintosh PowerPoint</Application>
  <PresentationFormat>On-screen Show (4:3)</PresentationFormat>
  <Paragraphs>287</Paragraphs>
  <Slides>57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3" baseType="lpstr">
      <vt:lpstr>Angsana New</vt:lpstr>
      <vt:lpstr>Arial</vt:lpstr>
      <vt:lpstr>Calibri</vt:lpstr>
      <vt:lpstr>Calibri Light</vt:lpstr>
      <vt:lpstr>Wingdings</vt:lpstr>
      <vt:lpstr>Office Theme</vt:lpstr>
      <vt:lpstr>Software Design Patterns Introduction to the Observer Pattern</vt:lpstr>
      <vt:lpstr>Topics</vt:lpstr>
      <vt:lpstr>Topics</vt:lpstr>
      <vt:lpstr>Topics</vt:lpstr>
      <vt:lpstr>Topics</vt:lpstr>
      <vt:lpstr>Topics</vt:lpstr>
      <vt:lpstr>Topics</vt:lpstr>
      <vt:lpstr>Learning Outcomes</vt:lpstr>
      <vt:lpstr>Why should we learn design patterns?</vt:lpstr>
      <vt:lpstr>Why should we learn design patterns?</vt:lpstr>
      <vt:lpstr>Why should we learn design patterns?</vt:lpstr>
      <vt:lpstr>Why should we learn design patterns?</vt:lpstr>
      <vt:lpstr>Why should we learn design patterns?</vt:lpstr>
      <vt:lpstr>Why are design patterns important?</vt:lpstr>
      <vt:lpstr>Why are design patterns important?</vt:lpstr>
      <vt:lpstr>Why are design patterns important?</vt:lpstr>
      <vt:lpstr>Why are design patterns important?</vt:lpstr>
      <vt:lpstr>A Catalog of Design Patterns</vt:lpstr>
      <vt:lpstr>A Catalog of Design Patterns</vt:lpstr>
      <vt:lpstr>A Catalog of Design Patterns</vt:lpstr>
      <vt:lpstr>Problem Description</vt:lpstr>
      <vt:lpstr>Problem Description</vt:lpstr>
      <vt:lpstr>Problem Description</vt:lpstr>
      <vt:lpstr>Weather Data Object</vt:lpstr>
      <vt:lpstr>Weather Data Object</vt:lpstr>
      <vt:lpstr>Weather Data Object</vt:lpstr>
      <vt:lpstr>Weather Data Object</vt:lpstr>
      <vt:lpstr>Weather Data Object</vt:lpstr>
      <vt:lpstr>Identify the aspects of the application that vary</vt:lpstr>
      <vt:lpstr>Identify the aspects of the application that vary</vt:lpstr>
      <vt:lpstr>Identify the aspects of the application that vary</vt:lpstr>
      <vt:lpstr>Identify the aspects of the application that vary</vt:lpstr>
      <vt:lpstr>Program to interface, not to implementation!</vt:lpstr>
      <vt:lpstr>Observer Pattern</vt:lpstr>
      <vt:lpstr>Observer Pattern</vt:lpstr>
      <vt:lpstr>Observer Pattern</vt:lpstr>
      <vt:lpstr>Observer Pattern</vt:lpstr>
      <vt:lpstr>Observer Pattern</vt:lpstr>
      <vt:lpstr>Observer Pattern</vt:lpstr>
      <vt:lpstr>Let’s test the program</vt:lpstr>
      <vt:lpstr>Using the Observer Pattern</vt:lpstr>
      <vt:lpstr>Using the Observer Pattern</vt:lpstr>
      <vt:lpstr>Using the Observer Pattern</vt:lpstr>
      <vt:lpstr>Using the Observer Pattern</vt:lpstr>
      <vt:lpstr>Using the Observer Pattern</vt:lpstr>
      <vt:lpstr>Using the Observer Pattern</vt:lpstr>
      <vt:lpstr>Observer Pattern Support in Java</vt:lpstr>
      <vt:lpstr>Examples of observer pattern in JDK</vt:lpstr>
      <vt:lpstr>Examples of observer pattern in JDK</vt:lpstr>
      <vt:lpstr>Examples of observer pattern in JDK</vt:lpstr>
      <vt:lpstr>Tasks</vt:lpstr>
      <vt:lpstr>Tasks</vt:lpstr>
      <vt:lpstr>Resources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Effectively Leveraging the Knowledge of the Crowd</dc:title>
  <dc:creator>wang shaowei</dc:creator>
  <cp:lastModifiedBy>Muhammad Asaduzzaman</cp:lastModifiedBy>
  <cp:revision>180</cp:revision>
  <cp:lastPrinted>2019-05-13T13:48:02Z</cp:lastPrinted>
  <dcterms:created xsi:type="dcterms:W3CDTF">2019-02-16T23:57:07Z</dcterms:created>
  <dcterms:modified xsi:type="dcterms:W3CDTF">2024-01-15T19:09:35Z</dcterms:modified>
</cp:coreProperties>
</file>