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3" r:id="rId1"/>
  </p:sldMasterIdLst>
  <p:sldIdLst>
    <p:sldId id="256" r:id="rId2"/>
    <p:sldId id="257" r:id="rId3"/>
    <p:sldId id="258" r:id="rId4"/>
    <p:sldId id="259" r:id="rId5"/>
    <p:sldId id="330" r:id="rId6"/>
    <p:sldId id="332" r:id="rId7"/>
    <p:sldId id="331" r:id="rId8"/>
    <p:sldId id="333" r:id="rId9"/>
    <p:sldId id="334" r:id="rId10"/>
    <p:sldId id="336" r:id="rId11"/>
    <p:sldId id="337" r:id="rId12"/>
    <p:sldId id="260" r:id="rId13"/>
    <p:sldId id="291" r:id="rId14"/>
    <p:sldId id="293" r:id="rId15"/>
    <p:sldId id="261" r:id="rId16"/>
    <p:sldId id="294" r:id="rId17"/>
    <p:sldId id="295" r:id="rId18"/>
    <p:sldId id="262" r:id="rId19"/>
    <p:sldId id="296" r:id="rId20"/>
    <p:sldId id="263" r:id="rId21"/>
    <p:sldId id="264" r:id="rId22"/>
    <p:sldId id="265" r:id="rId23"/>
    <p:sldId id="266" r:id="rId24"/>
    <p:sldId id="298" r:id="rId25"/>
    <p:sldId id="297" r:id="rId26"/>
    <p:sldId id="299" r:id="rId27"/>
    <p:sldId id="267" r:id="rId28"/>
    <p:sldId id="268" r:id="rId29"/>
    <p:sldId id="300" r:id="rId30"/>
    <p:sldId id="269" r:id="rId31"/>
    <p:sldId id="270" r:id="rId32"/>
    <p:sldId id="301" r:id="rId33"/>
    <p:sldId id="302" r:id="rId34"/>
    <p:sldId id="320" r:id="rId35"/>
    <p:sldId id="321" r:id="rId36"/>
    <p:sldId id="271" r:id="rId37"/>
    <p:sldId id="272" r:id="rId38"/>
    <p:sldId id="273" r:id="rId39"/>
    <p:sldId id="303" r:id="rId40"/>
    <p:sldId id="304" r:id="rId41"/>
    <p:sldId id="305" r:id="rId42"/>
    <p:sldId id="274" r:id="rId43"/>
    <p:sldId id="306" r:id="rId44"/>
    <p:sldId id="275" r:id="rId45"/>
    <p:sldId id="276" r:id="rId46"/>
    <p:sldId id="307" r:id="rId47"/>
    <p:sldId id="308" r:id="rId48"/>
    <p:sldId id="309" r:id="rId49"/>
    <p:sldId id="310" r:id="rId50"/>
    <p:sldId id="277" r:id="rId51"/>
    <p:sldId id="278" r:id="rId52"/>
    <p:sldId id="279" r:id="rId53"/>
    <p:sldId id="281" r:id="rId54"/>
    <p:sldId id="311" r:id="rId55"/>
    <p:sldId id="312" r:id="rId56"/>
    <p:sldId id="313" r:id="rId57"/>
    <p:sldId id="280" r:id="rId58"/>
    <p:sldId id="282" r:id="rId59"/>
    <p:sldId id="283" r:id="rId60"/>
    <p:sldId id="284" r:id="rId61"/>
    <p:sldId id="314" r:id="rId62"/>
    <p:sldId id="315" r:id="rId63"/>
    <p:sldId id="285" r:id="rId64"/>
    <p:sldId id="323" r:id="rId65"/>
    <p:sldId id="324" r:id="rId66"/>
    <p:sldId id="325" r:id="rId67"/>
    <p:sldId id="326" r:id="rId68"/>
    <p:sldId id="327" r:id="rId69"/>
    <p:sldId id="328" r:id="rId70"/>
    <p:sldId id="286" r:id="rId71"/>
    <p:sldId id="329" r:id="rId72"/>
    <p:sldId id="289" r:id="rId73"/>
    <p:sldId id="316" r:id="rId74"/>
    <p:sldId id="317" r:id="rId75"/>
    <p:sldId id="290" r:id="rId76"/>
    <p:sldId id="318" r:id="rId77"/>
    <p:sldId id="319" r:id="rId78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631" autoAdjust="0"/>
    <p:restoredTop sz="94564" autoAdjust="0"/>
  </p:normalViewPr>
  <p:slideViewPr>
    <p:cSldViewPr snapToGrid="0">
      <p:cViewPr varScale="1">
        <p:scale>
          <a:sx n="102" d="100"/>
          <a:sy n="102" d="100"/>
        </p:scale>
        <p:origin x="1712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>
            <a:extLst>
              <a:ext uri="{FF2B5EF4-FFF2-40B4-BE49-F238E27FC236}">
                <a16:creationId xmlns:a16="http://schemas.microsoft.com/office/drawing/2014/main" id="{28F250CC-BFE9-C464-83BC-39724E8A295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513" y="525463"/>
            <a:ext cx="4505325" cy="179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8">
            <a:extLst>
              <a:ext uri="{FF2B5EF4-FFF2-40B4-BE49-F238E27FC236}">
                <a16:creationId xmlns:a16="http://schemas.microsoft.com/office/drawing/2014/main" id="{CE8321C6-14B2-CAE7-53E3-64974A69A39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3088" y="2312988"/>
            <a:ext cx="16097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358BA48E-3B98-B0D2-D6A1-982ECE7EA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F6C58F-C9B8-4144-B384-13137B1AB126}" type="datetimeFigureOut">
              <a:rPr lang="en-US"/>
              <a:pPr>
                <a:defRPr/>
              </a:pPr>
              <a:t>6/4/25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A11332E9-2A75-36A8-B6CC-F01D1EEE6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59E4150-186E-324B-51E2-250BF1710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0197370-ED56-4A40-8901-6047A233DD6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566875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3E3106-E529-C5C3-DDC3-A77336E99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C3C14F-B528-D843-A72A-DC3A16A567B8}" type="datetimeFigureOut">
              <a:rPr lang="en-US"/>
              <a:pPr>
                <a:defRPr/>
              </a:pPr>
              <a:t>6/4/25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B46CCD-9705-DC51-1ECD-7FD70BF28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C1FAF4-8DDD-7873-028C-B43EB1FB9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C6BF262-929A-664A-BC0B-C04EE2FEC07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21264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A4D0F2-46C8-108E-3438-53D73B8CF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310798-F887-1B48-A82A-DBC7BA71098A}" type="datetimeFigureOut">
              <a:rPr lang="en-US"/>
              <a:pPr>
                <a:defRPr/>
              </a:pPr>
              <a:t>6/4/25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F947B6-52BB-7057-3BBD-9B71BDC94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177D6E-7025-863C-D5DE-F37FE557C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6C5DC6E-2636-8144-95B8-10B0A925799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626803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C6D0980A-B03E-F97E-53A7-5AB0392F4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1D388B-19B8-AC4A-9F07-E2D8AB199050}" type="datetimeFigureOut">
              <a:rPr lang="en-US"/>
              <a:pPr>
                <a:defRPr/>
              </a:pPr>
              <a:t>6/4/25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74D7B16-9D5C-CBE3-E2AF-B5C51B48E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E207BCC-0BEE-A6C0-D053-B7587732C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6E6EEC4-8A89-674F-B7A3-4FE3F94DC17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390094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494EE388-DFA0-2B18-8F27-F1C3BA9DF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588072-7DE4-C54C-9542-6776B3EB6462}" type="datetimeFigureOut">
              <a:rPr lang="en-US"/>
              <a:pPr>
                <a:defRPr/>
              </a:pPr>
              <a:t>6/4/25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C386D3B-8E6B-0EA3-C2EC-A4BE877D4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B4E4460-02ED-FD62-2997-11AC41015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FA9BDC3-840D-9345-9750-5B7FD1C0BD7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33901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CF29A723-B009-D6CF-3288-A313AE9BD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4D7CDD-BD59-4741-A696-5F789D44F21F}" type="datetimeFigureOut">
              <a:rPr lang="en-US"/>
              <a:pPr>
                <a:defRPr/>
              </a:pPr>
              <a:t>6/4/25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AE32E58-8FDB-A164-E411-8CDBF9C49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42A361B-E4EE-EFDB-93C5-264839AAC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2435DEC-AA53-0342-89E7-34833FF8BDC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04622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82EDA15D-66B3-1C94-DD05-CCE75C0CE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AA0EB0-A10A-C543-83F8-180FA346E726}" type="datetimeFigureOut">
              <a:rPr lang="en-US"/>
              <a:pPr>
                <a:defRPr/>
              </a:pPr>
              <a:t>6/4/25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859665CC-D317-65C4-F21E-A44A9C85F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AD7882FA-3722-3D8E-F0E2-933CEBA6E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880ACF-59C0-D043-85CE-EACC9D2A985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504921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7997906-B2A5-9107-45F0-45629754D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936881-2519-2D4F-AA16-3BC54E99990F}" type="datetimeFigureOut">
              <a:rPr lang="en-US"/>
              <a:pPr>
                <a:defRPr/>
              </a:pPr>
              <a:t>6/4/25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0D49D506-1DEB-1DFF-F3C6-A8C1AB360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7B723A3-D045-C592-74E7-114A432E7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5D48D5-1F92-D544-BD44-9BE8B7946C6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355669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rtlCol="0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98AD7FFE-E1A6-D15C-30E8-AC33646CD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C462CD-5022-3F4F-819F-EADE89862AC4}" type="datetimeFigureOut">
              <a:rPr lang="en-US"/>
              <a:pPr>
                <a:defRPr/>
              </a:pPr>
              <a:t>6/4/25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BB17785-D5DB-3B86-3E95-C4A60D774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A1A8938-55F5-B111-E97F-0471E672B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FC6677-30C2-4848-9D30-E2FAFFE35A4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222662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CF3B63-84EA-3914-4D12-1C4B696BA8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3A760F-EDE4-5C41-B85D-D5BB853F4869}" type="datetimeFigureOut">
              <a:rPr lang="en-US"/>
              <a:pPr>
                <a:defRPr/>
              </a:pPr>
              <a:t>6/4/25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E5C427-20CA-2720-DA71-82B9436E8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D27FB5-577D-48EF-12F0-AD70A1AF2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358A187-43C0-4047-AD81-DE6A05A81F0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833247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E0246C-F7E8-7CA8-885C-2F947C363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C7FC9A-B076-0640-BA32-9DF0D4D52288}" type="datetimeFigureOut">
              <a:rPr lang="en-US"/>
              <a:pPr>
                <a:defRPr/>
              </a:pPr>
              <a:t>6/4/25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FD3DCA-3B54-989E-9C1D-5B566AE0B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88ADFC-3139-048B-5D77-9E8389761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C9EA66A-AE4A-EC44-B199-1B405DF8844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936251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5D59F3E4-6174-5D1F-F83E-01C283722B83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A887A3E4-4BD1-1D99-6734-C25D4CA54C2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8CA2C2-DE7D-2F30-73D1-7883AD464D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797C3088-9C0D-5C43-8F51-4C8BFEE97A00}" type="datetimeFigureOut">
              <a:rPr lang="en-US"/>
              <a:pPr>
                <a:defRPr/>
              </a:pPr>
              <a:t>6/4/25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E68B2B-9E21-0FBA-F7E6-B8701308BE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34A36D-EA67-D830-1EC9-EBFA76A07C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900">
                <a:solidFill>
                  <a:srgbClr val="898989"/>
                </a:solidFill>
              </a:defRPr>
            </a:lvl1pPr>
          </a:lstStyle>
          <a:p>
            <a:fld id="{A5244A25-CC56-BD40-BEF8-C3F026DBE8EC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7" name="Text Box 6">
            <a:extLst>
              <a:ext uri="{FF2B5EF4-FFF2-40B4-BE49-F238E27FC236}">
                <a16:creationId xmlns:a16="http://schemas.microsoft.com/office/drawing/2014/main" id="{A17FB833-BA3B-1FB1-2522-E4CFFCF4E7C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85800" y="6400800"/>
            <a:ext cx="8229600" cy="577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altLang="en-US" sz="900" i="1" dirty="0"/>
              <a:t>JAVA: An Introduction to Problem Solving &amp; Programming, 8</a:t>
            </a:r>
            <a:r>
              <a:rPr lang="en-US" altLang="en-US" sz="900" baseline="30000" dirty="0"/>
              <a:t>th</a:t>
            </a:r>
            <a:r>
              <a:rPr lang="en-US" altLang="en-US" sz="900" dirty="0"/>
              <a:t> Ed. By Walter Savitch</a:t>
            </a:r>
            <a:br>
              <a:rPr lang="en-US" altLang="en-US" sz="900" dirty="0"/>
            </a:br>
            <a:r>
              <a:rPr lang="en-US" altLang="en-US" sz="900" dirty="0"/>
              <a:t>ISBN </a:t>
            </a:r>
            <a:r>
              <a:rPr lang="en-US" sz="900" dirty="0"/>
              <a:t>0134462033 </a:t>
            </a:r>
            <a:r>
              <a:rPr lang="en-US" altLang="en-US" sz="900" dirty="0"/>
              <a:t> © 2018 Pearson Education, Inc., Hoboken, NJ. All Rights Reserved</a:t>
            </a:r>
          </a:p>
          <a:p>
            <a:pPr algn="ctr" eaLnBrk="1" hangingPunct="1">
              <a:spcBef>
                <a:spcPct val="50000"/>
              </a:spcBef>
              <a:defRPr/>
            </a:pPr>
            <a:endParaRPr lang="en-US" sz="900" dirty="0">
              <a:solidFill>
                <a:prstClr val="black"/>
              </a:solidFill>
              <a:cs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2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171450" indent="-171450" algn="l" defTabSz="685800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CodeSamples4.htm#Listing 7.1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CodeSamples4.htm#Listing 7.2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CodeSamples4.htm#Listing 7.3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CodeSamples4.htm#Listing 7.4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CodeSamples4.htm#Listing 7.5" TargetMode="Externa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hyperlink" Target="CodeSamples4.htm#Listing 7.6" TargetMode="Externa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hyperlink" Target="CodeSamples4.htm#Listing 7.7" TargetMode="Externa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hyperlink" Target="CodeSamples4.htm#Listing 7.8" TargetMode="Externa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hyperlink" Target="CodeSamples4.htm#Listing 7.9" TargetMode="Externa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hyperlink" Target="CodeSamples4.htm#Listing 7.11" TargetMode="External"/><Relationship Id="rId2" Type="http://schemas.openxmlformats.org/officeDocument/2006/relationships/hyperlink" Target="CodeSamples4.htm#Listing 7.10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hyperlink" Target="CodeSamples4.htm#Listing 7.12" TargetMode="Externa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hyperlink" Target="CodeSamples4.htm#Listing 7.13" TargetMode="Externa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hyperlink" Target="CodeSamples4.htm#Listing 7.14" TargetMode="Externa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hyperlink" Target="CodeSamples4.htm#Listing 7.15" TargetMode="Externa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hyperlink" Target="CodeSamples4.htm#Listing 7.16" TargetMode="Externa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hyperlink" Target="CodeSamples4.htm#Listing 7.17" TargetMode="Externa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hyperlink" Target="CodeSamples4.htm#Listing 7.18" TargetMode="Externa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hyperlink" Target="CodeSamples4.htm#Listing 7.19" TargetMode="Externa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hyperlink" Target="CodeSamples4.htm#Listing 7.20" TargetMode="Externa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hyperlink" Target="CodeSamples4.htm#Listing 7.21" TargetMode="Externa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hyperlink" Target="CodeSamples4.htm#Listing 7.22" TargetMode="External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>
            <a:extLst>
              <a:ext uri="{FF2B5EF4-FFF2-40B4-BE49-F238E27FC236}">
                <a16:creationId xmlns:a16="http://schemas.microsoft.com/office/drawing/2014/main" id="{04C22478-C031-73AC-95C1-CDC8A53CB55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Arrays</a:t>
            </a:r>
          </a:p>
        </p:txBody>
      </p:sp>
      <p:sp>
        <p:nvSpPr>
          <p:cNvPr id="3075" name="Subtitle 2">
            <a:extLst>
              <a:ext uri="{FF2B5EF4-FFF2-40B4-BE49-F238E27FC236}">
                <a16:creationId xmlns:a16="http://schemas.microsoft.com/office/drawing/2014/main" id="{D594A57E-0742-B5BC-B92E-167B68846A1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Chapter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>
            <a:extLst>
              <a:ext uri="{FF2B5EF4-FFF2-40B4-BE49-F238E27FC236}">
                <a16:creationId xmlns:a16="http://schemas.microsoft.com/office/drawing/2014/main" id="{AADBBBA3-8A99-0B89-2A0A-4272BE063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Objectives</a:t>
            </a:r>
          </a:p>
        </p:txBody>
      </p:sp>
      <p:sp>
        <p:nvSpPr>
          <p:cNvPr id="4099" name="Content Placeholder 2">
            <a:extLst>
              <a:ext uri="{FF2B5EF4-FFF2-40B4-BE49-F238E27FC236}">
                <a16:creationId xmlns:a16="http://schemas.microsoft.com/office/drawing/2014/main" id="{37A1939F-C0FD-42BC-59C1-C81B56C135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2850" y="1600200"/>
            <a:ext cx="7473950" cy="4525963"/>
          </a:xfrm>
        </p:spPr>
        <p:txBody>
          <a:bodyPr/>
          <a:lstStyle/>
          <a:p>
            <a:pPr eaLnBrk="1" hangingPunct="1"/>
            <a:r>
              <a:rPr lang="en-US" altLang="en-US"/>
              <a:t>Nature and purpose of an array</a:t>
            </a:r>
          </a:p>
          <a:p>
            <a:pPr eaLnBrk="1" hangingPunct="1"/>
            <a:r>
              <a:rPr lang="en-US" altLang="en-US"/>
              <a:t>Using arrays in Java programs</a:t>
            </a:r>
          </a:p>
          <a:p>
            <a:pPr eaLnBrk="1" hangingPunct="1"/>
            <a:r>
              <a:rPr lang="en-US" altLang="en-US"/>
              <a:t>Methods with array parameter</a:t>
            </a:r>
          </a:p>
          <a:p>
            <a:pPr eaLnBrk="1" hangingPunct="1"/>
            <a:r>
              <a:rPr lang="en-US" altLang="en-US"/>
              <a:t>Methods that return an array</a:t>
            </a:r>
          </a:p>
          <a:p>
            <a:pPr eaLnBrk="1" hangingPunct="1"/>
            <a:r>
              <a:rPr lang="en-US" altLang="en-US"/>
              <a:t>Array as an instance variable</a:t>
            </a:r>
          </a:p>
          <a:p>
            <a:pPr eaLnBrk="1" hangingPunct="1"/>
            <a:r>
              <a:rPr lang="en-US" altLang="en-US"/>
              <a:t>Use an array not filled completely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>
            <a:extLst>
              <a:ext uri="{FF2B5EF4-FFF2-40B4-BE49-F238E27FC236}">
                <a16:creationId xmlns:a16="http://schemas.microsoft.com/office/drawing/2014/main" id="{A2767498-17A7-E8CE-C881-E8FD785D6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Objectives</a:t>
            </a:r>
          </a:p>
        </p:txBody>
      </p:sp>
      <p:sp>
        <p:nvSpPr>
          <p:cNvPr id="5123" name="Content Placeholder 2">
            <a:extLst>
              <a:ext uri="{FF2B5EF4-FFF2-40B4-BE49-F238E27FC236}">
                <a16:creationId xmlns:a16="http://schemas.microsoft.com/office/drawing/2014/main" id="{E8E98DDF-F5F5-5E81-3755-750C4DBB78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3800" y="1600200"/>
            <a:ext cx="7493000" cy="4525963"/>
          </a:xfrm>
        </p:spPr>
        <p:txBody>
          <a:bodyPr/>
          <a:lstStyle/>
          <a:p>
            <a:pPr eaLnBrk="1" hangingPunct="1"/>
            <a:r>
              <a:rPr lang="en-US" altLang="en-US"/>
              <a:t>Order (sort) the elements of an array</a:t>
            </a:r>
          </a:p>
          <a:p>
            <a:pPr eaLnBrk="1" hangingPunct="1"/>
            <a:r>
              <a:rPr lang="en-US" altLang="en-US"/>
              <a:t>Search an array for a particular item</a:t>
            </a:r>
          </a:p>
          <a:p>
            <a:pPr eaLnBrk="1" hangingPunct="1"/>
            <a:r>
              <a:rPr lang="en-US" altLang="en-US"/>
              <a:t>Define, use multidimensional array</a:t>
            </a:r>
          </a:p>
          <a:p>
            <a:pPr eaLnBrk="1" hangingPunct="1"/>
            <a:r>
              <a:rPr lang="en-US" altLang="en-US"/>
              <a:t>Text fields, text areas in applets</a:t>
            </a:r>
          </a:p>
          <a:p>
            <a:pPr eaLnBrk="1" hangingPunct="1"/>
            <a:r>
              <a:rPr lang="en-US" altLang="en-US"/>
              <a:t>Drawing arbitrary polygons in applets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5EC38F7F-4FF5-23EC-E6B6-FD5284327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Array Basics: Outline</a:t>
            </a:r>
          </a:p>
        </p:txBody>
      </p:sp>
      <p:sp>
        <p:nvSpPr>
          <p:cNvPr id="6147" name="Content Placeholder 2">
            <a:extLst>
              <a:ext uri="{FF2B5EF4-FFF2-40B4-BE49-F238E27FC236}">
                <a16:creationId xmlns:a16="http://schemas.microsoft.com/office/drawing/2014/main" id="{A17114BE-D283-CB8C-DE0D-C49EB25F75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3800" y="1600200"/>
            <a:ext cx="7493000" cy="4525963"/>
          </a:xfrm>
        </p:spPr>
        <p:txBody>
          <a:bodyPr/>
          <a:lstStyle/>
          <a:p>
            <a:pPr eaLnBrk="1" hangingPunct="1"/>
            <a:r>
              <a:rPr lang="en-US" altLang="en-US"/>
              <a:t>Creating and Accessing Arrays</a:t>
            </a:r>
          </a:p>
          <a:p>
            <a:pPr eaLnBrk="1" hangingPunct="1"/>
            <a:r>
              <a:rPr lang="en-US" altLang="en-US"/>
              <a:t>Array Details</a:t>
            </a:r>
          </a:p>
          <a:p>
            <a:pPr eaLnBrk="1" hangingPunct="1"/>
            <a:r>
              <a:rPr lang="en-US" altLang="en-US"/>
              <a:t>The Instance Variable length</a:t>
            </a:r>
          </a:p>
          <a:p>
            <a:pPr eaLnBrk="1" hangingPunct="1"/>
            <a:r>
              <a:rPr lang="en-US" altLang="en-US"/>
              <a:t>More About Array Indices</a:t>
            </a:r>
          </a:p>
          <a:p>
            <a:pPr eaLnBrk="1" hangingPunct="1"/>
            <a:r>
              <a:rPr lang="en-US" altLang="en-US"/>
              <a:t>Analyzing Arrays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F480E-8FFD-C49E-D2E7-B0CE8528D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CBF874-71FB-7BBE-2722-DCED2913C1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825625"/>
            <a:ext cx="8164621" cy="4351338"/>
          </a:xfrm>
        </p:spPr>
        <p:txBody>
          <a:bodyPr/>
          <a:lstStyle/>
          <a:p>
            <a:r>
              <a:rPr lang="en-US" sz="2800" dirty="0"/>
              <a:t>An array is a collection of variables of the same type.</a:t>
            </a:r>
          </a:p>
          <a:p>
            <a:r>
              <a:rPr lang="en-US" sz="2800" dirty="0"/>
              <a:t>The name of the array is a reference type.</a:t>
            </a:r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F8270B23-A59D-17FA-BC5D-76C4AF8513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7" y="3076575"/>
            <a:ext cx="4657725" cy="704850"/>
          </a:xfrm>
          <a:prstGeom prst="rect">
            <a:avLst/>
          </a:prstGeom>
          <a:noFill/>
          <a:ln>
            <a:noFill/>
          </a:ln>
          <a:effectLst>
            <a:outerShdw dist="88900" dir="2700000" algn="tl" rotWithShape="0">
              <a:srgbClr val="000000">
                <a:alpha val="39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7DBA55A-9A9F-E2B0-9E5D-27AEE7EAA57F}"/>
              </a:ext>
            </a:extLst>
          </p:cNvPr>
          <p:cNvSpPr/>
          <p:nvPr/>
        </p:nvSpPr>
        <p:spPr>
          <a:xfrm>
            <a:off x="726511" y="4471792"/>
            <a:ext cx="1164920" cy="68893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Type of Array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70AC54D-A157-0770-B779-5484AC84BB3A}"/>
              </a:ext>
            </a:extLst>
          </p:cNvPr>
          <p:cNvCxnSpPr>
            <a:cxnSpLocks/>
          </p:cNvCxnSpPr>
          <p:nvPr/>
        </p:nvCxnSpPr>
        <p:spPr>
          <a:xfrm flipV="1">
            <a:off x="1315233" y="3519814"/>
            <a:ext cx="1164920" cy="95197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9E8A22D-4DDB-D859-CA58-B7F2A0A2E22F}"/>
              </a:ext>
            </a:extLst>
          </p:cNvPr>
          <p:cNvCxnSpPr>
            <a:cxnSpLocks/>
          </p:cNvCxnSpPr>
          <p:nvPr/>
        </p:nvCxnSpPr>
        <p:spPr>
          <a:xfrm flipV="1">
            <a:off x="3166737" y="3519814"/>
            <a:ext cx="0" cy="120249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55BE34D9-658F-3006-9BF9-641E305F3D6E}"/>
              </a:ext>
            </a:extLst>
          </p:cNvPr>
          <p:cNvSpPr/>
          <p:nvPr/>
        </p:nvSpPr>
        <p:spPr>
          <a:xfrm>
            <a:off x="2542784" y="4722312"/>
            <a:ext cx="1327758" cy="43841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Subscript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C7D7213-F5CB-DAE3-0305-29AF257C897F}"/>
              </a:ext>
            </a:extLst>
          </p:cNvPr>
          <p:cNvSpPr/>
          <p:nvPr/>
        </p:nvSpPr>
        <p:spPr>
          <a:xfrm>
            <a:off x="4232623" y="4473880"/>
            <a:ext cx="1327755" cy="68893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Name of Array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C029CB3-3194-C068-1AD7-CD012AE6CFE1}"/>
              </a:ext>
            </a:extLst>
          </p:cNvPr>
          <p:cNvCxnSpPr>
            <a:cxnSpLocks/>
          </p:cNvCxnSpPr>
          <p:nvPr/>
        </p:nvCxnSpPr>
        <p:spPr>
          <a:xfrm flipH="1" flipV="1">
            <a:off x="4083485" y="3519814"/>
            <a:ext cx="801406" cy="95197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67972244-F660-C0AE-653C-89127A29800A}"/>
              </a:ext>
            </a:extLst>
          </p:cNvPr>
          <p:cNvSpPr/>
          <p:nvPr/>
        </p:nvSpPr>
        <p:spPr>
          <a:xfrm>
            <a:off x="6770712" y="4471792"/>
            <a:ext cx="1327755" cy="68893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Size of Array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C605727-2AF6-CF9D-82FE-92BC05A1FFEC}"/>
              </a:ext>
            </a:extLst>
          </p:cNvPr>
          <p:cNvCxnSpPr>
            <a:cxnSpLocks/>
            <a:stCxn id="17" idx="0"/>
          </p:cNvCxnSpPr>
          <p:nvPr/>
        </p:nvCxnSpPr>
        <p:spPr>
          <a:xfrm flipH="1" flipV="1">
            <a:off x="6438377" y="3455552"/>
            <a:ext cx="996213" cy="101624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27A69AA2-E1F2-9D98-FC68-149B61FFC40F}"/>
              </a:ext>
            </a:extLst>
          </p:cNvPr>
          <p:cNvSpPr/>
          <p:nvPr/>
        </p:nvSpPr>
        <p:spPr>
          <a:xfrm>
            <a:off x="5305946" y="5340956"/>
            <a:ext cx="3807912" cy="47255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Number of elements in array</a:t>
            </a:r>
          </a:p>
        </p:txBody>
      </p:sp>
    </p:spTree>
    <p:extLst>
      <p:ext uri="{BB962C8B-B14F-4D97-AF65-F5344CB8AC3E}">
        <p14:creationId xmlns:p14="http://schemas.microsoft.com/office/powerpoint/2010/main" val="18927087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719E8A-6164-0F68-3BE1-B40F57EF7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72D09-D40C-956B-51E5-E8242A88C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87D6E-5E99-451C-4740-31C6BF7584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825625"/>
            <a:ext cx="8164621" cy="4351338"/>
          </a:xfrm>
        </p:spPr>
        <p:txBody>
          <a:bodyPr/>
          <a:lstStyle/>
          <a:p>
            <a:r>
              <a:rPr lang="en-US" sz="2800" dirty="0"/>
              <a:t>Array elements are are stored in consecutive memory locations.</a:t>
            </a:r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2B509162-ECF9-0690-5D80-21B471855D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2096" y="2263093"/>
            <a:ext cx="4657725" cy="704850"/>
          </a:xfrm>
          <a:prstGeom prst="rect">
            <a:avLst/>
          </a:prstGeom>
          <a:noFill/>
          <a:ln>
            <a:noFill/>
          </a:ln>
          <a:effectLst>
            <a:outerShdw dist="88900" dir="2700000" algn="tl" rotWithShape="0">
              <a:srgbClr val="000000">
                <a:alpha val="39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1D20E4D-E483-D8D8-C0EE-16EC4078DDF6}"/>
              </a:ext>
            </a:extLst>
          </p:cNvPr>
          <p:cNvSpPr/>
          <p:nvPr/>
        </p:nvSpPr>
        <p:spPr>
          <a:xfrm>
            <a:off x="5209848" y="3186205"/>
            <a:ext cx="1327758" cy="438411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0D3A868-1432-7541-383D-691E8B6E7125}"/>
              </a:ext>
            </a:extLst>
          </p:cNvPr>
          <p:cNvSpPr/>
          <p:nvPr/>
        </p:nvSpPr>
        <p:spPr>
          <a:xfrm>
            <a:off x="5209848" y="4100603"/>
            <a:ext cx="1327758" cy="438411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DDADCEE-51B5-81C8-368D-29DBFA4E5983}"/>
              </a:ext>
            </a:extLst>
          </p:cNvPr>
          <p:cNvSpPr/>
          <p:nvPr/>
        </p:nvSpPr>
        <p:spPr>
          <a:xfrm>
            <a:off x="5209848" y="3643404"/>
            <a:ext cx="1327758" cy="438411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3E91E97-75E6-5A16-B71B-EBC16041CCF2}"/>
              </a:ext>
            </a:extLst>
          </p:cNvPr>
          <p:cNvSpPr/>
          <p:nvPr/>
        </p:nvSpPr>
        <p:spPr>
          <a:xfrm>
            <a:off x="5209848" y="4559336"/>
            <a:ext cx="1327758" cy="438411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72D4C93-D396-DA51-A710-39EFBA2B4DE9}"/>
              </a:ext>
            </a:extLst>
          </p:cNvPr>
          <p:cNvSpPr/>
          <p:nvPr/>
        </p:nvSpPr>
        <p:spPr>
          <a:xfrm>
            <a:off x="5209848" y="5025162"/>
            <a:ext cx="1327758" cy="438411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4C52129-B2B3-C57C-54CB-1B1A95213B26}"/>
              </a:ext>
            </a:extLst>
          </p:cNvPr>
          <p:cNvSpPr/>
          <p:nvPr/>
        </p:nvSpPr>
        <p:spPr>
          <a:xfrm>
            <a:off x="5209848" y="5490988"/>
            <a:ext cx="1327758" cy="438411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E0977C0-7BB4-D273-2116-902EB6DFF312}"/>
              </a:ext>
            </a:extLst>
          </p:cNvPr>
          <p:cNvSpPr/>
          <p:nvPr/>
        </p:nvSpPr>
        <p:spPr>
          <a:xfrm>
            <a:off x="5209848" y="5956814"/>
            <a:ext cx="1327758" cy="438411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DFE89A8-1D07-646A-D61C-208E1CE9592C}"/>
              </a:ext>
            </a:extLst>
          </p:cNvPr>
          <p:cNvSpPr/>
          <p:nvPr/>
        </p:nvSpPr>
        <p:spPr>
          <a:xfrm>
            <a:off x="2793304" y="3248835"/>
            <a:ext cx="2243266" cy="3247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temperature [0]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41D8D2F-FC9F-BF8F-F89C-EDBF4178FA28}"/>
              </a:ext>
            </a:extLst>
          </p:cNvPr>
          <p:cNvSpPr/>
          <p:nvPr/>
        </p:nvSpPr>
        <p:spPr>
          <a:xfrm>
            <a:off x="2793304" y="3708164"/>
            <a:ext cx="2243266" cy="3247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temperature [1]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AC40643-6BA4-D231-74C9-29490B75D224}"/>
              </a:ext>
            </a:extLst>
          </p:cNvPr>
          <p:cNvSpPr/>
          <p:nvPr/>
        </p:nvSpPr>
        <p:spPr>
          <a:xfrm>
            <a:off x="2807918" y="4173714"/>
            <a:ext cx="2243266" cy="3247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temperature [2]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0D95981-081C-0C16-B5F1-155A69C95437}"/>
              </a:ext>
            </a:extLst>
          </p:cNvPr>
          <p:cNvSpPr/>
          <p:nvPr/>
        </p:nvSpPr>
        <p:spPr>
          <a:xfrm>
            <a:off x="2810006" y="4614212"/>
            <a:ext cx="2243266" cy="3247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temperature [3]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9D50B3C-C432-0AFE-D842-0827D3E5545D}"/>
              </a:ext>
            </a:extLst>
          </p:cNvPr>
          <p:cNvSpPr/>
          <p:nvPr/>
        </p:nvSpPr>
        <p:spPr>
          <a:xfrm>
            <a:off x="2787042" y="5054710"/>
            <a:ext cx="2243266" cy="3247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temperature [4]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47C618F-9E68-9A58-C256-027E305DFB55}"/>
              </a:ext>
            </a:extLst>
          </p:cNvPr>
          <p:cNvSpPr/>
          <p:nvPr/>
        </p:nvSpPr>
        <p:spPr>
          <a:xfrm>
            <a:off x="2787042" y="5516798"/>
            <a:ext cx="2243266" cy="3247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temperature [5]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8DEA4FE-BE51-0E8B-C033-B53C69B4D9DF}"/>
              </a:ext>
            </a:extLst>
          </p:cNvPr>
          <p:cNvSpPr/>
          <p:nvPr/>
        </p:nvSpPr>
        <p:spPr>
          <a:xfrm>
            <a:off x="2807918" y="6027598"/>
            <a:ext cx="2243266" cy="3247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temperature [6]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29D2E345-A8BA-A82A-4BE8-5186D045F3D5}"/>
              </a:ext>
            </a:extLst>
          </p:cNvPr>
          <p:cNvCxnSpPr>
            <a:cxnSpLocks/>
            <a:stCxn id="22" idx="3"/>
            <a:endCxn id="8" idx="1"/>
          </p:cNvCxnSpPr>
          <p:nvPr/>
        </p:nvCxnSpPr>
        <p:spPr>
          <a:xfrm flipV="1">
            <a:off x="5036570" y="3405411"/>
            <a:ext cx="173278" cy="578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7" name="Picture 36">
            <a:extLst>
              <a:ext uri="{FF2B5EF4-FFF2-40B4-BE49-F238E27FC236}">
                <a16:creationId xmlns:a16="http://schemas.microsoft.com/office/drawing/2014/main" id="{93DDB66E-3E2B-66D3-D6AD-AB55BDBD2C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7448" y="3765090"/>
            <a:ext cx="304800" cy="254000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ABA6EE84-22F3-3223-2E85-3CA3CABCD9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1184" y="4203851"/>
            <a:ext cx="304800" cy="254000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EA0A42B4-715E-6D0A-3DD7-7B3203FD22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1184" y="4658703"/>
            <a:ext cx="304800" cy="254000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22FAC60B-4E28-35F6-CDE4-01F8CBF128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0308" y="5117367"/>
            <a:ext cx="304800" cy="254000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B757E18E-C5F8-5A3E-BACF-6EFE3DB38F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6802" y="5569659"/>
            <a:ext cx="304800" cy="254000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2CBB2526-0C76-78CD-76F7-26B9280B9E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1184" y="6083222"/>
            <a:ext cx="304800" cy="25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0938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3131C-F695-1416-EAFD-BAFB1E65B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8A2B7-1C5B-C7FB-E2ED-9F7D1AC96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Accessing an element of an array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B8C608-A1B8-C7B4-764E-2A652C07EF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825625"/>
            <a:ext cx="8164621" cy="4351338"/>
          </a:xfrm>
        </p:spPr>
        <p:txBody>
          <a:bodyPr/>
          <a:lstStyle/>
          <a:p>
            <a:r>
              <a:rPr lang="en-US" sz="2800" dirty="0"/>
              <a:t>To access an element of an array, you need to specify the </a:t>
            </a:r>
            <a:r>
              <a:rPr lang="en-US" sz="2800" u="sng" dirty="0"/>
              <a:t>name of the array </a:t>
            </a:r>
            <a:r>
              <a:rPr lang="en-US" sz="2800" dirty="0"/>
              <a:t>and the </a:t>
            </a:r>
            <a:r>
              <a:rPr lang="en-US" sz="2800" u="sng" dirty="0"/>
              <a:t>position of the elem</a:t>
            </a:r>
            <a:r>
              <a:rPr lang="en-US" sz="2800" dirty="0"/>
              <a:t>ent in the array.</a:t>
            </a:r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9F13D7C1-B681-EE6E-AFA2-D9E14B6A6B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7" y="3076575"/>
            <a:ext cx="4657725" cy="704850"/>
          </a:xfrm>
          <a:prstGeom prst="rect">
            <a:avLst/>
          </a:prstGeom>
          <a:noFill/>
          <a:ln>
            <a:noFill/>
          </a:ln>
          <a:effectLst>
            <a:outerShdw dist="88900" dir="2700000" algn="tl" rotWithShape="0">
              <a:srgbClr val="000000">
                <a:alpha val="39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29495DF-132E-E15E-079F-8170975143DA}"/>
              </a:ext>
            </a:extLst>
          </p:cNvPr>
          <p:cNvSpPr/>
          <p:nvPr/>
        </p:nvSpPr>
        <p:spPr>
          <a:xfrm>
            <a:off x="1974022" y="4343444"/>
            <a:ext cx="5473874" cy="688931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To access the fifth element of the array: </a:t>
            </a:r>
            <a:br>
              <a:rPr lang="en-US" sz="2400" dirty="0"/>
            </a:b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temperature [4] = 40;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1195B39-BED5-5680-BBF9-E29190EFA0AF}"/>
              </a:ext>
            </a:extLst>
          </p:cNvPr>
          <p:cNvSpPr/>
          <p:nvPr/>
        </p:nvSpPr>
        <p:spPr>
          <a:xfrm>
            <a:off x="2123160" y="5737237"/>
            <a:ext cx="1327755" cy="68893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Name of Array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B5159FE-C8D0-6851-F590-C971EFE37E18}"/>
              </a:ext>
            </a:extLst>
          </p:cNvPr>
          <p:cNvCxnSpPr>
            <a:cxnSpLocks/>
          </p:cNvCxnSpPr>
          <p:nvPr/>
        </p:nvCxnSpPr>
        <p:spPr>
          <a:xfrm flipV="1">
            <a:off x="2775428" y="5032375"/>
            <a:ext cx="1082588" cy="70277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E8E98478-E07C-2D35-638A-BBCEC12AA641}"/>
              </a:ext>
            </a:extLst>
          </p:cNvPr>
          <p:cNvSpPr/>
          <p:nvPr/>
        </p:nvSpPr>
        <p:spPr>
          <a:xfrm>
            <a:off x="5088496" y="5735149"/>
            <a:ext cx="1812366" cy="68893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Index of the element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02376E9-1948-923B-4500-6ED1E3DC43B6}"/>
              </a:ext>
            </a:extLst>
          </p:cNvPr>
          <p:cNvCxnSpPr>
            <a:cxnSpLocks/>
            <a:stCxn id="13" idx="0"/>
          </p:cNvCxnSpPr>
          <p:nvPr/>
        </p:nvCxnSpPr>
        <p:spPr>
          <a:xfrm flipH="1" flipV="1">
            <a:off x="5203389" y="5032375"/>
            <a:ext cx="791290" cy="70277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2DBD88B6-4097-5B9B-8E75-C9455221AA01}"/>
              </a:ext>
            </a:extLst>
          </p:cNvPr>
          <p:cNvSpPr/>
          <p:nvPr/>
        </p:nvSpPr>
        <p:spPr>
          <a:xfrm>
            <a:off x="7653984" y="3343014"/>
            <a:ext cx="1327758" cy="438411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A3CBBD0-CFF2-9EC3-94C4-C12AA10B6DFB}"/>
              </a:ext>
            </a:extLst>
          </p:cNvPr>
          <p:cNvSpPr/>
          <p:nvPr/>
        </p:nvSpPr>
        <p:spPr>
          <a:xfrm>
            <a:off x="7653984" y="4257412"/>
            <a:ext cx="1327758" cy="438411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24E4F2C-38BE-A05D-55D0-FAD710955E02}"/>
              </a:ext>
            </a:extLst>
          </p:cNvPr>
          <p:cNvSpPr/>
          <p:nvPr/>
        </p:nvSpPr>
        <p:spPr>
          <a:xfrm>
            <a:off x="7653984" y="3800213"/>
            <a:ext cx="1327758" cy="438411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3A7CED1-1592-EBCB-9A04-63BAA767F7C5}"/>
              </a:ext>
            </a:extLst>
          </p:cNvPr>
          <p:cNvSpPr/>
          <p:nvPr/>
        </p:nvSpPr>
        <p:spPr>
          <a:xfrm>
            <a:off x="7653984" y="4716145"/>
            <a:ext cx="1327758" cy="438411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0582C4A-331B-0154-B68B-8BA327ACC465}"/>
              </a:ext>
            </a:extLst>
          </p:cNvPr>
          <p:cNvSpPr/>
          <p:nvPr/>
        </p:nvSpPr>
        <p:spPr>
          <a:xfrm>
            <a:off x="7653984" y="5181971"/>
            <a:ext cx="1327758" cy="438411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40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AA5E79C-DA13-6138-EBBE-9B0B85F5E17A}"/>
              </a:ext>
            </a:extLst>
          </p:cNvPr>
          <p:cNvSpPr/>
          <p:nvPr/>
        </p:nvSpPr>
        <p:spPr>
          <a:xfrm>
            <a:off x="7653984" y="5647797"/>
            <a:ext cx="1327758" cy="438411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FB081EE-2D41-33BA-FFAA-C7530A81A4DE}"/>
              </a:ext>
            </a:extLst>
          </p:cNvPr>
          <p:cNvSpPr/>
          <p:nvPr/>
        </p:nvSpPr>
        <p:spPr>
          <a:xfrm>
            <a:off x="7653984" y="6113623"/>
            <a:ext cx="1327758" cy="438411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0418122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8C4B31-A04F-CF31-A25E-1AAB5A9E9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B9590-E8FC-E799-669E-3BDFDE6CB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Accessing an element of an array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4A29B2-C913-2F0D-F318-CDD16BF650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825625"/>
            <a:ext cx="8164621" cy="4351338"/>
          </a:xfrm>
        </p:spPr>
        <p:txBody>
          <a:bodyPr/>
          <a:lstStyle/>
          <a:p>
            <a:r>
              <a:rPr lang="en-US" sz="2800" dirty="0"/>
              <a:t>Array index can be an integer number or any expression that return an integer number</a:t>
            </a:r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06C63846-F025-14E3-5B9A-D75F88D5C0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0919" y="2724150"/>
            <a:ext cx="4657725" cy="704850"/>
          </a:xfrm>
          <a:prstGeom prst="rect">
            <a:avLst/>
          </a:prstGeom>
          <a:noFill/>
          <a:ln>
            <a:noFill/>
          </a:ln>
          <a:effectLst>
            <a:outerShdw dist="88900" dir="2700000" algn="tl" rotWithShape="0">
              <a:srgbClr val="000000">
                <a:alpha val="39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A8DF0CB-774A-504A-3E99-9947465E1018}"/>
              </a:ext>
            </a:extLst>
          </p:cNvPr>
          <p:cNvSpPr/>
          <p:nvPr/>
        </p:nvSpPr>
        <p:spPr>
          <a:xfrm>
            <a:off x="1855316" y="3638594"/>
            <a:ext cx="5473874" cy="688931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To access the fifth element of the array: </a:t>
            </a:r>
            <a:br>
              <a:rPr lang="en-US" sz="2400" dirty="0"/>
            </a:b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temperature[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a+b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 40;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7F98539-096A-3637-D55B-08F0DBF97663}"/>
              </a:ext>
            </a:extLst>
          </p:cNvPr>
          <p:cNvSpPr/>
          <p:nvPr/>
        </p:nvSpPr>
        <p:spPr>
          <a:xfrm>
            <a:off x="2004454" y="5032387"/>
            <a:ext cx="1327755" cy="68893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Name of Array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58EF250-2028-3F33-56C5-C9589F047B96}"/>
              </a:ext>
            </a:extLst>
          </p:cNvPr>
          <p:cNvCxnSpPr>
            <a:cxnSpLocks/>
          </p:cNvCxnSpPr>
          <p:nvPr/>
        </p:nvCxnSpPr>
        <p:spPr>
          <a:xfrm flipV="1">
            <a:off x="2656722" y="4327525"/>
            <a:ext cx="1082588" cy="70277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AD1E564E-172F-16F6-7CA0-8681600D09BF}"/>
              </a:ext>
            </a:extLst>
          </p:cNvPr>
          <p:cNvSpPr/>
          <p:nvPr/>
        </p:nvSpPr>
        <p:spPr>
          <a:xfrm>
            <a:off x="4969790" y="5030299"/>
            <a:ext cx="1812366" cy="68893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Index of the element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D336398-0FFB-9077-5C05-CA7A855EBDDE}"/>
              </a:ext>
            </a:extLst>
          </p:cNvPr>
          <p:cNvCxnSpPr>
            <a:cxnSpLocks/>
            <a:stCxn id="13" idx="0"/>
          </p:cNvCxnSpPr>
          <p:nvPr/>
        </p:nvCxnSpPr>
        <p:spPr>
          <a:xfrm flipH="1" flipV="1">
            <a:off x="5084683" y="4327525"/>
            <a:ext cx="791290" cy="70277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4DBEB024-E156-6471-0B04-ACE161A710CD}"/>
              </a:ext>
            </a:extLst>
          </p:cNvPr>
          <p:cNvSpPr txBox="1"/>
          <p:nvPr/>
        </p:nvSpPr>
        <p:spPr>
          <a:xfrm>
            <a:off x="1117163" y="5852730"/>
            <a:ext cx="6836863" cy="923330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An index must be an int value or a value of a type that can be promoted to int—namely, byte, short or char, but not long; otherwise, a compilation error occurs.</a:t>
            </a:r>
          </a:p>
        </p:txBody>
      </p:sp>
    </p:spTree>
    <p:extLst>
      <p:ext uri="{BB962C8B-B14F-4D97-AF65-F5344CB8AC3E}">
        <p14:creationId xmlns:p14="http://schemas.microsoft.com/office/powerpoint/2010/main" val="19621270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68CA96-1FEB-A68E-D29A-8CEE74605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>
            <a:extLst>
              <a:ext uri="{FF2B5EF4-FFF2-40B4-BE49-F238E27FC236}">
                <a16:creationId xmlns:a16="http://schemas.microsoft.com/office/drawing/2014/main" id="{2ED6D80A-C449-CFAB-238F-D2BF0B819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Declaring and creating arrays</a:t>
            </a:r>
          </a:p>
        </p:txBody>
      </p:sp>
      <p:sp>
        <p:nvSpPr>
          <p:cNvPr id="10243" name="Content Placeholder 2">
            <a:extLst>
              <a:ext uri="{FF2B5EF4-FFF2-40B4-BE49-F238E27FC236}">
                <a16:creationId xmlns:a16="http://schemas.microsoft.com/office/drawing/2014/main" id="{7C03654E-BE67-A8B0-2582-312EEEAAE7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Syntax for declaring an array with </a:t>
            </a:r>
            <a:r>
              <a:rPr lang="en-US" altLang="en-US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</a:p>
          <a:p>
            <a:pPr eaLnBrk="1" hangingPunct="1"/>
            <a:endParaRPr lang="en-US" altLang="en-US" b="1">
              <a:solidFill>
                <a:srgbClr val="0033CC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/>
            <a:endParaRPr lang="en-US" altLang="en-US" b="1">
              <a:solidFill>
                <a:srgbClr val="0033CC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/>
            <a:endParaRPr lang="en-US" altLang="en-US" b="1">
              <a:solidFill>
                <a:srgbClr val="0033CC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/>
            <a:r>
              <a:rPr lang="en-US" altLang="en-US"/>
              <a:t>The number of elements in an array is its length</a:t>
            </a:r>
          </a:p>
          <a:p>
            <a:pPr eaLnBrk="1" hangingPunct="1"/>
            <a:r>
              <a:rPr lang="en-US" altLang="en-US"/>
              <a:t>The type of the array elements is the array's base type</a:t>
            </a:r>
          </a:p>
        </p:txBody>
      </p:sp>
      <p:pic>
        <p:nvPicPr>
          <p:cNvPr id="10244" name="Picture 4">
            <a:extLst>
              <a:ext uri="{FF2B5EF4-FFF2-40B4-BE49-F238E27FC236}">
                <a16:creationId xmlns:a16="http://schemas.microsoft.com/office/drawing/2014/main" id="{B6CB3187-22C6-41C2-612B-E8258E1D70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0938" y="2351088"/>
            <a:ext cx="6534150" cy="83185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040088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B37F77-3D2C-00E2-A513-A8EF229B7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>
            <a:extLst>
              <a:ext uri="{FF2B5EF4-FFF2-40B4-BE49-F238E27FC236}">
                <a16:creationId xmlns:a16="http://schemas.microsoft.com/office/drawing/2014/main" id="{95298A5B-35C0-828F-3D77-EEAB864B1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Declaring and creating arrays</a:t>
            </a:r>
          </a:p>
        </p:txBody>
      </p:sp>
      <p:pic>
        <p:nvPicPr>
          <p:cNvPr id="10244" name="Picture 4">
            <a:extLst>
              <a:ext uri="{FF2B5EF4-FFF2-40B4-BE49-F238E27FC236}">
                <a16:creationId xmlns:a16="http://schemas.microsoft.com/office/drawing/2014/main" id="{7B78C895-279A-0C17-E22A-B4D8577B8E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0938" y="1486792"/>
            <a:ext cx="6534150" cy="83185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D4B8BBA-D1E3-57F6-F5A6-9A4C3A03CEBB}"/>
              </a:ext>
            </a:extLst>
          </p:cNvPr>
          <p:cNvSpPr/>
          <p:nvPr/>
        </p:nvSpPr>
        <p:spPr>
          <a:xfrm>
            <a:off x="2154477" y="2593149"/>
            <a:ext cx="4659682" cy="43841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int [] </a:t>
            </a:r>
            <a:r>
              <a:rPr lang="en-US" sz="2400" dirty="0" err="1"/>
              <a:t>arr</a:t>
            </a:r>
            <a:r>
              <a:rPr lang="en-US" sz="2400" dirty="0"/>
              <a:t> = new int [10]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D574400-E38E-9F03-3FD7-017D63FD3A4F}"/>
              </a:ext>
            </a:extLst>
          </p:cNvPr>
          <p:cNvSpPr/>
          <p:nvPr/>
        </p:nvSpPr>
        <p:spPr>
          <a:xfrm>
            <a:off x="2154477" y="3209794"/>
            <a:ext cx="4659682" cy="43841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int </a:t>
            </a:r>
            <a:r>
              <a:rPr lang="en-US" sz="2400" dirty="0" err="1"/>
              <a:t>arr</a:t>
            </a:r>
            <a:r>
              <a:rPr lang="en-US" sz="2400" dirty="0"/>
              <a:t> [] = new int [10]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049BE03-8E75-2B2A-BEB4-F6ACED00B878}"/>
              </a:ext>
            </a:extLst>
          </p:cNvPr>
          <p:cNvSpPr/>
          <p:nvPr/>
        </p:nvSpPr>
        <p:spPr>
          <a:xfrm>
            <a:off x="2154477" y="3826439"/>
            <a:ext cx="4659682" cy="83324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int [] </a:t>
            </a:r>
            <a:r>
              <a:rPr lang="en-US" sz="2400" dirty="0" err="1"/>
              <a:t>arr</a:t>
            </a:r>
            <a:r>
              <a:rPr lang="en-US" sz="2400" dirty="0"/>
              <a:t>;</a:t>
            </a:r>
          </a:p>
          <a:p>
            <a:pPr algn="ctr"/>
            <a:r>
              <a:rPr lang="en-US" sz="2400" dirty="0" err="1"/>
              <a:t>arr</a:t>
            </a:r>
            <a:r>
              <a:rPr lang="en-US" sz="2400" dirty="0"/>
              <a:t> = new int [10]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8F175E0-9606-BFB6-71E1-C6BA47677B19}"/>
              </a:ext>
            </a:extLst>
          </p:cNvPr>
          <p:cNvSpPr/>
          <p:nvPr/>
        </p:nvSpPr>
        <p:spPr>
          <a:xfrm>
            <a:off x="2154477" y="4837916"/>
            <a:ext cx="4659682" cy="83324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int [] </a:t>
            </a:r>
            <a:r>
              <a:rPr lang="en-US" sz="2400" dirty="0" err="1"/>
              <a:t>arr</a:t>
            </a:r>
            <a:r>
              <a:rPr lang="en-US" sz="2400" dirty="0"/>
              <a:t> = {1,2,3,4,5,6,7,8,9,10};</a:t>
            </a:r>
          </a:p>
        </p:txBody>
      </p:sp>
    </p:spTree>
    <p:extLst>
      <p:ext uri="{BB962C8B-B14F-4D97-AF65-F5344CB8AC3E}">
        <p14:creationId xmlns:p14="http://schemas.microsoft.com/office/powerpoint/2010/main" val="22487319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09D104-3617-5E7A-5295-391F40C36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>
            <a:extLst>
              <a:ext uri="{FF2B5EF4-FFF2-40B4-BE49-F238E27FC236}">
                <a16:creationId xmlns:a16="http://schemas.microsoft.com/office/drawing/2014/main" id="{37150E23-41B6-6BEF-DF20-31B0D0148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Declaring and creating arrays</a:t>
            </a:r>
          </a:p>
        </p:txBody>
      </p:sp>
      <p:pic>
        <p:nvPicPr>
          <p:cNvPr id="10244" name="Picture 4">
            <a:extLst>
              <a:ext uri="{FF2B5EF4-FFF2-40B4-BE49-F238E27FC236}">
                <a16:creationId xmlns:a16="http://schemas.microsoft.com/office/drawing/2014/main" id="{B377EEE3-7690-AD9F-6E49-2C53E66EB7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0938" y="1486792"/>
            <a:ext cx="6534150" cy="83185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A129581-BFDC-01A1-E2FC-C78173BDEDEC}"/>
              </a:ext>
            </a:extLst>
          </p:cNvPr>
          <p:cNvSpPr/>
          <p:nvPr/>
        </p:nvSpPr>
        <p:spPr>
          <a:xfrm>
            <a:off x="2154477" y="2593149"/>
            <a:ext cx="4659682" cy="43841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int [] </a:t>
            </a:r>
            <a:r>
              <a:rPr lang="en-US" sz="2400" dirty="0" err="1"/>
              <a:t>arr</a:t>
            </a:r>
            <a:r>
              <a:rPr lang="en-US" sz="2400" dirty="0"/>
              <a:t> = new int [10]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4C45299-ED7F-BBAC-F72A-88B686C136B0}"/>
              </a:ext>
            </a:extLst>
          </p:cNvPr>
          <p:cNvSpPr/>
          <p:nvPr/>
        </p:nvSpPr>
        <p:spPr>
          <a:xfrm>
            <a:off x="2154477" y="3209794"/>
            <a:ext cx="4659682" cy="43841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int </a:t>
            </a:r>
            <a:r>
              <a:rPr lang="en-US" sz="2400" dirty="0" err="1"/>
              <a:t>arr</a:t>
            </a:r>
            <a:r>
              <a:rPr lang="en-US" sz="2400" dirty="0"/>
              <a:t> [] = new int [10]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BC6BACF-C891-2A2E-B3C7-53EED2F4880E}"/>
              </a:ext>
            </a:extLst>
          </p:cNvPr>
          <p:cNvSpPr/>
          <p:nvPr/>
        </p:nvSpPr>
        <p:spPr>
          <a:xfrm>
            <a:off x="2154477" y="3826439"/>
            <a:ext cx="4659682" cy="83324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int [] </a:t>
            </a:r>
            <a:r>
              <a:rPr lang="en-US" sz="2400" dirty="0" err="1"/>
              <a:t>arr</a:t>
            </a:r>
            <a:r>
              <a:rPr lang="en-US" sz="2400" dirty="0"/>
              <a:t>;</a:t>
            </a:r>
          </a:p>
          <a:p>
            <a:pPr algn="ctr"/>
            <a:r>
              <a:rPr lang="en-US" sz="2400" dirty="0" err="1"/>
              <a:t>arr</a:t>
            </a:r>
            <a:r>
              <a:rPr lang="en-US" sz="2400" dirty="0"/>
              <a:t> = new int [10]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2FDAE4D-FF09-9F3E-ABA3-9B510EE27156}"/>
              </a:ext>
            </a:extLst>
          </p:cNvPr>
          <p:cNvSpPr/>
          <p:nvPr/>
        </p:nvSpPr>
        <p:spPr>
          <a:xfrm>
            <a:off x="2154477" y="4837916"/>
            <a:ext cx="4659682" cy="83324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int [] </a:t>
            </a:r>
            <a:r>
              <a:rPr lang="en-US" sz="2400" dirty="0" err="1"/>
              <a:t>arr</a:t>
            </a:r>
            <a:r>
              <a:rPr lang="en-US" sz="2400" dirty="0"/>
              <a:t> = {1,2,3,4,5,6,7,8,9,10};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11929C-BCEC-A1E1-76C4-95491FE58D9B}"/>
              </a:ext>
            </a:extLst>
          </p:cNvPr>
          <p:cNvSpPr txBox="1"/>
          <p:nvPr/>
        </p:nvSpPr>
        <p:spPr>
          <a:xfrm>
            <a:off x="1150938" y="5779707"/>
            <a:ext cx="6836863" cy="1015663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Every array is associated with a variable called length that returns the number of elements in that array.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You can write as follows: </a:t>
            </a:r>
            <a:r>
              <a:rPr lang="en-US" sz="2400" dirty="0" err="1">
                <a:solidFill>
                  <a:schemeClr val="bg1"/>
                </a:solidFill>
              </a:rPr>
              <a:t>arr.length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7625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>
            <a:extLst>
              <a:ext uri="{FF2B5EF4-FFF2-40B4-BE49-F238E27FC236}">
                <a16:creationId xmlns:a16="http://schemas.microsoft.com/office/drawing/2014/main" id="{4B49314F-B316-391C-2AA1-3B5686518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Creating and Accessing Arrays</a:t>
            </a:r>
          </a:p>
        </p:txBody>
      </p:sp>
      <p:sp>
        <p:nvSpPr>
          <p:cNvPr id="7171" name="Content Placeholder 2">
            <a:extLst>
              <a:ext uri="{FF2B5EF4-FFF2-40B4-BE49-F238E27FC236}">
                <a16:creationId xmlns:a16="http://schemas.microsoft.com/office/drawing/2014/main" id="{7620E938-137D-9B9D-649E-57B7FC21BA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An array is a special kind of object</a:t>
            </a:r>
          </a:p>
          <a:p>
            <a:pPr eaLnBrk="1" hangingPunct="1"/>
            <a:r>
              <a:rPr lang="en-US" altLang="en-US" sz="2800"/>
              <a:t>Think of as collection of variables of same type</a:t>
            </a:r>
          </a:p>
          <a:p>
            <a:pPr eaLnBrk="1" hangingPunct="1"/>
            <a:r>
              <a:rPr lang="en-US" altLang="en-US" sz="2800"/>
              <a:t>Creating an array with 7 variables of type double</a:t>
            </a:r>
          </a:p>
          <a:p>
            <a:pPr eaLnBrk="1" hangingPunct="1"/>
            <a:endParaRPr lang="en-US" altLang="en-US" sz="2800"/>
          </a:p>
          <a:p>
            <a:pPr eaLnBrk="1" hangingPunct="1"/>
            <a:endParaRPr lang="en-US" altLang="en-US" sz="2800"/>
          </a:p>
          <a:p>
            <a:pPr eaLnBrk="1" hangingPunct="1"/>
            <a:r>
              <a:rPr lang="en-US" altLang="en-US" sz="2800"/>
              <a:t>To access an element use</a:t>
            </a:r>
          </a:p>
          <a:p>
            <a:pPr lvl="1" eaLnBrk="1" hangingPunct="1"/>
            <a:r>
              <a:rPr lang="en-US" altLang="en-US" sz="2400"/>
              <a:t>The name of the array</a:t>
            </a:r>
          </a:p>
          <a:p>
            <a:pPr lvl="1" eaLnBrk="1" hangingPunct="1"/>
            <a:r>
              <a:rPr lang="en-US" altLang="en-US" sz="2400"/>
              <a:t>An index number enclosed in braces</a:t>
            </a:r>
          </a:p>
          <a:p>
            <a:pPr eaLnBrk="1" hangingPunct="1"/>
            <a:r>
              <a:rPr lang="en-US" altLang="en-US"/>
              <a:t>Array indices begin at zero</a:t>
            </a:r>
          </a:p>
        </p:txBody>
      </p:sp>
      <p:pic>
        <p:nvPicPr>
          <p:cNvPr id="7172" name="Picture 5">
            <a:extLst>
              <a:ext uri="{FF2B5EF4-FFF2-40B4-BE49-F238E27FC236}">
                <a16:creationId xmlns:a16="http://schemas.microsoft.com/office/drawing/2014/main" id="{098F5B07-C589-CDBF-A5B0-34E3E2DB3D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6800" y="3319463"/>
            <a:ext cx="4657725" cy="704850"/>
          </a:xfrm>
          <a:prstGeom prst="rect">
            <a:avLst/>
          </a:prstGeom>
          <a:noFill/>
          <a:ln>
            <a:noFill/>
          </a:ln>
          <a:effectLst>
            <a:outerShdw dist="88900" dir="2700000" algn="tl" rotWithShape="0">
              <a:srgbClr val="000000">
                <a:alpha val="39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>
            <a:extLst>
              <a:ext uri="{FF2B5EF4-FFF2-40B4-BE49-F238E27FC236}">
                <a16:creationId xmlns:a16="http://schemas.microsoft.com/office/drawing/2014/main" id="{744311C9-758D-8440-19EB-BF59813BB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Creating and Accessing Arrays</a:t>
            </a:r>
          </a:p>
        </p:txBody>
      </p:sp>
      <p:sp>
        <p:nvSpPr>
          <p:cNvPr id="8195" name="Content Placeholder 2">
            <a:extLst>
              <a:ext uri="{FF2B5EF4-FFF2-40B4-BE49-F238E27FC236}">
                <a16:creationId xmlns:a16="http://schemas.microsoft.com/office/drawing/2014/main" id="{88476AF0-3372-CFB7-7C8A-36FDBF43F8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Figure 7.1  A common way to visualize an array</a:t>
            </a:r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r>
              <a:rPr lang="en-US" altLang="en-US"/>
              <a:t>Note </a:t>
            </a:r>
            <a:r>
              <a:rPr lang="en-US" altLang="en-US">
                <a:hlinkClick r:id="rId2" action="ppaction://hlinkfile"/>
              </a:rPr>
              <a:t>sample program</a:t>
            </a:r>
            <a:r>
              <a:rPr lang="en-US" altLang="en-US"/>
              <a:t>, listing 7.1</a:t>
            </a:r>
            <a:br>
              <a:rPr lang="en-US" altLang="en-US"/>
            </a:br>
            <a:r>
              <a:rPr lang="en-US" altLang="en-US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ArrayOfTemperatures</a:t>
            </a:r>
          </a:p>
        </p:txBody>
      </p:sp>
      <p:pic>
        <p:nvPicPr>
          <p:cNvPr id="8196" name="Picture 5">
            <a:extLst>
              <a:ext uri="{FF2B5EF4-FFF2-40B4-BE49-F238E27FC236}">
                <a16:creationId xmlns:a16="http://schemas.microsoft.com/office/drawing/2014/main" id="{5A567A00-E229-A51D-E29C-BA6A21DCC1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7538" y="2717800"/>
            <a:ext cx="5905500" cy="1895475"/>
          </a:xfrm>
          <a:prstGeom prst="rect">
            <a:avLst/>
          </a:prstGeom>
          <a:noFill/>
          <a:ln>
            <a:noFill/>
          </a:ln>
          <a:effectLst>
            <a:outerShdw dist="88900" dir="2700000" algn="tl" rotWithShape="0">
              <a:srgbClr val="000000">
                <a:alpha val="39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>
            <a:extLst>
              <a:ext uri="{FF2B5EF4-FFF2-40B4-BE49-F238E27FC236}">
                <a16:creationId xmlns:a16="http://schemas.microsoft.com/office/drawing/2014/main" id="{F5247BD7-814E-2B1D-60E2-1819EE7FC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Creating and Accessing Arrays</a:t>
            </a:r>
          </a:p>
        </p:txBody>
      </p:sp>
      <p:pic>
        <p:nvPicPr>
          <p:cNvPr id="9219" name="Picture 2">
            <a:extLst>
              <a:ext uri="{FF2B5EF4-FFF2-40B4-BE49-F238E27FC236}">
                <a16:creationId xmlns:a16="http://schemas.microsoft.com/office/drawing/2014/main" id="{0862770C-3967-B592-5EF9-8757687C31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9213" y="1306513"/>
            <a:ext cx="6467475" cy="495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20" name="Text Box 7">
            <a:extLst>
              <a:ext uri="{FF2B5EF4-FFF2-40B4-BE49-F238E27FC236}">
                <a16:creationId xmlns:a16="http://schemas.microsoft.com/office/drawing/2014/main" id="{2BA354EB-4664-DF0A-8318-BF66FB5593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9725" y="3622675"/>
            <a:ext cx="1524000" cy="1006475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2000"/>
              <a:t>Sample </a:t>
            </a:r>
            <a:br>
              <a:rPr lang="en-US" altLang="en-US" sz="2000"/>
            </a:br>
            <a:r>
              <a:rPr lang="en-US" altLang="en-US" sz="2000"/>
              <a:t>screen output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>
            <a:extLst>
              <a:ext uri="{FF2B5EF4-FFF2-40B4-BE49-F238E27FC236}">
                <a16:creationId xmlns:a16="http://schemas.microsoft.com/office/drawing/2014/main" id="{37C8E246-F148-4ED5-D91C-9A4372B8D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Array Details</a:t>
            </a:r>
          </a:p>
        </p:txBody>
      </p:sp>
      <p:sp>
        <p:nvSpPr>
          <p:cNvPr id="10243" name="Content Placeholder 2">
            <a:extLst>
              <a:ext uri="{FF2B5EF4-FFF2-40B4-BE49-F238E27FC236}">
                <a16:creationId xmlns:a16="http://schemas.microsoft.com/office/drawing/2014/main" id="{DB09AADF-4F8B-D3F7-B75D-7A7D9B3715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Syntax for declaring an array with </a:t>
            </a:r>
            <a:r>
              <a:rPr lang="en-US" altLang="en-US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</a:p>
          <a:p>
            <a:pPr eaLnBrk="1" hangingPunct="1"/>
            <a:endParaRPr lang="en-US" altLang="en-US" b="1">
              <a:solidFill>
                <a:srgbClr val="0033CC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/>
            <a:endParaRPr lang="en-US" altLang="en-US" b="1">
              <a:solidFill>
                <a:srgbClr val="0033CC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/>
            <a:endParaRPr lang="en-US" altLang="en-US" b="1">
              <a:solidFill>
                <a:srgbClr val="0033CC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/>
            <a:r>
              <a:rPr lang="en-US" altLang="en-US"/>
              <a:t>The number of elements in an array is its length</a:t>
            </a:r>
          </a:p>
          <a:p>
            <a:pPr eaLnBrk="1" hangingPunct="1"/>
            <a:r>
              <a:rPr lang="en-US" altLang="en-US"/>
              <a:t>The type of the array elements is the array's base type</a:t>
            </a:r>
          </a:p>
        </p:txBody>
      </p:sp>
      <p:pic>
        <p:nvPicPr>
          <p:cNvPr id="10244" name="Picture 4">
            <a:extLst>
              <a:ext uri="{FF2B5EF4-FFF2-40B4-BE49-F238E27FC236}">
                <a16:creationId xmlns:a16="http://schemas.microsoft.com/office/drawing/2014/main" id="{62ED2CB5-CB07-B3FC-645E-C3160BC1C9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0938" y="2351088"/>
            <a:ext cx="6534150" cy="83185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>
            <a:extLst>
              <a:ext uri="{FF2B5EF4-FFF2-40B4-BE49-F238E27FC236}">
                <a16:creationId xmlns:a16="http://schemas.microsoft.com/office/drawing/2014/main" id="{35AF055F-58D2-364F-81B9-39D38C9C3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Square Brackets with Arrays</a:t>
            </a:r>
          </a:p>
        </p:txBody>
      </p:sp>
      <p:sp>
        <p:nvSpPr>
          <p:cNvPr id="11267" name="Content Placeholder 2">
            <a:extLst>
              <a:ext uri="{FF2B5EF4-FFF2-40B4-BE49-F238E27FC236}">
                <a16:creationId xmlns:a16="http://schemas.microsoft.com/office/drawing/2014/main" id="{5B3D46A0-5333-AA26-E354-9EF9024E30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With a data type when declaring an array</a:t>
            </a:r>
            <a:br>
              <a:rPr lang="en-US" altLang="en-US"/>
            </a:br>
            <a:r>
              <a:rPr lang="en-US" altLang="en-US"/>
              <a:t>	</a:t>
            </a:r>
            <a:r>
              <a:rPr lang="en-US" altLang="en-US" sz="2800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[ ] pressure;</a:t>
            </a:r>
            <a:endParaRPr lang="en-US" altLang="en-US" b="1">
              <a:solidFill>
                <a:srgbClr val="0033CC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/>
            <a:r>
              <a:rPr lang="en-US" altLang="en-US"/>
              <a:t>To enclose an integer expression to declare the length of the array</a:t>
            </a:r>
            <a:br>
              <a:rPr lang="en-US" altLang="en-US"/>
            </a:br>
            <a:r>
              <a:rPr lang="en-US" altLang="en-US"/>
              <a:t>	</a:t>
            </a:r>
            <a:r>
              <a:rPr lang="en-US" altLang="en-US" sz="2800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pressure = new int [100];</a:t>
            </a:r>
            <a:endParaRPr lang="en-US" altLang="en-US" b="1">
              <a:solidFill>
                <a:srgbClr val="0033CC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/>
            <a:r>
              <a:rPr lang="en-US" altLang="en-US"/>
              <a:t>To name an indexed value of the array</a:t>
            </a:r>
            <a:br>
              <a:rPr lang="en-US" altLang="en-US"/>
            </a:br>
            <a:r>
              <a:rPr lang="en-US" altLang="en-US"/>
              <a:t>	</a:t>
            </a:r>
            <a:r>
              <a:rPr lang="en-US" altLang="en-US" sz="2800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pressure[3] = keyboard.nextInt();</a:t>
            </a:r>
            <a:endParaRPr lang="en-US" altLang="en-US" b="1">
              <a:solidFill>
                <a:srgbClr val="0033CC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>
            <a:extLst>
              <a:ext uri="{FF2B5EF4-FFF2-40B4-BE49-F238E27FC236}">
                <a16:creationId xmlns:a16="http://schemas.microsoft.com/office/drawing/2014/main" id="{8B753456-2C72-6B62-EF08-72C719D8B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Array Details</a:t>
            </a:r>
          </a:p>
        </p:txBody>
      </p:sp>
      <p:sp>
        <p:nvSpPr>
          <p:cNvPr id="12291" name="Content Placeholder 2">
            <a:extLst>
              <a:ext uri="{FF2B5EF4-FFF2-40B4-BE49-F238E27FC236}">
                <a16:creationId xmlns:a16="http://schemas.microsoft.com/office/drawing/2014/main" id="{7273C069-9D3B-B9C3-6B91-9A41422402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Figure 7.2 Array terminology</a:t>
            </a:r>
          </a:p>
        </p:txBody>
      </p:sp>
      <p:pic>
        <p:nvPicPr>
          <p:cNvPr id="12292" name="Picture 5">
            <a:extLst>
              <a:ext uri="{FF2B5EF4-FFF2-40B4-BE49-F238E27FC236}">
                <a16:creationId xmlns:a16="http://schemas.microsoft.com/office/drawing/2014/main" id="{4E9D76CA-5E52-02CD-E1AA-9768553187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0838" y="2511425"/>
            <a:ext cx="5867400" cy="3132138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>
            <a:extLst>
              <a:ext uri="{FF2B5EF4-FFF2-40B4-BE49-F238E27FC236}">
                <a16:creationId xmlns:a16="http://schemas.microsoft.com/office/drawing/2014/main" id="{00A25AB8-423C-2CB3-A6CB-F3C0E8A56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The Instance Variable </a:t>
            </a:r>
            <a:r>
              <a:rPr lang="en-US" sz="4000" b="1" dirty="0">
                <a:solidFill>
                  <a:srgbClr val="0033CC"/>
                </a:solidFill>
                <a:latin typeface="Courier New" pitchFamily="49" charset="0"/>
                <a:ea typeface="+mn-ea"/>
                <a:cs typeface="Courier New" pitchFamily="49" charset="0"/>
              </a:rPr>
              <a:t>length</a:t>
            </a:r>
            <a:endParaRPr lang="en-US" sz="2800" b="1" dirty="0">
              <a:solidFill>
                <a:srgbClr val="0033CC"/>
              </a:solidFill>
              <a:latin typeface="Courier New" pitchFamily="49" charset="0"/>
              <a:ea typeface="+mn-ea"/>
              <a:cs typeface="Courier New" pitchFamily="49" charset="0"/>
            </a:endParaRPr>
          </a:p>
        </p:txBody>
      </p:sp>
      <p:sp>
        <p:nvSpPr>
          <p:cNvPr id="13315" name="Content Placeholder 2">
            <a:extLst>
              <a:ext uri="{FF2B5EF4-FFF2-40B4-BE49-F238E27FC236}">
                <a16:creationId xmlns:a16="http://schemas.microsoft.com/office/drawing/2014/main" id="{4AE587D9-C419-637A-664D-49E76D2897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As an object an array has only one public instance variable</a:t>
            </a:r>
          </a:p>
          <a:p>
            <a:pPr lvl="1" eaLnBrk="1" hangingPunct="1"/>
            <a:r>
              <a:rPr lang="en-US" altLang="en-US"/>
              <a:t>Variable </a:t>
            </a:r>
            <a:r>
              <a:rPr lang="en-US" altLang="en-US" sz="3200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length</a:t>
            </a:r>
            <a:endParaRPr lang="en-US" altLang="en-US" sz="4000" b="1">
              <a:solidFill>
                <a:srgbClr val="0033CC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 eaLnBrk="1" hangingPunct="1"/>
            <a:r>
              <a:rPr lang="en-US" altLang="en-US"/>
              <a:t>Contains number of elements in the array</a:t>
            </a:r>
          </a:p>
          <a:p>
            <a:pPr lvl="1" eaLnBrk="1" hangingPunct="1"/>
            <a:r>
              <a:rPr lang="en-US" altLang="en-US"/>
              <a:t>It is final, value cannot be changed</a:t>
            </a:r>
          </a:p>
          <a:p>
            <a:pPr eaLnBrk="1" hangingPunct="1"/>
            <a:r>
              <a:rPr lang="en-US" altLang="en-US"/>
              <a:t>Note </a:t>
            </a:r>
            <a:r>
              <a:rPr lang="en-US" altLang="en-US">
                <a:hlinkClick r:id="rId2" action="ppaction://hlinkfile"/>
              </a:rPr>
              <a:t>revised code</a:t>
            </a:r>
            <a:r>
              <a:rPr lang="en-US" altLang="en-US"/>
              <a:t>, listing 7.2</a:t>
            </a:r>
            <a:br>
              <a:rPr lang="en-US" altLang="en-US"/>
            </a:br>
            <a:r>
              <a:rPr lang="en-US" altLang="en-US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ArrayOfTemperatures2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994A1D18-6DF9-4C9B-2B73-986DC3D14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The Instance Variable </a:t>
            </a:r>
            <a:r>
              <a:rPr lang="en-US" altLang="en-US" sz="4000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length</a:t>
            </a:r>
            <a:endParaRPr lang="en-US" altLang="en-US"/>
          </a:p>
        </p:txBody>
      </p:sp>
      <p:pic>
        <p:nvPicPr>
          <p:cNvPr id="14339" name="Picture 2">
            <a:extLst>
              <a:ext uri="{FF2B5EF4-FFF2-40B4-BE49-F238E27FC236}">
                <a16:creationId xmlns:a16="http://schemas.microsoft.com/office/drawing/2014/main" id="{609A9FB0-B84C-AE56-CD53-6C1EA9A0C7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8738" y="1704975"/>
            <a:ext cx="6934200" cy="3686175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40" name="Text Box 7">
            <a:extLst>
              <a:ext uri="{FF2B5EF4-FFF2-40B4-BE49-F238E27FC236}">
                <a16:creationId xmlns:a16="http://schemas.microsoft.com/office/drawing/2014/main" id="{3AFB8B24-7778-674C-F5C2-D8DF98EF0D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7375" y="3508375"/>
            <a:ext cx="1524000" cy="1006475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2000"/>
              <a:t>Sample </a:t>
            </a:r>
            <a:br>
              <a:rPr lang="en-US" altLang="en-US" sz="2000"/>
            </a:br>
            <a:r>
              <a:rPr lang="en-US" altLang="en-US" sz="2000"/>
              <a:t>screen output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6BA213C6-7356-6F4C-E222-F929F7B61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More About Array Indices</a:t>
            </a:r>
          </a:p>
        </p:txBody>
      </p:sp>
      <p:sp>
        <p:nvSpPr>
          <p:cNvPr id="15363" name="Content Placeholder 2">
            <a:extLst>
              <a:ext uri="{FF2B5EF4-FFF2-40B4-BE49-F238E27FC236}">
                <a16:creationId xmlns:a16="http://schemas.microsoft.com/office/drawing/2014/main" id="{9F33ACC1-6A05-3DA4-983E-FAC7ED87FA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447800"/>
            <a:ext cx="8229600" cy="4525963"/>
          </a:xfrm>
        </p:spPr>
        <p:txBody>
          <a:bodyPr/>
          <a:lstStyle/>
          <a:p>
            <a:pPr eaLnBrk="1" hangingPunct="1"/>
            <a:r>
              <a:rPr lang="en-US" altLang="en-US"/>
              <a:t>Index of first array element is 0</a:t>
            </a:r>
          </a:p>
          <a:p>
            <a:pPr eaLnBrk="1" hangingPunct="1"/>
            <a:r>
              <a:rPr lang="en-US" altLang="en-US"/>
              <a:t>Last valid Index is </a:t>
            </a:r>
            <a:r>
              <a:rPr lang="en-US" altLang="en-US" sz="2800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arrayName.length – 1</a:t>
            </a:r>
            <a:endParaRPr lang="en-US" altLang="en-US" b="1">
              <a:solidFill>
                <a:srgbClr val="0033CC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/>
            <a:r>
              <a:rPr lang="en-US" altLang="en-US"/>
              <a:t>Array indices must be within bounds to be valid</a:t>
            </a:r>
          </a:p>
          <a:p>
            <a:pPr lvl="1" eaLnBrk="1" hangingPunct="1"/>
            <a:r>
              <a:rPr lang="en-US" altLang="en-US"/>
              <a:t>When program tries to access outside bounds, run time error occurs</a:t>
            </a:r>
          </a:p>
          <a:p>
            <a:pPr eaLnBrk="1" hangingPunct="1"/>
            <a:r>
              <a:rPr lang="en-US" altLang="en-US"/>
              <a:t>OK to "waste" element 0</a:t>
            </a:r>
          </a:p>
          <a:p>
            <a:pPr lvl="1" eaLnBrk="1" hangingPunct="1"/>
            <a:r>
              <a:rPr lang="en-US" altLang="en-US"/>
              <a:t>Program easier to manage and understand</a:t>
            </a:r>
          </a:p>
          <a:p>
            <a:pPr lvl="1" eaLnBrk="1" hangingPunct="1"/>
            <a:r>
              <a:rPr lang="en-US" altLang="en-US"/>
              <a:t>Yet, get used to using index 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>
            <a:extLst>
              <a:ext uri="{FF2B5EF4-FFF2-40B4-BE49-F238E27FC236}">
                <a16:creationId xmlns:a16="http://schemas.microsoft.com/office/drawing/2014/main" id="{C177AFA0-089A-44F5-2EB1-4628F74C6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Initializing Arrays</a:t>
            </a:r>
          </a:p>
        </p:txBody>
      </p:sp>
      <p:sp>
        <p:nvSpPr>
          <p:cNvPr id="16387" name="Content Placeholder 2">
            <a:extLst>
              <a:ext uri="{FF2B5EF4-FFF2-40B4-BE49-F238E27FC236}">
                <a16:creationId xmlns:a16="http://schemas.microsoft.com/office/drawing/2014/main" id="{2F6D7749-1319-5E95-5176-3ECD122FBB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Possible to initialize at declaration time</a:t>
            </a:r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r>
              <a:rPr lang="en-US" altLang="en-US"/>
              <a:t>Also may use normal assignment statements</a:t>
            </a:r>
          </a:p>
          <a:p>
            <a:pPr lvl="1" eaLnBrk="1" hangingPunct="1"/>
            <a:r>
              <a:rPr lang="en-US" altLang="en-US"/>
              <a:t>One at a time</a:t>
            </a:r>
          </a:p>
          <a:p>
            <a:pPr lvl="1" eaLnBrk="1" hangingPunct="1"/>
            <a:r>
              <a:rPr lang="en-US" altLang="en-US"/>
              <a:t>In a loop</a:t>
            </a:r>
          </a:p>
        </p:txBody>
      </p:sp>
      <p:pic>
        <p:nvPicPr>
          <p:cNvPr id="16388" name="Picture 4">
            <a:extLst>
              <a:ext uri="{FF2B5EF4-FFF2-40B4-BE49-F238E27FC236}">
                <a16:creationId xmlns:a16="http://schemas.microsoft.com/office/drawing/2014/main" id="{8EC6CE55-5798-9918-E95A-867B981FBD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5525" y="2443163"/>
            <a:ext cx="4552950" cy="447675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9" name="Picture 5">
            <a:extLst>
              <a:ext uri="{FF2B5EF4-FFF2-40B4-BE49-F238E27FC236}">
                <a16:creationId xmlns:a16="http://schemas.microsoft.com/office/drawing/2014/main" id="{3544CE32-3806-A5DA-5381-EFE3A88EE7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6150" y="5014913"/>
            <a:ext cx="3810000" cy="981075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>
            <a:extLst>
              <a:ext uri="{FF2B5EF4-FFF2-40B4-BE49-F238E27FC236}">
                <a16:creationId xmlns:a16="http://schemas.microsoft.com/office/drawing/2014/main" id="{266F30EE-081B-E2CC-FB08-768584F35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686800" cy="1143000"/>
          </a:xfrm>
        </p:spPr>
        <p:txBody>
          <a:bodyPr/>
          <a:lstStyle/>
          <a:p>
            <a:pPr eaLnBrk="1" hangingPunct="1"/>
            <a:r>
              <a:rPr lang="en-US" altLang="en-US" sz="3600"/>
              <a:t>Arrays in Classes and Methods: Outline</a:t>
            </a:r>
          </a:p>
        </p:txBody>
      </p:sp>
      <p:sp>
        <p:nvSpPr>
          <p:cNvPr id="17411" name="Content Placeholder 2">
            <a:extLst>
              <a:ext uri="{FF2B5EF4-FFF2-40B4-BE49-F238E27FC236}">
                <a16:creationId xmlns:a16="http://schemas.microsoft.com/office/drawing/2014/main" id="{FBE652C8-91DA-6748-B538-AB59347302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1363" y="1717675"/>
            <a:ext cx="8040687" cy="4660900"/>
          </a:xfrm>
        </p:spPr>
        <p:txBody>
          <a:bodyPr/>
          <a:lstStyle/>
          <a:p>
            <a:pPr eaLnBrk="1" hangingPunct="1"/>
            <a:r>
              <a:rPr lang="en-US" altLang="en-US"/>
              <a:t>Case Study: Sales Report</a:t>
            </a:r>
          </a:p>
          <a:p>
            <a:pPr eaLnBrk="1" hangingPunct="1"/>
            <a:r>
              <a:rPr lang="en-US" altLang="en-US"/>
              <a:t>Indexed Variables as Method Arguments</a:t>
            </a:r>
          </a:p>
          <a:p>
            <a:pPr eaLnBrk="1" hangingPunct="1"/>
            <a:r>
              <a:rPr lang="en-US" altLang="en-US"/>
              <a:t>Entire Arrays as Arguments to a Method</a:t>
            </a:r>
          </a:p>
          <a:p>
            <a:pPr eaLnBrk="1" hangingPunct="1"/>
            <a:r>
              <a:rPr lang="en-US" altLang="en-US"/>
              <a:t>Arguments for the Method main</a:t>
            </a:r>
          </a:p>
          <a:p>
            <a:pPr eaLnBrk="1" hangingPunct="1"/>
            <a:r>
              <a:rPr lang="en-US" altLang="en-US"/>
              <a:t>Array Assignment and Equality</a:t>
            </a:r>
          </a:p>
          <a:p>
            <a:pPr eaLnBrk="1" hangingPunct="1"/>
            <a:r>
              <a:rPr lang="en-US" altLang="en-US"/>
              <a:t>Methods that Return Arrays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>
            <a:extLst>
              <a:ext uri="{FF2B5EF4-FFF2-40B4-BE49-F238E27FC236}">
                <a16:creationId xmlns:a16="http://schemas.microsoft.com/office/drawing/2014/main" id="{790BC8F5-40A7-AC6B-8FAC-46405CDAC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Case Study: Sales Report</a:t>
            </a:r>
          </a:p>
        </p:txBody>
      </p:sp>
      <p:sp>
        <p:nvSpPr>
          <p:cNvPr id="18435" name="Content Placeholder 2">
            <a:extLst>
              <a:ext uri="{FF2B5EF4-FFF2-40B4-BE49-F238E27FC236}">
                <a16:creationId xmlns:a16="http://schemas.microsoft.com/office/drawing/2014/main" id="{D32AB887-31BF-BDD4-65E4-7EC3ACCA3F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7900" y="1655763"/>
            <a:ext cx="7708900" cy="4470400"/>
          </a:xfrm>
        </p:spPr>
        <p:txBody>
          <a:bodyPr/>
          <a:lstStyle/>
          <a:p>
            <a:pPr eaLnBrk="1" hangingPunct="1"/>
            <a:r>
              <a:rPr lang="en-US" altLang="en-US"/>
              <a:t>Program to generate a sales report</a:t>
            </a:r>
          </a:p>
          <a:p>
            <a:pPr eaLnBrk="1" hangingPunct="1"/>
            <a:r>
              <a:rPr lang="en-US" altLang="en-US"/>
              <a:t>Class will contain</a:t>
            </a:r>
          </a:p>
          <a:p>
            <a:pPr lvl="1" eaLnBrk="1" hangingPunct="1"/>
            <a:r>
              <a:rPr lang="en-US" altLang="en-US"/>
              <a:t>Name</a:t>
            </a:r>
          </a:p>
          <a:p>
            <a:pPr lvl="1" eaLnBrk="1" hangingPunct="1"/>
            <a:r>
              <a:rPr lang="en-US" altLang="en-US"/>
              <a:t>Sales figure</a:t>
            </a:r>
          </a:p>
          <a:p>
            <a:pPr eaLnBrk="1" hangingPunct="1"/>
            <a:r>
              <a:rPr lang="en-US" altLang="en-US"/>
              <a:t>View </a:t>
            </a:r>
            <a:r>
              <a:rPr lang="en-US" altLang="en-US">
                <a:hlinkClick r:id="rId2" action="ppaction://hlinkfile"/>
              </a:rPr>
              <a:t>class declaration</a:t>
            </a:r>
            <a:r>
              <a:rPr lang="en-US" altLang="en-US"/>
              <a:t>, listing 7.3</a:t>
            </a:r>
            <a:br>
              <a:rPr lang="en-US" altLang="en-US"/>
            </a:br>
            <a:r>
              <a:rPr lang="en-US" altLang="en-US" sz="2800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SalesAssociate</a:t>
            </a:r>
          </a:p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>
            <a:extLst>
              <a:ext uri="{FF2B5EF4-FFF2-40B4-BE49-F238E27FC236}">
                <a16:creationId xmlns:a16="http://schemas.microsoft.com/office/drawing/2014/main" id="{A4E5CAEB-0818-AF2D-9D6C-3E772FA5C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Case Study: Sales Report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D838FC-D0C9-7F33-CB20-08A85FBE11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6188" y="1600200"/>
            <a:ext cx="7440612" cy="4525963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dirty="0"/>
              <a:t>Main subtasks for our program</a:t>
            </a:r>
          </a:p>
          <a:p>
            <a:pPr marL="514350" indent="-514350" eaLnBrk="1" fontAlgn="auto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dirty="0"/>
              <a:t>Get ready</a:t>
            </a:r>
          </a:p>
          <a:p>
            <a:pPr marL="514350" indent="-514350" eaLnBrk="1" fontAlgn="auto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dirty="0"/>
              <a:t>Obtain the data</a:t>
            </a:r>
          </a:p>
          <a:p>
            <a:pPr marL="514350" indent="-514350" eaLnBrk="1" fontAlgn="auto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dirty="0"/>
              <a:t>Compute some statistics (update instance variables)</a:t>
            </a:r>
          </a:p>
          <a:p>
            <a:pPr marL="514350" indent="-514350" eaLnBrk="1" fontAlgn="auto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dirty="0"/>
              <a:t>Display the results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F52824D6-118B-9089-FC6D-B9AAF38AB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Case Study: Sales Report</a:t>
            </a:r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50A2F6D6-BC3D-2DA8-82AB-9141BA10E8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Figure 7.3 Class diagram for class </a:t>
            </a:r>
            <a:r>
              <a:rPr lang="en-US" altLang="en-US" sz="2800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SalesReporter  </a:t>
            </a:r>
          </a:p>
        </p:txBody>
      </p:sp>
      <p:pic>
        <p:nvPicPr>
          <p:cNvPr id="20484" name="Picture 6">
            <a:extLst>
              <a:ext uri="{FF2B5EF4-FFF2-40B4-BE49-F238E27FC236}">
                <a16:creationId xmlns:a16="http://schemas.microsoft.com/office/drawing/2014/main" id="{7A4E6012-7B7F-015C-3EBC-87B4FC5193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1513" y="2921000"/>
            <a:ext cx="5907087" cy="2786063"/>
          </a:xfrm>
          <a:prstGeom prst="rect">
            <a:avLst/>
          </a:prstGeom>
          <a:solidFill>
            <a:schemeClr val="accent1"/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>
            <a:extLst>
              <a:ext uri="{FF2B5EF4-FFF2-40B4-BE49-F238E27FC236}">
                <a16:creationId xmlns:a16="http://schemas.microsoft.com/office/drawing/2014/main" id="{9B9C0B4F-9BBB-EC2E-A141-0BD599A64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Case Study: Sales Report</a:t>
            </a:r>
          </a:p>
        </p:txBody>
      </p:sp>
      <p:sp>
        <p:nvSpPr>
          <p:cNvPr id="21507" name="Content Placeholder 2">
            <a:extLst>
              <a:ext uri="{FF2B5EF4-FFF2-40B4-BE49-F238E27FC236}">
                <a16:creationId xmlns:a16="http://schemas.microsoft.com/office/drawing/2014/main" id="{A80520F8-2684-4FD1-96F6-6C8A0FB4B6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View </a:t>
            </a:r>
            <a:r>
              <a:rPr lang="en-US" altLang="en-US">
                <a:hlinkClick r:id="rId2" action="ppaction://hlinkfile"/>
              </a:rPr>
              <a:t>sales report program</a:t>
            </a:r>
            <a:r>
              <a:rPr lang="en-US" altLang="en-US"/>
              <a:t>, listing 7.4</a:t>
            </a:r>
            <a:br>
              <a:rPr lang="en-US" altLang="en-US"/>
            </a:br>
            <a:r>
              <a:rPr lang="en-US" altLang="en-US" sz="2800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SalesReporter</a:t>
            </a:r>
          </a:p>
          <a:p>
            <a:pPr eaLnBrk="1" hangingPunct="1">
              <a:buFontTx/>
              <a:buNone/>
            </a:pPr>
            <a:r>
              <a:rPr lang="en-US" altLang="en-US"/>
              <a:t> </a:t>
            </a:r>
          </a:p>
        </p:txBody>
      </p:sp>
      <p:pic>
        <p:nvPicPr>
          <p:cNvPr id="55298" name="Picture 2">
            <a:extLst>
              <a:ext uri="{FF2B5EF4-FFF2-40B4-BE49-F238E27FC236}">
                <a16:creationId xmlns:a16="http://schemas.microsoft.com/office/drawing/2014/main" id="{DA551126-51A7-90EC-7E77-9A0091D8EA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9700" y="2638425"/>
            <a:ext cx="6477000" cy="348615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5299" name="Picture 3">
            <a:extLst>
              <a:ext uri="{FF2B5EF4-FFF2-40B4-BE49-F238E27FC236}">
                <a16:creationId xmlns:a16="http://schemas.microsoft.com/office/drawing/2014/main" id="{74C93CCE-1EEF-8081-7603-487ED38FFD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9713" y="2657475"/>
            <a:ext cx="6477000" cy="36957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10" name="Text Box 7">
            <a:extLst>
              <a:ext uri="{FF2B5EF4-FFF2-40B4-BE49-F238E27FC236}">
                <a16:creationId xmlns:a16="http://schemas.microsoft.com/office/drawing/2014/main" id="{534A07E2-FE13-7B10-B67A-BF0DABFEB1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7375" y="3508375"/>
            <a:ext cx="1524000" cy="1006475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2000"/>
              <a:t>Sample </a:t>
            </a:r>
            <a:br>
              <a:rPr lang="en-US" altLang="en-US" sz="2000"/>
            </a:br>
            <a:r>
              <a:rPr lang="en-US" altLang="en-US" sz="2000"/>
              <a:t>screen output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000"/>
                                        <p:tgtEl>
                                          <p:spTgt spid="552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5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55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>
            <a:extLst>
              <a:ext uri="{FF2B5EF4-FFF2-40B4-BE49-F238E27FC236}">
                <a16:creationId xmlns:a16="http://schemas.microsoft.com/office/drawing/2014/main" id="{51C22883-F1E3-BDF5-60BC-0855D3378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686800" cy="1143000"/>
          </a:xfrm>
        </p:spPr>
        <p:txBody>
          <a:bodyPr/>
          <a:lstStyle/>
          <a:p>
            <a:pPr eaLnBrk="1" hangingPunct="1"/>
            <a:r>
              <a:rPr lang="en-US" altLang="en-US" sz="3600"/>
              <a:t>Indexed Variables as Method Arguments</a:t>
            </a:r>
          </a:p>
        </p:txBody>
      </p:sp>
      <p:sp>
        <p:nvSpPr>
          <p:cNvPr id="22531" name="Content Placeholder 2">
            <a:extLst>
              <a:ext uri="{FF2B5EF4-FFF2-40B4-BE49-F238E27FC236}">
                <a16:creationId xmlns:a16="http://schemas.microsoft.com/office/drawing/2014/main" id="{A4C83202-E850-0372-7428-E51347A0E9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Indexed variable of an array</a:t>
            </a:r>
          </a:p>
          <a:p>
            <a:pPr lvl="1" eaLnBrk="1" hangingPunct="1"/>
            <a:r>
              <a:rPr lang="en-US" altLang="en-US"/>
              <a:t>Example … </a:t>
            </a:r>
            <a:r>
              <a:rPr lang="en-US" altLang="en-US" sz="3200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a[i]</a:t>
            </a:r>
          </a:p>
          <a:p>
            <a:pPr lvl="1" eaLnBrk="1" hangingPunct="1"/>
            <a:r>
              <a:rPr lang="en-US" altLang="en-US"/>
              <a:t>Can be used anywhere variable of array base type can be used</a:t>
            </a:r>
          </a:p>
          <a:p>
            <a:pPr eaLnBrk="1" hangingPunct="1"/>
            <a:r>
              <a:rPr lang="en-US" altLang="en-US"/>
              <a:t>View </a:t>
            </a:r>
            <a:r>
              <a:rPr lang="en-US" altLang="en-US">
                <a:hlinkClick r:id="rId2" action="ppaction://hlinkfile"/>
              </a:rPr>
              <a:t>program </a:t>
            </a:r>
            <a:r>
              <a:rPr lang="en-US" altLang="en-US"/>
              <a:t>using indexed variable as an argument, listing 7.5</a:t>
            </a:r>
            <a:br>
              <a:rPr lang="en-US" altLang="en-US"/>
            </a:br>
            <a:r>
              <a:rPr lang="en-US" altLang="en-US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ArgumentDemo</a:t>
            </a:r>
            <a:endParaRPr lang="en-US" altLang="en-US" sz="2800" b="1">
              <a:solidFill>
                <a:srgbClr val="0033CC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>
            <a:extLst>
              <a:ext uri="{FF2B5EF4-FFF2-40B4-BE49-F238E27FC236}">
                <a16:creationId xmlns:a16="http://schemas.microsoft.com/office/drawing/2014/main" id="{CF4FC9B5-4FB1-E8B9-4D95-6E1079DF5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Entire Arrays as Arguments</a:t>
            </a:r>
          </a:p>
        </p:txBody>
      </p:sp>
      <p:sp>
        <p:nvSpPr>
          <p:cNvPr id="23555" name="Content Placeholder 2">
            <a:extLst>
              <a:ext uri="{FF2B5EF4-FFF2-40B4-BE49-F238E27FC236}">
                <a16:creationId xmlns:a16="http://schemas.microsoft.com/office/drawing/2014/main" id="{30B265F8-068D-FB6E-B0BF-9E695DD1C9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Declaration of array parameter similar to how an array is declared</a:t>
            </a:r>
          </a:p>
          <a:p>
            <a:pPr eaLnBrk="1" hangingPunct="1"/>
            <a:r>
              <a:rPr lang="en-US" altLang="en-US"/>
              <a:t>Example:</a:t>
            </a:r>
          </a:p>
        </p:txBody>
      </p:sp>
      <p:pic>
        <p:nvPicPr>
          <p:cNvPr id="23556" name="Picture 4">
            <a:extLst>
              <a:ext uri="{FF2B5EF4-FFF2-40B4-BE49-F238E27FC236}">
                <a16:creationId xmlns:a16="http://schemas.microsoft.com/office/drawing/2014/main" id="{1CDC54C6-825B-4CB0-86C6-61FB3756ED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9438" y="3529013"/>
            <a:ext cx="6105525" cy="2095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B74A9FDA-4ADB-2B1A-08B9-C07773E9D0D4}"/>
              </a:ext>
            </a:extLst>
          </p:cNvPr>
          <p:cNvSpPr/>
          <p:nvPr/>
        </p:nvSpPr>
        <p:spPr>
          <a:xfrm>
            <a:off x="5641975" y="3813175"/>
            <a:ext cx="2314575" cy="66198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>
            <a:extLst>
              <a:ext uri="{FF2B5EF4-FFF2-40B4-BE49-F238E27FC236}">
                <a16:creationId xmlns:a16="http://schemas.microsoft.com/office/drawing/2014/main" id="{04A73DE3-8154-544F-FAB8-0CD1DD4A1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Entire Arrays as Arguments</a:t>
            </a:r>
          </a:p>
        </p:txBody>
      </p:sp>
      <p:sp>
        <p:nvSpPr>
          <p:cNvPr id="24579" name="Content Placeholder 2">
            <a:extLst>
              <a:ext uri="{FF2B5EF4-FFF2-40B4-BE49-F238E27FC236}">
                <a16:creationId xmlns:a16="http://schemas.microsoft.com/office/drawing/2014/main" id="{51F6F92E-F61C-D5FB-3E79-69D7324923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Note – array parameter in a method heading does not specify the length</a:t>
            </a:r>
          </a:p>
          <a:p>
            <a:pPr lvl="1" eaLnBrk="1" hangingPunct="1"/>
            <a:r>
              <a:rPr lang="en-US" altLang="en-US"/>
              <a:t>An array of any length can be passed to the method</a:t>
            </a:r>
          </a:p>
          <a:p>
            <a:pPr lvl="1" eaLnBrk="1" hangingPunct="1"/>
            <a:r>
              <a:rPr lang="en-US" altLang="en-US"/>
              <a:t>Inside the method, elements of the array can be changed</a:t>
            </a:r>
          </a:p>
          <a:p>
            <a:pPr eaLnBrk="1" hangingPunct="1"/>
            <a:r>
              <a:rPr lang="en-US" altLang="en-US"/>
              <a:t>When you pass the entire array, do not use square brackets in the actual parameter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>
            <a:extLst>
              <a:ext uri="{FF2B5EF4-FFF2-40B4-BE49-F238E27FC236}">
                <a16:creationId xmlns:a16="http://schemas.microsoft.com/office/drawing/2014/main" id="{D44B6779-2A9C-3783-2813-1AEF7785E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Arguments for Method main</a:t>
            </a:r>
          </a:p>
        </p:txBody>
      </p:sp>
      <p:sp>
        <p:nvSpPr>
          <p:cNvPr id="25603" name="Content Placeholder 2">
            <a:extLst>
              <a:ext uri="{FF2B5EF4-FFF2-40B4-BE49-F238E27FC236}">
                <a16:creationId xmlns:a16="http://schemas.microsoft.com/office/drawing/2014/main" id="{129F15CB-9DD9-8CDE-B0B8-F914B853E4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Recall heading of method </a:t>
            </a:r>
            <a:r>
              <a:rPr lang="en-US" altLang="en-US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  <a:br>
              <a:rPr lang="en-US" altLang="en-US"/>
            </a:br>
            <a:r>
              <a:rPr lang="en-US" altLang="en-US" sz="2400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static void main (String[] args)</a:t>
            </a:r>
            <a:endParaRPr lang="en-US" altLang="en-US" b="1">
              <a:solidFill>
                <a:srgbClr val="0033CC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/>
            <a:r>
              <a:rPr lang="en-US" altLang="en-US"/>
              <a:t>This declares an array </a:t>
            </a:r>
          </a:p>
          <a:p>
            <a:pPr lvl="1" eaLnBrk="1" hangingPunct="1"/>
            <a:r>
              <a:rPr lang="en-US" altLang="en-US"/>
              <a:t>Formal parameter named </a:t>
            </a:r>
            <a:r>
              <a:rPr lang="en-US" altLang="en-US" sz="3200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endParaRPr lang="en-US" altLang="en-US" sz="2400" b="1">
              <a:solidFill>
                <a:srgbClr val="0033CC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 eaLnBrk="1" hangingPunct="1"/>
            <a:r>
              <a:rPr lang="en-US" altLang="en-US"/>
              <a:t>Its base type is </a:t>
            </a:r>
            <a:r>
              <a:rPr lang="en-US" altLang="en-US" sz="3200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endParaRPr lang="en-US" altLang="en-US" sz="2400" b="1">
              <a:solidFill>
                <a:srgbClr val="0033CC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/>
            <a:r>
              <a:rPr lang="en-US" altLang="en-US"/>
              <a:t>Thus possible to pass to the run of a program multiple strings</a:t>
            </a:r>
          </a:p>
          <a:p>
            <a:pPr lvl="1" eaLnBrk="1" hangingPunct="1"/>
            <a:r>
              <a:rPr lang="en-US" altLang="en-US"/>
              <a:t>These can then be used by the program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>
            <a:extLst>
              <a:ext uri="{FF2B5EF4-FFF2-40B4-BE49-F238E27FC236}">
                <a16:creationId xmlns:a16="http://schemas.microsoft.com/office/drawing/2014/main" id="{D7AAFF04-15C3-E3C0-3113-A9BB03CAE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Array Assignment and Equality</a:t>
            </a:r>
          </a:p>
        </p:txBody>
      </p:sp>
      <p:sp>
        <p:nvSpPr>
          <p:cNvPr id="26627" name="Content Placeholder 2">
            <a:extLst>
              <a:ext uri="{FF2B5EF4-FFF2-40B4-BE49-F238E27FC236}">
                <a16:creationId xmlns:a16="http://schemas.microsoft.com/office/drawing/2014/main" id="{C1E275DD-594F-8F72-E049-6114F400E8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Arrays are objects</a:t>
            </a:r>
          </a:p>
          <a:p>
            <a:pPr lvl="1" eaLnBrk="1" hangingPunct="1"/>
            <a:r>
              <a:rPr lang="en-US" altLang="en-US"/>
              <a:t>Assignment and equality operators behave (misbehave) as specified in previous chapter</a:t>
            </a:r>
          </a:p>
          <a:p>
            <a:pPr eaLnBrk="1" hangingPunct="1"/>
            <a:r>
              <a:rPr lang="en-US" altLang="en-US"/>
              <a:t>Variable for the array object contains memory address of the object</a:t>
            </a:r>
          </a:p>
          <a:p>
            <a:pPr lvl="1" eaLnBrk="1" hangingPunct="1"/>
            <a:r>
              <a:rPr lang="en-US" altLang="en-US"/>
              <a:t>Assignment operator </a:t>
            </a:r>
            <a:r>
              <a:rPr lang="en-US" altLang="en-US" sz="3200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altLang="en-US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/>
              <a:t>copies this address</a:t>
            </a:r>
          </a:p>
          <a:p>
            <a:pPr lvl="1" eaLnBrk="1" hangingPunct="1"/>
            <a:r>
              <a:rPr lang="en-US" altLang="en-US"/>
              <a:t>Equality operator </a:t>
            </a:r>
            <a:r>
              <a:rPr lang="en-US" altLang="en-US" sz="3200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==</a:t>
            </a:r>
            <a:r>
              <a:rPr lang="en-US" altLang="en-US"/>
              <a:t>  tests whether two arrays are stored in same place in memory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>
            <a:extLst>
              <a:ext uri="{FF2B5EF4-FFF2-40B4-BE49-F238E27FC236}">
                <a16:creationId xmlns:a16="http://schemas.microsoft.com/office/drawing/2014/main" id="{1C711023-807C-6EBC-4080-3F2732B8A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Array Assignment and Equality</a:t>
            </a:r>
          </a:p>
        </p:txBody>
      </p:sp>
      <p:sp>
        <p:nvSpPr>
          <p:cNvPr id="27651" name="Content Placeholder 2">
            <a:extLst>
              <a:ext uri="{FF2B5EF4-FFF2-40B4-BE49-F238E27FC236}">
                <a16:creationId xmlns:a16="http://schemas.microsoft.com/office/drawing/2014/main" id="{1B33268B-128A-E6B1-FD90-36A22875A5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03363"/>
            <a:ext cx="8229600" cy="4525962"/>
          </a:xfrm>
        </p:spPr>
        <p:txBody>
          <a:bodyPr/>
          <a:lstStyle/>
          <a:p>
            <a:pPr eaLnBrk="1" hangingPunct="1"/>
            <a:r>
              <a:rPr lang="en-US" altLang="en-US"/>
              <a:t>Two kinds of equality</a:t>
            </a:r>
          </a:p>
          <a:p>
            <a:pPr eaLnBrk="1" hangingPunct="1"/>
            <a:r>
              <a:rPr lang="en-US" altLang="en-US"/>
              <a:t>View </a:t>
            </a:r>
            <a:r>
              <a:rPr lang="en-US" altLang="en-US">
                <a:hlinkClick r:id="rId2" action="ppaction://hlinkfile"/>
              </a:rPr>
              <a:t>example program</a:t>
            </a:r>
            <a:r>
              <a:rPr lang="en-US" altLang="en-US"/>
              <a:t>, listing 7.6</a:t>
            </a:r>
            <a:br>
              <a:rPr lang="en-US" altLang="en-US"/>
            </a:br>
            <a:r>
              <a:rPr lang="en-US" altLang="en-US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TestEquals</a:t>
            </a:r>
          </a:p>
        </p:txBody>
      </p:sp>
      <p:pic>
        <p:nvPicPr>
          <p:cNvPr id="27652" name="Picture 2">
            <a:extLst>
              <a:ext uri="{FF2B5EF4-FFF2-40B4-BE49-F238E27FC236}">
                <a16:creationId xmlns:a16="http://schemas.microsoft.com/office/drawing/2014/main" id="{8A531888-48A2-123F-40D0-20D22C0B65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6825" y="3676650"/>
            <a:ext cx="5464175" cy="1614488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3" name="Text Box 7">
            <a:extLst>
              <a:ext uri="{FF2B5EF4-FFF2-40B4-BE49-F238E27FC236}">
                <a16:creationId xmlns:a16="http://schemas.microsoft.com/office/drawing/2014/main" id="{BE9D22EE-C8ED-3A1F-C8DA-3F57E7C44E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5825" y="3352800"/>
            <a:ext cx="1524000" cy="1006475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2000"/>
              <a:t>Sample </a:t>
            </a:r>
            <a:br>
              <a:rPr lang="en-US" altLang="en-US" sz="2000"/>
            </a:br>
            <a:r>
              <a:rPr lang="en-US" altLang="en-US" sz="2000"/>
              <a:t>screen output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>
            <a:extLst>
              <a:ext uri="{FF2B5EF4-FFF2-40B4-BE49-F238E27FC236}">
                <a16:creationId xmlns:a16="http://schemas.microsoft.com/office/drawing/2014/main" id="{F710ECCF-B0B3-8A56-5970-4BFCFC300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Array Assignment and Equality</a:t>
            </a:r>
          </a:p>
        </p:txBody>
      </p:sp>
      <p:sp>
        <p:nvSpPr>
          <p:cNvPr id="28675" name="Content Placeholder 2">
            <a:extLst>
              <a:ext uri="{FF2B5EF4-FFF2-40B4-BE49-F238E27FC236}">
                <a16:creationId xmlns:a16="http://schemas.microsoft.com/office/drawing/2014/main" id="{84982DE7-D0D3-8583-4699-B200EFB73D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Note results of </a:t>
            </a:r>
            <a:r>
              <a:rPr lang="en-US" altLang="en-US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==</a:t>
            </a:r>
          </a:p>
          <a:p>
            <a:pPr eaLnBrk="1" hangingPunct="1"/>
            <a:r>
              <a:rPr lang="en-US" altLang="en-US"/>
              <a:t>Note definition and use of method </a:t>
            </a:r>
            <a:r>
              <a:rPr lang="en-US" altLang="en-US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equals</a:t>
            </a:r>
          </a:p>
          <a:p>
            <a:pPr lvl="1" eaLnBrk="1" hangingPunct="1"/>
            <a:r>
              <a:rPr lang="en-US" altLang="en-US"/>
              <a:t>Receives two array parameters</a:t>
            </a:r>
          </a:p>
          <a:p>
            <a:pPr lvl="1" eaLnBrk="1" hangingPunct="1"/>
            <a:r>
              <a:rPr lang="en-US" altLang="en-US"/>
              <a:t>Checks length and each individual pair of array elements</a:t>
            </a:r>
          </a:p>
          <a:p>
            <a:pPr eaLnBrk="1" hangingPunct="1"/>
            <a:r>
              <a:rPr lang="en-US" altLang="en-US"/>
              <a:t>Remember array types are reference types</a:t>
            </a:r>
          </a:p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>
            <a:extLst>
              <a:ext uri="{FF2B5EF4-FFF2-40B4-BE49-F238E27FC236}">
                <a16:creationId xmlns:a16="http://schemas.microsoft.com/office/drawing/2014/main" id="{F366042C-E925-ED50-7F86-7A0911826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Gotcha – Don’t Exceed Array Bounds</a:t>
            </a:r>
          </a:p>
        </p:txBody>
      </p:sp>
      <p:sp>
        <p:nvSpPr>
          <p:cNvPr id="29699" name="Content Placeholder 2">
            <a:extLst>
              <a:ext uri="{FF2B5EF4-FFF2-40B4-BE49-F238E27FC236}">
                <a16:creationId xmlns:a16="http://schemas.microsoft.com/office/drawing/2014/main" id="{DF9E1711-DCA0-CB57-BCA2-3197A81B37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The code below fails if the user enters a number like 4.  Use input validation.</a:t>
            </a:r>
          </a:p>
        </p:txBody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CFEED0E8-A217-2946-2F9F-741B54E04C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325" y="2816225"/>
            <a:ext cx="8707438" cy="305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7000"/>
              </a:lnSpc>
            </a:pPr>
            <a:r>
              <a:rPr lang="en-US" altLang="en-US" sz="20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  <a:r>
              <a:rPr lang="en-US" altLang="en-US" sz="1600"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Scanner kbd = </a:t>
            </a:r>
            <a:r>
              <a:rPr lang="en-US" altLang="en-US" sz="1600">
                <a:solidFill>
                  <a:srgbClr val="5B9BD5"/>
                </a:solidFill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new </a:t>
            </a:r>
            <a:r>
              <a:rPr lang="en-US" altLang="en-US" sz="1600"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Scanner(System.in);</a:t>
            </a:r>
            <a:endParaRPr lang="en-US" altLang="en-US" sz="20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altLang="en-US" sz="1600"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altLang="en-US" sz="1600">
                <a:solidFill>
                  <a:srgbClr val="5B9BD5"/>
                </a:solidFill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int</a:t>
            </a:r>
            <a:r>
              <a:rPr lang="en-US" altLang="en-US" sz="1600"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[] count = {0,0,0,0};</a:t>
            </a:r>
            <a:endParaRPr lang="en-US" altLang="en-US" sz="20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altLang="en-US" sz="1600"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altLang="en-US" sz="20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altLang="en-US" sz="1600"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System.out.println("Enter ten numbers between 0 and 3.");</a:t>
            </a:r>
            <a:endParaRPr lang="en-US" altLang="en-US" sz="20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altLang="en-US" sz="1600"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altLang="en-US" sz="1600">
                <a:solidFill>
                  <a:srgbClr val="5B9BD5"/>
                </a:solidFill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for </a:t>
            </a:r>
            <a:r>
              <a:rPr lang="en-US" altLang="en-US" sz="1600"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altLang="en-US" sz="1600">
                <a:solidFill>
                  <a:srgbClr val="5B9BD5"/>
                </a:solidFill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int </a:t>
            </a:r>
            <a:r>
              <a:rPr lang="en-US" altLang="en-US" sz="1600"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 = 0; i &lt; 10; i++)</a:t>
            </a:r>
            <a:endParaRPr lang="en-US" altLang="en-US" sz="20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altLang="en-US" sz="1600"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{</a:t>
            </a:r>
            <a:endParaRPr lang="en-US" altLang="en-US" sz="20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altLang="en-US" sz="1600"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n-US" altLang="en-US" sz="1600">
                <a:solidFill>
                  <a:srgbClr val="5B9BD5"/>
                </a:solidFill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int </a:t>
            </a:r>
            <a:r>
              <a:rPr lang="en-US" altLang="en-US" sz="1600"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num = kbd.nextInt();</a:t>
            </a:r>
            <a:endParaRPr lang="en-US" altLang="en-US" sz="20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altLang="en-US" sz="1600"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count[num]++;</a:t>
            </a:r>
            <a:endParaRPr lang="en-US" altLang="en-US" sz="20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altLang="en-US" sz="1600"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}</a:t>
            </a:r>
            <a:endParaRPr lang="en-US" altLang="en-US" sz="20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altLang="en-US" sz="1600"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altLang="en-US" sz="1600">
                <a:solidFill>
                  <a:srgbClr val="5B9BD5"/>
                </a:solidFill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for </a:t>
            </a:r>
            <a:r>
              <a:rPr lang="en-US" altLang="en-US" sz="1600"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altLang="en-US" sz="1600">
                <a:solidFill>
                  <a:srgbClr val="5B9BD5"/>
                </a:solidFill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int </a:t>
            </a:r>
            <a:r>
              <a:rPr lang="en-US" altLang="en-US" sz="1600"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 = 0; i &lt; count.length; i++)</a:t>
            </a:r>
            <a:endParaRPr lang="en-US" altLang="en-US" sz="20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altLang="en-US" sz="1600"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System.out.println("You entered " + count[i] + " " + i + "'s");</a:t>
            </a:r>
            <a:endParaRPr lang="en-US" altLang="en-US" sz="1600"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>
            <a:extLst>
              <a:ext uri="{FF2B5EF4-FFF2-40B4-BE49-F238E27FC236}">
                <a16:creationId xmlns:a16="http://schemas.microsoft.com/office/drawing/2014/main" id="{BC5EF8A9-1C33-D60F-F585-E5482457F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Gotcha – Creating an Array of Objects</a:t>
            </a:r>
          </a:p>
        </p:txBody>
      </p:sp>
      <p:sp>
        <p:nvSpPr>
          <p:cNvPr id="30723" name="Content Placeholder 2">
            <a:extLst>
              <a:ext uri="{FF2B5EF4-FFF2-40B4-BE49-F238E27FC236}">
                <a16:creationId xmlns:a16="http://schemas.microsoft.com/office/drawing/2014/main" id="{B46529F1-8819-A592-7DE6-E10906B67E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When you create an array of objects Java does not create instances of any of the objects!  For example, consider the code:</a:t>
            </a:r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r>
              <a:rPr lang="en-US" altLang="en-US"/>
              <a:t>We can’t access team[0] yet;  it is </a:t>
            </a:r>
            <a:r>
              <a:rPr lang="en-US" altLang="en-US" b="1">
                <a:solidFill>
                  <a:srgbClr val="00B0F0"/>
                </a:solidFill>
              </a:rPr>
              <a:t>null</a:t>
            </a:r>
            <a:r>
              <a:rPr lang="en-US" altLang="en-US"/>
              <a:t>.  First we must create references to an object:</a:t>
            </a:r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r>
              <a:rPr lang="en-US" altLang="en-US"/>
              <a:t>we can now access team[0].getName() or team[1].getSalary()</a:t>
            </a:r>
          </a:p>
        </p:txBody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32DD52AA-CCF3-DABC-97F1-03AA7D3240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0963" y="2706688"/>
            <a:ext cx="8709025" cy="350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7000"/>
              </a:lnSpc>
            </a:pPr>
            <a:r>
              <a:rPr lang="en-US" altLang="en-US" sz="160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SalesAssociate[] team = new SalesAssociate[10];</a:t>
            </a:r>
            <a:endParaRPr lang="en-US" altLang="en-US" sz="120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</p:txBody>
      </p:sp>
      <p:sp>
        <p:nvSpPr>
          <p:cNvPr id="30725" name="Rectangle 4">
            <a:extLst>
              <a:ext uri="{FF2B5EF4-FFF2-40B4-BE49-F238E27FC236}">
                <a16:creationId xmlns:a16="http://schemas.microsoft.com/office/drawing/2014/main" id="{AEEBB7E6-96EC-3708-EC29-1D1CC483B2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0963" y="4337050"/>
            <a:ext cx="6994525" cy="614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7000"/>
              </a:lnSpc>
            </a:pPr>
            <a:r>
              <a:rPr lang="en-US" altLang="en-US" sz="1600"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team[0] = new SalesAssociate("Jane Doe", 5000);</a:t>
            </a:r>
            <a:br>
              <a:rPr lang="en-US" altLang="en-US" sz="1600"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altLang="en-US" sz="1600"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team[1] = new SalesAssociate("John Doe", 5000);</a:t>
            </a:r>
            <a:endParaRPr lang="en-US" altLang="en-US" sz="20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>
            <a:extLst>
              <a:ext uri="{FF2B5EF4-FFF2-40B4-BE49-F238E27FC236}">
                <a16:creationId xmlns:a16="http://schemas.microsoft.com/office/drawing/2014/main" id="{1CED1123-E1C8-175A-7FAF-CB37AF222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Methods that Return Arrays</a:t>
            </a:r>
          </a:p>
        </p:txBody>
      </p:sp>
      <p:sp>
        <p:nvSpPr>
          <p:cNvPr id="31747" name="Content Placeholder 2">
            <a:extLst>
              <a:ext uri="{FF2B5EF4-FFF2-40B4-BE49-F238E27FC236}">
                <a16:creationId xmlns:a16="http://schemas.microsoft.com/office/drawing/2014/main" id="{25977889-3042-8888-AAE0-10F61EE69C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 Java method may return an array</a:t>
            </a:r>
          </a:p>
          <a:p>
            <a:pPr eaLnBrk="1" hangingPunct="1"/>
            <a:r>
              <a:rPr lang="en-US" altLang="en-US"/>
              <a:t>View </a:t>
            </a:r>
            <a:r>
              <a:rPr lang="en-US" altLang="en-US">
                <a:hlinkClick r:id="rId2" action="ppaction://hlinkfile"/>
              </a:rPr>
              <a:t>example program</a:t>
            </a:r>
            <a:r>
              <a:rPr lang="en-US" altLang="en-US"/>
              <a:t>, listing 7.7</a:t>
            </a:r>
            <a:br>
              <a:rPr lang="en-US" altLang="en-US"/>
            </a:br>
            <a:r>
              <a:rPr lang="en-US" altLang="en-US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ReturnArrayDemo</a:t>
            </a:r>
          </a:p>
          <a:p>
            <a:pPr eaLnBrk="1" hangingPunct="1"/>
            <a:r>
              <a:rPr lang="en-US" altLang="en-US"/>
              <a:t>Note definition of return type as an array</a:t>
            </a:r>
          </a:p>
          <a:p>
            <a:pPr eaLnBrk="1" hangingPunct="1"/>
            <a:r>
              <a:rPr lang="en-US" altLang="en-US"/>
              <a:t>To return the array value</a:t>
            </a:r>
          </a:p>
          <a:p>
            <a:pPr lvl="1" eaLnBrk="1" hangingPunct="1"/>
            <a:r>
              <a:rPr lang="en-US" altLang="en-US"/>
              <a:t>Declare a local array</a:t>
            </a:r>
          </a:p>
          <a:p>
            <a:pPr lvl="1" eaLnBrk="1" hangingPunct="1"/>
            <a:r>
              <a:rPr lang="en-US" altLang="en-US"/>
              <a:t>Use that identifier in the </a:t>
            </a:r>
            <a:r>
              <a:rPr lang="en-US" altLang="en-US" sz="3200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altLang="en-US"/>
              <a:t> statement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>
            <a:extLst>
              <a:ext uri="{FF2B5EF4-FFF2-40B4-BE49-F238E27FC236}">
                <a16:creationId xmlns:a16="http://schemas.microsoft.com/office/drawing/2014/main" id="{AF84C982-5471-8E7B-A503-6B3121ECF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813" y="703263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/>
              <a:t>Programming with Arrays and Classes: Outline</a:t>
            </a:r>
          </a:p>
        </p:txBody>
      </p:sp>
      <p:sp>
        <p:nvSpPr>
          <p:cNvPr id="32771" name="Content Placeholder 2">
            <a:extLst>
              <a:ext uri="{FF2B5EF4-FFF2-40B4-BE49-F238E27FC236}">
                <a16:creationId xmlns:a16="http://schemas.microsoft.com/office/drawing/2014/main" id="{C7E19263-F06F-01F5-E099-C711EA3963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425700"/>
            <a:ext cx="8229600" cy="3700463"/>
          </a:xfrm>
        </p:spPr>
        <p:txBody>
          <a:bodyPr/>
          <a:lstStyle/>
          <a:p>
            <a:pPr eaLnBrk="1" hangingPunct="1"/>
            <a:r>
              <a:rPr lang="en-US" altLang="en-US"/>
              <a:t>Programming Example: A Specialized List Class</a:t>
            </a:r>
          </a:p>
          <a:p>
            <a:pPr eaLnBrk="1" hangingPunct="1"/>
            <a:r>
              <a:rPr lang="en-US" altLang="en-US"/>
              <a:t>Partially Filled Arrays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>
            <a:extLst>
              <a:ext uri="{FF2B5EF4-FFF2-40B4-BE49-F238E27FC236}">
                <a16:creationId xmlns:a16="http://schemas.microsoft.com/office/drawing/2014/main" id="{5568EA22-D09D-9887-7933-2015E7F1A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Programming Example</a:t>
            </a:r>
          </a:p>
        </p:txBody>
      </p:sp>
      <p:sp>
        <p:nvSpPr>
          <p:cNvPr id="33795" name="Content Placeholder 2">
            <a:extLst>
              <a:ext uri="{FF2B5EF4-FFF2-40B4-BE49-F238E27FC236}">
                <a16:creationId xmlns:a16="http://schemas.microsoft.com/office/drawing/2014/main" id="{96E31A07-B37A-E735-6F3F-FDBBC7CDA2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 specialized List class</a:t>
            </a:r>
          </a:p>
          <a:p>
            <a:pPr lvl="1" eaLnBrk="1" hangingPunct="1"/>
            <a:r>
              <a:rPr lang="en-US" altLang="en-US"/>
              <a:t>Objects can be used for keeping lists of items</a:t>
            </a:r>
          </a:p>
          <a:p>
            <a:pPr eaLnBrk="1" hangingPunct="1"/>
            <a:r>
              <a:rPr lang="en-US" altLang="en-US"/>
              <a:t>Methods include</a:t>
            </a:r>
          </a:p>
          <a:p>
            <a:pPr lvl="1" eaLnBrk="1" hangingPunct="1"/>
            <a:r>
              <a:rPr lang="en-US" altLang="en-US"/>
              <a:t>Capability to add items to the list</a:t>
            </a:r>
          </a:p>
          <a:p>
            <a:pPr lvl="1" eaLnBrk="1" hangingPunct="1"/>
            <a:r>
              <a:rPr lang="en-US" altLang="en-US"/>
              <a:t>Also delete entire list, start with blank list</a:t>
            </a:r>
          </a:p>
          <a:p>
            <a:pPr lvl="1" eaLnBrk="1" hangingPunct="1"/>
            <a:r>
              <a:rPr lang="en-US" altLang="en-US"/>
              <a:t>But no method to modify or delete list item</a:t>
            </a:r>
          </a:p>
          <a:p>
            <a:pPr eaLnBrk="1" hangingPunct="1"/>
            <a:r>
              <a:rPr lang="en-US" altLang="en-US"/>
              <a:t>Maximum number of items can be specified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>
            <a:extLst>
              <a:ext uri="{FF2B5EF4-FFF2-40B4-BE49-F238E27FC236}">
                <a16:creationId xmlns:a16="http://schemas.microsoft.com/office/drawing/2014/main" id="{5B6D7EF9-1B54-CA03-BB0D-470FAD487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Programming Example</a:t>
            </a:r>
          </a:p>
        </p:txBody>
      </p:sp>
      <p:sp>
        <p:nvSpPr>
          <p:cNvPr id="34819" name="Content Placeholder 2">
            <a:extLst>
              <a:ext uri="{FF2B5EF4-FFF2-40B4-BE49-F238E27FC236}">
                <a16:creationId xmlns:a16="http://schemas.microsoft.com/office/drawing/2014/main" id="{E11EA6EA-A65E-4D26-F4F4-32DDB421FF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1875" y="1906588"/>
            <a:ext cx="7654925" cy="4219575"/>
          </a:xfrm>
        </p:spPr>
        <p:txBody>
          <a:bodyPr/>
          <a:lstStyle/>
          <a:p>
            <a:pPr eaLnBrk="1" hangingPunct="1"/>
            <a:r>
              <a:rPr lang="en-US" altLang="en-US"/>
              <a:t> View </a:t>
            </a:r>
            <a:r>
              <a:rPr lang="en-US" altLang="en-US">
                <a:hlinkClick r:id="rId2" action="ppaction://hlinkfile"/>
              </a:rPr>
              <a:t>demo program</a:t>
            </a:r>
            <a:r>
              <a:rPr lang="en-US" altLang="en-US"/>
              <a:t>, listing 7.8</a:t>
            </a:r>
            <a:br>
              <a:rPr lang="en-US" altLang="en-US"/>
            </a:br>
            <a:r>
              <a:rPr lang="en-US" altLang="en-US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ListDemo</a:t>
            </a:r>
          </a:p>
          <a:p>
            <a:pPr eaLnBrk="1" hangingPunct="1"/>
            <a:r>
              <a:rPr lang="en-US" altLang="en-US"/>
              <a:t>Note declaration of the list object</a:t>
            </a:r>
          </a:p>
          <a:p>
            <a:pPr eaLnBrk="1" hangingPunct="1"/>
            <a:r>
              <a:rPr lang="en-US" altLang="en-US"/>
              <a:t>Note method calls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>
            <a:extLst>
              <a:ext uri="{FF2B5EF4-FFF2-40B4-BE49-F238E27FC236}">
                <a16:creationId xmlns:a16="http://schemas.microsoft.com/office/drawing/2014/main" id="{38382286-D2BE-F8CE-AEE3-0AC6E2EE6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Programming Example</a:t>
            </a:r>
          </a:p>
        </p:txBody>
      </p:sp>
      <p:pic>
        <p:nvPicPr>
          <p:cNvPr id="35843" name="Picture 2">
            <a:extLst>
              <a:ext uri="{FF2B5EF4-FFF2-40B4-BE49-F238E27FC236}">
                <a16:creationId xmlns:a16="http://schemas.microsoft.com/office/drawing/2014/main" id="{BE995E01-32B3-DBA6-DB53-6A9E6A7C09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963" y="1549400"/>
            <a:ext cx="6467475" cy="432435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844" name="Text Box 7">
            <a:extLst>
              <a:ext uri="{FF2B5EF4-FFF2-40B4-BE49-F238E27FC236}">
                <a16:creationId xmlns:a16="http://schemas.microsoft.com/office/drawing/2014/main" id="{7F88C00C-F4A0-95BB-CB1D-EE49909AD8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16725" y="3365500"/>
            <a:ext cx="1524000" cy="1006475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2000"/>
              <a:t>Sample </a:t>
            </a:r>
            <a:br>
              <a:rPr lang="en-US" altLang="en-US" sz="2000"/>
            </a:br>
            <a:r>
              <a:rPr lang="en-US" altLang="en-US" sz="2000"/>
              <a:t>screen output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>
            <a:extLst>
              <a:ext uri="{FF2B5EF4-FFF2-40B4-BE49-F238E27FC236}">
                <a16:creationId xmlns:a16="http://schemas.microsoft.com/office/drawing/2014/main" id="{EC8DC304-C805-1BB6-3960-AE55776B7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Programming Example</a:t>
            </a:r>
          </a:p>
        </p:txBody>
      </p:sp>
      <p:sp>
        <p:nvSpPr>
          <p:cNvPr id="36867" name="Content Placeholder 2">
            <a:extLst>
              <a:ext uri="{FF2B5EF4-FFF2-40B4-BE49-F238E27FC236}">
                <a16:creationId xmlns:a16="http://schemas.microsoft.com/office/drawing/2014/main" id="{B8374FD8-2E03-6916-8A9D-74EACDA737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Now view </a:t>
            </a:r>
            <a:r>
              <a:rPr lang="en-US" altLang="en-US">
                <a:hlinkClick r:id="rId2" action="ppaction://hlinkfile"/>
              </a:rPr>
              <a:t>array wrapped in a class </a:t>
            </a:r>
            <a:r>
              <a:rPr lang="en-US" altLang="en-US"/>
              <a:t>to represent a list, listing 7.9</a:t>
            </a:r>
            <a:br>
              <a:rPr lang="en-US" altLang="en-US"/>
            </a:br>
            <a:r>
              <a:rPr lang="en-US" altLang="en-US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OneWayNoRepeatsList</a:t>
            </a:r>
          </a:p>
          <a:p>
            <a:pPr eaLnBrk="1" hangingPunct="1"/>
            <a:r>
              <a:rPr lang="en-US" altLang="en-US"/>
              <a:t>Notable code elements</a:t>
            </a:r>
          </a:p>
          <a:p>
            <a:pPr lvl="1" eaLnBrk="1" hangingPunct="1"/>
            <a:r>
              <a:rPr lang="en-US" altLang="en-US"/>
              <a:t>Declaration of private array</a:t>
            </a:r>
          </a:p>
          <a:p>
            <a:pPr lvl="1" eaLnBrk="1" hangingPunct="1"/>
            <a:r>
              <a:rPr lang="en-US" altLang="en-US"/>
              <a:t>Method to find n</a:t>
            </a:r>
            <a:r>
              <a:rPr lang="en-US" altLang="en-US" baseline="30000"/>
              <a:t>th </a:t>
            </a:r>
            <a:r>
              <a:rPr lang="en-US" altLang="en-US"/>
              <a:t>list item</a:t>
            </a:r>
          </a:p>
          <a:p>
            <a:pPr lvl="1" eaLnBrk="1" hangingPunct="1"/>
            <a:r>
              <a:rPr lang="en-US" altLang="en-US"/>
              <a:t>Method to check if item is on the list or not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>
            <a:extLst>
              <a:ext uri="{FF2B5EF4-FFF2-40B4-BE49-F238E27FC236}">
                <a16:creationId xmlns:a16="http://schemas.microsoft.com/office/drawing/2014/main" id="{C78BFFE5-D972-2319-5AC3-019F5CCD1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Partially Filled Arrays</a:t>
            </a:r>
          </a:p>
        </p:txBody>
      </p:sp>
      <p:sp>
        <p:nvSpPr>
          <p:cNvPr id="37891" name="Content Placeholder 2">
            <a:extLst>
              <a:ext uri="{FF2B5EF4-FFF2-40B4-BE49-F238E27FC236}">
                <a16:creationId xmlns:a16="http://schemas.microsoft.com/office/drawing/2014/main" id="{9CBB7A76-9777-FCCB-5DCA-9F23EFAF1D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Array size specified at definition</a:t>
            </a:r>
          </a:p>
          <a:p>
            <a:pPr eaLnBrk="1" hangingPunct="1"/>
            <a:r>
              <a:rPr lang="en-US" altLang="en-US"/>
              <a:t>Not all elements of the array might receive values</a:t>
            </a:r>
          </a:p>
          <a:p>
            <a:pPr lvl="1" eaLnBrk="1" hangingPunct="1"/>
            <a:r>
              <a:rPr lang="en-US" altLang="en-US"/>
              <a:t>This is termed a </a:t>
            </a:r>
            <a:r>
              <a:rPr lang="en-US" altLang="en-US" i="1"/>
              <a:t>partially filled array</a:t>
            </a:r>
            <a:endParaRPr lang="en-US" altLang="en-US"/>
          </a:p>
          <a:p>
            <a:pPr eaLnBrk="1" hangingPunct="1"/>
            <a:r>
              <a:rPr lang="en-US" altLang="en-US"/>
              <a:t>Programmer must keep track of how much of array is used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>
            <a:extLst>
              <a:ext uri="{FF2B5EF4-FFF2-40B4-BE49-F238E27FC236}">
                <a16:creationId xmlns:a16="http://schemas.microsoft.com/office/drawing/2014/main" id="{5669360A-F2BD-C6DA-0E88-6A9275AE8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Partially Filled Arrays</a:t>
            </a:r>
          </a:p>
        </p:txBody>
      </p:sp>
      <p:sp>
        <p:nvSpPr>
          <p:cNvPr id="38915" name="Content Placeholder 2">
            <a:extLst>
              <a:ext uri="{FF2B5EF4-FFF2-40B4-BE49-F238E27FC236}">
                <a16:creationId xmlns:a16="http://schemas.microsoft.com/office/drawing/2014/main" id="{52010C71-C031-CE0C-C587-055D291F6E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Figure 7.4  A partially filled array</a:t>
            </a:r>
          </a:p>
        </p:txBody>
      </p:sp>
      <p:pic>
        <p:nvPicPr>
          <p:cNvPr id="38916" name="Picture 5">
            <a:extLst>
              <a:ext uri="{FF2B5EF4-FFF2-40B4-BE49-F238E27FC236}">
                <a16:creationId xmlns:a16="http://schemas.microsoft.com/office/drawing/2014/main" id="{DCCEACBB-1EF5-510A-2EA3-A317C9E14D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0625" y="2700338"/>
            <a:ext cx="6994525" cy="2690812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>
            <a:extLst>
              <a:ext uri="{FF2B5EF4-FFF2-40B4-BE49-F238E27FC236}">
                <a16:creationId xmlns:a16="http://schemas.microsoft.com/office/drawing/2014/main" id="{7EFC0FDA-0D43-CA09-097F-B205DFA199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300" y="703263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/>
              <a:t>Sorting, Searching Arrays: Outline</a:t>
            </a:r>
          </a:p>
        </p:txBody>
      </p:sp>
      <p:sp>
        <p:nvSpPr>
          <p:cNvPr id="39939" name="Content Placeholder 2">
            <a:extLst>
              <a:ext uri="{FF2B5EF4-FFF2-40B4-BE49-F238E27FC236}">
                <a16:creationId xmlns:a16="http://schemas.microsoft.com/office/drawing/2014/main" id="{38194A0F-DBE1-0B12-DC40-A2DDA02BC3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0175" y="2519363"/>
            <a:ext cx="7286625" cy="3606800"/>
          </a:xfrm>
        </p:spPr>
        <p:txBody>
          <a:bodyPr/>
          <a:lstStyle/>
          <a:p>
            <a:pPr eaLnBrk="1" hangingPunct="1"/>
            <a:r>
              <a:rPr lang="en-US" altLang="en-US"/>
              <a:t>Selection Sort</a:t>
            </a:r>
          </a:p>
          <a:p>
            <a:pPr eaLnBrk="1" hangingPunct="1"/>
            <a:r>
              <a:rPr lang="en-US" altLang="en-US"/>
              <a:t>Other Sorting Algorithms</a:t>
            </a:r>
          </a:p>
          <a:p>
            <a:pPr eaLnBrk="1" hangingPunct="1"/>
            <a:r>
              <a:rPr lang="en-US" altLang="en-US"/>
              <a:t>Searching an Array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>
            <a:extLst>
              <a:ext uri="{FF2B5EF4-FFF2-40B4-BE49-F238E27FC236}">
                <a16:creationId xmlns:a16="http://schemas.microsoft.com/office/drawing/2014/main" id="{280B6CFD-2324-5FF2-A9A8-C6766BFF3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Selection Sort</a:t>
            </a:r>
          </a:p>
        </p:txBody>
      </p:sp>
      <p:sp>
        <p:nvSpPr>
          <p:cNvPr id="40963" name="Content Placeholder 2">
            <a:extLst>
              <a:ext uri="{FF2B5EF4-FFF2-40B4-BE49-F238E27FC236}">
                <a16:creationId xmlns:a16="http://schemas.microsoft.com/office/drawing/2014/main" id="{9241287A-7C74-5574-8AFB-6F676582FB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Consider arranging all elements of an array so they are ascending order</a:t>
            </a:r>
          </a:p>
          <a:p>
            <a:pPr eaLnBrk="1" hangingPunct="1"/>
            <a:r>
              <a:rPr lang="en-US" altLang="en-US"/>
              <a:t>Algorithm is to step through the array</a:t>
            </a:r>
          </a:p>
          <a:p>
            <a:pPr lvl="1" eaLnBrk="1" hangingPunct="1"/>
            <a:r>
              <a:rPr lang="en-US" altLang="en-US"/>
              <a:t>Place smallest element in index 0</a:t>
            </a:r>
          </a:p>
          <a:p>
            <a:pPr lvl="1" eaLnBrk="1" hangingPunct="1"/>
            <a:r>
              <a:rPr lang="en-US" altLang="en-US"/>
              <a:t>Swap elements as needed to accomplish this</a:t>
            </a:r>
          </a:p>
          <a:p>
            <a:pPr eaLnBrk="1" hangingPunct="1"/>
            <a:r>
              <a:rPr lang="en-US" altLang="en-US"/>
              <a:t>Called an interchange sorting algorithm</a:t>
            </a:r>
          </a:p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>
            <a:extLst>
              <a:ext uri="{FF2B5EF4-FFF2-40B4-BE49-F238E27FC236}">
                <a16:creationId xmlns:a16="http://schemas.microsoft.com/office/drawing/2014/main" id="{857D93F5-844B-A16F-53E9-0A86DE6E2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Selection Sort</a:t>
            </a:r>
          </a:p>
        </p:txBody>
      </p:sp>
      <p:sp>
        <p:nvSpPr>
          <p:cNvPr id="41987" name="Content Placeholder 2">
            <a:extLst>
              <a:ext uri="{FF2B5EF4-FFF2-40B4-BE49-F238E27FC236}">
                <a16:creationId xmlns:a16="http://schemas.microsoft.com/office/drawing/2014/main" id="{8FEEB205-FF46-795E-94E8-EED3803EAF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Figure 7.5a   </a:t>
            </a:r>
          </a:p>
        </p:txBody>
      </p:sp>
      <p:pic>
        <p:nvPicPr>
          <p:cNvPr id="41988" name="Picture 5">
            <a:extLst>
              <a:ext uri="{FF2B5EF4-FFF2-40B4-BE49-F238E27FC236}">
                <a16:creationId xmlns:a16="http://schemas.microsoft.com/office/drawing/2014/main" id="{C3D69062-4420-4F59-09D7-448F2933A6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9063" y="2381250"/>
            <a:ext cx="6835775" cy="3614738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>
            <a:extLst>
              <a:ext uri="{FF2B5EF4-FFF2-40B4-BE49-F238E27FC236}">
                <a16:creationId xmlns:a16="http://schemas.microsoft.com/office/drawing/2014/main" id="{DF7415F9-38E1-22B3-D105-53ACD8B0C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Selection Sort</a:t>
            </a:r>
          </a:p>
        </p:txBody>
      </p:sp>
      <p:sp>
        <p:nvSpPr>
          <p:cNvPr id="43011" name="Content Placeholder 2">
            <a:extLst>
              <a:ext uri="{FF2B5EF4-FFF2-40B4-BE49-F238E27FC236}">
                <a16:creationId xmlns:a16="http://schemas.microsoft.com/office/drawing/2014/main" id="{D3CC480B-D00A-9821-4F85-3ED3406EDE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Figure 7.5b</a:t>
            </a:r>
          </a:p>
        </p:txBody>
      </p:sp>
      <p:sp>
        <p:nvSpPr>
          <p:cNvPr id="43012" name="TextBox 6">
            <a:extLst>
              <a:ext uri="{FF2B5EF4-FFF2-40B4-BE49-F238E27FC236}">
                <a16:creationId xmlns:a16="http://schemas.microsoft.com/office/drawing/2014/main" id="{2A0F625C-4911-6BF7-50F5-C58FED8B454C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3529012" y="4392613"/>
            <a:ext cx="7334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. . .</a:t>
            </a:r>
          </a:p>
        </p:txBody>
      </p:sp>
      <p:pic>
        <p:nvPicPr>
          <p:cNvPr id="43013" name="Picture 8">
            <a:extLst>
              <a:ext uri="{FF2B5EF4-FFF2-40B4-BE49-F238E27FC236}">
                <a16:creationId xmlns:a16="http://schemas.microsoft.com/office/drawing/2014/main" id="{7F93D462-53E1-697A-845F-1A3BAAE7CA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1788" y="2219325"/>
            <a:ext cx="6356350" cy="41021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>
            <a:extLst>
              <a:ext uri="{FF2B5EF4-FFF2-40B4-BE49-F238E27FC236}">
                <a16:creationId xmlns:a16="http://schemas.microsoft.com/office/drawing/2014/main" id="{2D197BDF-BF02-10A1-9E05-EAB56B86C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Selection Sort</a:t>
            </a:r>
          </a:p>
        </p:txBody>
      </p:sp>
      <p:sp>
        <p:nvSpPr>
          <p:cNvPr id="44035" name="Content Placeholder 2">
            <a:extLst>
              <a:ext uri="{FF2B5EF4-FFF2-40B4-BE49-F238E27FC236}">
                <a16:creationId xmlns:a16="http://schemas.microsoft.com/office/drawing/2014/main" id="{A2455B37-79DE-BB63-A94A-799C96A9DA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Algorithm for selection sort of an array</a:t>
            </a:r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</p:txBody>
      </p:sp>
      <p:pic>
        <p:nvPicPr>
          <p:cNvPr id="44036" name="Picture 2">
            <a:extLst>
              <a:ext uri="{FF2B5EF4-FFF2-40B4-BE49-F238E27FC236}">
                <a16:creationId xmlns:a16="http://schemas.microsoft.com/office/drawing/2014/main" id="{E7870352-4187-35C4-1BD3-DDFAE5A343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6313" y="2533650"/>
            <a:ext cx="7461250" cy="2433638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>
            <a:extLst>
              <a:ext uri="{FF2B5EF4-FFF2-40B4-BE49-F238E27FC236}">
                <a16:creationId xmlns:a16="http://schemas.microsoft.com/office/drawing/2014/main" id="{F6ADF43F-E8FF-F714-6C04-3C6C2B313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Selection Sort</a:t>
            </a:r>
          </a:p>
        </p:txBody>
      </p:sp>
      <p:sp>
        <p:nvSpPr>
          <p:cNvPr id="45059" name="Content Placeholder 2">
            <a:extLst>
              <a:ext uri="{FF2B5EF4-FFF2-40B4-BE49-F238E27FC236}">
                <a16:creationId xmlns:a16="http://schemas.microsoft.com/office/drawing/2014/main" id="{4EF597C7-28AA-1AC9-DDD2-D40F9C9551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View </a:t>
            </a:r>
            <a:r>
              <a:rPr lang="en-US" altLang="en-US">
                <a:hlinkClick r:id="rId2" action="ppaction://hlinkfile"/>
              </a:rPr>
              <a:t>implementation </a:t>
            </a:r>
            <a:r>
              <a:rPr lang="en-US" altLang="en-US"/>
              <a:t>of selection sort, listing 7.10   </a:t>
            </a:r>
            <a:br>
              <a:rPr lang="en-US" altLang="en-US"/>
            </a:br>
            <a:r>
              <a:rPr lang="en-US" altLang="en-US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ArraySorter</a:t>
            </a:r>
          </a:p>
          <a:p>
            <a:pPr eaLnBrk="1" hangingPunct="1"/>
            <a:r>
              <a:rPr lang="en-US" altLang="en-US"/>
              <a:t>View </a:t>
            </a:r>
            <a:r>
              <a:rPr lang="en-US" altLang="en-US">
                <a:hlinkClick r:id="rId3" action="ppaction://hlinkfile"/>
              </a:rPr>
              <a:t>demo program</a:t>
            </a:r>
            <a:r>
              <a:rPr lang="en-US" altLang="en-US"/>
              <a:t>, listing 7.11</a:t>
            </a:r>
            <a:br>
              <a:rPr lang="en-US" altLang="en-US"/>
            </a:br>
            <a:r>
              <a:rPr lang="en-US" altLang="en-US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SelectionSortDemo</a:t>
            </a:r>
          </a:p>
        </p:txBody>
      </p:sp>
      <p:pic>
        <p:nvPicPr>
          <p:cNvPr id="45060" name="Picture 2">
            <a:extLst>
              <a:ext uri="{FF2B5EF4-FFF2-40B4-BE49-F238E27FC236}">
                <a16:creationId xmlns:a16="http://schemas.microsoft.com/office/drawing/2014/main" id="{490D5579-5E35-9438-7F95-9D5853EF1F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8088" y="4645025"/>
            <a:ext cx="3876675" cy="138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061" name="Text Box 7">
            <a:extLst>
              <a:ext uri="{FF2B5EF4-FFF2-40B4-BE49-F238E27FC236}">
                <a16:creationId xmlns:a16="http://schemas.microsoft.com/office/drawing/2014/main" id="{4D079DB9-944E-A62A-DF8C-12C56953CB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8213" y="4279900"/>
            <a:ext cx="1524000" cy="1006475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2000"/>
              <a:t>Sample </a:t>
            </a:r>
            <a:br>
              <a:rPr lang="en-US" altLang="en-US" sz="2000"/>
            </a:br>
            <a:r>
              <a:rPr lang="en-US" altLang="en-US" sz="2000"/>
              <a:t>screen output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1">
            <a:extLst>
              <a:ext uri="{FF2B5EF4-FFF2-40B4-BE49-F238E27FC236}">
                <a16:creationId xmlns:a16="http://schemas.microsoft.com/office/drawing/2014/main" id="{58F70974-2521-3993-481E-C7DE6EF48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Other Sorting Algorithms</a:t>
            </a:r>
          </a:p>
        </p:txBody>
      </p:sp>
      <p:sp>
        <p:nvSpPr>
          <p:cNvPr id="46083" name="Content Placeholder 2">
            <a:extLst>
              <a:ext uri="{FF2B5EF4-FFF2-40B4-BE49-F238E27FC236}">
                <a16:creationId xmlns:a16="http://schemas.microsoft.com/office/drawing/2014/main" id="{5C929302-E229-ADAB-950D-1493E5261B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Selection sort is simplest</a:t>
            </a:r>
          </a:p>
          <a:p>
            <a:pPr lvl="1" eaLnBrk="1" hangingPunct="1"/>
            <a:r>
              <a:rPr lang="en-US" altLang="en-US"/>
              <a:t>But it is very inefficient for large arrays</a:t>
            </a:r>
          </a:p>
          <a:p>
            <a:pPr eaLnBrk="1" hangingPunct="1"/>
            <a:r>
              <a:rPr lang="en-US" altLang="en-US"/>
              <a:t>Java Class Library provides for efficient sorting</a:t>
            </a:r>
          </a:p>
          <a:p>
            <a:pPr lvl="1" eaLnBrk="1" hangingPunct="1"/>
            <a:r>
              <a:rPr lang="en-US" altLang="en-US"/>
              <a:t>Has a class called Arrays</a:t>
            </a:r>
          </a:p>
          <a:p>
            <a:pPr lvl="1" eaLnBrk="1" hangingPunct="1"/>
            <a:r>
              <a:rPr lang="en-US" altLang="en-US"/>
              <a:t>Class has multiple versions of a sort method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>
            <a:extLst>
              <a:ext uri="{FF2B5EF4-FFF2-40B4-BE49-F238E27FC236}">
                <a16:creationId xmlns:a16="http://schemas.microsoft.com/office/drawing/2014/main" id="{922081D5-1BD5-F478-BB3B-210DEA017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Searching an Array</a:t>
            </a:r>
          </a:p>
        </p:txBody>
      </p:sp>
      <p:sp>
        <p:nvSpPr>
          <p:cNvPr id="47107" name="Content Placeholder 2">
            <a:extLst>
              <a:ext uri="{FF2B5EF4-FFF2-40B4-BE49-F238E27FC236}">
                <a16:creationId xmlns:a16="http://schemas.microsoft.com/office/drawing/2014/main" id="{66CFEBF8-B884-A7F4-E2F3-3DCAB47161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Method used in </a:t>
            </a:r>
            <a:r>
              <a:rPr lang="en-US" altLang="en-US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OneWayNoRepeatsList</a:t>
            </a:r>
            <a:r>
              <a:rPr lang="en-US" altLang="en-US"/>
              <a:t> is sequential search</a:t>
            </a:r>
          </a:p>
          <a:p>
            <a:pPr lvl="1" eaLnBrk="1" hangingPunct="1"/>
            <a:r>
              <a:rPr lang="en-US" altLang="en-US"/>
              <a:t>Looks in order from first to last</a:t>
            </a:r>
          </a:p>
          <a:p>
            <a:pPr lvl="1" eaLnBrk="1" hangingPunct="1"/>
            <a:r>
              <a:rPr lang="en-US" altLang="en-US"/>
              <a:t>Good for unsorted arrays</a:t>
            </a:r>
          </a:p>
          <a:p>
            <a:pPr eaLnBrk="1" hangingPunct="1"/>
            <a:r>
              <a:rPr lang="en-US" altLang="en-US"/>
              <a:t>Search ends when </a:t>
            </a:r>
          </a:p>
          <a:p>
            <a:pPr lvl="1" eaLnBrk="1" hangingPunct="1"/>
            <a:r>
              <a:rPr lang="en-US" altLang="en-US"/>
              <a:t>Item is found … or …</a:t>
            </a:r>
          </a:p>
          <a:p>
            <a:pPr lvl="1" eaLnBrk="1" hangingPunct="1"/>
            <a:r>
              <a:rPr lang="en-US" altLang="en-US"/>
              <a:t>End of list is reached</a:t>
            </a:r>
          </a:p>
          <a:p>
            <a:pPr eaLnBrk="1" hangingPunct="1"/>
            <a:r>
              <a:rPr lang="en-US" altLang="en-US"/>
              <a:t>If list is sorted, use more efficient searches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itle 1">
            <a:extLst>
              <a:ext uri="{FF2B5EF4-FFF2-40B4-BE49-F238E27FC236}">
                <a16:creationId xmlns:a16="http://schemas.microsoft.com/office/drawing/2014/main" id="{CFB46948-5FB0-A105-E91D-874DFEB96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7850" y="309563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/>
              <a:t>Multidimensional Arrays: Outline</a:t>
            </a:r>
          </a:p>
        </p:txBody>
      </p:sp>
      <p:sp>
        <p:nvSpPr>
          <p:cNvPr id="48131" name="Content Placeholder 2">
            <a:extLst>
              <a:ext uri="{FF2B5EF4-FFF2-40B4-BE49-F238E27FC236}">
                <a16:creationId xmlns:a16="http://schemas.microsoft.com/office/drawing/2014/main" id="{765B8252-ABB0-430E-0A3C-01AC2303F3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Multidimensional-Array Basics</a:t>
            </a:r>
          </a:p>
          <a:p>
            <a:pPr eaLnBrk="1" hangingPunct="1"/>
            <a:r>
              <a:rPr lang="en-US" altLang="en-US"/>
              <a:t>Multidimensional-Array Parameters and Returned Values</a:t>
            </a:r>
          </a:p>
          <a:p>
            <a:pPr eaLnBrk="1" hangingPunct="1"/>
            <a:r>
              <a:rPr lang="en-US" altLang="en-US"/>
              <a:t>Java's Representation of Multidimensional</a:t>
            </a:r>
          </a:p>
          <a:p>
            <a:pPr eaLnBrk="1" hangingPunct="1"/>
            <a:r>
              <a:rPr lang="en-US" altLang="en-US"/>
              <a:t>Ragged Arrays</a:t>
            </a:r>
          </a:p>
          <a:p>
            <a:pPr eaLnBrk="1" hangingPunct="1"/>
            <a:r>
              <a:rPr lang="en-US" altLang="en-US"/>
              <a:t>Programming Example: Employee Time Records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>
            <a:extLst>
              <a:ext uri="{FF2B5EF4-FFF2-40B4-BE49-F238E27FC236}">
                <a16:creationId xmlns:a16="http://schemas.microsoft.com/office/drawing/2014/main" id="{88CAEF1D-088D-7899-3B69-C36A091AE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Multidimensional-Array Basics</a:t>
            </a:r>
          </a:p>
        </p:txBody>
      </p:sp>
      <p:sp>
        <p:nvSpPr>
          <p:cNvPr id="49155" name="Content Placeholder 2">
            <a:extLst>
              <a:ext uri="{FF2B5EF4-FFF2-40B4-BE49-F238E27FC236}">
                <a16:creationId xmlns:a16="http://schemas.microsoft.com/office/drawing/2014/main" id="{2068BA9C-61E2-FD87-A9BE-76E82B5CB2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Consider Figure 7.6, a table of values</a:t>
            </a:r>
          </a:p>
        </p:txBody>
      </p:sp>
      <p:pic>
        <p:nvPicPr>
          <p:cNvPr id="47109" name="Picture 5">
            <a:extLst>
              <a:ext uri="{FF2B5EF4-FFF2-40B4-BE49-F238E27FC236}">
                <a16:creationId xmlns:a16="http://schemas.microsoft.com/office/drawing/2014/main" id="{B542812C-5632-70B4-0A5B-F4F50CC551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62125" y="2238375"/>
            <a:ext cx="6029325" cy="4019550"/>
          </a:xfrm>
          <a:prstGeom prst="rect">
            <a:avLst/>
          </a:prstGeom>
          <a:solidFill>
            <a:schemeClr val="accent1"/>
          </a:solidFill>
          <a:ln w="1270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tle 1">
            <a:extLst>
              <a:ext uri="{FF2B5EF4-FFF2-40B4-BE49-F238E27FC236}">
                <a16:creationId xmlns:a16="http://schemas.microsoft.com/office/drawing/2014/main" id="{2D87228C-4AAB-F1E0-755E-7D0E6D816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Multidimensional-Array Basics</a:t>
            </a:r>
          </a:p>
        </p:txBody>
      </p:sp>
      <p:sp>
        <p:nvSpPr>
          <p:cNvPr id="50179" name="Content Placeholder 2">
            <a:extLst>
              <a:ext uri="{FF2B5EF4-FFF2-40B4-BE49-F238E27FC236}">
                <a16:creationId xmlns:a16="http://schemas.microsoft.com/office/drawing/2014/main" id="{BC8B0C33-D042-8DC7-A3D8-6A1EF9228F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Figure 7.7 Row and column indices for an array named </a:t>
            </a:r>
            <a:r>
              <a:rPr lang="en-US" altLang="en-US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table</a:t>
            </a:r>
          </a:p>
          <a:p>
            <a:pPr eaLnBrk="1" hangingPunct="1"/>
            <a:endParaRPr lang="en-US" altLang="en-US"/>
          </a:p>
        </p:txBody>
      </p:sp>
      <p:pic>
        <p:nvPicPr>
          <p:cNvPr id="50180" name="Picture 2">
            <a:extLst>
              <a:ext uri="{FF2B5EF4-FFF2-40B4-BE49-F238E27FC236}">
                <a16:creationId xmlns:a16="http://schemas.microsoft.com/office/drawing/2014/main" id="{AA4ABE67-EA9A-CEA0-894F-B9E544F8A5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315"/>
          <a:stretch>
            <a:fillRect/>
          </a:stretch>
        </p:blipFill>
        <p:spPr bwMode="auto">
          <a:xfrm>
            <a:off x="1952625" y="2633663"/>
            <a:ext cx="5264150" cy="3457575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0181" name="TextBox 4">
            <a:extLst>
              <a:ext uri="{FF2B5EF4-FFF2-40B4-BE49-F238E27FC236}">
                <a16:creationId xmlns:a16="http://schemas.microsoft.com/office/drawing/2014/main" id="{1FFDA4AB-A1D1-317E-1CB2-A39ABA8FBD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75350" y="2382838"/>
            <a:ext cx="2408238" cy="708025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table[3][2] </a:t>
            </a:r>
            <a:r>
              <a:rPr lang="en-US" altLang="en-US" sz="2000"/>
              <a:t>has a value of 1262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itle 1">
            <a:extLst>
              <a:ext uri="{FF2B5EF4-FFF2-40B4-BE49-F238E27FC236}">
                <a16:creationId xmlns:a16="http://schemas.microsoft.com/office/drawing/2014/main" id="{7D1FCC53-E58C-DD79-2F60-C2D5B5B9B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Multidimensional-Array Basics</a:t>
            </a:r>
          </a:p>
        </p:txBody>
      </p:sp>
      <p:sp>
        <p:nvSpPr>
          <p:cNvPr id="51203" name="Content Placeholder 2">
            <a:extLst>
              <a:ext uri="{FF2B5EF4-FFF2-40B4-BE49-F238E27FC236}">
                <a16:creationId xmlns:a16="http://schemas.microsoft.com/office/drawing/2014/main" id="{962E0C7C-FEE1-47DD-3EDF-684C19C3A7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We can access elements of the table with a nested for loop</a:t>
            </a:r>
          </a:p>
          <a:p>
            <a:pPr eaLnBrk="1" hangingPunct="1"/>
            <a:r>
              <a:rPr lang="en-US" altLang="en-US"/>
              <a:t>Example:</a:t>
            </a:r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r>
              <a:rPr lang="en-US" altLang="en-US"/>
              <a:t>View </a:t>
            </a:r>
            <a:r>
              <a:rPr lang="en-US" altLang="en-US">
                <a:hlinkClick r:id="rId2" action="ppaction://hlinkfile"/>
              </a:rPr>
              <a:t>sample program</a:t>
            </a:r>
            <a:r>
              <a:rPr lang="en-US" altLang="en-US"/>
              <a:t>, listing 7.12</a:t>
            </a:r>
            <a:br>
              <a:rPr lang="en-US" altLang="en-US"/>
            </a:br>
            <a:r>
              <a:rPr lang="en-US" altLang="en-US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altLang="en-US"/>
              <a:t> </a:t>
            </a:r>
            <a:r>
              <a:rPr lang="en-US" altLang="en-US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InterestTable</a:t>
            </a:r>
          </a:p>
        </p:txBody>
      </p:sp>
      <p:pic>
        <p:nvPicPr>
          <p:cNvPr id="51204" name="Picture 2">
            <a:extLst>
              <a:ext uri="{FF2B5EF4-FFF2-40B4-BE49-F238E27FC236}">
                <a16:creationId xmlns:a16="http://schemas.microsoft.com/office/drawing/2014/main" id="{1837835E-AED2-F4F6-BD9A-13A89B76ED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5" r="1688"/>
          <a:stretch>
            <a:fillRect/>
          </a:stretch>
        </p:blipFill>
        <p:spPr bwMode="auto">
          <a:xfrm>
            <a:off x="2665413" y="2938463"/>
            <a:ext cx="6169025" cy="1243012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3">
            <a:extLst>
              <a:ext uri="{FF2B5EF4-FFF2-40B4-BE49-F238E27FC236}">
                <a16:creationId xmlns:a16="http://schemas.microsoft.com/office/drawing/2014/main" id="{F5ECE8CE-9AFD-786B-1D1F-3811DDBCD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Multidimensional-Array Basics</a:t>
            </a:r>
          </a:p>
        </p:txBody>
      </p:sp>
      <p:pic>
        <p:nvPicPr>
          <p:cNvPr id="52227" name="Picture 2">
            <a:extLst>
              <a:ext uri="{FF2B5EF4-FFF2-40B4-BE49-F238E27FC236}">
                <a16:creationId xmlns:a16="http://schemas.microsoft.com/office/drawing/2014/main" id="{04DA8F2A-099B-D523-CD3D-E87B8B89C6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5263" y="1831975"/>
            <a:ext cx="6842125" cy="3878263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228" name="Text Box 7">
            <a:extLst>
              <a:ext uri="{FF2B5EF4-FFF2-40B4-BE49-F238E27FC236}">
                <a16:creationId xmlns:a16="http://schemas.microsoft.com/office/drawing/2014/main" id="{792E903D-0611-AF21-8E5D-4E5C14BA50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91375" y="3468688"/>
            <a:ext cx="1524000" cy="1006475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2000"/>
              <a:t>Sample </a:t>
            </a:r>
            <a:br>
              <a:rPr lang="en-US" altLang="en-US" sz="2000"/>
            </a:br>
            <a:r>
              <a:rPr lang="en-US" altLang="en-US" sz="2000"/>
              <a:t>screen output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1">
            <a:extLst>
              <a:ext uri="{FF2B5EF4-FFF2-40B4-BE49-F238E27FC236}">
                <a16:creationId xmlns:a16="http://schemas.microsoft.com/office/drawing/2014/main" id="{14907449-2505-DD46-741C-91BFADEFF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04813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3600"/>
              <a:t>Multidimensional-Array Parameters and Returned Values</a:t>
            </a:r>
          </a:p>
        </p:txBody>
      </p:sp>
      <p:sp>
        <p:nvSpPr>
          <p:cNvPr id="53251" name="Content Placeholder 2">
            <a:extLst>
              <a:ext uri="{FF2B5EF4-FFF2-40B4-BE49-F238E27FC236}">
                <a16:creationId xmlns:a16="http://schemas.microsoft.com/office/drawing/2014/main" id="{67E8706A-0763-5306-E8D6-E10F7F9714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Methods can have</a:t>
            </a:r>
          </a:p>
          <a:p>
            <a:pPr lvl="1" eaLnBrk="1" hangingPunct="1"/>
            <a:r>
              <a:rPr lang="en-US" altLang="en-US"/>
              <a:t>Parameters that are multidimensional-arrays</a:t>
            </a:r>
          </a:p>
          <a:p>
            <a:pPr lvl="1" eaLnBrk="1" hangingPunct="1"/>
            <a:r>
              <a:rPr lang="en-US" altLang="en-US"/>
              <a:t>Return values that are multidimensional-arrays</a:t>
            </a:r>
          </a:p>
          <a:p>
            <a:pPr eaLnBrk="1" hangingPunct="1"/>
            <a:r>
              <a:rPr lang="en-US" altLang="en-US"/>
              <a:t>View </a:t>
            </a:r>
            <a:r>
              <a:rPr lang="en-US" altLang="en-US">
                <a:hlinkClick r:id="rId2" action="ppaction://hlinkfile"/>
              </a:rPr>
              <a:t>sample code</a:t>
            </a:r>
            <a:r>
              <a:rPr lang="en-US" altLang="en-US"/>
              <a:t>, listing 7.13</a:t>
            </a:r>
            <a:br>
              <a:rPr lang="en-US" altLang="en-US"/>
            </a:br>
            <a:r>
              <a:rPr lang="en-US" altLang="en-US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InterestTable2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itle 1">
            <a:extLst>
              <a:ext uri="{FF2B5EF4-FFF2-40B4-BE49-F238E27FC236}">
                <a16:creationId xmlns:a16="http://schemas.microsoft.com/office/drawing/2014/main" id="{D9694303-82A3-6CD0-E744-5A1191268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Java's Representation of Multidimensional Arrays</a:t>
            </a:r>
          </a:p>
        </p:txBody>
      </p:sp>
      <p:sp>
        <p:nvSpPr>
          <p:cNvPr id="54275" name="Content Placeholder 2">
            <a:extLst>
              <a:ext uri="{FF2B5EF4-FFF2-40B4-BE49-F238E27FC236}">
                <a16:creationId xmlns:a16="http://schemas.microsoft.com/office/drawing/2014/main" id="{F2D0B5B4-C57B-57F9-A7F2-40D9AB6118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Multidimensional array represented as several one-dimensional arrays</a:t>
            </a:r>
          </a:p>
          <a:p>
            <a:pPr eaLnBrk="1" hangingPunct="1"/>
            <a:r>
              <a:rPr lang="en-US" altLang="en-US" sz="2800"/>
              <a:t>Given  </a:t>
            </a:r>
            <a:br>
              <a:rPr lang="en-US" altLang="en-US" sz="2800"/>
            </a:br>
            <a:r>
              <a:rPr lang="en-US" altLang="en-US" sz="2800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[][] table = new int [10][6];</a:t>
            </a:r>
            <a:endParaRPr lang="en-US" altLang="en-US" b="1">
              <a:solidFill>
                <a:srgbClr val="0033CC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/>
            <a:r>
              <a:rPr lang="en-US" altLang="en-US" sz="2800"/>
              <a:t>Array table is actually 1 dimensional of type </a:t>
            </a:r>
            <a:r>
              <a:rPr lang="en-US" altLang="en-US" sz="2800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int[]</a:t>
            </a:r>
            <a:endParaRPr lang="en-US" altLang="en-US" b="1">
              <a:solidFill>
                <a:srgbClr val="0033CC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 eaLnBrk="1" hangingPunct="1"/>
            <a:r>
              <a:rPr lang="en-US" altLang="en-US" sz="2400"/>
              <a:t>It is an array of arrays</a:t>
            </a:r>
          </a:p>
          <a:p>
            <a:pPr eaLnBrk="1" hangingPunct="1"/>
            <a:r>
              <a:rPr lang="en-US" altLang="en-US" sz="2800"/>
              <a:t>Important when sequencing through multidimensional array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itle 1">
            <a:extLst>
              <a:ext uri="{FF2B5EF4-FFF2-40B4-BE49-F238E27FC236}">
                <a16:creationId xmlns:a16="http://schemas.microsoft.com/office/drawing/2014/main" id="{3FB1BE72-B168-BF2D-F4DF-133C2828A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Ragged Arrays</a:t>
            </a:r>
          </a:p>
        </p:txBody>
      </p:sp>
      <p:sp>
        <p:nvSpPr>
          <p:cNvPr id="55299" name="Content Placeholder 2">
            <a:extLst>
              <a:ext uri="{FF2B5EF4-FFF2-40B4-BE49-F238E27FC236}">
                <a16:creationId xmlns:a16="http://schemas.microsoft.com/office/drawing/2014/main" id="{8C5A8969-DCBD-2757-6941-57672FD86E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Not necessary for all rows to be of the same length</a:t>
            </a:r>
          </a:p>
          <a:p>
            <a:pPr eaLnBrk="1" hangingPunct="1"/>
            <a:r>
              <a:rPr lang="en-US" altLang="en-US"/>
              <a:t>Example:</a:t>
            </a:r>
          </a:p>
        </p:txBody>
      </p:sp>
      <p:pic>
        <p:nvPicPr>
          <p:cNvPr id="55300" name="Picture 4">
            <a:extLst>
              <a:ext uri="{FF2B5EF4-FFF2-40B4-BE49-F238E27FC236}">
                <a16:creationId xmlns:a16="http://schemas.microsoft.com/office/drawing/2014/main" id="{63A0DB0E-4EA3-9CEE-8FF4-FF5502ECC1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0363" y="3486150"/>
            <a:ext cx="5953125" cy="16383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itle 1">
            <a:extLst>
              <a:ext uri="{FF2B5EF4-FFF2-40B4-BE49-F238E27FC236}">
                <a16:creationId xmlns:a16="http://schemas.microsoft.com/office/drawing/2014/main" id="{742E80FD-85C3-8D99-88F2-0F7BD4B3B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Programming Example</a:t>
            </a:r>
          </a:p>
        </p:txBody>
      </p:sp>
      <p:sp>
        <p:nvSpPr>
          <p:cNvPr id="56323" name="Content Placeholder 2">
            <a:extLst>
              <a:ext uri="{FF2B5EF4-FFF2-40B4-BE49-F238E27FC236}">
                <a16:creationId xmlns:a16="http://schemas.microsoft.com/office/drawing/2014/main" id="{06106B0A-37A4-F555-B65A-86753E5970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Employee Time Records</a:t>
            </a:r>
          </a:p>
          <a:p>
            <a:pPr lvl="1" eaLnBrk="1" hangingPunct="1"/>
            <a:r>
              <a:rPr lang="en-US" altLang="en-US"/>
              <a:t>Two-dimensional array stores hours worked</a:t>
            </a:r>
          </a:p>
          <a:p>
            <a:pPr lvl="2" eaLnBrk="1" hangingPunct="1"/>
            <a:r>
              <a:rPr lang="en-US" altLang="en-US"/>
              <a:t>For each employee</a:t>
            </a:r>
          </a:p>
          <a:p>
            <a:pPr lvl="2" eaLnBrk="1" hangingPunct="1"/>
            <a:r>
              <a:rPr lang="en-US" altLang="en-US"/>
              <a:t>For each of 5 days of work week</a:t>
            </a:r>
          </a:p>
          <a:p>
            <a:pPr lvl="1" eaLnBrk="1" hangingPunct="1"/>
            <a:r>
              <a:rPr lang="en-US" altLang="en-US"/>
              <a:t>Array is private instance variable of class</a:t>
            </a:r>
          </a:p>
          <a:p>
            <a:pPr eaLnBrk="1" hangingPunct="1"/>
            <a:r>
              <a:rPr lang="en-US" altLang="en-US"/>
              <a:t>View </a:t>
            </a:r>
            <a:r>
              <a:rPr lang="en-US" altLang="en-US">
                <a:hlinkClick r:id="rId2" action="ppaction://hlinkfile"/>
              </a:rPr>
              <a:t>sample program</a:t>
            </a:r>
            <a:r>
              <a:rPr lang="en-US" altLang="en-US"/>
              <a:t>, listing 7.14</a:t>
            </a:r>
            <a:br>
              <a:rPr lang="en-US" altLang="en-US"/>
            </a:br>
            <a:r>
              <a:rPr lang="en-US" altLang="en-US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TimeBook</a:t>
            </a:r>
            <a:endParaRPr lang="en-US" altLang="en-US" sz="2800" b="1">
              <a:solidFill>
                <a:srgbClr val="0033CC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>
            <a:extLst>
              <a:ext uri="{FF2B5EF4-FFF2-40B4-BE49-F238E27FC236}">
                <a16:creationId xmlns:a16="http://schemas.microsoft.com/office/drawing/2014/main" id="{2375A4E1-C6BD-C019-A37A-9E040E3AB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Programming Example</a:t>
            </a:r>
          </a:p>
        </p:txBody>
      </p:sp>
      <p:sp>
        <p:nvSpPr>
          <p:cNvPr id="57347" name="Content Placeholder 2">
            <a:extLst>
              <a:ext uri="{FF2B5EF4-FFF2-40B4-BE49-F238E27FC236}">
                <a16:creationId xmlns:a16="http://schemas.microsoft.com/office/drawing/2014/main" id="{A4A97444-E002-D98A-8451-42F966D1ADB6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0" y="1600200"/>
            <a:ext cx="8229600" cy="4525963"/>
          </a:xfrm>
        </p:spPr>
        <p:txBody>
          <a:bodyPr/>
          <a:lstStyle/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</p:txBody>
      </p:sp>
      <p:pic>
        <p:nvPicPr>
          <p:cNvPr id="57348" name="Picture 2">
            <a:extLst>
              <a:ext uri="{FF2B5EF4-FFF2-40B4-BE49-F238E27FC236}">
                <a16:creationId xmlns:a16="http://schemas.microsoft.com/office/drawing/2014/main" id="{08331D8F-7018-ED10-938B-8E932EABDA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4325" y="1606550"/>
            <a:ext cx="5602288" cy="4000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7349" name="Text Box 7">
            <a:extLst>
              <a:ext uri="{FF2B5EF4-FFF2-40B4-BE49-F238E27FC236}">
                <a16:creationId xmlns:a16="http://schemas.microsoft.com/office/drawing/2014/main" id="{BE92CB4F-CC31-5AFA-30A0-D082114698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8275" y="4883150"/>
            <a:ext cx="1524000" cy="1006475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2000"/>
              <a:t>Sample </a:t>
            </a:r>
            <a:br>
              <a:rPr lang="en-US" altLang="en-US" sz="2000"/>
            </a:br>
            <a:r>
              <a:rPr lang="en-US" altLang="en-US" sz="2000"/>
              <a:t>screen output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itle 1">
            <a:extLst>
              <a:ext uri="{FF2B5EF4-FFF2-40B4-BE49-F238E27FC236}">
                <a16:creationId xmlns:a16="http://schemas.microsoft.com/office/drawing/2014/main" id="{371A6725-2D38-DE17-C0F7-E60D8B8F3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Programming Example</a:t>
            </a:r>
          </a:p>
        </p:txBody>
      </p:sp>
      <p:sp>
        <p:nvSpPr>
          <p:cNvPr id="58371" name="Content Placeholder 2">
            <a:extLst>
              <a:ext uri="{FF2B5EF4-FFF2-40B4-BE49-F238E27FC236}">
                <a16:creationId xmlns:a16="http://schemas.microsoft.com/office/drawing/2014/main" id="{ED35BFAB-E4C0-DCC7-596C-8122D365CF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Figure 7.8   Arrays for the class </a:t>
            </a:r>
            <a:r>
              <a:rPr lang="en-US" altLang="en-US" sz="2800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TimeBook</a:t>
            </a:r>
          </a:p>
          <a:p>
            <a:pPr eaLnBrk="1" hangingPunct="1"/>
            <a:endParaRPr lang="en-US" altLang="en-US" sz="2800"/>
          </a:p>
        </p:txBody>
      </p:sp>
      <p:pic>
        <p:nvPicPr>
          <p:cNvPr id="58372" name="Picture 5">
            <a:extLst>
              <a:ext uri="{FF2B5EF4-FFF2-40B4-BE49-F238E27FC236}">
                <a16:creationId xmlns:a16="http://schemas.microsoft.com/office/drawing/2014/main" id="{5C93F3A4-7DAE-FC7C-0852-ACF35D2D9B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47"/>
          <a:stretch>
            <a:fillRect/>
          </a:stretch>
        </p:blipFill>
        <p:spPr bwMode="auto">
          <a:xfrm>
            <a:off x="1308100" y="2482850"/>
            <a:ext cx="6764338" cy="3527425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itle 1">
            <a:extLst>
              <a:ext uri="{FF2B5EF4-FFF2-40B4-BE49-F238E27FC236}">
                <a16:creationId xmlns:a16="http://schemas.microsoft.com/office/drawing/2014/main" id="{38A3CB17-617A-3364-00AB-637C68B03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Graphics Supplement: Outline</a:t>
            </a:r>
          </a:p>
        </p:txBody>
      </p:sp>
      <p:sp>
        <p:nvSpPr>
          <p:cNvPr id="59395" name="Content Placeholder 2">
            <a:extLst>
              <a:ext uri="{FF2B5EF4-FFF2-40B4-BE49-F238E27FC236}">
                <a16:creationId xmlns:a16="http://schemas.microsoft.com/office/drawing/2014/main" id="{17A0212E-8D30-3257-2EB2-15B6A7C277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Layout Panes</a:t>
            </a:r>
          </a:p>
          <a:p>
            <a:pPr lvl="1" eaLnBrk="1" hangingPunct="1"/>
            <a:r>
              <a:rPr lang="en-US" altLang="en-US"/>
              <a:t>Vbox</a:t>
            </a:r>
          </a:p>
          <a:p>
            <a:pPr lvl="1" eaLnBrk="1" hangingPunct="1"/>
            <a:r>
              <a:rPr lang="en-US" altLang="en-US"/>
              <a:t>Hbox</a:t>
            </a:r>
          </a:p>
          <a:p>
            <a:pPr lvl="1" eaLnBrk="1" hangingPunct="1"/>
            <a:r>
              <a:rPr lang="en-US" altLang="en-US"/>
              <a:t>StackPane</a:t>
            </a:r>
          </a:p>
          <a:p>
            <a:pPr lvl="1" eaLnBrk="1" hangingPunct="1"/>
            <a:r>
              <a:rPr lang="en-US" altLang="en-US"/>
              <a:t>FlowPane</a:t>
            </a:r>
          </a:p>
          <a:p>
            <a:pPr lvl="1" eaLnBrk="1" hangingPunct="1"/>
            <a:r>
              <a:rPr lang="en-US" altLang="en-US"/>
              <a:t>GridPane</a:t>
            </a:r>
          </a:p>
          <a:p>
            <a:pPr lvl="1" eaLnBrk="1" hangingPunct="1"/>
            <a:r>
              <a:rPr lang="en-US" altLang="en-US"/>
              <a:t>BorderPane</a:t>
            </a:r>
          </a:p>
          <a:p>
            <a:pPr eaLnBrk="1" hangingPunct="1"/>
            <a:r>
              <a:rPr lang="en-US" altLang="en-US"/>
              <a:t>Combining Layouts</a:t>
            </a:r>
          </a:p>
          <a:p>
            <a:pPr eaLnBrk="1" hangingPunct="1"/>
            <a:r>
              <a:rPr lang="en-US" altLang="en-US"/>
              <a:t>The Classes </a:t>
            </a:r>
            <a:r>
              <a:rPr lang="en-US" altLang="en-US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TextArea</a:t>
            </a:r>
            <a:r>
              <a:rPr lang="en-US" altLang="en-US"/>
              <a:t> and </a:t>
            </a:r>
            <a:r>
              <a:rPr lang="en-US" altLang="en-US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TextField</a:t>
            </a:r>
            <a:endParaRPr lang="en-US" altLang="en-US" sz="2800" b="1">
              <a:solidFill>
                <a:srgbClr val="0033CC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/>
            <a:r>
              <a:rPr lang="en-US" altLang="en-US"/>
              <a:t>Drawing Polygons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tle 1">
            <a:extLst>
              <a:ext uri="{FF2B5EF4-FFF2-40B4-BE49-F238E27FC236}">
                <a16:creationId xmlns:a16="http://schemas.microsoft.com/office/drawing/2014/main" id="{3A56115D-1BC9-BEAD-61C8-9A57BFF90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HBox Layout</a:t>
            </a:r>
          </a:p>
        </p:txBody>
      </p:sp>
      <p:sp>
        <p:nvSpPr>
          <p:cNvPr id="60419" name="Content Placeholder 2">
            <a:extLst>
              <a:ext uri="{FF2B5EF4-FFF2-40B4-BE49-F238E27FC236}">
                <a16:creationId xmlns:a16="http://schemas.microsoft.com/office/drawing/2014/main" id="{9843EDEC-B8A4-9A11-48DB-3D112FBAE6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Layout panes control how components are laid out and displayed in a JavaFX application</a:t>
            </a:r>
          </a:p>
          <a:p>
            <a:r>
              <a:rPr lang="en-US" altLang="en-US"/>
              <a:t>We’ve already seen VBox, which arranges components vertically</a:t>
            </a:r>
          </a:p>
          <a:p>
            <a:r>
              <a:rPr lang="en-US" altLang="en-US"/>
              <a:t>The HBox layout arranges components horizontally</a:t>
            </a:r>
          </a:p>
          <a:p>
            <a:pPr eaLnBrk="1" hangingPunct="1"/>
            <a:r>
              <a:rPr lang="en-US" altLang="en-US"/>
              <a:t>View </a:t>
            </a:r>
            <a:r>
              <a:rPr lang="en-US" altLang="en-US">
                <a:hlinkClick r:id="rId2" action="ppaction://hlinkfile"/>
              </a:rPr>
              <a:t>sample code</a:t>
            </a:r>
            <a:r>
              <a:rPr lang="en-US" altLang="en-US"/>
              <a:t>, listing 7.15, class HBoxDemo</a:t>
            </a:r>
          </a:p>
        </p:txBody>
      </p:sp>
      <p:pic>
        <p:nvPicPr>
          <p:cNvPr id="60420" name="Picture 3">
            <a:extLst>
              <a:ext uri="{FF2B5EF4-FFF2-40B4-BE49-F238E27FC236}">
                <a16:creationId xmlns:a16="http://schemas.microsoft.com/office/drawing/2014/main" id="{4D02F4B6-E9B6-BC43-A841-10B30A361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750" y="3965575"/>
            <a:ext cx="5508625" cy="2087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itle 1">
            <a:extLst>
              <a:ext uri="{FF2B5EF4-FFF2-40B4-BE49-F238E27FC236}">
                <a16:creationId xmlns:a16="http://schemas.microsoft.com/office/drawing/2014/main" id="{5CE2BA04-53CA-9E5D-39AB-FAA1A8915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StackPane Layout</a:t>
            </a:r>
          </a:p>
        </p:txBody>
      </p:sp>
      <p:sp>
        <p:nvSpPr>
          <p:cNvPr id="61443" name="Content Placeholder 2">
            <a:extLst>
              <a:ext uri="{FF2B5EF4-FFF2-40B4-BE49-F238E27FC236}">
                <a16:creationId xmlns:a16="http://schemas.microsoft.com/office/drawing/2014/main" id="{88F04DEB-8B76-B6AC-1AA5-513FCE6189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The StackPane layout stacks components on top of one another</a:t>
            </a:r>
          </a:p>
          <a:p>
            <a:r>
              <a:rPr lang="en-US" altLang="en-US"/>
              <a:t>This provides a way to overlay text onto a shape or image to create a more complex object</a:t>
            </a:r>
          </a:p>
          <a:p>
            <a:pPr eaLnBrk="1" hangingPunct="1"/>
            <a:r>
              <a:rPr lang="en-US" altLang="en-US"/>
              <a:t>View </a:t>
            </a:r>
            <a:r>
              <a:rPr lang="en-US" altLang="en-US">
                <a:hlinkClick r:id="rId2" action="ppaction://hlinkfile"/>
              </a:rPr>
              <a:t>sample code</a:t>
            </a:r>
            <a:r>
              <a:rPr lang="en-US" altLang="en-US"/>
              <a:t>, listing 7.16, class StackPaneDemo</a:t>
            </a:r>
          </a:p>
        </p:txBody>
      </p:sp>
      <p:pic>
        <p:nvPicPr>
          <p:cNvPr id="61444" name="Picture 4">
            <a:extLst>
              <a:ext uri="{FF2B5EF4-FFF2-40B4-BE49-F238E27FC236}">
                <a16:creationId xmlns:a16="http://schemas.microsoft.com/office/drawing/2014/main" id="{1C6D84CC-CB73-5671-87FA-1740C73906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513" y="3784600"/>
            <a:ext cx="5167312" cy="224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45" name="Text Box 7">
            <a:extLst>
              <a:ext uri="{FF2B5EF4-FFF2-40B4-BE49-F238E27FC236}">
                <a16:creationId xmlns:a16="http://schemas.microsoft.com/office/drawing/2014/main" id="{8140A25D-61A2-9677-4EDB-8B137FBAC7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5588" y="4224338"/>
            <a:ext cx="1524000" cy="708025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2000"/>
              <a:t>Overlay c onto an O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Title 1">
            <a:extLst>
              <a:ext uri="{FF2B5EF4-FFF2-40B4-BE49-F238E27FC236}">
                <a16:creationId xmlns:a16="http://schemas.microsoft.com/office/drawing/2014/main" id="{945973A4-0080-04E0-F693-C5769CA9D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FlowPane Layout</a:t>
            </a:r>
          </a:p>
        </p:txBody>
      </p:sp>
      <p:sp>
        <p:nvSpPr>
          <p:cNvPr id="62467" name="Content Placeholder 2">
            <a:extLst>
              <a:ext uri="{FF2B5EF4-FFF2-40B4-BE49-F238E27FC236}">
                <a16:creationId xmlns:a16="http://schemas.microsoft.com/office/drawing/2014/main" id="{4C497423-A0DE-CB83-4E66-11580E005A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188" y="1468438"/>
            <a:ext cx="7886700" cy="4351337"/>
          </a:xfrm>
        </p:spPr>
        <p:txBody>
          <a:bodyPr/>
          <a:lstStyle/>
          <a:p>
            <a:r>
              <a:rPr lang="en-US" altLang="en-US"/>
              <a:t>The FlowPane layout adds components left to right and wraps around to the left when the right side of the screen is reached</a:t>
            </a:r>
          </a:p>
          <a:p>
            <a:r>
              <a:rPr lang="en-US" altLang="en-US"/>
              <a:t>You can control the amount of vertical and horizontal space between elements by using the methods </a:t>
            </a:r>
            <a:r>
              <a:rPr lang="en-US" altLang="en-US" sz="2800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setVgap</a:t>
            </a:r>
            <a:r>
              <a:rPr lang="en-US" altLang="en-US"/>
              <a:t> and </a:t>
            </a:r>
            <a:r>
              <a:rPr lang="en-US" altLang="en-US" sz="2800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setHgap</a:t>
            </a:r>
          </a:p>
          <a:p>
            <a:pPr eaLnBrk="1" hangingPunct="1"/>
            <a:r>
              <a:rPr lang="en-US" altLang="en-US"/>
              <a:t>View </a:t>
            </a:r>
            <a:r>
              <a:rPr lang="en-US" altLang="en-US">
                <a:hlinkClick r:id="rId2" action="ppaction://hlinkfile"/>
              </a:rPr>
              <a:t>sample code</a:t>
            </a:r>
            <a:r>
              <a:rPr lang="en-US" altLang="en-US"/>
              <a:t>, listing 7.17, class FlowPaneDemo</a:t>
            </a:r>
          </a:p>
        </p:txBody>
      </p:sp>
      <p:pic>
        <p:nvPicPr>
          <p:cNvPr id="62468" name="Picture 6">
            <a:extLst>
              <a:ext uri="{FF2B5EF4-FFF2-40B4-BE49-F238E27FC236}">
                <a16:creationId xmlns:a16="http://schemas.microsoft.com/office/drawing/2014/main" id="{E8FE3C26-E2B5-49FB-52C0-5FC054535C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1575" y="3429000"/>
            <a:ext cx="6138863" cy="288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itle 1">
            <a:extLst>
              <a:ext uri="{FF2B5EF4-FFF2-40B4-BE49-F238E27FC236}">
                <a16:creationId xmlns:a16="http://schemas.microsoft.com/office/drawing/2014/main" id="{A1C95F27-2D3B-B50C-E83F-A2AF74B49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err="1"/>
              <a:t>GridPane</a:t>
            </a:r>
            <a:r>
              <a:rPr lang="en-US" altLang="en-US" dirty="0"/>
              <a:t> Layout</a:t>
            </a:r>
          </a:p>
        </p:txBody>
      </p:sp>
      <p:sp>
        <p:nvSpPr>
          <p:cNvPr id="63491" name="Content Placeholder 2">
            <a:extLst>
              <a:ext uri="{FF2B5EF4-FFF2-40B4-BE49-F238E27FC236}">
                <a16:creationId xmlns:a16="http://schemas.microsoft.com/office/drawing/2014/main" id="{29966C4E-7554-BE93-B957-68CA5334B5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24000"/>
            <a:ext cx="7886700" cy="4351338"/>
          </a:xfrm>
        </p:spPr>
        <p:txBody>
          <a:bodyPr/>
          <a:lstStyle/>
          <a:p>
            <a:r>
              <a:rPr lang="en-US" altLang="en-US" dirty="0"/>
              <a:t>The </a:t>
            </a:r>
            <a:r>
              <a:rPr lang="en-US" altLang="en-US" dirty="0" err="1"/>
              <a:t>GridPane</a:t>
            </a:r>
            <a:r>
              <a:rPr lang="en-US" altLang="en-US" dirty="0"/>
              <a:t> layout arranges components into a grid of rows and columns that are accessible like a 2D array</a:t>
            </a:r>
          </a:p>
          <a:p>
            <a:r>
              <a:rPr lang="en-US" altLang="en-US" dirty="0"/>
              <a:t>The upper left cell is at 0,0;</a:t>
            </a:r>
          </a:p>
          <a:p>
            <a:pPr lvl="1"/>
            <a:r>
              <a:rPr lang="en-US" altLang="en-US" dirty="0"/>
              <a:t> “Out there” is at 2,2</a:t>
            </a:r>
          </a:p>
          <a:p>
            <a:pPr lvl="1"/>
            <a:r>
              <a:rPr lang="en-US" altLang="en-US" dirty="0"/>
              <a:t>This is Button 1 is at 1,0</a:t>
            </a:r>
          </a:p>
          <a:p>
            <a:pPr eaLnBrk="1" hangingPunct="1"/>
            <a:r>
              <a:rPr lang="en-US" altLang="en-US" dirty="0"/>
              <a:t>View </a:t>
            </a:r>
            <a:r>
              <a:rPr lang="en-US" altLang="en-US" dirty="0">
                <a:hlinkClick r:id="rId2" action="ppaction://hlinkfile"/>
              </a:rPr>
              <a:t>sample code</a:t>
            </a:r>
            <a:r>
              <a:rPr lang="en-US" altLang="en-US" dirty="0"/>
              <a:t>, listing 7.18, class </a:t>
            </a:r>
            <a:r>
              <a:rPr lang="en-US" altLang="en-US" dirty="0" err="1"/>
              <a:t>GridPaneDemo</a:t>
            </a:r>
            <a:endParaRPr lang="en-US" altLang="en-US" dirty="0"/>
          </a:p>
        </p:txBody>
      </p:sp>
      <p:pic>
        <p:nvPicPr>
          <p:cNvPr id="63492" name="Picture 6">
            <a:extLst>
              <a:ext uri="{FF2B5EF4-FFF2-40B4-BE49-F238E27FC236}">
                <a16:creationId xmlns:a16="http://schemas.microsoft.com/office/drawing/2014/main" id="{DC57846D-266B-8B2C-5FAF-DA305B636F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0688" y="3686175"/>
            <a:ext cx="5605462" cy="2579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Title 1">
            <a:extLst>
              <a:ext uri="{FF2B5EF4-FFF2-40B4-BE49-F238E27FC236}">
                <a16:creationId xmlns:a16="http://schemas.microsoft.com/office/drawing/2014/main" id="{42A00D31-10BF-C303-8A89-DF390A038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BorderPane Layout</a:t>
            </a:r>
          </a:p>
        </p:txBody>
      </p:sp>
      <p:sp>
        <p:nvSpPr>
          <p:cNvPr id="64515" name="Content Placeholder 2">
            <a:extLst>
              <a:ext uri="{FF2B5EF4-FFF2-40B4-BE49-F238E27FC236}">
                <a16:creationId xmlns:a16="http://schemas.microsoft.com/office/drawing/2014/main" id="{E737ADAC-2BDC-B7EB-E4F1-BF5963A2E2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24000"/>
            <a:ext cx="7886700" cy="4351338"/>
          </a:xfrm>
        </p:spPr>
        <p:txBody>
          <a:bodyPr/>
          <a:lstStyle/>
          <a:p>
            <a:r>
              <a:rPr lang="en-US" altLang="en-US"/>
              <a:t>The BorderPane layout places items into the five regions shown below. Unused regions take up no space.</a:t>
            </a:r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r>
              <a:rPr lang="en-US" altLang="en-US"/>
              <a:t>View </a:t>
            </a:r>
            <a:r>
              <a:rPr lang="en-US" altLang="en-US">
                <a:hlinkClick r:id="rId2" action="ppaction://hlinkfile"/>
              </a:rPr>
              <a:t>sample code</a:t>
            </a:r>
            <a:r>
              <a:rPr lang="en-US" altLang="en-US"/>
              <a:t>, listing 7.19, class BorderPaneDemo</a:t>
            </a:r>
          </a:p>
        </p:txBody>
      </p:sp>
      <p:pic>
        <p:nvPicPr>
          <p:cNvPr id="64516" name="Picture 4">
            <a:extLst>
              <a:ext uri="{FF2B5EF4-FFF2-40B4-BE49-F238E27FC236}">
                <a16:creationId xmlns:a16="http://schemas.microsoft.com/office/drawing/2014/main" id="{EEC94440-03EB-8327-5B47-4F0C4FCCA4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0013" y="2435225"/>
            <a:ext cx="3681412" cy="2151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Title 1">
            <a:extLst>
              <a:ext uri="{FF2B5EF4-FFF2-40B4-BE49-F238E27FC236}">
                <a16:creationId xmlns:a16="http://schemas.microsoft.com/office/drawing/2014/main" id="{74B1EDDF-E086-F104-EACF-734460C0D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BorderPane Layout</a:t>
            </a:r>
          </a:p>
        </p:txBody>
      </p:sp>
      <p:sp>
        <p:nvSpPr>
          <p:cNvPr id="65539" name="Content Placeholder 2">
            <a:extLst>
              <a:ext uri="{FF2B5EF4-FFF2-40B4-BE49-F238E27FC236}">
                <a16:creationId xmlns:a16="http://schemas.microsoft.com/office/drawing/2014/main" id="{499728B3-49C1-8A20-57B7-0B0C074BAC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24000"/>
            <a:ext cx="7886700" cy="4351338"/>
          </a:xfrm>
        </p:spPr>
        <p:txBody>
          <a:bodyPr/>
          <a:lstStyle/>
          <a:p>
            <a:r>
              <a:rPr lang="en-US" altLang="en-US"/>
              <a:t>BorderPaneDemo Output</a:t>
            </a:r>
          </a:p>
        </p:txBody>
      </p:sp>
      <p:pic>
        <p:nvPicPr>
          <p:cNvPr id="65540" name="Picture 5">
            <a:extLst>
              <a:ext uri="{FF2B5EF4-FFF2-40B4-BE49-F238E27FC236}">
                <a16:creationId xmlns:a16="http://schemas.microsoft.com/office/drawing/2014/main" id="{27461D2B-DE14-B0F9-C0D4-B6A1621592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0475" y="2230438"/>
            <a:ext cx="7237413" cy="3328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tle 1">
            <a:extLst>
              <a:ext uri="{FF2B5EF4-FFF2-40B4-BE49-F238E27FC236}">
                <a16:creationId xmlns:a16="http://schemas.microsoft.com/office/drawing/2014/main" id="{E3B4B631-9C54-F8C4-CB7F-9B629A58F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Text Areas, Text Fields</a:t>
            </a:r>
          </a:p>
        </p:txBody>
      </p:sp>
      <p:sp>
        <p:nvSpPr>
          <p:cNvPr id="66563" name="Content Placeholder 2">
            <a:extLst>
              <a:ext uri="{FF2B5EF4-FFF2-40B4-BE49-F238E27FC236}">
                <a16:creationId xmlns:a16="http://schemas.microsoft.com/office/drawing/2014/main" id="{2D27A75C-58EC-F78C-AE97-447EEA2298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Text area is object of class </a:t>
            </a:r>
            <a:r>
              <a:rPr lang="en-US" altLang="en-US" sz="2800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TextArea</a:t>
            </a:r>
          </a:p>
          <a:p>
            <a:pPr lvl="1" eaLnBrk="1" hangingPunct="1"/>
            <a:r>
              <a:rPr lang="en-US" altLang="en-US"/>
              <a:t>Displayed as a place for user to enter multiple lines of text</a:t>
            </a:r>
          </a:p>
          <a:p>
            <a:pPr eaLnBrk="1" hangingPunct="1"/>
            <a:r>
              <a:rPr lang="en-US" altLang="en-US"/>
              <a:t>Text area is object of class </a:t>
            </a:r>
            <a:r>
              <a:rPr lang="en-US" altLang="en-US" sz="2800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TextField</a:t>
            </a:r>
          </a:p>
          <a:p>
            <a:pPr lvl="1" eaLnBrk="1" hangingPunct="1"/>
            <a:r>
              <a:rPr lang="en-US" altLang="en-US"/>
              <a:t>Displayed as a place for user to enter a single line of text</a:t>
            </a:r>
          </a:p>
          <a:p>
            <a:pPr eaLnBrk="1" hangingPunct="1"/>
            <a:r>
              <a:rPr lang="en-US" altLang="en-US"/>
              <a:t>Can place into layouts</a:t>
            </a:r>
          </a:p>
          <a:p>
            <a:pPr eaLnBrk="1" hangingPunct="1"/>
            <a:r>
              <a:rPr lang="en-US" altLang="en-US"/>
              <a:t>View </a:t>
            </a:r>
            <a:r>
              <a:rPr lang="en-US" altLang="en-US">
                <a:hlinkClick r:id="rId2" action="ppaction://hlinkfile"/>
              </a:rPr>
              <a:t>sample code</a:t>
            </a:r>
            <a:r>
              <a:rPr lang="en-US" altLang="en-US"/>
              <a:t>, listing 7.20, class TextControlDemo</a:t>
            </a:r>
          </a:p>
          <a:p>
            <a:pPr eaLnBrk="1" hangingPunct="1"/>
            <a:endParaRPr lang="en-US" altLang="en-US"/>
          </a:p>
        </p:txBody>
      </p:sp>
      <p:pic>
        <p:nvPicPr>
          <p:cNvPr id="66564" name="Picture 5">
            <a:extLst>
              <a:ext uri="{FF2B5EF4-FFF2-40B4-BE49-F238E27FC236}">
                <a16:creationId xmlns:a16="http://schemas.microsoft.com/office/drawing/2014/main" id="{5701FDEF-DF48-30F1-ABCC-AD7DBB976D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5338" y="4251325"/>
            <a:ext cx="5332412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itle 1">
            <a:extLst>
              <a:ext uri="{FF2B5EF4-FFF2-40B4-BE49-F238E27FC236}">
                <a16:creationId xmlns:a16="http://schemas.microsoft.com/office/drawing/2014/main" id="{B0A38754-21CF-CB42-4FA8-43B875C8C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Combining Layout</a:t>
            </a:r>
          </a:p>
        </p:txBody>
      </p:sp>
      <p:sp>
        <p:nvSpPr>
          <p:cNvPr id="67587" name="Content Placeholder 2">
            <a:extLst>
              <a:ext uri="{FF2B5EF4-FFF2-40B4-BE49-F238E27FC236}">
                <a16:creationId xmlns:a16="http://schemas.microsoft.com/office/drawing/2014/main" id="{D832EA62-2E8E-5036-6381-D9E6B3779D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24000"/>
            <a:ext cx="7886700" cy="4351338"/>
          </a:xfrm>
        </p:spPr>
        <p:txBody>
          <a:bodyPr/>
          <a:lstStyle/>
          <a:p>
            <a:r>
              <a:rPr lang="en-US" altLang="en-US"/>
              <a:t>Layouts can be added as a component inside another layout, giving you the flexibility to create sophisticated interfaces</a:t>
            </a:r>
          </a:p>
          <a:p>
            <a:pPr eaLnBrk="1" hangingPunct="1"/>
            <a:r>
              <a:rPr lang="en-US" altLang="en-US"/>
              <a:t>View </a:t>
            </a:r>
            <a:r>
              <a:rPr lang="en-US" altLang="en-US">
                <a:hlinkClick r:id="rId2" action="ppaction://hlinkfile"/>
              </a:rPr>
              <a:t>sample code</a:t>
            </a:r>
            <a:r>
              <a:rPr lang="en-US" altLang="en-US"/>
              <a:t>, listing 7.21, class CombinedLayoutDemo, which embeds an HBox and FlowPane into a BorderPane</a:t>
            </a:r>
          </a:p>
        </p:txBody>
      </p:sp>
      <p:pic>
        <p:nvPicPr>
          <p:cNvPr id="67588" name="Picture 4">
            <a:extLst>
              <a:ext uri="{FF2B5EF4-FFF2-40B4-BE49-F238E27FC236}">
                <a16:creationId xmlns:a16="http://schemas.microsoft.com/office/drawing/2014/main" id="{D4D07473-D8EE-3A9B-B985-5F37EC6F1F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4850" y="2849563"/>
            <a:ext cx="5605463" cy="348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Title 1">
            <a:extLst>
              <a:ext uri="{FF2B5EF4-FFF2-40B4-BE49-F238E27FC236}">
                <a16:creationId xmlns:a16="http://schemas.microsoft.com/office/drawing/2014/main" id="{77B36CF7-96DD-E110-8F18-7CF51BB97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Drawing Polygons</a:t>
            </a:r>
          </a:p>
        </p:txBody>
      </p:sp>
      <p:sp>
        <p:nvSpPr>
          <p:cNvPr id="68611" name="Content Placeholder 2">
            <a:extLst>
              <a:ext uri="{FF2B5EF4-FFF2-40B4-BE49-F238E27FC236}">
                <a16:creationId xmlns:a16="http://schemas.microsoft.com/office/drawing/2014/main" id="{156B96A4-0BA3-01D9-1B86-40BD1A7C16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750" y="1497013"/>
            <a:ext cx="8229600" cy="4525962"/>
          </a:xfrm>
        </p:spPr>
        <p:txBody>
          <a:bodyPr/>
          <a:lstStyle/>
          <a:p>
            <a:pPr eaLnBrk="1" hangingPunct="1"/>
            <a:r>
              <a:rPr lang="en-US" altLang="en-US"/>
              <a:t>Class GraphicsContext has method </a:t>
            </a:r>
            <a:r>
              <a:rPr lang="en-US" altLang="en-US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strokeRect</a:t>
            </a:r>
            <a:endParaRPr lang="en-US" altLang="en-US" sz="2800" b="1">
              <a:solidFill>
                <a:srgbClr val="0033CC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 eaLnBrk="1" hangingPunct="1"/>
            <a:r>
              <a:rPr lang="en-US" altLang="en-US"/>
              <a:t>But only 4 sides and only 90 degree corners</a:t>
            </a:r>
          </a:p>
          <a:p>
            <a:pPr eaLnBrk="1" hangingPunct="1"/>
            <a:r>
              <a:rPr lang="en-US" altLang="en-US"/>
              <a:t>Method </a:t>
            </a:r>
            <a:r>
              <a:rPr lang="en-US" altLang="en-US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strokePolygon</a:t>
            </a:r>
            <a:r>
              <a:rPr lang="en-US" altLang="en-US"/>
              <a:t> can draw polygon of any number of sides</a:t>
            </a:r>
          </a:p>
          <a:p>
            <a:pPr lvl="1" eaLnBrk="1" hangingPunct="1"/>
            <a:r>
              <a:rPr lang="en-US" altLang="en-US"/>
              <a:t>Three arguments</a:t>
            </a:r>
          </a:p>
          <a:p>
            <a:pPr lvl="2" eaLnBrk="1" hangingPunct="1"/>
            <a:r>
              <a:rPr lang="en-US" altLang="en-US"/>
              <a:t>Array of </a:t>
            </a:r>
            <a:r>
              <a:rPr lang="en-US" altLang="en-US" sz="2800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altLang="en-US"/>
              <a:t> for x values of coordinates</a:t>
            </a:r>
          </a:p>
          <a:p>
            <a:pPr lvl="2" eaLnBrk="1" hangingPunct="1"/>
            <a:r>
              <a:rPr lang="en-US" altLang="en-US"/>
              <a:t>Array of </a:t>
            </a:r>
            <a:r>
              <a:rPr lang="en-US" altLang="en-US" sz="2800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altLang="en-US"/>
              <a:t> for y values of coordinates</a:t>
            </a:r>
          </a:p>
          <a:p>
            <a:pPr lvl="2" eaLnBrk="1" hangingPunct="1"/>
            <a:r>
              <a:rPr lang="en-US" altLang="en-US"/>
              <a:t>Number of points (vertices)</a:t>
            </a:r>
          </a:p>
          <a:p>
            <a:pPr eaLnBrk="1" hangingPunct="1"/>
            <a:r>
              <a:rPr lang="en-US" altLang="en-US"/>
              <a:t>A </a:t>
            </a:r>
            <a:r>
              <a:rPr lang="en-US" altLang="en-US" i="1"/>
              <a:t>polyline</a:t>
            </a:r>
            <a:r>
              <a:rPr lang="en-US" altLang="en-US"/>
              <a:t> like a polygon, not closed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Title 1">
            <a:extLst>
              <a:ext uri="{FF2B5EF4-FFF2-40B4-BE49-F238E27FC236}">
                <a16:creationId xmlns:a16="http://schemas.microsoft.com/office/drawing/2014/main" id="{161AD47D-8218-4505-1940-7CEF6B232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Drawing Polygons</a:t>
            </a:r>
          </a:p>
        </p:txBody>
      </p:sp>
      <p:sp>
        <p:nvSpPr>
          <p:cNvPr id="69635" name="Content Placeholder 2">
            <a:extLst>
              <a:ext uri="{FF2B5EF4-FFF2-40B4-BE49-F238E27FC236}">
                <a16:creationId xmlns:a16="http://schemas.microsoft.com/office/drawing/2014/main" id="{28344BC1-4EBB-58BE-EE9A-1311E90675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139950"/>
            <a:ext cx="8229600" cy="3986213"/>
          </a:xfrm>
        </p:spPr>
        <p:txBody>
          <a:bodyPr/>
          <a:lstStyle/>
          <a:p>
            <a:pPr eaLnBrk="1" hangingPunct="1"/>
            <a:r>
              <a:rPr lang="en-US" altLang="en-US"/>
              <a:t>Figure 7.10 </a:t>
            </a:r>
            <a:br>
              <a:rPr lang="en-US" altLang="en-US"/>
            </a:br>
            <a:r>
              <a:rPr lang="en-US" altLang="en-US"/>
              <a:t>A polygon and </a:t>
            </a:r>
            <a:br>
              <a:rPr lang="en-US" altLang="en-US"/>
            </a:br>
            <a:r>
              <a:rPr lang="en-US" altLang="en-US"/>
              <a:t>a polyline</a:t>
            </a:r>
          </a:p>
        </p:txBody>
      </p:sp>
      <p:pic>
        <p:nvPicPr>
          <p:cNvPr id="69636" name="Picture 6">
            <a:extLst>
              <a:ext uri="{FF2B5EF4-FFF2-40B4-BE49-F238E27FC236}">
                <a16:creationId xmlns:a16="http://schemas.microsoft.com/office/drawing/2014/main" id="{76486FD3-B50D-109C-29E6-2962975236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9063" y="1597025"/>
            <a:ext cx="4543425" cy="4298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58" name="Picture 1">
            <a:extLst>
              <a:ext uri="{FF2B5EF4-FFF2-40B4-BE49-F238E27FC236}">
                <a16:creationId xmlns:a16="http://schemas.microsoft.com/office/drawing/2014/main" id="{0554E549-3575-020B-3C74-763D01EECB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8325" y="3313113"/>
            <a:ext cx="3822700" cy="172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0659" name="Title 1">
            <a:extLst>
              <a:ext uri="{FF2B5EF4-FFF2-40B4-BE49-F238E27FC236}">
                <a16:creationId xmlns:a16="http://schemas.microsoft.com/office/drawing/2014/main" id="{CC776208-26CF-4EE0-7444-E431553DB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Drawing Polygons</a:t>
            </a:r>
          </a:p>
        </p:txBody>
      </p:sp>
      <p:sp>
        <p:nvSpPr>
          <p:cNvPr id="70660" name="Content Placeholder 2">
            <a:extLst>
              <a:ext uri="{FF2B5EF4-FFF2-40B4-BE49-F238E27FC236}">
                <a16:creationId xmlns:a16="http://schemas.microsoft.com/office/drawing/2014/main" id="{B2C6F644-2CAC-73B0-493C-D8F902BDBB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738188"/>
          </a:xfrm>
        </p:spPr>
        <p:txBody>
          <a:bodyPr/>
          <a:lstStyle/>
          <a:p>
            <a:pPr eaLnBrk="1" hangingPunct="1"/>
            <a:r>
              <a:rPr lang="en-US" altLang="en-US"/>
              <a:t>View </a:t>
            </a:r>
            <a:r>
              <a:rPr lang="en-US" altLang="en-US">
                <a:hlinkClick r:id="rId3" action="ppaction://hlinkfile"/>
              </a:rPr>
              <a:t>sample application</a:t>
            </a:r>
            <a:r>
              <a:rPr lang="en-US" altLang="en-US"/>
              <a:t>, listing 7.22</a:t>
            </a:r>
            <a:br>
              <a:rPr lang="en-US" altLang="en-US"/>
            </a:br>
            <a:r>
              <a:rPr lang="en-US" altLang="en-US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PolygonDemo</a:t>
            </a:r>
          </a:p>
        </p:txBody>
      </p:sp>
      <p:sp>
        <p:nvSpPr>
          <p:cNvPr id="70661" name="Text Box 7">
            <a:extLst>
              <a:ext uri="{FF2B5EF4-FFF2-40B4-BE49-F238E27FC236}">
                <a16:creationId xmlns:a16="http://schemas.microsoft.com/office/drawing/2014/main" id="{B71650F2-7BA3-F78A-471E-66104375C9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0038" y="5237163"/>
            <a:ext cx="1524000" cy="1006475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2000"/>
              <a:t>Sample </a:t>
            </a:r>
            <a:br>
              <a:rPr lang="en-US" altLang="en-US" sz="2000"/>
            </a:br>
            <a:r>
              <a:rPr lang="en-US" altLang="en-US" sz="2000"/>
              <a:t>screen output</a:t>
            </a:r>
          </a:p>
        </p:txBody>
      </p:sp>
      <p:sp>
        <p:nvSpPr>
          <p:cNvPr id="70662" name="Text Box 7">
            <a:extLst>
              <a:ext uri="{FF2B5EF4-FFF2-40B4-BE49-F238E27FC236}">
                <a16:creationId xmlns:a16="http://schemas.microsoft.com/office/drawing/2014/main" id="{08B9B51C-9FF0-A389-086F-D4046DDE4F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7713" y="3810000"/>
            <a:ext cx="2619375" cy="40005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2000"/>
              <a:t>Door is a polyline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A8BFFD1-85A5-9E98-9378-2DBA3DBC458C}"/>
              </a:ext>
            </a:extLst>
          </p:cNvPr>
          <p:cNvCxnSpPr>
            <a:stCxn id="70662" idx="3"/>
          </p:cNvCxnSpPr>
          <p:nvPr/>
        </p:nvCxnSpPr>
        <p:spPr>
          <a:xfrm>
            <a:off x="3367088" y="4010025"/>
            <a:ext cx="1450975" cy="27463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664" name="Text Box 7">
            <a:extLst>
              <a:ext uri="{FF2B5EF4-FFF2-40B4-BE49-F238E27FC236}">
                <a16:creationId xmlns:a16="http://schemas.microsoft.com/office/drawing/2014/main" id="{79DF08F6-44DB-5D46-BA7E-D992CAF359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9950" y="2597150"/>
            <a:ext cx="2619375" cy="708025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2000"/>
              <a:t>House is a filled polygon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6A5DDAB-B3C8-87C3-C4FC-AC7A67CB15F0}"/>
              </a:ext>
            </a:extLst>
          </p:cNvPr>
          <p:cNvCxnSpPr/>
          <p:nvPr/>
        </p:nvCxnSpPr>
        <p:spPr>
          <a:xfrm rot="10800000" flipV="1">
            <a:off x="5295900" y="3289300"/>
            <a:ext cx="1295400" cy="55880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666" name="Text Box 7">
            <a:extLst>
              <a:ext uri="{FF2B5EF4-FFF2-40B4-BE49-F238E27FC236}">
                <a16:creationId xmlns:a16="http://schemas.microsoft.com/office/drawing/2014/main" id="{5193A834-AD60-5EFB-2E87-9C0118EB15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9525" y="4289425"/>
            <a:ext cx="2619375" cy="708025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2000"/>
              <a:t>Window is an ordinary polygon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7F03C7C-9CAC-A22B-7674-8CDAE1D63BA7}"/>
              </a:ext>
            </a:extLst>
          </p:cNvPr>
          <p:cNvCxnSpPr>
            <a:stCxn id="70666" idx="1"/>
          </p:cNvCxnSpPr>
          <p:nvPr/>
        </p:nvCxnSpPr>
        <p:spPr>
          <a:xfrm rot="10800000">
            <a:off x="5418138" y="4257675"/>
            <a:ext cx="941387" cy="385763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Title 1">
            <a:extLst>
              <a:ext uri="{FF2B5EF4-FFF2-40B4-BE49-F238E27FC236}">
                <a16:creationId xmlns:a16="http://schemas.microsoft.com/office/drawing/2014/main" id="{444085A2-78AE-105E-18D8-B709E63AA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Summary</a:t>
            </a:r>
          </a:p>
        </p:txBody>
      </p:sp>
      <p:sp>
        <p:nvSpPr>
          <p:cNvPr id="71683" name="Content Placeholder 2">
            <a:extLst>
              <a:ext uri="{FF2B5EF4-FFF2-40B4-BE49-F238E27FC236}">
                <a16:creationId xmlns:a16="http://schemas.microsoft.com/office/drawing/2014/main" id="{3656EF1E-B7BE-438C-A8E2-D47A79937A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An array is a collection of variables all of the same type</a:t>
            </a:r>
          </a:p>
          <a:p>
            <a:pPr eaLnBrk="1" hangingPunct="1"/>
            <a:r>
              <a:rPr lang="en-US" altLang="en-US"/>
              <a:t>Arrays are objects, created with operator new</a:t>
            </a:r>
          </a:p>
          <a:p>
            <a:pPr eaLnBrk="1" hangingPunct="1"/>
            <a:r>
              <a:rPr lang="en-US" altLang="en-US"/>
              <a:t>Elements numbered starting with 0, ending with 1 less than length</a:t>
            </a:r>
          </a:p>
          <a:p>
            <a:pPr eaLnBrk="1" hangingPunct="1"/>
            <a:r>
              <a:rPr lang="en-US" altLang="en-US"/>
              <a:t>Indexed variable can be used as a parameter – treated like variable of base type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Title 1">
            <a:extLst>
              <a:ext uri="{FF2B5EF4-FFF2-40B4-BE49-F238E27FC236}">
                <a16:creationId xmlns:a16="http://schemas.microsoft.com/office/drawing/2014/main" id="{F5F963D8-0ECC-49E0-DDC8-F94BF2DE0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Summary</a:t>
            </a:r>
          </a:p>
        </p:txBody>
      </p:sp>
      <p:sp>
        <p:nvSpPr>
          <p:cNvPr id="72707" name="Content Placeholder 2">
            <a:extLst>
              <a:ext uri="{FF2B5EF4-FFF2-40B4-BE49-F238E27FC236}">
                <a16:creationId xmlns:a16="http://schemas.microsoft.com/office/drawing/2014/main" id="{631F82EB-D3BB-E3B9-D7D4-698D90C435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Entire array can be passed as parameter to a method</a:t>
            </a:r>
          </a:p>
          <a:p>
            <a:pPr eaLnBrk="1" hangingPunct="1"/>
            <a:r>
              <a:rPr lang="en-US" altLang="en-US"/>
              <a:t>Method return value can be an array</a:t>
            </a:r>
          </a:p>
          <a:p>
            <a:pPr eaLnBrk="1" hangingPunct="1"/>
            <a:r>
              <a:rPr lang="en-US" altLang="en-US"/>
              <a:t>Partially filled array usually stores values in initial segment, use an </a:t>
            </a:r>
            <a:r>
              <a:rPr lang="en-US" altLang="en-US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en-US"/>
              <a:t> to track how many are used</a:t>
            </a:r>
          </a:p>
          <a:p>
            <a:pPr eaLnBrk="1" hangingPunct="1"/>
            <a:r>
              <a:rPr lang="en-US" altLang="en-US"/>
              <a:t>Privacy leak caused by returning array corresponding to private instance variable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Title 1">
            <a:extLst>
              <a:ext uri="{FF2B5EF4-FFF2-40B4-BE49-F238E27FC236}">
                <a16:creationId xmlns:a16="http://schemas.microsoft.com/office/drawing/2014/main" id="{C649C8DB-2A3A-3FD0-19EA-0F5E3ED2D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Summary</a:t>
            </a:r>
            <a:br>
              <a:rPr lang="en-US" altLang="en-US"/>
            </a:br>
            <a:endParaRPr lang="en-US" altLang="en-US"/>
          </a:p>
        </p:txBody>
      </p:sp>
      <p:sp>
        <p:nvSpPr>
          <p:cNvPr id="73731" name="Content Placeholder 2">
            <a:extLst>
              <a:ext uri="{FF2B5EF4-FFF2-40B4-BE49-F238E27FC236}">
                <a16:creationId xmlns:a16="http://schemas.microsoft.com/office/drawing/2014/main" id="{4E190187-2590-1D25-9E4C-17AAF8E6DD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250" y="1023938"/>
            <a:ext cx="8229600" cy="5303837"/>
          </a:xfrm>
        </p:spPr>
        <p:txBody>
          <a:bodyPr/>
          <a:lstStyle/>
          <a:p>
            <a:pPr eaLnBrk="1" hangingPunct="1"/>
            <a:r>
              <a:rPr lang="en-US" altLang="en-US"/>
              <a:t>Selection sort orders an array into ascending or descending order</a:t>
            </a:r>
          </a:p>
          <a:p>
            <a:pPr eaLnBrk="1" hangingPunct="1"/>
            <a:r>
              <a:rPr lang="en-US" altLang="en-US"/>
              <a:t>Multidimensional arrays are implemented as an array of arrays</a:t>
            </a:r>
          </a:p>
          <a:p>
            <a:pPr eaLnBrk="1" hangingPunct="1"/>
            <a:r>
              <a:rPr lang="en-US" altLang="en-US"/>
              <a:t>Treat two-dimensional array as a table with rows and columns</a:t>
            </a:r>
          </a:p>
          <a:p>
            <a:pPr eaLnBrk="1" hangingPunct="1"/>
            <a:r>
              <a:rPr lang="en-US" altLang="en-US"/>
              <a:t>JavaFX layouts allow positioning of components within the layout</a:t>
            </a:r>
          </a:p>
          <a:p>
            <a:pPr eaLnBrk="1" hangingPunct="1"/>
            <a:r>
              <a:rPr lang="en-US" altLang="en-US"/>
              <a:t>Text fields, text areas in a JavaFX application provide areas for text input/output</a:t>
            </a:r>
          </a:p>
          <a:p>
            <a:pPr eaLnBrk="1" hangingPunct="1"/>
            <a:r>
              <a:rPr lang="en-US" altLang="en-US"/>
              <a:t>Possible to draw polygons, polylines in a JavaFX application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924</TotalTime>
  <Words>2620</Words>
  <Application>Microsoft Macintosh PowerPoint</Application>
  <PresentationFormat>On-screen Show (4:3)</PresentationFormat>
  <Paragraphs>426</Paragraphs>
  <Slides>77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77</vt:i4>
      </vt:variant>
    </vt:vector>
  </HeadingPairs>
  <TitlesOfParts>
    <vt:vector size="83" baseType="lpstr">
      <vt:lpstr>Arial</vt:lpstr>
      <vt:lpstr>Calibri</vt:lpstr>
      <vt:lpstr>Calibri Light</vt:lpstr>
      <vt:lpstr>Courier New</vt:lpstr>
      <vt:lpstr>Times New Roman</vt:lpstr>
      <vt:lpstr>Office Theme</vt:lpstr>
      <vt:lpstr>Arrays</vt:lpstr>
      <vt:lpstr>Objectives</vt:lpstr>
      <vt:lpstr>Objectives</vt:lpstr>
      <vt:lpstr>Array Basics: Outline</vt:lpstr>
      <vt:lpstr>Array</vt:lpstr>
      <vt:lpstr>Array</vt:lpstr>
      <vt:lpstr>Accessing an element of an array</vt:lpstr>
      <vt:lpstr>Accessing an element of an array</vt:lpstr>
      <vt:lpstr>Declaring and creating arrays</vt:lpstr>
      <vt:lpstr>Declaring and creating arrays</vt:lpstr>
      <vt:lpstr>Declaring and creating arrays</vt:lpstr>
      <vt:lpstr>Creating and Accessing Arrays</vt:lpstr>
      <vt:lpstr>Creating and Accessing Arrays</vt:lpstr>
      <vt:lpstr>Creating and Accessing Arrays</vt:lpstr>
      <vt:lpstr>Array Details</vt:lpstr>
      <vt:lpstr>Square Brackets with Arrays</vt:lpstr>
      <vt:lpstr>Array Details</vt:lpstr>
      <vt:lpstr>The Instance Variable length</vt:lpstr>
      <vt:lpstr>The Instance Variable length</vt:lpstr>
      <vt:lpstr>More About Array Indices</vt:lpstr>
      <vt:lpstr>Initializing Arrays</vt:lpstr>
      <vt:lpstr>Arrays in Classes and Methods: Outline</vt:lpstr>
      <vt:lpstr>Case Study: Sales Report</vt:lpstr>
      <vt:lpstr>Case Study: Sales Report</vt:lpstr>
      <vt:lpstr>Case Study: Sales Report</vt:lpstr>
      <vt:lpstr>Case Study: Sales Report</vt:lpstr>
      <vt:lpstr>Indexed Variables as Method Arguments</vt:lpstr>
      <vt:lpstr>Entire Arrays as Arguments</vt:lpstr>
      <vt:lpstr>Entire Arrays as Arguments</vt:lpstr>
      <vt:lpstr>Arguments for Method main</vt:lpstr>
      <vt:lpstr>Array Assignment and Equality</vt:lpstr>
      <vt:lpstr>Array Assignment and Equality</vt:lpstr>
      <vt:lpstr>Array Assignment and Equality</vt:lpstr>
      <vt:lpstr>Gotcha – Don’t Exceed Array Bounds</vt:lpstr>
      <vt:lpstr>Gotcha – Creating an Array of Objects</vt:lpstr>
      <vt:lpstr>Methods that Return Arrays</vt:lpstr>
      <vt:lpstr>Programming with Arrays and Classes: Outline</vt:lpstr>
      <vt:lpstr>Programming Example</vt:lpstr>
      <vt:lpstr>Programming Example</vt:lpstr>
      <vt:lpstr>Programming Example</vt:lpstr>
      <vt:lpstr>Programming Example</vt:lpstr>
      <vt:lpstr>Partially Filled Arrays</vt:lpstr>
      <vt:lpstr>Partially Filled Arrays</vt:lpstr>
      <vt:lpstr>Sorting, Searching Arrays: Outline</vt:lpstr>
      <vt:lpstr>Selection Sort</vt:lpstr>
      <vt:lpstr>Selection Sort</vt:lpstr>
      <vt:lpstr>Selection Sort</vt:lpstr>
      <vt:lpstr>Selection Sort</vt:lpstr>
      <vt:lpstr>Selection Sort</vt:lpstr>
      <vt:lpstr>Other Sorting Algorithms</vt:lpstr>
      <vt:lpstr>Searching an Array</vt:lpstr>
      <vt:lpstr>Multidimensional Arrays: Outline</vt:lpstr>
      <vt:lpstr>Multidimensional-Array Basics</vt:lpstr>
      <vt:lpstr>Multidimensional-Array Basics</vt:lpstr>
      <vt:lpstr>Multidimensional-Array Basics</vt:lpstr>
      <vt:lpstr>Multidimensional-Array Basics</vt:lpstr>
      <vt:lpstr>Multidimensional-Array Parameters and Returned Values</vt:lpstr>
      <vt:lpstr>Java's Representation of Multidimensional Arrays</vt:lpstr>
      <vt:lpstr>Ragged Arrays</vt:lpstr>
      <vt:lpstr>Programming Example</vt:lpstr>
      <vt:lpstr>Programming Example</vt:lpstr>
      <vt:lpstr>Programming Example</vt:lpstr>
      <vt:lpstr>Graphics Supplement: Outline</vt:lpstr>
      <vt:lpstr>HBox Layout</vt:lpstr>
      <vt:lpstr>StackPane Layout</vt:lpstr>
      <vt:lpstr>FlowPane Layout</vt:lpstr>
      <vt:lpstr>GridPane Layout</vt:lpstr>
      <vt:lpstr>BorderPane Layout</vt:lpstr>
      <vt:lpstr>BorderPane Layout</vt:lpstr>
      <vt:lpstr>Text Areas, Text Fields</vt:lpstr>
      <vt:lpstr>Combining Layout</vt:lpstr>
      <vt:lpstr>Drawing Polygons</vt:lpstr>
      <vt:lpstr>Drawing Polygons</vt:lpstr>
      <vt:lpstr>Drawing Polygons</vt:lpstr>
      <vt:lpstr>Summary</vt:lpstr>
      <vt:lpstr>Summary</vt:lpstr>
      <vt:lpstr>Summary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Arrays</dc:title>
  <dc:creator>Steve Armstrong</dc:creator>
  <cp:lastModifiedBy>Muhammad Asaduzzaman</cp:lastModifiedBy>
  <cp:revision>101</cp:revision>
  <dcterms:created xsi:type="dcterms:W3CDTF">2007-10-08T23:34:15Z</dcterms:created>
  <dcterms:modified xsi:type="dcterms:W3CDTF">2025-06-04T11:59:10Z</dcterms:modified>
</cp:coreProperties>
</file>