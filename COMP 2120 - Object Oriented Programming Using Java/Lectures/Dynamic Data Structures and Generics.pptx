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1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77" r:id="rId6"/>
    <p:sldId id="278" r:id="rId7"/>
    <p:sldId id="303" r:id="rId8"/>
    <p:sldId id="304" r:id="rId9"/>
    <p:sldId id="260" r:id="rId10"/>
    <p:sldId id="261" r:id="rId11"/>
    <p:sldId id="262" r:id="rId12"/>
    <p:sldId id="279" r:id="rId13"/>
    <p:sldId id="280" r:id="rId14"/>
    <p:sldId id="264" r:id="rId15"/>
    <p:sldId id="317" r:id="rId16"/>
    <p:sldId id="305" r:id="rId17"/>
    <p:sldId id="306" r:id="rId18"/>
    <p:sldId id="307" r:id="rId19"/>
    <p:sldId id="265" r:id="rId20"/>
    <p:sldId id="271" r:id="rId21"/>
    <p:sldId id="263" r:id="rId22"/>
    <p:sldId id="266" r:id="rId23"/>
    <p:sldId id="281" r:id="rId24"/>
    <p:sldId id="267" r:id="rId25"/>
    <p:sldId id="282" r:id="rId26"/>
    <p:sldId id="283" r:id="rId27"/>
    <p:sldId id="284" r:id="rId28"/>
    <p:sldId id="285" r:id="rId29"/>
    <p:sldId id="286" r:id="rId30"/>
    <p:sldId id="268" r:id="rId31"/>
    <p:sldId id="287" r:id="rId32"/>
    <p:sldId id="288" r:id="rId33"/>
    <p:sldId id="269" r:id="rId34"/>
    <p:sldId id="289" r:id="rId35"/>
    <p:sldId id="290" r:id="rId36"/>
    <p:sldId id="291" r:id="rId37"/>
    <p:sldId id="292" r:id="rId38"/>
    <p:sldId id="293" r:id="rId39"/>
    <p:sldId id="294" r:id="rId40"/>
    <p:sldId id="270" r:id="rId41"/>
    <p:sldId id="272" r:id="rId42"/>
    <p:sldId id="273" r:id="rId43"/>
    <p:sldId id="295" r:id="rId44"/>
    <p:sldId id="296" r:id="rId45"/>
    <p:sldId id="274" r:id="rId46"/>
    <p:sldId id="297" r:id="rId47"/>
    <p:sldId id="275" r:id="rId48"/>
    <p:sldId id="298" r:id="rId49"/>
    <p:sldId id="299" r:id="rId50"/>
    <p:sldId id="300" r:id="rId51"/>
    <p:sldId id="301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276" r:id="rId62"/>
    <p:sldId id="302" r:id="rId6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1" autoAdjust="0"/>
    <p:restoredTop sz="94640" autoAdjust="0"/>
  </p:normalViewPr>
  <p:slideViewPr>
    <p:cSldViewPr snapToGrid="0">
      <p:cViewPr varScale="1">
        <p:scale>
          <a:sx n="102" d="100"/>
          <a:sy n="102" d="100"/>
        </p:scale>
        <p:origin x="18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B02F52-D233-71E3-6D12-17A3DB1B19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77E53-60A9-EC24-8FE0-54B3D936C3D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7D41251-FAC6-C945-8B54-CB0853DA6F40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5511CC-882D-F46E-668D-E774B408C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3E32316-927E-7A0E-9E82-8915E8F53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F9A00-2CB8-45F9-8426-08AFDEAFDD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8AA92-13B7-DB2B-D6D8-4C09A94FE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1A1B4E0-F6A0-B447-8405-7FAAA59102C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0DC5E016-56B1-81AB-84C7-DCB9F7D09A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175" y="522288"/>
            <a:ext cx="4503738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80779FE2-9427-D1A6-A1A1-C7A101620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338" y="2312988"/>
            <a:ext cx="160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33C4503-999D-C192-3AD4-294334817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DAF3AD-EFD0-D74C-BE60-A055960AB251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6247B8F-6044-E998-74D6-A03B2064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EB5EBE-D996-EE35-7B54-45EF88D5C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21C2A9-2A0E-3F48-9C0C-F54C28F370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1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5AEA7-48B6-C95E-6DD1-ED41EF50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4CA6D-68DF-0F43-9A6C-A62BD8113AC8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1F56D-0E85-7AA5-2B2F-05A93C552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46A94-49CB-F432-06EA-91B79B910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8287A-7186-7741-9E9D-6F91A89C3E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753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379DA-763A-3C78-4F08-F60B144F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F9211-4D43-DA4E-BA65-7FCD50B2B692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DD608-CB2C-E46B-4A5D-D38EC7344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EA717-4423-35CF-1A7A-1496A74D0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74BFE0-F58E-3E4D-BE8B-B60D515FA0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307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2E9E971-358A-C736-4ABB-7F2E17F6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35F733-317B-E94A-9880-5B7CCF37FDBF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3A92C0-092C-1CCC-8CEB-11D4BFC6F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21301D-BD64-2B04-0882-D00166FE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A989BC-43CA-6F4B-94A3-0278BBACD5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737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FAD684C-E36D-735F-AEDC-C2799B38F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59685C-01C7-8643-89CC-EF13F86DF440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A081D7A-BD5D-EE55-7DC9-C4B877AD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D678EF9-89A9-996B-14B8-EDEF2699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B37028-28A2-A749-A2CE-6F9E50C41E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2356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C77D50B-C82A-B48B-7954-989FE1779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0648E-DD30-1449-B47A-1E5F71538A8A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30A23B8-5C18-8A89-F2D4-EC5903CD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3CB2709-523F-8FE5-0510-2DDAD808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9B718D-33D8-CE4F-A5ED-AF35F379E4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410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32B2DEC-9A6D-7252-757D-E08A3CE1B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524EA1-093D-2846-865F-57E93E644307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3BD7D8B-4846-7A17-31CE-A04516F4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0DF17AE-1956-54BC-4DE1-A7EC7F78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956F83-0133-294C-8383-B9887D7CB2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288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85CE314-099D-53D4-849B-BF79292D3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8B184-1AD1-4E46-92DE-8732A957ECC1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4E51B54-3E9E-2690-6A35-98B8E1953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ABFCE8B-AFD4-E568-1C5A-C178AD7A8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5EFE38-C173-994B-B714-528EDE6E52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055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FAE53D6-3276-A75F-2C9E-4996F65B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9A193-80CC-274C-84F4-23C4A3C65A73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9727B3-EA7A-EAF0-D786-556A3028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BE42E4-A3CA-4E34-66CD-788A026E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EF9B4A-10E0-3E42-82E1-44747B23AB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5243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3C580-4F75-3B6F-D321-438990B6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0DE0E7-8124-0A4D-92FE-9F36CEB284BB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F64D7-1EF7-8BCB-7D2E-A24CC6BC0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F522C-EAB0-1D39-EF4E-DA05681F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E786B7-F965-084D-A941-EEFBDD7D4C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054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A18AD-5D25-C895-40CD-24537B32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03C4F-553E-E04D-93A7-107B77CA6C8A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53005-2139-0650-4D40-F01F17B9B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22BE2-CDA1-6240-4B7A-928E7781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0A5D0B-C755-2641-827F-D6BE135092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2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98F8B0A-0B51-FAFF-40BA-97A271C679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0F6F1B0-171B-BE10-7B8D-6878E2C3D7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23E56-7D71-9939-A2BF-606BB5782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7B824DA-5283-EB42-B8BB-21DC05A50638}" type="datetimeFigureOut">
              <a:rPr lang="en-US"/>
              <a:pPr>
                <a:defRPr/>
              </a:pPr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527F5-56DA-4F81-8EDB-13178C303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AA4FB-19FF-21DF-2330-CE0A7BC01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A61D283D-5CAA-2447-8628-2E155A5FD3D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A90597AE-A361-D49E-ED76-5D01424412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5800" y="6400800"/>
            <a:ext cx="822960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900" i="1" dirty="0"/>
              <a:t>JAVA: An Introduction to Problem Solving &amp; Programming, 8</a:t>
            </a:r>
            <a:r>
              <a:rPr lang="en-US" altLang="en-US" sz="900" baseline="30000" dirty="0"/>
              <a:t>th</a:t>
            </a:r>
            <a:r>
              <a:rPr lang="en-US" altLang="en-US" sz="900" dirty="0"/>
              <a:t> Ed. By Walter Savitch</a:t>
            </a:r>
            <a:br>
              <a:rPr lang="en-US" altLang="en-US" sz="900" dirty="0"/>
            </a:br>
            <a:r>
              <a:rPr lang="en-US" altLang="en-US" sz="900" dirty="0"/>
              <a:t>ISBN </a:t>
            </a:r>
            <a:r>
              <a:rPr lang="en-US" sz="900" dirty="0"/>
              <a:t>0134462033 </a:t>
            </a:r>
            <a:r>
              <a:rPr lang="en-US" altLang="en-US" sz="900" dirty="0"/>
              <a:t> © 2018 Pearson Education, Inc., Hoboken, NJ. All Rights Reserved</a:t>
            </a:r>
          </a:p>
          <a:p>
            <a:pPr algn="ctr" eaLnBrk="1" hangingPunct="1">
              <a:spcBef>
                <a:spcPct val="50000"/>
              </a:spcBef>
              <a:defRPr/>
            </a:pPr>
            <a:endParaRPr lang="en-US" sz="900" dirty="0">
              <a:solidFill>
                <a:prstClr val="black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CodeSamples6.htm#Listing 12.1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CodeSamples6.htm#Listing 12.2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CodeSamples6.htm#Listing 12.3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CodeSamples6.htm#Listing 12.4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CodeSamples6.htm#Listing 12.5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CodeSamples6.htm#Listing 12.6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CodeSamples6.htm#Listing 12.7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CodeSamples6.htm#Listing 12.8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CodeSamples6.htm#Listing 12.9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../Local%20Settings/Temp/Temporary%20Directory%207%20for%2089512-86612-savitchC7-12.zip/CodeSamples6.htm#Listing 12.8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CodeSamples6.htm#Listing 12.11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CodeSamples6.htm#Listing 12.12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CodeSamples6.htm#Listing 12.13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://gluonhq.com/labs/scene-builder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CodeSamples6.htm#Listing 12.14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CodeSamples6.htm#Listing 12.14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CodeSamples6.htm#Listing 12.15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4F56584-BF8A-5563-A4CA-53FD01695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992313"/>
            <a:ext cx="6858000" cy="2387600"/>
          </a:xfrm>
        </p:spPr>
        <p:txBody>
          <a:bodyPr/>
          <a:lstStyle/>
          <a:p>
            <a:pPr eaLnBrk="1" hangingPunct="1"/>
            <a:r>
              <a:rPr lang="en-US" altLang="en-US"/>
              <a:t>Dynamic Data Structures and Generics</a:t>
            </a:r>
          </a:p>
        </p:txBody>
      </p:sp>
      <p:sp>
        <p:nvSpPr>
          <p:cNvPr id="4099" name="Subtitle 2">
            <a:extLst>
              <a:ext uri="{FF2B5EF4-FFF2-40B4-BE49-F238E27FC236}">
                <a16:creationId xmlns:a16="http://schemas.microsoft.com/office/drawing/2014/main" id="{2B8E3B67-1DC8-72A4-800B-07FA55C0D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471988"/>
            <a:ext cx="6858000" cy="1655762"/>
          </a:xfrm>
        </p:spPr>
        <p:txBody>
          <a:bodyPr/>
          <a:lstStyle/>
          <a:p>
            <a:pPr eaLnBrk="1" hangingPunct="1"/>
            <a:r>
              <a:rPr lang="en-US" altLang="en-US"/>
              <a:t>Chapter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FE0A89EF-0E0F-810C-B214-294A42100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7437BA74-7958-E527-3CBD-7D10A5656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600200"/>
            <a:ext cx="8288337" cy="4525963"/>
          </a:xfrm>
        </p:spPr>
        <p:txBody>
          <a:bodyPr/>
          <a:lstStyle/>
          <a:p>
            <a:pPr eaLnBrk="1" hangingPunct="1"/>
            <a:r>
              <a:rPr lang="en-US" altLang="en-US" sz="2800"/>
              <a:t>Define and use an instance of </a:t>
            </a: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</a:p>
          <a:p>
            <a:pPr eaLnBrk="1" hangingPunct="1"/>
            <a:r>
              <a:rPr lang="en-US" altLang="en-US" sz="2800"/>
              <a:t>Introduction to the Java Collections Framework</a:t>
            </a:r>
          </a:p>
          <a:p>
            <a:pPr eaLnBrk="1" hangingPunct="1"/>
            <a:r>
              <a:rPr lang="en-US" altLang="en-US" sz="2800"/>
              <a:t>Describe general idea of linked list data structures and implementation</a:t>
            </a:r>
          </a:p>
          <a:p>
            <a:pPr eaLnBrk="1" hangingPunct="1"/>
            <a:r>
              <a:rPr lang="en-US" altLang="en-US" sz="2800"/>
              <a:t>Manipulate linked lists</a:t>
            </a:r>
          </a:p>
          <a:p>
            <a:pPr eaLnBrk="1" hangingPunct="1"/>
            <a:r>
              <a:rPr lang="en-US" altLang="en-US" sz="2800"/>
              <a:t>Use inner classes in defining linked data structures</a:t>
            </a:r>
          </a:p>
          <a:p>
            <a:pPr eaLnBrk="1" hangingPunct="1"/>
            <a:r>
              <a:rPr lang="en-US" altLang="en-US" sz="2800"/>
              <a:t>Describe, create, use iterators</a:t>
            </a:r>
          </a:p>
          <a:p>
            <a:pPr eaLnBrk="1" hangingPunct="1"/>
            <a:r>
              <a:rPr lang="en-US" altLang="en-US" sz="2800"/>
              <a:t>Define, us classes with generic types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E9C8AAF-8F0D-AE96-A09D-B4FD734A7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Array-Based Data Structures: Outline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10DE5337-14A6-F581-D446-D8DBC14DD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Class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</a:p>
          <a:p>
            <a:pPr eaLnBrk="1" hangingPunct="1"/>
            <a:r>
              <a:rPr lang="en-US" altLang="en-US"/>
              <a:t>Creating an Instance of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</a:p>
          <a:p>
            <a:pPr eaLnBrk="1" hangingPunct="1"/>
            <a:r>
              <a:rPr lang="en-US" altLang="en-US"/>
              <a:t>Using Methods of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</a:p>
          <a:p>
            <a:pPr eaLnBrk="1" hangingPunct="1"/>
            <a:r>
              <a:rPr lang="en-US" altLang="en-US"/>
              <a:t>Programming Example: A To-Do List</a:t>
            </a:r>
          </a:p>
          <a:p>
            <a:pPr eaLnBrk="1" hangingPunct="1"/>
            <a:r>
              <a:rPr lang="en-US" altLang="en-US"/>
              <a:t>Parameterized Classes and Generic Data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A90E-024E-5E0D-ACA1-D4A6AE646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Class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ea typeface="+mn-ea"/>
                <a:cs typeface="Courier New" pitchFamily="49" charset="0"/>
              </a:rPr>
              <a:t>ArrayList</a:t>
            </a:r>
            <a:endParaRPr lang="en-US" sz="3200" b="1" dirty="0">
              <a:solidFill>
                <a:srgbClr val="0070C0"/>
              </a:solidFill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A6EC20DC-F5DF-DB21-840E-5489FBD2D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limitations of Java arrays</a:t>
            </a:r>
          </a:p>
          <a:p>
            <a:pPr lvl="1" eaLnBrk="1" hangingPunct="1"/>
            <a:r>
              <a:rPr lang="en-US" altLang="en-US"/>
              <a:t>Array length is not dynamically changeable</a:t>
            </a:r>
          </a:p>
          <a:p>
            <a:pPr lvl="1" eaLnBrk="1" hangingPunct="1"/>
            <a:r>
              <a:rPr lang="en-US" altLang="en-US"/>
              <a:t>Possible to create a new, larger array and copy elements – but this is awkward, contrived</a:t>
            </a:r>
          </a:p>
          <a:p>
            <a:pPr eaLnBrk="1" hangingPunct="1"/>
            <a:r>
              <a:rPr lang="en-US" altLang="en-US"/>
              <a:t>More elegant solution is use instance of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</a:p>
          <a:p>
            <a:pPr lvl="1" eaLnBrk="1" hangingPunct="1"/>
            <a:r>
              <a:rPr lang="en-US" altLang="en-US"/>
              <a:t>Length is changeable at run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6FC4EFD8-04F0-A58C-27EB-8102CB035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endParaRPr lang="en-US" altLang="en-US"/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2691FEA3-CCAF-2D39-936A-A9CEE35D7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Drawbacks of using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</a:p>
          <a:p>
            <a:pPr lvl="1" eaLnBrk="1" hangingPunct="1"/>
            <a:r>
              <a:rPr lang="en-US" altLang="en-US"/>
              <a:t>Less efficient than using an array</a:t>
            </a:r>
          </a:p>
          <a:p>
            <a:pPr lvl="1" eaLnBrk="1" hangingPunct="1"/>
            <a:r>
              <a:rPr lang="en-US" altLang="en-US"/>
              <a:t>Can only store objects</a:t>
            </a:r>
          </a:p>
          <a:p>
            <a:pPr lvl="1" eaLnBrk="1" hangingPunct="1"/>
            <a:r>
              <a:rPr lang="en-US" altLang="en-US"/>
              <a:t>Cannot store primitive types</a:t>
            </a:r>
          </a:p>
          <a:p>
            <a:pPr eaLnBrk="1" hangingPunct="1"/>
            <a:r>
              <a:rPr lang="en-US" altLang="en-US"/>
              <a:t>Implementation</a:t>
            </a:r>
          </a:p>
          <a:p>
            <a:pPr lvl="1" eaLnBrk="1" hangingPunct="1"/>
            <a:r>
              <a:rPr lang="en-US" altLang="en-US"/>
              <a:t>Actually does use arrays</a:t>
            </a:r>
          </a:p>
          <a:p>
            <a:pPr lvl="1" eaLnBrk="1" hangingPunct="1"/>
            <a:r>
              <a:rPr lang="en-US" altLang="en-US"/>
              <a:t>Expands capacity in manner previously suggested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0C5686C4-5153-0000-B5FF-A659921B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endParaRPr lang="en-US" altLang="en-US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FF826D8E-D9BB-71DE-33AE-211C50EF1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ArrayList is an implementation of an </a:t>
            </a:r>
            <a:r>
              <a:rPr lang="en-US" altLang="en-US" b="1"/>
              <a:t>A</a:t>
            </a:r>
            <a:r>
              <a:rPr lang="en-US" altLang="en-US"/>
              <a:t>bstract </a:t>
            </a:r>
            <a:r>
              <a:rPr lang="en-US" altLang="en-US" b="1"/>
              <a:t>D</a:t>
            </a:r>
            <a:r>
              <a:rPr lang="en-US" altLang="en-US"/>
              <a:t>ata </a:t>
            </a:r>
            <a:r>
              <a:rPr lang="en-US" altLang="en-US" b="1"/>
              <a:t>T</a:t>
            </a:r>
            <a:r>
              <a:rPr lang="en-US" altLang="en-US"/>
              <a:t>ype (ADT) called a </a:t>
            </a:r>
            <a:r>
              <a:rPr lang="en-US" altLang="en-US" i="1"/>
              <a:t>list</a:t>
            </a:r>
            <a:endParaRPr lang="en-US" altLang="en-US"/>
          </a:p>
          <a:p>
            <a:pPr eaLnBrk="1" hangingPunct="1"/>
            <a:r>
              <a:rPr lang="en-US" altLang="en-US"/>
              <a:t>Elements can be added</a:t>
            </a:r>
          </a:p>
          <a:p>
            <a:pPr lvl="1" eaLnBrk="1" hangingPunct="1"/>
            <a:r>
              <a:rPr lang="en-US" altLang="en-US"/>
              <a:t>At end</a:t>
            </a:r>
          </a:p>
          <a:p>
            <a:pPr lvl="1" eaLnBrk="1" hangingPunct="1"/>
            <a:r>
              <a:rPr lang="en-US" altLang="en-US"/>
              <a:t>At beginning</a:t>
            </a:r>
          </a:p>
          <a:p>
            <a:pPr lvl="1" eaLnBrk="1" hangingPunct="1"/>
            <a:r>
              <a:rPr lang="en-US" altLang="en-US"/>
              <a:t>In between items</a:t>
            </a:r>
          </a:p>
          <a:p>
            <a:pPr eaLnBrk="1" hangingPunct="1"/>
            <a:r>
              <a:rPr lang="en-US" altLang="en-US"/>
              <a:t>Possible to edit, delete, access, and count entries in the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DE09C0D4-0F87-050B-6B27-200F144F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endParaRPr lang="en-US" altLang="en-US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6018EAA8-029D-D737-B4ED-F702CD83A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82013" cy="4525963"/>
          </a:xfrm>
        </p:spPr>
        <p:txBody>
          <a:bodyPr/>
          <a:lstStyle/>
          <a:p>
            <a:pPr eaLnBrk="1" hangingPunct="1"/>
            <a:r>
              <a:rPr lang="en-US" altLang="en-US"/>
              <a:t>Figure 12.1a Methods of class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</a:p>
        </p:txBody>
      </p:sp>
      <p:pic>
        <p:nvPicPr>
          <p:cNvPr id="63490" name="Picture 2">
            <a:extLst>
              <a:ext uri="{FF2B5EF4-FFF2-40B4-BE49-F238E27FC236}">
                <a16:creationId xmlns:a16="http://schemas.microsoft.com/office/drawing/2014/main" id="{750F53A8-3F0A-8568-DCAF-84BFB53B6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9525" y="2309813"/>
            <a:ext cx="6704013" cy="3817937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A4DC12B-3888-F9C4-DADC-CFD7CEAF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endParaRPr lang="en-US" altLang="en-US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C7612081-92CA-E164-9D30-1F669130F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82013" cy="4525963"/>
          </a:xfrm>
        </p:spPr>
        <p:txBody>
          <a:bodyPr/>
          <a:lstStyle/>
          <a:p>
            <a:pPr eaLnBrk="1" hangingPunct="1"/>
            <a:r>
              <a:rPr lang="en-US" altLang="en-US"/>
              <a:t>Figure 12.1b Methods of class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</a:p>
        </p:txBody>
      </p:sp>
      <p:pic>
        <p:nvPicPr>
          <p:cNvPr id="64514" name="Picture 2">
            <a:extLst>
              <a:ext uri="{FF2B5EF4-FFF2-40B4-BE49-F238E27FC236}">
                <a16:creationId xmlns:a16="http://schemas.microsoft.com/office/drawing/2014/main" id="{D5EE4076-1BBC-1C8E-99DA-49D3D4D0E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4763" y="2197100"/>
            <a:ext cx="6973887" cy="42037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F9260-9396-6053-AB03-79B0C77F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Creating Instance of </a:t>
            </a:r>
            <a:r>
              <a:rPr lang="en-US" sz="4000" b="1" dirty="0" err="1">
                <a:solidFill>
                  <a:srgbClr val="0070C0"/>
                </a:solidFill>
                <a:latin typeface="Courier New" pitchFamily="49" charset="0"/>
                <a:ea typeface="+mn-ea"/>
                <a:cs typeface="Courier New" pitchFamily="49" charset="0"/>
              </a:rPr>
              <a:t>ArrayList</a:t>
            </a:r>
            <a:endParaRPr lang="en-US" sz="4000" b="1" dirty="0">
              <a:solidFill>
                <a:srgbClr val="0070C0"/>
              </a:solidFill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7CC24694-A88C-8802-3301-8E8B92323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Necessary to </a:t>
            </a:r>
            <a:br>
              <a:rPr lang="en-US" altLang="en-US"/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java.util.ArrayList</a:t>
            </a:r>
            <a:r>
              <a:rPr lang="en-US" altLang="en-US"/>
              <a:t>;</a:t>
            </a:r>
          </a:p>
          <a:p>
            <a:pPr eaLnBrk="1" hangingPunct="1"/>
            <a:r>
              <a:rPr lang="en-US" altLang="en-US"/>
              <a:t>Create and name instance</a:t>
            </a:r>
            <a:br>
              <a:rPr lang="en-US" altLang="en-US"/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ArrayList&lt;String&gt; list = </a:t>
            </a:r>
            <a:br>
              <a:rPr lang="en-US" altLang="en-US"/>
            </a:br>
            <a:r>
              <a:rPr lang="en-US" altLang="en-US"/>
              <a:t>   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ArrayList&lt;String&gt;(20);</a:t>
            </a:r>
          </a:p>
          <a:p>
            <a:pPr eaLnBrk="1" hangingPunct="1"/>
            <a:r>
              <a:rPr lang="en-US" altLang="en-US"/>
              <a:t>This list will</a:t>
            </a:r>
          </a:p>
          <a:p>
            <a:pPr lvl="1" eaLnBrk="1" hangingPunct="1"/>
            <a:r>
              <a:rPr lang="en-US" altLang="en-US"/>
              <a:t>Hold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/>
              <a:t> objects</a:t>
            </a:r>
          </a:p>
          <a:p>
            <a:pPr lvl="1" eaLnBrk="1" hangingPunct="1"/>
            <a:r>
              <a:rPr lang="en-US" altLang="en-US"/>
              <a:t>Initially hold up to 20 elements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25A66-98B7-D476-3982-24C4A2EB6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Using Methods of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ea typeface="+mn-ea"/>
                <a:cs typeface="Courier New" pitchFamily="49" charset="0"/>
              </a:rPr>
              <a:t>ArrayList</a:t>
            </a:r>
            <a:endParaRPr lang="en-US" sz="4000" b="1" dirty="0">
              <a:solidFill>
                <a:srgbClr val="0070C0"/>
              </a:solidFill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B0C33E3A-A94D-5F82-B3C6-92681D2E0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 of an ArrayList used like an array</a:t>
            </a:r>
          </a:p>
          <a:p>
            <a:pPr lvl="1" eaLnBrk="1" hangingPunct="1"/>
            <a:r>
              <a:rPr lang="en-US" altLang="en-US"/>
              <a:t>But methods must be used</a:t>
            </a:r>
          </a:p>
          <a:p>
            <a:pPr lvl="1" eaLnBrk="1" hangingPunct="1"/>
            <a:r>
              <a:rPr lang="en-US" altLang="en-US"/>
              <a:t>Not square bracket notation</a:t>
            </a:r>
          </a:p>
          <a:p>
            <a:pPr eaLnBrk="1" hangingPunct="1"/>
            <a:r>
              <a:rPr lang="en-US" altLang="en-US"/>
              <a:t>Given </a:t>
            </a:r>
            <a:br>
              <a:rPr lang="en-US" altLang="en-US"/>
            </a:b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ArrayList&lt;String&gt; aList = </a:t>
            </a:r>
            <a:b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new ArrayList&lt;String&gt;(20);</a:t>
            </a:r>
          </a:p>
          <a:p>
            <a:pPr lvl="1" eaLnBrk="1" hangingPunct="1"/>
            <a:r>
              <a:rPr lang="en-US" altLang="en-US"/>
              <a:t>Assign a value with</a:t>
            </a:r>
            <a:br>
              <a:rPr lang="en-US" altLang="en-US"/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aList.add(index, "Hi Mom");</a:t>
            </a:r>
            <a:b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aList.set(index, "Yo Dad");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FE6430F-214D-3C8D-783C-8DEC23E85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60DB116-01C6-9BDE-A7D8-BF68CF654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To-Do List</a:t>
            </a:r>
          </a:p>
          <a:p>
            <a:pPr lvl="1" eaLnBrk="1" hangingPunct="1"/>
            <a:r>
              <a:rPr lang="en-US" altLang="en-US"/>
              <a:t>Maintains a list of everyday tasks</a:t>
            </a:r>
          </a:p>
          <a:p>
            <a:pPr lvl="1" eaLnBrk="1" hangingPunct="1"/>
            <a:r>
              <a:rPr lang="en-US" altLang="en-US"/>
              <a:t>User enters as many as desired</a:t>
            </a:r>
          </a:p>
          <a:p>
            <a:pPr lvl="1" eaLnBrk="1" hangingPunct="1"/>
            <a:r>
              <a:rPr lang="en-US" altLang="en-US"/>
              <a:t>Program displays the list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source code</a:t>
            </a:r>
            <a:r>
              <a:rPr lang="en-US" altLang="en-US"/>
              <a:t>, listing 12.1</a:t>
            </a:r>
            <a:br>
              <a:rPr lang="en-US" altLang="en-US"/>
            </a:b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ArrayListDemo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7F92E53-8DCA-B060-26A1-240A49D2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id="{55525AC7-5972-FAD2-C643-95A771EA8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1795463"/>
            <a:ext cx="7172325" cy="3790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695A345A-9B70-584A-14BE-21BCEA12E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475" y="3646488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2">
            <a:extLst>
              <a:ext uri="{FF2B5EF4-FFF2-40B4-BE49-F238E27FC236}">
                <a16:creationId xmlns:a16="http://schemas.microsoft.com/office/drawing/2014/main" id="{97B1B23C-09BB-F34C-D307-1393CF9D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16387" name="Content Placeholder 3">
            <a:extLst>
              <a:ext uri="{FF2B5EF4-FFF2-40B4-BE49-F238E27FC236}">
                <a16:creationId xmlns:a16="http://schemas.microsoft.com/office/drawing/2014/main" id="{56F6F281-E7F1-37EB-FFF0-57F982C9F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accessing all elements of an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/>
              <a:t> object</a:t>
            </a:r>
          </a:p>
          <a:p>
            <a:pPr lvl="1" eaLnBrk="1" hangingPunct="1"/>
            <a:r>
              <a:rPr lang="en-US" altLang="en-US"/>
              <a:t>Use a For-Each loop</a:t>
            </a:r>
          </a:p>
          <a:p>
            <a:pPr eaLnBrk="1" hangingPunct="1"/>
            <a:r>
              <a:rPr lang="en-US" altLang="en-US"/>
              <a:t> Use the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trimToSize</a:t>
            </a:r>
            <a:r>
              <a:rPr lang="en-US" altLang="en-US"/>
              <a:t> method to save memory</a:t>
            </a:r>
          </a:p>
          <a:p>
            <a:pPr eaLnBrk="1" hangingPunct="1"/>
            <a:r>
              <a:rPr lang="en-US" altLang="en-US"/>
              <a:t>To copy an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</a:p>
          <a:p>
            <a:pPr lvl="1" eaLnBrk="1" hangingPunct="1"/>
            <a:r>
              <a:rPr lang="en-US" altLang="en-US"/>
              <a:t>Do not use just an assignment statement</a:t>
            </a:r>
          </a:p>
          <a:p>
            <a:pPr lvl="1" eaLnBrk="1" hangingPunct="1"/>
            <a:r>
              <a:rPr lang="en-US" altLang="en-US"/>
              <a:t>Use the </a:t>
            </a:r>
            <a:r>
              <a:rPr lang="en-US" altLang="en-US" sz="32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clone</a:t>
            </a:r>
            <a:r>
              <a:rPr lang="en-US" altLang="en-US"/>
              <a:t> method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A90CC450-E948-305C-562F-E28B95E2E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sz="3200" b="1"/>
              <a:t>Parameterized Classes, Generic Data Types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6176EB22-BD9F-3EF2-3832-9D659645D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</a:t>
            </a: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>
                <a:solidFill>
                  <a:srgbClr val="0070C0"/>
                </a:solidFill>
              </a:rPr>
              <a:t> </a:t>
            </a:r>
            <a:r>
              <a:rPr lang="en-US" altLang="en-US"/>
              <a:t>is a </a:t>
            </a:r>
            <a:r>
              <a:rPr lang="en-US" altLang="en-US" i="1"/>
              <a:t>parameterized class</a:t>
            </a:r>
            <a:endParaRPr lang="en-US" altLang="en-US"/>
          </a:p>
          <a:p>
            <a:pPr lvl="1" eaLnBrk="1" hangingPunct="1"/>
            <a:r>
              <a:rPr lang="en-US" altLang="en-US"/>
              <a:t>It has a parameter which is a </a:t>
            </a:r>
            <a:r>
              <a:rPr lang="en-US" altLang="en-US" u="sng"/>
              <a:t>type</a:t>
            </a:r>
          </a:p>
          <a:p>
            <a:pPr eaLnBrk="1" hangingPunct="1"/>
            <a:r>
              <a:rPr lang="en-US" altLang="en-US"/>
              <a:t>Possible to declare our own classes which use types as parameters</a:t>
            </a:r>
          </a:p>
          <a:p>
            <a:pPr eaLnBrk="1" hangingPunct="1"/>
            <a:r>
              <a:rPr lang="en-US" altLang="en-US"/>
              <a:t>Note earlier versions of Java had a type of </a:t>
            </a: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/>
              <a:t> that was </a:t>
            </a:r>
            <a:r>
              <a:rPr lang="en-US" altLang="en-US" u="sng"/>
              <a:t>not</a:t>
            </a:r>
            <a:r>
              <a:rPr lang="en-US" altLang="en-US"/>
              <a:t> parameterized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6203E266-8327-BF97-6526-7544341B6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03824"/>
            <a:ext cx="7886700" cy="5899622"/>
          </a:xfrm>
        </p:spPr>
      </p:pic>
    </p:spTree>
    <p:extLst>
      <p:ext uri="{BB962C8B-B14F-4D97-AF65-F5344CB8AC3E}">
        <p14:creationId xmlns:p14="http://schemas.microsoft.com/office/powerpoint/2010/main" val="2666283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591C3534-B531-9138-B62F-134BDF1BC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Java Collections Framework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F6BB5C56-5B64-6093-0AB9-1586A5DE4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collection of interfaces and classes that implement useful data structures and algorithms</a:t>
            </a:r>
          </a:p>
          <a:p>
            <a:pPr eaLnBrk="1" hangingPunct="1"/>
            <a:r>
              <a:rPr lang="en-US" altLang="en-US"/>
              <a:t>The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Collection</a:t>
            </a:r>
            <a:r>
              <a:rPr lang="en-US" altLang="en-US"/>
              <a:t> interface specifies how objects can be added, removed, or accessed from a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Collection</a:t>
            </a:r>
            <a:r>
              <a:rPr lang="en-US" altLang="en-US"/>
              <a:t> </a:t>
            </a:r>
          </a:p>
          <a:p>
            <a:pPr eaLnBrk="1" hangingPunct="1"/>
            <a:r>
              <a:rPr lang="en-US" altLang="en-US"/>
              <a:t>Brief introduction to just two implementations,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HashSet</a:t>
            </a:r>
            <a:r>
              <a:rPr lang="en-US" altLang="en-US"/>
              <a:t> and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</a:p>
          <a:p>
            <a:pPr lvl="1" eaLnBrk="1" hangingPunct="1"/>
            <a:r>
              <a:rPr lang="en-US" altLang="en-US">
                <a:cs typeface="Courier New" panose="02070309020205020404" pitchFamily="49" charset="0"/>
              </a:rPr>
              <a:t>See other references for more info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5EF62184-8DE8-559E-B2B6-1BE2ED5C5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HashSet</a:t>
            </a:r>
            <a:r>
              <a:rPr lang="en-US" altLang="en-US">
                <a:solidFill>
                  <a:srgbClr val="0070C0"/>
                </a:solidFill>
              </a:rPr>
              <a:t> </a:t>
            </a:r>
            <a:r>
              <a:rPr lang="en-US" altLang="en-US"/>
              <a:t>Class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2A9AC59E-27B8-2EC4-3ED1-6B6015690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Used to store a set of objects</a:t>
            </a:r>
          </a:p>
          <a:p>
            <a:pPr eaLnBrk="1" hangingPunct="1"/>
            <a:r>
              <a:rPr lang="en-US" altLang="en-US" dirty="0"/>
              <a:t>Uses the same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&lt;&gt;</a:t>
            </a:r>
            <a:r>
              <a:rPr lang="en-US" altLang="en-US" dirty="0"/>
              <a:t> notation as an </a:t>
            </a:r>
            <a:r>
              <a:rPr lang="en-US" alt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 dirty="0"/>
              <a:t> to specify the data type</a:t>
            </a:r>
          </a:p>
          <a:p>
            <a:pPr eaLnBrk="1" hangingPunct="1"/>
            <a:r>
              <a:rPr lang="en-US" altLang="en-US" dirty="0"/>
              <a:t>View </a:t>
            </a:r>
            <a:r>
              <a:rPr lang="en-US" altLang="en-US" dirty="0">
                <a:hlinkClick r:id="rId2" action="ppaction://hlinkfile"/>
              </a:rPr>
              <a:t>source code</a:t>
            </a:r>
            <a:r>
              <a:rPr lang="en-US" altLang="en-US" dirty="0"/>
              <a:t>, listing 12.2</a:t>
            </a:r>
            <a:br>
              <a:rPr lang="en-US" altLang="en-US" dirty="0"/>
            </a:b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HashSetDemo</a:t>
            </a:r>
            <a:endParaRPr lang="en-US" alt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dirty="0"/>
              <a:t>If you use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HashSet</a:t>
            </a:r>
            <a:r>
              <a:rPr lang="en-US" altLang="en-US" dirty="0"/>
              <a:t> of your own class, it must override </a:t>
            </a:r>
            <a:r>
              <a:rPr lang="en-US" alt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hashCode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equals()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E6335C3E-8746-8673-0CEE-CDD36041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altLang="en-US">
                <a:solidFill>
                  <a:srgbClr val="0070C0"/>
                </a:solidFill>
              </a:rPr>
              <a:t> </a:t>
            </a:r>
            <a:r>
              <a:rPr lang="en-US" altLang="en-US"/>
              <a:t>Class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CAE1DA09-63E0-BCA7-1EFB-FC0A5DD88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30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Used like a database to efficiently map from a </a:t>
            </a:r>
            <a:r>
              <a:rPr lang="en-US" altLang="en-US" b="1"/>
              <a:t>key</a:t>
            </a:r>
            <a:r>
              <a:rPr lang="en-US" altLang="en-US"/>
              <a:t> to an </a:t>
            </a:r>
            <a:r>
              <a:rPr lang="en-US" altLang="en-US" b="1"/>
              <a:t>object</a:t>
            </a:r>
          </a:p>
          <a:p>
            <a:pPr eaLnBrk="1" hangingPunct="1"/>
            <a:r>
              <a:rPr lang="en-US" altLang="en-US"/>
              <a:t>Uses the same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&lt;&gt;</a:t>
            </a:r>
            <a:r>
              <a:rPr lang="en-US" altLang="en-US"/>
              <a:t> notation as an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/>
              <a:t> to specify the data type of both the key and object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source code</a:t>
            </a:r>
            <a:r>
              <a:rPr lang="en-US" altLang="en-US"/>
              <a:t>, listing 12.3</a:t>
            </a:r>
            <a:br>
              <a:rPr lang="en-US" altLang="en-US"/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HashMapDemo</a:t>
            </a:r>
          </a:p>
          <a:p>
            <a:pPr lvl="1" eaLnBrk="1" hangingPunct="1"/>
            <a:r>
              <a:rPr lang="en-US" altLang="en-US"/>
              <a:t>If you use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en-US" altLang="en-US"/>
              <a:t> of your own class as key, it must override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hashCode()</a:t>
            </a:r>
            <a:r>
              <a:rPr lang="en-US" altLang="en-US"/>
              <a:t> and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equals()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5C8351F-2D17-7E57-22B1-A541EC0B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Linked Data Structures:Outline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E03F93C8-F72F-25C3-9ED6-62EAF6F9F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7013" y="1844675"/>
            <a:ext cx="6848475" cy="4281488"/>
          </a:xfrm>
        </p:spPr>
        <p:txBody>
          <a:bodyPr/>
          <a:lstStyle/>
          <a:p>
            <a:pPr eaLnBrk="1" hangingPunct="1"/>
            <a:r>
              <a:rPr lang="en-US" altLang="en-US"/>
              <a:t>The Class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</a:p>
          <a:p>
            <a:pPr eaLnBrk="1" hangingPunct="1"/>
            <a:r>
              <a:rPr lang="en-US" altLang="en-US"/>
              <a:t>Linked Lists</a:t>
            </a:r>
          </a:p>
          <a:p>
            <a:pPr eaLnBrk="1" hangingPunct="1"/>
            <a:r>
              <a:rPr lang="en-US" altLang="en-US"/>
              <a:t>Implementing Operations of a Linked List</a:t>
            </a:r>
          </a:p>
          <a:p>
            <a:pPr eaLnBrk="1" hangingPunct="1"/>
            <a:r>
              <a:rPr lang="en-US" altLang="en-US"/>
              <a:t>A Privacy Leak</a:t>
            </a:r>
          </a:p>
          <a:p>
            <a:pPr eaLnBrk="1" hangingPunct="1"/>
            <a:r>
              <a:rPr lang="en-US" altLang="en-US"/>
              <a:t>Inner Classes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76AC227F-2CD1-A44D-8EBC-4ECA37C8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Linked Data Structures:Outline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BA8B4B61-0350-471B-DB9F-F415B4B9D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25" y="1439863"/>
            <a:ext cx="8347075" cy="4686300"/>
          </a:xfrm>
        </p:spPr>
        <p:txBody>
          <a:bodyPr/>
          <a:lstStyle/>
          <a:p>
            <a:pPr eaLnBrk="1" hangingPunct="1"/>
            <a:r>
              <a:rPr lang="en-US" altLang="en-US"/>
              <a:t>Node Inner Classes</a:t>
            </a:r>
          </a:p>
          <a:p>
            <a:pPr eaLnBrk="1" hangingPunct="1"/>
            <a:r>
              <a:rPr lang="en-US" altLang="en-US"/>
              <a:t>Iterators</a:t>
            </a:r>
          </a:p>
          <a:p>
            <a:pPr eaLnBrk="1" hangingPunct="1"/>
            <a:r>
              <a:rPr lang="en-US" altLang="en-US"/>
              <a:t>The Java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Iterator</a:t>
            </a:r>
            <a:r>
              <a:rPr lang="en-US" altLang="en-US"/>
              <a:t> Interface</a:t>
            </a:r>
          </a:p>
          <a:p>
            <a:pPr eaLnBrk="1" hangingPunct="1"/>
            <a:r>
              <a:rPr lang="en-US" altLang="en-US"/>
              <a:t>Exception Handling with Linked Lists</a:t>
            </a:r>
          </a:p>
          <a:p>
            <a:pPr eaLnBrk="1" hangingPunct="1"/>
            <a:r>
              <a:rPr lang="en-US" altLang="en-US"/>
              <a:t>Variations on a Linked List</a:t>
            </a:r>
          </a:p>
          <a:p>
            <a:pPr eaLnBrk="1" hangingPunct="1"/>
            <a:r>
              <a:rPr lang="en-US" altLang="en-US"/>
              <a:t>Other Linked Data Structures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8CB3080C-E805-5111-6072-15628C30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7180E23D-6ED3-7927-391C-4B757E874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13" y="14843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Linked data structure</a:t>
            </a:r>
          </a:p>
          <a:p>
            <a:pPr lvl="1" eaLnBrk="1" hangingPunct="1"/>
            <a:r>
              <a:rPr lang="en-US" altLang="en-US"/>
              <a:t>Collection of objects</a:t>
            </a:r>
          </a:p>
          <a:p>
            <a:pPr lvl="1" eaLnBrk="1" hangingPunct="1"/>
            <a:r>
              <a:rPr lang="en-US" altLang="en-US"/>
              <a:t>Each object contains data and a reference to another object in the collection</a:t>
            </a:r>
          </a:p>
          <a:p>
            <a:pPr eaLnBrk="1" hangingPunct="1"/>
            <a:r>
              <a:rPr lang="en-US" altLang="en-US"/>
              <a:t>Java provides a class to do this, </a:t>
            </a: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endParaRPr lang="en-US" altLang="en-US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/>
              <a:t>More efficient memory use than </a:t>
            </a:r>
            <a:r>
              <a:rPr lang="en-US" altLang="en-US" sz="32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</a:p>
          <a:p>
            <a:pPr eaLnBrk="1" hangingPunct="1"/>
            <a:r>
              <a:rPr lang="en-US" altLang="en-US"/>
              <a:t>We will write our own version to learn the concepts of a linked list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9D859BB-F82B-DB1B-4DD3-72B068196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Linked Lists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5A14C6C8-6084-F8AF-69F8-E2EEFFC51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dynamic data structure</a:t>
            </a:r>
          </a:p>
          <a:p>
            <a:pPr eaLnBrk="1" hangingPunct="1"/>
            <a:r>
              <a:rPr lang="en-US" altLang="en-US"/>
              <a:t>Links items </a:t>
            </a:r>
            <a:br>
              <a:rPr lang="en-US" altLang="en-US"/>
            </a:br>
            <a:r>
              <a:rPr lang="en-US" altLang="en-US"/>
              <a:t>in a list to one </a:t>
            </a:r>
            <a:br>
              <a:rPr lang="en-US" altLang="en-US"/>
            </a:br>
            <a:r>
              <a:rPr lang="en-US" altLang="en-US"/>
              <a:t>another</a:t>
            </a:r>
          </a:p>
          <a:p>
            <a:pPr eaLnBrk="1" hangingPunct="1"/>
            <a:r>
              <a:rPr lang="en-US" altLang="en-US"/>
              <a:t>Figure 12.4, </a:t>
            </a:r>
            <a:br>
              <a:rPr lang="en-US" altLang="en-US"/>
            </a:br>
            <a:r>
              <a:rPr lang="en-US" altLang="en-US"/>
              <a:t>a linked list</a:t>
            </a:r>
          </a:p>
        </p:txBody>
      </p:sp>
      <p:pic>
        <p:nvPicPr>
          <p:cNvPr id="24580" name="Picture 5">
            <a:extLst>
              <a:ext uri="{FF2B5EF4-FFF2-40B4-BE49-F238E27FC236}">
                <a16:creationId xmlns:a16="http://schemas.microsoft.com/office/drawing/2014/main" id="{32400B3B-D289-EABA-EFE2-D91366DB6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2265363"/>
            <a:ext cx="2827338" cy="393223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C46AB934-9310-6209-AD87-09F654AD1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Linked Lists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0270FB8F-AFDE-CC7A-88FB-24A57FDA7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Node of a linked list object requires two instance variables</a:t>
            </a:r>
          </a:p>
          <a:p>
            <a:pPr lvl="1" eaLnBrk="1" hangingPunct="1"/>
            <a:r>
              <a:rPr lang="en-US" altLang="en-US"/>
              <a:t>Data</a:t>
            </a:r>
          </a:p>
          <a:p>
            <a:pPr lvl="1" eaLnBrk="1" hangingPunct="1"/>
            <a:r>
              <a:rPr lang="en-US" altLang="en-US"/>
              <a:t>Link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class</a:t>
            </a:r>
            <a:r>
              <a:rPr lang="en-US" altLang="en-US"/>
              <a:t>, listing 12.4</a:t>
            </a:r>
            <a:br>
              <a:rPr lang="en-US" altLang="en-US"/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ListNode</a:t>
            </a:r>
            <a:endParaRPr lang="en-US" altLang="en-US" sz="28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/>
              <a:t>This example has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/>
              <a:t> data</a:t>
            </a:r>
          </a:p>
          <a:p>
            <a:pPr lvl="1" eaLnBrk="1" hangingPunct="1"/>
            <a:r>
              <a:rPr lang="en-US" altLang="en-US"/>
              <a:t>Note the link, a reference to the type which is the class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5C128A3-DD17-86A5-78D7-AAFC40716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Implementing Operations of Linked Lists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220AAEC2-AA9E-F11C-16FB-D1320CFD5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Now we create a linked list class which uses the node class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class</a:t>
            </a:r>
            <a:r>
              <a:rPr lang="en-US" altLang="en-US"/>
              <a:t>, listing 12.5</a:t>
            </a:r>
            <a:br>
              <a:rPr lang="en-US" altLang="en-US"/>
            </a:br>
            <a:r>
              <a:rPr lang="en-US" altLang="en-US"/>
              <a:t>class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StringLinkedList</a:t>
            </a:r>
          </a:p>
          <a:p>
            <a:pPr eaLnBrk="1" hangingPunct="1"/>
            <a:r>
              <a:rPr lang="en-US" altLang="en-US"/>
              <a:t>Note the single instance variable of type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ListNode</a:t>
            </a:r>
          </a:p>
          <a:p>
            <a:pPr eaLnBrk="1" hangingPunct="1"/>
            <a:r>
              <a:rPr lang="en-US" altLang="en-US"/>
              <a:t>Note method to traverse and print the contents of the list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A5984428-B1A3-2327-AF10-C6E25A69A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Implementing Operations of Linked Lists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CF360739-4B85-29F8-A514-6F3C89C86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7013"/>
            <a:ext cx="8229600" cy="4629150"/>
          </a:xfrm>
        </p:spPr>
        <p:txBody>
          <a:bodyPr/>
          <a:lstStyle/>
          <a:p>
            <a:pPr eaLnBrk="1" hangingPunct="1"/>
            <a:r>
              <a:rPr lang="en-US" altLang="en-US"/>
              <a:t>Figure 12.5 Moving down a linked list</a:t>
            </a:r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3621F667-CCA8-BD3D-F5A5-C90989330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2263775"/>
            <a:ext cx="5359400" cy="3943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487EE8F0-F9E3-2637-0F45-A6266961C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Implementing Operations of Linked Lists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48F1960A-F32E-7D7E-05AE-5F7F45AF4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28838"/>
            <a:ext cx="8229600" cy="3997325"/>
          </a:xfrm>
        </p:spPr>
        <p:txBody>
          <a:bodyPr/>
          <a:lstStyle/>
          <a:p>
            <a:pPr eaLnBrk="1" hangingPunct="1"/>
            <a:r>
              <a:rPr lang="en-US" altLang="en-US"/>
              <a:t>Figure 12.6 </a:t>
            </a:r>
            <a:br>
              <a:rPr lang="en-US" altLang="en-US"/>
            </a:br>
            <a:r>
              <a:rPr lang="en-US" altLang="en-US"/>
              <a:t>Adding a node </a:t>
            </a:r>
            <a:br>
              <a:rPr lang="en-US" altLang="en-US"/>
            </a:br>
            <a:r>
              <a:rPr lang="en-US" altLang="en-US"/>
              <a:t>at the start of </a:t>
            </a:r>
            <a:br>
              <a:rPr lang="en-US" altLang="en-US"/>
            </a:br>
            <a:r>
              <a:rPr lang="en-US" altLang="en-US"/>
              <a:t>a linked list</a:t>
            </a:r>
          </a:p>
        </p:txBody>
      </p:sp>
      <p:pic>
        <p:nvPicPr>
          <p:cNvPr id="28676" name="Picture 5">
            <a:extLst>
              <a:ext uri="{FF2B5EF4-FFF2-40B4-BE49-F238E27FC236}">
                <a16:creationId xmlns:a16="http://schemas.microsoft.com/office/drawing/2014/main" id="{72D3A3CC-B73C-0481-D074-036E7B5C0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888" y="1570038"/>
            <a:ext cx="4741862" cy="46132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04C36F8F-9D2F-1BB8-0224-127220821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Implementing Operations of Linked Lists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C817A5F4-BB77-5919-D6FE-61BE31F29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8763"/>
            <a:ext cx="8229600" cy="4597400"/>
          </a:xfrm>
        </p:spPr>
        <p:txBody>
          <a:bodyPr/>
          <a:lstStyle/>
          <a:p>
            <a:pPr eaLnBrk="1" hangingPunct="1"/>
            <a:r>
              <a:rPr lang="en-US" altLang="en-US"/>
              <a:t>View linked-list </a:t>
            </a:r>
            <a:r>
              <a:rPr lang="en-US" altLang="en-US">
                <a:hlinkClick r:id="rId2" action="ppaction://hlinkfile"/>
              </a:rPr>
              <a:t>demonstration</a:t>
            </a:r>
            <a:r>
              <a:rPr lang="en-US" altLang="en-US"/>
              <a:t>, listing 12.6</a:t>
            </a:r>
            <a:br>
              <a:rPr lang="en-US" altLang="en-US"/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StringLinkedListDemo</a:t>
            </a:r>
          </a:p>
        </p:txBody>
      </p:sp>
      <p:pic>
        <p:nvPicPr>
          <p:cNvPr id="29700" name="Picture 2">
            <a:extLst>
              <a:ext uri="{FF2B5EF4-FFF2-40B4-BE49-F238E27FC236}">
                <a16:creationId xmlns:a16="http://schemas.microsoft.com/office/drawing/2014/main" id="{AE222F97-E360-DE70-DFF6-009B4618E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3081338"/>
            <a:ext cx="3394075" cy="2867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>
            <a:extLst>
              <a:ext uri="{FF2B5EF4-FFF2-40B4-BE49-F238E27FC236}">
                <a16:creationId xmlns:a16="http://schemas.microsoft.com/office/drawing/2014/main" id="{268A52F7-B78F-3F3A-B7E4-9B4B9C0EC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9563" y="3413125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D5E1A69C-2293-8F13-9D76-2AB870FA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Implementing Operations of Linked Lists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ECA76D93-C179-0200-280B-005FA7885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 automatically returns memory used by deleted node to the operating system.</a:t>
            </a:r>
          </a:p>
          <a:p>
            <a:pPr lvl="1" eaLnBrk="1" hangingPunct="1"/>
            <a:r>
              <a:rPr lang="en-US" altLang="en-US"/>
              <a:t>Called automatic </a:t>
            </a:r>
            <a:r>
              <a:rPr lang="en-US" altLang="en-US" i="1"/>
              <a:t>garbage collecting</a:t>
            </a:r>
            <a:endParaRPr lang="en-US" altLang="en-US"/>
          </a:p>
          <a:p>
            <a:pPr eaLnBrk="1" hangingPunct="1"/>
            <a:r>
              <a:rPr lang="en-US" altLang="en-US"/>
              <a:t>In this context, note the significance of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NullPointerException</a:t>
            </a:r>
            <a:r>
              <a:rPr lang="en-US" altLang="en-US"/>
              <a:t> messages</a:t>
            </a:r>
          </a:p>
          <a:p>
            <a:pPr eaLnBrk="1" hangingPunct="1"/>
            <a:r>
              <a:rPr lang="en-US" altLang="en-US"/>
              <a:t>Consider the fact that our program has a reference (name) to only the head node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E316700D-50CE-D5C8-0068-34FE5755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Privacy Leak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A41C3AAA-2FCE-D102-68F8-EE64781C9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results of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getLink</a:t>
            </a:r>
            <a:r>
              <a:rPr lang="en-US" altLang="en-US"/>
              <a:t> in class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ListNode</a:t>
            </a:r>
          </a:p>
          <a:p>
            <a:pPr lvl="1" eaLnBrk="1" hangingPunct="1"/>
            <a:r>
              <a:rPr lang="en-US" altLang="en-US"/>
              <a:t>Returns reference to </a:t>
            </a:r>
            <a:r>
              <a:rPr lang="en-US" altLang="en-US" sz="32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ListNode</a:t>
            </a:r>
          </a:p>
          <a:p>
            <a:pPr lvl="1" eaLnBrk="1" hangingPunct="1"/>
            <a:r>
              <a:rPr lang="en-US" altLang="en-US"/>
              <a:t>This is a reference to an instance variable of a class type … which is supposed to be private</a:t>
            </a:r>
          </a:p>
          <a:p>
            <a:pPr eaLnBrk="1" hangingPunct="1"/>
            <a:r>
              <a:rPr lang="en-US" altLang="en-US"/>
              <a:t>Typical solution is to make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ListNode</a:t>
            </a:r>
            <a:r>
              <a:rPr lang="en-US" altLang="en-US"/>
              <a:t> a private inner class of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StringLinkedList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45A546E7-8178-A0BB-4DBA-9803020D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Inner Classes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F6985975-395A-5F52-7E37-556C95222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Defined within other classes</a:t>
            </a:r>
          </a:p>
          <a:p>
            <a:pPr eaLnBrk="1" hangingPunct="1"/>
            <a:r>
              <a:rPr lang="en-US" altLang="en-US"/>
              <a:t>Example</a:t>
            </a:r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6EE5939E-C2E7-51B5-A42F-35E27182A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38" y="2989263"/>
            <a:ext cx="5381625" cy="264636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C8BA7E91-3DF9-840D-B5BD-B1A6473F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Inner Classes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151A820B-7298-2B41-8716-489F0055B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Inner class definition local to the outer-class definition</a:t>
            </a:r>
          </a:p>
          <a:p>
            <a:pPr lvl="1" eaLnBrk="1" hangingPunct="1"/>
            <a:r>
              <a:rPr lang="en-US" altLang="en-US"/>
              <a:t>Inner-class definition usable anywhere within definition of outer class</a:t>
            </a:r>
          </a:p>
          <a:p>
            <a:pPr eaLnBrk="1" hangingPunct="1"/>
            <a:r>
              <a:rPr lang="en-US" altLang="en-US"/>
              <a:t>Methods of inner and outer classes have access to each other's methods, instance variables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7C3ADA60-F5B9-D0D9-9E43-174E9BD9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Node Inner Classes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B4BBAAB4-F363-CD2F-E249-7F0D838E6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show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ListNode</a:t>
            </a:r>
            <a:r>
              <a:rPr lang="en-US" altLang="en-US"/>
              <a:t> as a private inner class</a:t>
            </a:r>
          </a:p>
          <a:p>
            <a:pPr lvl="1" eaLnBrk="1" hangingPunct="1"/>
            <a:r>
              <a:rPr lang="en-US" altLang="en-US"/>
              <a:t>This is safer design</a:t>
            </a:r>
          </a:p>
          <a:p>
            <a:pPr lvl="1" eaLnBrk="1" hangingPunct="1"/>
            <a:r>
              <a:rPr lang="en-US" altLang="en-US"/>
              <a:t>Hides method getLink from world outside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StringLinkedList</a:t>
            </a:r>
            <a:r>
              <a:rPr lang="en-US" altLang="en-US"/>
              <a:t> definition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new version</a:t>
            </a:r>
            <a:r>
              <a:rPr lang="en-US" altLang="en-US"/>
              <a:t>, listing 12.7</a:t>
            </a:r>
            <a:br>
              <a:rPr lang="en-US" altLang="en-US"/>
            </a:br>
            <a:r>
              <a:rPr lang="en-US" altLang="en-US"/>
              <a:t>class </a:t>
            </a: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StringLinkedListSelfContained</a:t>
            </a:r>
            <a:endParaRPr lang="en-US" altLang="en-US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21F4A270-2F34-F804-04E5-6ACB8845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Iterators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1261808D-C117-AC0B-0191-DEECB03D9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variable that allows you to step through a collection of nodes in a linked list</a:t>
            </a:r>
          </a:p>
          <a:p>
            <a:pPr lvl="1" eaLnBrk="1" hangingPunct="1"/>
            <a:r>
              <a:rPr lang="en-US" altLang="en-US"/>
              <a:t>For arrays, we use an integer</a:t>
            </a:r>
          </a:p>
          <a:p>
            <a:pPr eaLnBrk="1" hangingPunct="1"/>
            <a:r>
              <a:rPr lang="en-US" altLang="en-US"/>
              <a:t>Common to place elements of a linked list into an array</a:t>
            </a:r>
          </a:p>
          <a:p>
            <a:pPr lvl="1" eaLnBrk="1" hangingPunct="1"/>
            <a:r>
              <a:rPr lang="en-US" altLang="en-US"/>
              <a:t>For display purposes, array is easily traversed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method </a:t>
            </a:r>
            <a:r>
              <a:rPr lang="en-US" altLang="en-US"/>
              <a:t>to do this, listing 12.8</a:t>
            </a:r>
            <a:br>
              <a:rPr lang="en-US" altLang="en-US"/>
            </a:b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en-US"/>
              <a:t>  </a:t>
            </a: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toArray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686797AF-FEB6-04A4-76C2-48A3FB372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Iterators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F1AF0365-65DF-5FB3-9F51-8D1A7AE13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an iterator that will move through a linked list</a:t>
            </a:r>
          </a:p>
          <a:p>
            <a:pPr lvl="1" eaLnBrk="1" hangingPunct="1"/>
            <a:r>
              <a:rPr lang="en-US" altLang="en-US"/>
              <a:t>Allow manipulation of the data at the nodes</a:t>
            </a:r>
          </a:p>
          <a:p>
            <a:pPr lvl="1" eaLnBrk="1" hangingPunct="1"/>
            <a:r>
              <a:rPr lang="en-US" altLang="en-US"/>
              <a:t>Allow insertion, deletion of nodes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code</a:t>
            </a:r>
            <a:r>
              <a:rPr lang="en-US" altLang="en-US"/>
              <a:t>, listing 12.9</a:t>
            </a:r>
            <a:br>
              <a:rPr lang="en-US" altLang="en-US"/>
            </a:b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StringLinkedListWithIterator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D028954E-4664-AE76-B4F4-8B95CEB16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Iterators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8174678C-EA85-1D28-743E-6CCF12388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52550"/>
            <a:ext cx="8229600" cy="4792663"/>
          </a:xfrm>
        </p:spPr>
        <p:txBody>
          <a:bodyPr/>
          <a:lstStyle/>
          <a:p>
            <a:pPr eaLnBrk="1" hangingPunct="1"/>
            <a:r>
              <a:rPr lang="en-US" altLang="en-US"/>
              <a:t>Figure 12.7  The effect of </a:t>
            </a: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goToNext</a:t>
            </a:r>
            <a:r>
              <a:rPr lang="en-US" altLang="en-US"/>
              <a:t> on a linked list</a:t>
            </a:r>
          </a:p>
        </p:txBody>
      </p:sp>
      <p:pic>
        <p:nvPicPr>
          <p:cNvPr id="37892" name="Picture 5">
            <a:extLst>
              <a:ext uri="{FF2B5EF4-FFF2-40B4-BE49-F238E27FC236}">
                <a16:creationId xmlns:a16="http://schemas.microsoft.com/office/drawing/2014/main" id="{81B3D51D-737A-C457-28A7-84E65E7EF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013" y="2065338"/>
            <a:ext cx="5111750" cy="41624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A6944E8C-2A35-8EFC-0B68-3FFDD68E0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Iterators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7F4AF5B9-2474-051B-98CF-91079935A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066800"/>
            <a:ext cx="8229600" cy="4792663"/>
          </a:xfrm>
        </p:spPr>
        <p:txBody>
          <a:bodyPr/>
          <a:lstStyle/>
          <a:p>
            <a:pPr eaLnBrk="1" hangingPunct="1"/>
            <a:r>
              <a:rPr lang="en-US" altLang="en-US"/>
              <a:t>Figure 12.8a Adding node to linked list using </a:t>
            </a: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insertAfterIterator</a:t>
            </a:r>
          </a:p>
        </p:txBody>
      </p:sp>
      <p:pic>
        <p:nvPicPr>
          <p:cNvPr id="38916" name="Picture 5">
            <a:extLst>
              <a:ext uri="{FF2B5EF4-FFF2-40B4-BE49-F238E27FC236}">
                <a16:creationId xmlns:a16="http://schemas.microsoft.com/office/drawing/2014/main" id="{8FF01A40-0005-AA65-E77C-0355D9BB3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"/>
          <a:stretch>
            <a:fillRect/>
          </a:stretch>
        </p:blipFill>
        <p:spPr bwMode="auto">
          <a:xfrm>
            <a:off x="1651000" y="2238375"/>
            <a:ext cx="6008688" cy="3943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CB7CADCC-E515-E544-D5CD-6BFFED002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Iterators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BC55F2E9-266F-EEA1-9A22-0E3B3EFF0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066800"/>
            <a:ext cx="8229600" cy="4792663"/>
          </a:xfrm>
        </p:spPr>
        <p:txBody>
          <a:bodyPr/>
          <a:lstStyle/>
          <a:p>
            <a:pPr eaLnBrk="1" hangingPunct="1"/>
            <a:r>
              <a:rPr lang="en-US" altLang="en-US"/>
              <a:t>Figure 12.8b Adding node to linked list using </a:t>
            </a: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insertAfterIterator</a:t>
            </a:r>
          </a:p>
        </p:txBody>
      </p:sp>
      <p:pic>
        <p:nvPicPr>
          <p:cNvPr id="39940" name="Picture 5">
            <a:extLst>
              <a:ext uri="{FF2B5EF4-FFF2-40B4-BE49-F238E27FC236}">
                <a16:creationId xmlns:a16="http://schemas.microsoft.com/office/drawing/2014/main" id="{0573A971-DADC-F81A-80CA-657E37470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50" y="2166938"/>
            <a:ext cx="5657850" cy="407193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31DF04FD-4745-D703-44DD-A9AEA8671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Iterators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C7A06F12-D68D-E932-06A2-352688138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066800"/>
            <a:ext cx="8229600" cy="4792663"/>
          </a:xfrm>
        </p:spPr>
        <p:txBody>
          <a:bodyPr/>
          <a:lstStyle/>
          <a:p>
            <a:pPr eaLnBrk="1" hangingPunct="1"/>
            <a:r>
              <a:rPr lang="en-US" altLang="en-US"/>
              <a:t>Figure 12.9a Deleting a node</a:t>
            </a:r>
            <a:endParaRPr lang="en-US" altLang="en-US" sz="28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0964" name="Group 6">
            <a:extLst>
              <a:ext uri="{FF2B5EF4-FFF2-40B4-BE49-F238E27FC236}">
                <a16:creationId xmlns:a16="http://schemas.microsoft.com/office/drawing/2014/main" id="{B413D1A0-5A8D-5441-DCE9-1B5A28C19B33}"/>
              </a:ext>
            </a:extLst>
          </p:cNvPr>
          <p:cNvGrpSpPr>
            <a:grpSpLocks/>
          </p:cNvGrpSpPr>
          <p:nvPr/>
        </p:nvGrpSpPr>
        <p:grpSpPr bwMode="auto">
          <a:xfrm>
            <a:off x="1320800" y="1787525"/>
            <a:ext cx="6272213" cy="4459288"/>
            <a:chOff x="1321061" y="1787004"/>
            <a:chExt cx="6272141" cy="4459975"/>
          </a:xfrm>
        </p:grpSpPr>
        <p:pic>
          <p:nvPicPr>
            <p:cNvPr id="40965" name="Picture 5">
              <a:extLst>
                <a:ext uri="{FF2B5EF4-FFF2-40B4-BE49-F238E27FC236}">
                  <a16:creationId xmlns:a16="http://schemas.microsoft.com/office/drawing/2014/main" id="{38D11EEE-DF34-76DD-1CE7-D2BDAA7C08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595"/>
            <a:stretch>
              <a:fillRect/>
            </a:stretch>
          </p:blipFill>
          <p:spPr bwMode="auto">
            <a:xfrm>
              <a:off x="1321061" y="1787004"/>
              <a:ext cx="3032090" cy="44583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966" name="Picture 5">
              <a:extLst>
                <a:ext uri="{FF2B5EF4-FFF2-40B4-BE49-F238E27FC236}">
                  <a16:creationId xmlns:a16="http://schemas.microsoft.com/office/drawing/2014/main" id="{AB39137F-E144-F0B3-00CF-161FFB2364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65"/>
            <a:stretch>
              <a:fillRect/>
            </a:stretch>
          </p:blipFill>
          <p:spPr bwMode="auto">
            <a:xfrm>
              <a:off x="4340451" y="1788592"/>
              <a:ext cx="3252751" cy="44583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7F850CDD-C6F4-35B2-20BC-0E120803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Iterators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5A1D803E-DEC5-6867-1F31-284B1D75E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066800"/>
            <a:ext cx="8229600" cy="4792663"/>
          </a:xfrm>
        </p:spPr>
        <p:txBody>
          <a:bodyPr/>
          <a:lstStyle/>
          <a:p>
            <a:pPr eaLnBrk="1" hangingPunct="1"/>
            <a:r>
              <a:rPr lang="en-US" altLang="en-US"/>
              <a:t>Figure 12.9b Deleting a node</a:t>
            </a:r>
            <a:endParaRPr lang="en-US" altLang="en-US" sz="28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1988" name="Picture 5">
            <a:extLst>
              <a:ext uri="{FF2B5EF4-FFF2-40B4-BE49-F238E27FC236}">
                <a16:creationId xmlns:a16="http://schemas.microsoft.com/office/drawing/2014/main" id="{7E962AD3-DFF0-E9DD-E150-B1217687C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763" y="1898650"/>
            <a:ext cx="6505575" cy="41529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A5269855-40B8-5C1F-31FE-D41F31882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Iterator</a:t>
            </a:r>
            <a:r>
              <a:rPr lang="en-US" altLang="en-US"/>
              <a:t> Interface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8CE9BC81-B8C9-654B-FDE0-60FA3FF14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 formally considers an iterator to be an object</a:t>
            </a:r>
          </a:p>
          <a:p>
            <a:pPr eaLnBrk="1" hangingPunct="1"/>
            <a:r>
              <a:rPr lang="en-US" altLang="en-US"/>
              <a:t>Note interface named Iterator with methods</a:t>
            </a:r>
          </a:p>
          <a:p>
            <a:pPr lvl="1" eaLnBrk="1" hangingPunct="1"/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hasNext</a:t>
            </a:r>
            <a:r>
              <a:rPr lang="en-US" altLang="en-US"/>
              <a:t> – returns boolean value</a:t>
            </a:r>
          </a:p>
          <a:p>
            <a:pPr lvl="1" eaLnBrk="1" hangingPunct="1"/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US" altLang="en-US"/>
              <a:t> – returns next element in iteration</a:t>
            </a:r>
          </a:p>
          <a:p>
            <a:pPr lvl="1" eaLnBrk="1" hangingPunct="1"/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altLang="en-US"/>
              <a:t> – removes element most recently returned by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US" altLang="en-US"/>
              <a:t> method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AEC14A01-5F98-3C93-1287-28B30140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Exception Handling with Linked Lists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25A61761-7188-913D-E7A4-23793D69F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Recall class </a:t>
            </a:r>
            <a:r>
              <a:rPr lang="en-US" altLang="en-US" sz="2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StringLinkedListWithIterator</a:t>
            </a:r>
            <a:endParaRPr lang="en-US" altLang="en-US" sz="28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/>
              <a:t>Methods written so that errors caused screen message and program end</a:t>
            </a:r>
          </a:p>
          <a:p>
            <a:pPr eaLnBrk="1" hangingPunct="1"/>
            <a:r>
              <a:rPr lang="en-US" altLang="en-US"/>
              <a:t>More elegant solution is to have them throw exceptions</a:t>
            </a:r>
          </a:p>
          <a:p>
            <a:pPr lvl="1" eaLnBrk="1" hangingPunct="1"/>
            <a:r>
              <a:rPr lang="en-US" altLang="en-US"/>
              <a:t>Programmer decides how to handle</a:t>
            </a:r>
          </a:p>
          <a:p>
            <a:pPr eaLnBrk="1" hangingPunct="1"/>
            <a:r>
              <a:rPr lang="en-US" altLang="en-US"/>
              <a:t>Note </a:t>
            </a:r>
            <a:r>
              <a:rPr lang="en-US" altLang="en-US">
                <a:hlinkClick r:id="rId2" action="ppaction://hlinkfile"/>
              </a:rPr>
              <a:t>class </a:t>
            </a:r>
            <a:r>
              <a:rPr lang="en-US" altLang="en-US"/>
              <a:t>which does this, listing 12.10</a:t>
            </a:r>
            <a:br>
              <a:rPr lang="en-US" altLang="en-US"/>
            </a:br>
            <a:r>
              <a:rPr lang="en-US" altLang="en-US"/>
              <a:t>class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LinkedListException</a:t>
            </a:r>
            <a:endParaRPr lang="en-US" altLang="en-US" sz="24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BC374FD0-9BC4-650F-959F-319609BB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Variations on a Linked List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67A9B1FB-24E0-E4B9-FF41-2D80088E4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Possible to make a linked where data element is of any type</a:t>
            </a:r>
          </a:p>
          <a:p>
            <a:pPr lvl="1" eaLnBrk="1" hangingPunct="1"/>
            <a:r>
              <a:rPr lang="en-US" altLang="en-US"/>
              <a:t>Replace type String in definition of node class with desired data type</a:t>
            </a:r>
          </a:p>
          <a:p>
            <a:pPr eaLnBrk="1" hangingPunct="1"/>
            <a:r>
              <a:rPr lang="en-US" altLang="en-US"/>
              <a:t>Consider keeping a reference to last node in list</a:t>
            </a:r>
          </a:p>
          <a:p>
            <a:pPr lvl="1" eaLnBrk="1" hangingPunct="1"/>
            <a:r>
              <a:rPr lang="en-US" altLang="en-US"/>
              <a:t>Called the </a:t>
            </a:r>
            <a:r>
              <a:rPr lang="en-US" altLang="en-US" i="1"/>
              <a:t>tail</a:t>
            </a:r>
            <a:r>
              <a:rPr lang="en-US" altLang="en-US"/>
              <a:t> of the list</a:t>
            </a:r>
          </a:p>
          <a:p>
            <a:pPr lvl="1" eaLnBrk="1" hangingPunct="1"/>
            <a:r>
              <a:rPr lang="en-US" altLang="en-US"/>
              <a:t>Constructors, methods modified to accommodate new reference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CE67FB88-D2A9-1FA5-CD13-BA3ADC38F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Variations on a Linked List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1CFB9B0C-CA11-064C-9A3E-1895ACFD0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having last link point back to head</a:t>
            </a:r>
          </a:p>
          <a:p>
            <a:pPr lvl="1" eaLnBrk="1" hangingPunct="1"/>
            <a:r>
              <a:rPr lang="en-US" altLang="en-US"/>
              <a:t>Creates a circular linked list</a:t>
            </a:r>
          </a:p>
          <a:p>
            <a:pPr eaLnBrk="1" hangingPunct="1"/>
            <a:r>
              <a:rPr lang="en-US" altLang="en-US"/>
              <a:t>Figure 12.10 Circular linked list</a:t>
            </a:r>
          </a:p>
          <a:p>
            <a:pPr lvl="1" eaLnBrk="1" hangingPunct="1"/>
            <a:endParaRPr lang="en-US" altLang="en-US"/>
          </a:p>
        </p:txBody>
      </p:sp>
      <p:pic>
        <p:nvPicPr>
          <p:cNvPr id="46084" name="Picture 5">
            <a:extLst>
              <a:ext uri="{FF2B5EF4-FFF2-40B4-BE49-F238E27FC236}">
                <a16:creationId xmlns:a16="http://schemas.microsoft.com/office/drawing/2014/main" id="{3488679C-6CC0-3BFA-5E34-82C8CA484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3994150"/>
            <a:ext cx="5314950" cy="19526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D3DB2750-E01D-DD92-E1F3-41EBD8DE8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Variations on a Linked List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2B988442-BD78-A8B4-9A34-2EFC35C6F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Also possible to have backward as well as forward links in the list</a:t>
            </a:r>
          </a:p>
          <a:p>
            <a:pPr lvl="1" eaLnBrk="1" hangingPunct="1"/>
            <a:r>
              <a:rPr lang="en-US" altLang="en-US"/>
              <a:t>Doubly linked list</a:t>
            </a:r>
          </a:p>
          <a:p>
            <a:pPr lvl="1" eaLnBrk="1" hangingPunct="1"/>
            <a:r>
              <a:rPr lang="en-US" altLang="en-US"/>
              <a:t>Possible to traverse in either direction</a:t>
            </a:r>
          </a:p>
          <a:p>
            <a:pPr eaLnBrk="1" hangingPunct="1"/>
            <a:r>
              <a:rPr lang="en-US" altLang="en-US"/>
              <a:t>Figure 12.11  Doubly linked list</a:t>
            </a:r>
          </a:p>
        </p:txBody>
      </p:sp>
      <p:pic>
        <p:nvPicPr>
          <p:cNvPr id="47108" name="Picture 5">
            <a:extLst>
              <a:ext uri="{FF2B5EF4-FFF2-40B4-BE49-F238E27FC236}">
                <a16:creationId xmlns:a16="http://schemas.microsoft.com/office/drawing/2014/main" id="{BA6528A1-0351-A58D-150B-92E2D0F64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4859338"/>
            <a:ext cx="7197725" cy="7000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8347D6A3-51BF-80A7-F07E-4C1DAB697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Other Linked Data Structures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0552CE03-63F7-7223-9804-3BA065A81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</a:t>
            </a:r>
          </a:p>
          <a:p>
            <a:pPr lvl="1" eaLnBrk="1" hangingPunct="1"/>
            <a:r>
              <a:rPr lang="en-US" altLang="en-US"/>
              <a:t>Elements removed from ADT in reverse order of initial insertion</a:t>
            </a:r>
          </a:p>
          <a:p>
            <a:pPr lvl="1" eaLnBrk="1" hangingPunct="1"/>
            <a:r>
              <a:rPr lang="en-US" altLang="en-US"/>
              <a:t>Can be implemented with linked list</a:t>
            </a:r>
          </a:p>
          <a:p>
            <a:pPr eaLnBrk="1" hangingPunct="1"/>
            <a:r>
              <a:rPr lang="en-US" altLang="en-US"/>
              <a:t>Tree</a:t>
            </a:r>
          </a:p>
          <a:p>
            <a:pPr lvl="1" eaLnBrk="1" hangingPunct="1"/>
            <a:r>
              <a:rPr lang="en-US" altLang="en-US"/>
              <a:t>Each node leads to multiple other nodes</a:t>
            </a:r>
          </a:p>
          <a:p>
            <a:pPr lvl="1" eaLnBrk="1" hangingPunct="1"/>
            <a:r>
              <a:rPr lang="en-US" altLang="en-US"/>
              <a:t>Binary tree leads to at most two other nodes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E665B890-ADFA-16E4-E9DA-06C42AD7B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Other Linked Data Structures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DA926110-C6BE-FBA0-CE9F-6B27D551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12.12  Binary tree</a:t>
            </a:r>
          </a:p>
        </p:txBody>
      </p:sp>
      <p:pic>
        <p:nvPicPr>
          <p:cNvPr id="49156" name="Picture 5">
            <a:extLst>
              <a:ext uri="{FF2B5EF4-FFF2-40B4-BE49-F238E27FC236}">
                <a16:creationId xmlns:a16="http://schemas.microsoft.com/office/drawing/2014/main" id="{3DD71E22-FBB8-EE44-05EF-21411CCAC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805113"/>
            <a:ext cx="6600825" cy="2066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4042A72C-BC49-36AD-68AB-1F1EB2FC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Generics: Outline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AA9AA751-50F7-8EDA-33D0-C56146087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013" y="2101850"/>
            <a:ext cx="6935787" cy="4024313"/>
          </a:xfrm>
        </p:spPr>
        <p:txBody>
          <a:bodyPr/>
          <a:lstStyle/>
          <a:p>
            <a:pPr eaLnBrk="1" hangingPunct="1"/>
            <a:r>
              <a:rPr lang="en-US" altLang="en-US"/>
              <a:t>The Basics</a:t>
            </a:r>
          </a:p>
          <a:p>
            <a:pPr eaLnBrk="1" hangingPunct="1"/>
            <a:r>
              <a:rPr lang="en-US" altLang="en-US"/>
              <a:t>Programming Example: A Generic Linked List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F8DAABD7-D45A-B3E1-2B03-39D241E7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Basics of Generics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4DB128EC-A682-0D3F-C7B6-CCEF348CC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Beginning with Java 5.0, class definitions may include parameters for types</a:t>
            </a:r>
          </a:p>
          <a:p>
            <a:pPr lvl="1" eaLnBrk="1" hangingPunct="1"/>
            <a:r>
              <a:rPr lang="en-US" altLang="en-US"/>
              <a:t>Called </a:t>
            </a:r>
            <a:r>
              <a:rPr lang="en-US" altLang="en-US" i="1"/>
              <a:t>generics</a:t>
            </a:r>
            <a:endParaRPr lang="en-US" altLang="en-US"/>
          </a:p>
          <a:p>
            <a:pPr eaLnBrk="1" hangingPunct="1"/>
            <a:r>
              <a:rPr lang="en-US" altLang="en-US"/>
              <a:t>Programmer now can specify any class type for the type parameter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class definition</a:t>
            </a:r>
            <a:r>
              <a:rPr lang="en-US" altLang="en-US"/>
              <a:t>, listing 12.11</a:t>
            </a:r>
            <a:br>
              <a:rPr lang="en-US" altLang="en-US"/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Sample&lt;T&gt;</a:t>
            </a:r>
          </a:p>
          <a:p>
            <a:pPr eaLnBrk="1" hangingPunct="1"/>
            <a:r>
              <a:rPr lang="en-US" altLang="en-US"/>
              <a:t>Note use of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&lt;T&gt; </a:t>
            </a:r>
            <a:r>
              <a:rPr lang="en-US" altLang="en-US"/>
              <a:t>for the type parameter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7D01482A-A296-78BB-E0D6-1E3C4B84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Basics of 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E0E69-D430-755C-B01D-927129F88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6850"/>
            <a:ext cx="8229600" cy="465931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Legal to use parameter T almost anywhere you can use class type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Cannot use type parameter when allocating memory such as  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anArray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= new T[20];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Example declaration</a:t>
            </a:r>
            <a:br>
              <a:rPr lang="en-US" sz="3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3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Sample &lt;String&gt; sample1 = </a:t>
            </a:r>
            <a:br>
              <a:rPr lang="en-US" sz="3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3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new Sample&lt;String&gt;();</a:t>
            </a:r>
          </a:p>
          <a:p>
            <a:pPr marL="342900" lvl="1" indent="-342900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sz="3200" dirty="0"/>
              <a:t>Cannot specify a primitive type for the type parameter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3FE72D1B-1307-CFF0-A10F-6A4517E2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A115E4EB-BB14-45DD-B27E-6B8200A6A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Generic linked list</a:t>
            </a:r>
          </a:p>
          <a:p>
            <a:pPr lvl="1" eaLnBrk="1" hangingPunct="1"/>
            <a:r>
              <a:rPr lang="en-US" altLang="en-US"/>
              <a:t>Revision of listing 12.5</a:t>
            </a:r>
          </a:p>
          <a:p>
            <a:pPr lvl="1" eaLnBrk="1" hangingPunct="1"/>
            <a:r>
              <a:rPr lang="en-US" altLang="en-US"/>
              <a:t>Use type parameter E instead of String </a:t>
            </a:r>
          </a:p>
          <a:p>
            <a:pPr eaLnBrk="1" hangingPunct="1"/>
            <a:r>
              <a:rPr lang="en-US" altLang="en-US"/>
              <a:t>Note similarities and differences of parameterized class with non-paramaterized classes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generic class</a:t>
            </a:r>
            <a:r>
              <a:rPr lang="en-US" altLang="en-US"/>
              <a:t>, listing 12.12</a:t>
            </a:r>
            <a:br>
              <a:rPr lang="en-US" altLang="en-US"/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LinkedList &lt;E&gt;</a:t>
            </a:r>
            <a:endParaRPr lang="en-US" altLang="en-US" sz="36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FB4DD0DA-EDD6-0988-3731-8B70CB34D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86CD8287-4AE0-51E8-9DD0-518C5C28B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demo program</a:t>
            </a:r>
            <a:r>
              <a:rPr lang="en-US" altLang="en-US"/>
              <a:t>, listing 12.13</a:t>
            </a:r>
            <a:br>
              <a:rPr lang="en-US" altLang="en-US"/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LinkedListDemo</a:t>
            </a:r>
          </a:p>
          <a:p>
            <a:pPr eaLnBrk="1" hangingPunct="1"/>
            <a:endParaRPr lang="en-US" altLang="en-US"/>
          </a:p>
        </p:txBody>
      </p:sp>
      <p:pic>
        <p:nvPicPr>
          <p:cNvPr id="54276" name="Picture 2">
            <a:extLst>
              <a:ext uri="{FF2B5EF4-FFF2-40B4-BE49-F238E27FC236}">
                <a16:creationId xmlns:a16="http://schemas.microsoft.com/office/drawing/2014/main" id="{44967C88-A23B-5E1D-3E1D-3305BD0AA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3614738"/>
            <a:ext cx="7694613" cy="141446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3BC64245-4393-5F27-A718-3DD71FFC5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013" y="3260725"/>
            <a:ext cx="1524000" cy="100647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</a:rPr>
              <a:t>Sample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screen output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CBD390EA-C04B-055C-AA20-3DB62E955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Graphics Supplement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8F65C712-9620-3D70-3943-3A9F014F9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6850"/>
            <a:ext cx="8229600" cy="4659313"/>
          </a:xfrm>
        </p:spPr>
        <p:txBody>
          <a:bodyPr/>
          <a:lstStyle/>
          <a:p>
            <a:pPr eaLnBrk="1" hangingPunct="1"/>
            <a:r>
              <a:rPr lang="en-US" altLang="en-US"/>
              <a:t>The Scene Builder can simplify the creation of JavaFX GUI applications by providing a graphical way to arrange the components on a form</a:t>
            </a:r>
          </a:p>
          <a:p>
            <a:pPr eaLnBrk="1" hangingPunct="1"/>
            <a:r>
              <a:rPr lang="en-US" altLang="en-US"/>
              <a:t>Binaries of the Scene Builder available from Gluon Labs</a:t>
            </a:r>
          </a:p>
          <a:p>
            <a:pPr lvl="1" eaLnBrk="1" hangingPunct="1"/>
            <a:r>
              <a:rPr lang="en-US" altLang="en-US">
                <a:hlinkClick r:id="rId2"/>
              </a:rPr>
              <a:t>http://gluonhq.com/labs/scene-builder</a:t>
            </a:r>
            <a:endParaRPr lang="en-US" altLang="en-US"/>
          </a:p>
          <a:p>
            <a:pPr eaLnBrk="1" hangingPunct="1"/>
            <a:r>
              <a:rPr lang="en-US" altLang="en-US"/>
              <a:t>Use in conjunction with an IDE such as NetBeans or Eclipse</a:t>
            </a:r>
          </a:p>
          <a:p>
            <a:pPr lvl="1" eaLnBrk="1" hangingPunct="1"/>
            <a:r>
              <a:rPr lang="en-US" altLang="en-US"/>
              <a:t>Consult your IDE documentation for further information on integration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JavaFX applications split up into three files that separate the layout from the code logic</a:t>
            </a:r>
          </a:p>
          <a:p>
            <a:pPr lvl="1" eaLnBrk="1" hangingPunct="1"/>
            <a:r>
              <a:rPr lang="en-US" altLang="en-US"/>
              <a:t>FXML file – contains information about the presentation and layout of nodes but no code for what happens when events occur</a:t>
            </a:r>
          </a:p>
          <a:p>
            <a:pPr lvl="1" eaLnBrk="1" hangingPunct="1"/>
            <a:r>
              <a:rPr lang="en-US" altLang="en-US"/>
              <a:t>Application file – Java source code that contains the start method and typically loads the FXML file</a:t>
            </a:r>
          </a:p>
          <a:p>
            <a:pPr lvl="1" eaLnBrk="1" hangingPunct="1"/>
            <a:r>
              <a:rPr lang="en-US" altLang="en-US"/>
              <a:t>Controller file – Java source code that implements event handlers that respond to the UI controls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 sz="32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06186ECC-8BE2-A2CF-8F09-758459307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Sample FXML File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A6C9ABC7-C6EE-F60B-EF78-89FE4E4B8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0163"/>
            <a:ext cx="8229600" cy="5154612"/>
          </a:xfrm>
        </p:spPr>
        <p:txBody>
          <a:bodyPr/>
          <a:lstStyle/>
          <a:p>
            <a:pPr eaLnBrk="1" hangingPunct="1"/>
            <a:r>
              <a:rPr lang="en-US" altLang="en-US"/>
              <a:t>Can build the FXML file by hand, similar to HTML.  Example file: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This file is what is built automatically for us by the scene builder!</a:t>
            </a:r>
          </a:p>
          <a:p>
            <a:pPr eaLnBrk="1" hangingPunct="1"/>
            <a:endParaRPr lang="en-US" altLang="en-US" sz="3200"/>
          </a:p>
        </p:txBody>
      </p:sp>
      <p:pic>
        <p:nvPicPr>
          <p:cNvPr id="56324" name="Picture 3">
            <a:extLst>
              <a:ext uri="{FF2B5EF4-FFF2-40B4-BE49-F238E27FC236}">
                <a16:creationId xmlns:a16="http://schemas.microsoft.com/office/drawing/2014/main" id="{D8013975-27C1-9F5C-04F8-9D95519FD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3" y="1698625"/>
            <a:ext cx="5289550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E426DBC2-0E74-AFA3-DDB0-263865F0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Scene Builder UI</a:t>
            </a:r>
          </a:p>
        </p:txBody>
      </p:sp>
      <p:pic>
        <p:nvPicPr>
          <p:cNvPr id="57347" name="Picture 3">
            <a:extLst>
              <a:ext uri="{FF2B5EF4-FFF2-40B4-BE49-F238E27FC236}">
                <a16:creationId xmlns:a16="http://schemas.microsoft.com/office/drawing/2014/main" id="{A948B3AE-75CD-B1F1-7EC2-5B5FC14F7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1436688"/>
            <a:ext cx="695960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TextBox 4">
            <a:extLst>
              <a:ext uri="{FF2B5EF4-FFF2-40B4-BE49-F238E27FC236}">
                <a16:creationId xmlns:a16="http://schemas.microsoft.com/office/drawing/2014/main" id="{9014319D-C341-FB79-623F-03D49E6D0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538" y="5630863"/>
            <a:ext cx="81819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/>
              <a:t>Drag controls from the library to the view in the middle</a:t>
            </a:r>
          </a:p>
          <a:p>
            <a:r>
              <a:rPr lang="en-US" altLang="en-US" sz="1600"/>
              <a:t>The AnchorPane allows us to anchor the sides of a control to edges in the pane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7FB61E03-2E4F-0BB0-2C82-38122323B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Scene Builder UI</a:t>
            </a:r>
          </a:p>
        </p:txBody>
      </p:sp>
      <p:sp>
        <p:nvSpPr>
          <p:cNvPr id="58371" name="TextBox 4">
            <a:extLst>
              <a:ext uri="{FF2B5EF4-FFF2-40B4-BE49-F238E27FC236}">
                <a16:creationId xmlns:a16="http://schemas.microsoft.com/office/drawing/2014/main" id="{3A2528C3-995D-2880-383F-658584D24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3588" y="1616075"/>
            <a:ext cx="34147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/>
              <a:t>Anchoring a Button to the left and right sides of the pane using Scene Builder 2.0</a:t>
            </a:r>
          </a:p>
        </p:txBody>
      </p:sp>
      <p:pic>
        <p:nvPicPr>
          <p:cNvPr id="58372" name="Picture 5">
            <a:extLst>
              <a:ext uri="{FF2B5EF4-FFF2-40B4-BE49-F238E27FC236}">
                <a16:creationId xmlns:a16="http://schemas.microsoft.com/office/drawing/2014/main" id="{ECAF8200-7647-2A9E-7B9B-F80894226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1441450"/>
            <a:ext cx="5094288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6">
            <a:extLst>
              <a:ext uri="{FF2B5EF4-FFF2-40B4-BE49-F238E27FC236}">
                <a16:creationId xmlns:a16="http://schemas.microsoft.com/office/drawing/2014/main" id="{40E4776E-1AAD-A4A7-A42A-9EA79BE1D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75" y="4900613"/>
            <a:ext cx="30607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4" name="TextBox 7">
            <a:extLst>
              <a:ext uri="{FF2B5EF4-FFF2-40B4-BE49-F238E27FC236}">
                <a16:creationId xmlns:a16="http://schemas.microsoft.com/office/drawing/2014/main" id="{05A7EB99-73C8-96A8-064B-AB1A7C420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0" y="5072063"/>
            <a:ext cx="34147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/>
              <a:t>Preview Window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7C7499E-770A-9B2D-A5AD-82C69799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JavaFX Application Class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0A18DE18-BC1F-46D2-7019-DD8715C51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351337"/>
          </a:xfrm>
        </p:spPr>
        <p:txBody>
          <a:bodyPr/>
          <a:lstStyle/>
          <a:p>
            <a:pPr eaLnBrk="1" hangingPunct="1"/>
            <a:r>
              <a:rPr lang="en-US" altLang="en-US"/>
              <a:t>This class loads the FXML document in the start method</a:t>
            </a:r>
          </a:p>
          <a:p>
            <a:pPr eaLnBrk="1" hangingPunct="1"/>
            <a:r>
              <a:rPr lang="en-US" altLang="en-US"/>
              <a:t>It is typically created automatically by the IDE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JavaFX application class</a:t>
            </a:r>
            <a:r>
              <a:rPr lang="en-US" altLang="en-US"/>
              <a:t>, listing 12.14</a:t>
            </a:r>
            <a:br>
              <a:rPr lang="en-US" altLang="en-US"/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JavaFXApp</a:t>
            </a:r>
            <a:endParaRPr lang="en-US" altLang="en-US" sz="36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5D1C8101-3328-B1FC-4116-0ED0FAD6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JavaFX Application Class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2C604E9B-A577-ACAE-E354-486BBFA20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351337"/>
          </a:xfrm>
        </p:spPr>
        <p:txBody>
          <a:bodyPr/>
          <a:lstStyle/>
          <a:p>
            <a:pPr eaLnBrk="1" hangingPunct="1"/>
            <a:r>
              <a:rPr lang="en-US" altLang="en-US"/>
              <a:t>This class loads the FXML document in the start method</a:t>
            </a:r>
          </a:p>
          <a:p>
            <a:pPr eaLnBrk="1" hangingPunct="1"/>
            <a:r>
              <a:rPr lang="en-US" altLang="en-US"/>
              <a:t>It is typically created automatically by the IDE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JavaFX application class</a:t>
            </a:r>
            <a:r>
              <a:rPr lang="en-US" altLang="en-US"/>
              <a:t>, listing 12.14</a:t>
            </a:r>
            <a:br>
              <a:rPr lang="en-US" altLang="en-US"/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JavaFXApp</a:t>
            </a:r>
            <a:endParaRPr lang="en-US" altLang="en-US" sz="36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9C7C4CD2-E09E-D348-4C91-0F3682AAB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JavaFX Controller Class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0DD07BAF-157E-4DBC-F0C2-38D99FFD4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84300"/>
            <a:ext cx="7886700" cy="4351338"/>
          </a:xfrm>
        </p:spPr>
        <p:txBody>
          <a:bodyPr/>
          <a:lstStyle/>
          <a:p>
            <a:pPr eaLnBrk="1" hangingPunct="1"/>
            <a:r>
              <a:rPr lang="en-US" altLang="en-US"/>
              <a:t>This class contains event handlers for controls in the GUI</a:t>
            </a:r>
          </a:p>
          <a:p>
            <a:pPr eaLnBrk="1" hangingPunct="1"/>
            <a:r>
              <a:rPr lang="en-US" altLang="en-US"/>
              <a:t>We need to link variables in the controller to the controls in the Scene Builder</a:t>
            </a:r>
          </a:p>
          <a:p>
            <a:pPr lvl="1" eaLnBrk="1" hangingPunct="1"/>
            <a:r>
              <a:rPr lang="en-US" altLang="en-US"/>
              <a:t>Add the @FXML annotation above the class variable and event handler that corresponds to the control in the Scene Builder</a:t>
            </a:r>
          </a:p>
          <a:p>
            <a:pPr lvl="1" eaLnBrk="1" hangingPunct="1"/>
            <a:r>
              <a:rPr lang="en-US" altLang="en-US"/>
              <a:t>E.g. for a Button in the Scene Builder we would add this in the controller class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You would use the variable name of your choice</a:t>
            </a:r>
          </a:p>
          <a:p>
            <a:pPr eaLnBrk="1" hangingPunct="1"/>
            <a:endParaRPr lang="en-US" altLang="en-US" sz="36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1444" name="Picture 3">
            <a:extLst>
              <a:ext uri="{FF2B5EF4-FFF2-40B4-BE49-F238E27FC236}">
                <a16:creationId xmlns:a16="http://schemas.microsoft.com/office/drawing/2014/main" id="{EC9862CD-3ECA-2A62-B9F7-E7F6423E3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50" y="4233863"/>
            <a:ext cx="884872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5" name="Picture 4">
            <a:extLst>
              <a:ext uri="{FF2B5EF4-FFF2-40B4-BE49-F238E27FC236}">
                <a16:creationId xmlns:a16="http://schemas.microsoft.com/office/drawing/2014/main" id="{02C5AB56-ABCC-9B9B-95EF-9F0FE144B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50" y="3716338"/>
            <a:ext cx="8488363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C9F5C92A-35A3-5275-BDA8-EDB43FD65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JavaFX Controller Class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65A7C18F-C2F4-AAE2-A0F7-13547F37D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84300"/>
            <a:ext cx="7886700" cy="4351338"/>
          </a:xfrm>
        </p:spPr>
        <p:txBody>
          <a:bodyPr/>
          <a:lstStyle/>
          <a:p>
            <a:pPr eaLnBrk="1" hangingPunct="1"/>
            <a:r>
              <a:rPr lang="en-US" altLang="en-US"/>
              <a:t>The class variable and event handler method need to be linked to the corresponding component in the Scene Builder</a:t>
            </a:r>
            <a:endParaRPr lang="en-US" altLang="en-US" sz="36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2468" name="Picture 5">
            <a:extLst>
              <a:ext uri="{FF2B5EF4-FFF2-40B4-BE49-F238E27FC236}">
                <a16:creationId xmlns:a16="http://schemas.microsoft.com/office/drawing/2014/main" id="{BB7EBD10-85C4-257C-EC1D-EF92A3D69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2143125"/>
            <a:ext cx="6429375" cy="419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BF4BE2F7-CD1D-BE21-0903-90532B82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JavaFX Controller Class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E4327B4D-FD24-0CFC-7836-1AF69745D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351337"/>
          </a:xfrm>
        </p:spPr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JavaFX controller class</a:t>
            </a:r>
            <a:r>
              <a:rPr lang="en-US" altLang="en-US"/>
              <a:t>, listing 12.15</a:t>
            </a:r>
            <a:br>
              <a:rPr lang="en-US" altLang="en-US"/>
            </a:b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JavaFXAppController</a:t>
            </a:r>
            <a:endParaRPr lang="en-US" altLang="en-US" sz="3600" b="1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3492" name="Picture 3">
            <a:extLst>
              <a:ext uri="{FF2B5EF4-FFF2-40B4-BE49-F238E27FC236}">
                <a16:creationId xmlns:a16="http://schemas.microsoft.com/office/drawing/2014/main" id="{20A1300D-089B-994F-9BEE-5A8E3EF6D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3016250"/>
            <a:ext cx="3509962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3" name="TextBox 1">
            <a:extLst>
              <a:ext uri="{FF2B5EF4-FFF2-40B4-BE49-F238E27FC236}">
                <a16:creationId xmlns:a16="http://schemas.microsoft.com/office/drawing/2014/main" id="{FFB2AE39-E376-9A71-43C7-73A171E1D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0" y="3105150"/>
            <a:ext cx="2044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Sample Output of </a:t>
            </a:r>
          </a:p>
          <a:p>
            <a:r>
              <a:rPr lang="en-US" altLang="en-US"/>
              <a:t>Final Program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1965B57A-1CE1-946A-971D-90EBADDF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72A18B98-F0BB-7C89-C6C1-E4ABE22BA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Java Class Library includes </a:t>
            </a:r>
            <a:r>
              <a:rPr lang="en-US" altLang="en-US" sz="28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</a:p>
          <a:p>
            <a:pPr lvl="1" eaLnBrk="1" hangingPunct="1"/>
            <a:r>
              <a:rPr lang="en-US" altLang="en-US" sz="2400"/>
              <a:t>Like an array that can grow in length</a:t>
            </a:r>
          </a:p>
          <a:p>
            <a:pPr lvl="1" eaLnBrk="1" hangingPunct="1"/>
            <a:r>
              <a:rPr lang="en-US" altLang="en-US" sz="2400"/>
              <a:t>Includes methods to manipulate the list</a:t>
            </a:r>
          </a:p>
          <a:p>
            <a:pPr eaLnBrk="1" hangingPunct="1"/>
            <a:r>
              <a:rPr lang="en-US" altLang="en-US" sz="2800"/>
              <a:t>Java Collections Framework contains many classes to store and manipulate objects</a:t>
            </a:r>
          </a:p>
          <a:p>
            <a:pPr eaLnBrk="1" hangingPunct="1"/>
            <a:r>
              <a:rPr lang="en-US" altLang="en-US" sz="2800"/>
              <a:t>Linked list data structure contains nodes (objects)</a:t>
            </a:r>
          </a:p>
          <a:p>
            <a:pPr eaLnBrk="1" hangingPunct="1"/>
            <a:r>
              <a:rPr lang="en-US" altLang="en-US" sz="2800"/>
              <a:t>Linked data structure is self-contained by making the node class an inner class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629A574C-62D6-278E-BE66-F07087E0A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54BE0533-C2BA-3DBF-7E06-055E69A7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Variable or object which allows stepping through linked list called an iterator</a:t>
            </a:r>
          </a:p>
          <a:p>
            <a:pPr eaLnBrk="1" hangingPunct="1"/>
            <a:r>
              <a:rPr lang="en-US" altLang="en-US"/>
              <a:t>Class can be declared with type parameter</a:t>
            </a:r>
          </a:p>
          <a:p>
            <a:pPr eaLnBrk="1" hangingPunct="1"/>
            <a:r>
              <a:rPr lang="en-US" altLang="en-US"/>
              <a:t>Object of a parameterized class replaces type parameter with an actual class type</a:t>
            </a:r>
          </a:p>
          <a:p>
            <a:pPr eaLnBrk="1" hangingPunct="1"/>
            <a:r>
              <a:rPr lang="en-US" altLang="en-US"/>
              <a:t>Classes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ArrayList,HashSet,HashMap</a:t>
            </a:r>
            <a:r>
              <a:rPr lang="en-US" altLang="en-US"/>
              <a:t> and </a:t>
            </a:r>
            <a:r>
              <a:rPr lang="en-US" altLang="en-US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/>
              <a:t> are parameterized classes</a:t>
            </a:r>
          </a:p>
          <a:p>
            <a:pPr eaLnBrk="1" hangingPunct="1"/>
            <a:r>
              <a:rPr lang="en-US" altLang="en-US"/>
              <a:t>The Scene Builder provides a graphical way to construct JavaFX applciations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1843</TotalTime>
  <Words>2076</Words>
  <Application>Microsoft Macintosh PowerPoint</Application>
  <PresentationFormat>On-screen Show (4:3)</PresentationFormat>
  <Paragraphs>304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Arial</vt:lpstr>
      <vt:lpstr>Calibri</vt:lpstr>
      <vt:lpstr>Calibri Light</vt:lpstr>
      <vt:lpstr>Courier New</vt:lpstr>
      <vt:lpstr>Office Theme</vt:lpstr>
      <vt:lpstr>Dynamic Data Structures and Generics</vt:lpstr>
      <vt:lpstr>Objectives</vt:lpstr>
      <vt:lpstr>Array-Based Data Structures: Outline</vt:lpstr>
      <vt:lpstr>Class ArrayList</vt:lpstr>
      <vt:lpstr>Class ArrayList</vt:lpstr>
      <vt:lpstr>Class ArrayList</vt:lpstr>
      <vt:lpstr>Class ArrayList</vt:lpstr>
      <vt:lpstr>Class ArrayList</vt:lpstr>
      <vt:lpstr>Creating Instance of ArrayList</vt:lpstr>
      <vt:lpstr>Using Methods of ArrayList</vt:lpstr>
      <vt:lpstr>Programming Example</vt:lpstr>
      <vt:lpstr>Programming Example</vt:lpstr>
      <vt:lpstr>Programming Example</vt:lpstr>
      <vt:lpstr>Parameterized Classes, Generic Data Types</vt:lpstr>
      <vt:lpstr>PowerPoint Presentation</vt:lpstr>
      <vt:lpstr>The Java Collections Framework</vt:lpstr>
      <vt:lpstr>HashSet Class</vt:lpstr>
      <vt:lpstr>HashMap Class</vt:lpstr>
      <vt:lpstr>Linked Data Structures:Outline</vt:lpstr>
      <vt:lpstr>Linked Data Structures:Outline</vt:lpstr>
      <vt:lpstr>Class LinkedList</vt:lpstr>
      <vt:lpstr>Linked Lists</vt:lpstr>
      <vt:lpstr>Linked Lists</vt:lpstr>
      <vt:lpstr>Implementing Operations of Linked Lists</vt:lpstr>
      <vt:lpstr>Implementing Operations of Linked Lists</vt:lpstr>
      <vt:lpstr>Implementing Operations of Linked Lists</vt:lpstr>
      <vt:lpstr>Implementing Operations of Linked Lists</vt:lpstr>
      <vt:lpstr>Implementing Operations of Linked Lists</vt:lpstr>
      <vt:lpstr>A Privacy Leak</vt:lpstr>
      <vt:lpstr>Inner Classes</vt:lpstr>
      <vt:lpstr>Inner Classes</vt:lpstr>
      <vt:lpstr>Node Inner Classes</vt:lpstr>
      <vt:lpstr>Iterators</vt:lpstr>
      <vt:lpstr>Iterators</vt:lpstr>
      <vt:lpstr>Iterators</vt:lpstr>
      <vt:lpstr>Iterators</vt:lpstr>
      <vt:lpstr>Iterators</vt:lpstr>
      <vt:lpstr>Iterators</vt:lpstr>
      <vt:lpstr>Iterators</vt:lpstr>
      <vt:lpstr>Java Iterator Interface</vt:lpstr>
      <vt:lpstr>Exception Handling with Linked Lists</vt:lpstr>
      <vt:lpstr>Variations on a Linked List</vt:lpstr>
      <vt:lpstr>Variations on a Linked List</vt:lpstr>
      <vt:lpstr>Variations on a Linked List</vt:lpstr>
      <vt:lpstr>Other Linked Data Structures</vt:lpstr>
      <vt:lpstr>Other Linked Data Structures</vt:lpstr>
      <vt:lpstr>Generics: Outline</vt:lpstr>
      <vt:lpstr>Basics of Generics</vt:lpstr>
      <vt:lpstr>Basics of Generics</vt:lpstr>
      <vt:lpstr>Programming Example</vt:lpstr>
      <vt:lpstr>Programming Example</vt:lpstr>
      <vt:lpstr>Graphics Supplement</vt:lpstr>
      <vt:lpstr>Sample FXML File</vt:lpstr>
      <vt:lpstr>Scene Builder UI</vt:lpstr>
      <vt:lpstr>Scene Builder UI</vt:lpstr>
      <vt:lpstr>The JavaFX Application Class</vt:lpstr>
      <vt:lpstr>The JavaFX Application Class</vt:lpstr>
      <vt:lpstr>The JavaFX Controller Class</vt:lpstr>
      <vt:lpstr>The JavaFX Controller Class</vt:lpstr>
      <vt:lpstr>The JavaFX Controller Class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Data Structures and Generics</dc:title>
  <dc:creator>Steve Armstrong</dc:creator>
  <cp:lastModifiedBy>Muhammad Asaduzzaman</cp:lastModifiedBy>
  <cp:revision>64</cp:revision>
  <dcterms:created xsi:type="dcterms:W3CDTF">2007-10-25T00:10:48Z</dcterms:created>
  <dcterms:modified xsi:type="dcterms:W3CDTF">2025-07-21T12:15:41Z</dcterms:modified>
</cp:coreProperties>
</file>