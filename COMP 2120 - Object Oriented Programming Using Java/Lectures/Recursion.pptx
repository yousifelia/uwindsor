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>
      <p:cViewPr varScale="1">
        <p:scale>
          <a:sx n="102" d="100"/>
          <a:sy n="102" d="100"/>
        </p:scale>
        <p:origin x="182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1371600"/>
          </a:xfrm>
          <a:custGeom>
            <a:avLst/>
            <a:gdLst/>
            <a:ahLst/>
            <a:cxnLst/>
            <a:rect l="l" t="t" r="r" b="b"/>
            <a:pathLst>
              <a:path w="9144000" h="1371600">
                <a:moveTo>
                  <a:pt x="9144000" y="0"/>
                </a:moveTo>
                <a:lnTo>
                  <a:pt x="0" y="0"/>
                </a:lnTo>
                <a:lnTo>
                  <a:pt x="0" y="1371600"/>
                </a:lnTo>
                <a:lnTo>
                  <a:pt x="9144000" y="1371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1371600"/>
          </a:xfrm>
          <a:custGeom>
            <a:avLst/>
            <a:gdLst/>
            <a:ahLst/>
            <a:cxnLst/>
            <a:rect l="l" t="t" r="r" b="b"/>
            <a:pathLst>
              <a:path w="9144000" h="1371600">
                <a:moveTo>
                  <a:pt x="0" y="1371600"/>
                </a:moveTo>
                <a:lnTo>
                  <a:pt x="9144000" y="1371600"/>
                </a:lnTo>
                <a:lnTo>
                  <a:pt x="91440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507" y="685800"/>
            <a:ext cx="8585892" cy="5715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28600"/>
            <a:ext cx="3605963" cy="3313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1700" y="216153"/>
            <a:ext cx="22606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939" y="1469262"/>
            <a:ext cx="8834120" cy="3345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1140" y="6491670"/>
            <a:ext cx="308102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56066" y="6491670"/>
            <a:ext cx="25082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en.wikipedia.org/wiki/Computational_proble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mputer_science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ger_sequence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600" y="3517391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12192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6700" y="3048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836" y="457200"/>
            <a:ext cx="44450" cy="847725"/>
          </a:xfrm>
          <a:custGeom>
            <a:avLst/>
            <a:gdLst/>
            <a:ahLst/>
            <a:cxnLst/>
            <a:rect l="l" t="t" r="r" b="b"/>
            <a:pathLst>
              <a:path w="44450" h="847725">
                <a:moveTo>
                  <a:pt x="44196" y="0"/>
                </a:moveTo>
                <a:lnTo>
                  <a:pt x="0" y="0"/>
                </a:lnTo>
                <a:lnTo>
                  <a:pt x="0" y="847344"/>
                </a:lnTo>
                <a:lnTo>
                  <a:pt x="44196" y="847344"/>
                </a:lnTo>
                <a:lnTo>
                  <a:pt x="44196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3252" y="457200"/>
            <a:ext cx="44450" cy="746760"/>
          </a:xfrm>
          <a:custGeom>
            <a:avLst/>
            <a:gdLst/>
            <a:ahLst/>
            <a:cxnLst/>
            <a:rect l="l" t="t" r="r" b="b"/>
            <a:pathLst>
              <a:path w="44450" h="746760">
                <a:moveTo>
                  <a:pt x="44196" y="0"/>
                </a:moveTo>
                <a:lnTo>
                  <a:pt x="0" y="0"/>
                </a:lnTo>
                <a:lnTo>
                  <a:pt x="0" y="746760"/>
                </a:lnTo>
                <a:lnTo>
                  <a:pt x="44196" y="746760"/>
                </a:lnTo>
                <a:lnTo>
                  <a:pt x="44196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1144" y="457200"/>
            <a:ext cx="44450" cy="637540"/>
          </a:xfrm>
          <a:custGeom>
            <a:avLst/>
            <a:gdLst/>
            <a:ahLst/>
            <a:cxnLst/>
            <a:rect l="l" t="t" r="r" b="b"/>
            <a:pathLst>
              <a:path w="44450" h="637540">
                <a:moveTo>
                  <a:pt x="44196" y="0"/>
                </a:moveTo>
                <a:lnTo>
                  <a:pt x="0" y="0"/>
                </a:lnTo>
                <a:lnTo>
                  <a:pt x="0" y="637032"/>
                </a:lnTo>
                <a:lnTo>
                  <a:pt x="44196" y="637032"/>
                </a:lnTo>
                <a:lnTo>
                  <a:pt x="44196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0559" y="457200"/>
            <a:ext cx="44450" cy="530860"/>
          </a:xfrm>
          <a:custGeom>
            <a:avLst/>
            <a:gdLst/>
            <a:ahLst/>
            <a:cxnLst/>
            <a:rect l="l" t="t" r="r" b="b"/>
            <a:pathLst>
              <a:path w="44450" h="530860">
                <a:moveTo>
                  <a:pt x="44195" y="0"/>
                </a:moveTo>
                <a:lnTo>
                  <a:pt x="0" y="0"/>
                </a:lnTo>
                <a:lnTo>
                  <a:pt x="0" y="530351"/>
                </a:lnTo>
                <a:lnTo>
                  <a:pt x="44195" y="530351"/>
                </a:lnTo>
                <a:lnTo>
                  <a:pt x="44195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9976" y="457200"/>
            <a:ext cx="44450" cy="426720"/>
          </a:xfrm>
          <a:custGeom>
            <a:avLst/>
            <a:gdLst/>
            <a:ahLst/>
            <a:cxnLst/>
            <a:rect l="l" t="t" r="r" b="b"/>
            <a:pathLst>
              <a:path w="44450" h="426719">
                <a:moveTo>
                  <a:pt x="44195" y="0"/>
                </a:moveTo>
                <a:lnTo>
                  <a:pt x="0" y="0"/>
                </a:lnTo>
                <a:lnTo>
                  <a:pt x="0" y="426720"/>
                </a:lnTo>
                <a:lnTo>
                  <a:pt x="44195" y="426720"/>
                </a:lnTo>
                <a:lnTo>
                  <a:pt x="44195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7868" y="457200"/>
            <a:ext cx="44450" cy="312420"/>
          </a:xfrm>
          <a:custGeom>
            <a:avLst/>
            <a:gdLst/>
            <a:ahLst/>
            <a:cxnLst/>
            <a:rect l="l" t="t" r="r" b="b"/>
            <a:pathLst>
              <a:path w="44450" h="312420">
                <a:moveTo>
                  <a:pt x="44195" y="0"/>
                </a:moveTo>
                <a:lnTo>
                  <a:pt x="0" y="0"/>
                </a:lnTo>
                <a:lnTo>
                  <a:pt x="0" y="312420"/>
                </a:lnTo>
                <a:lnTo>
                  <a:pt x="44195" y="312420"/>
                </a:lnTo>
                <a:lnTo>
                  <a:pt x="44195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7284" y="457200"/>
            <a:ext cx="45720" cy="216535"/>
          </a:xfrm>
          <a:custGeom>
            <a:avLst/>
            <a:gdLst/>
            <a:ahLst/>
            <a:cxnLst/>
            <a:rect l="l" t="t" r="r" b="b"/>
            <a:pathLst>
              <a:path w="45720" h="216534">
                <a:moveTo>
                  <a:pt x="45720" y="0"/>
                </a:moveTo>
                <a:lnTo>
                  <a:pt x="0" y="0"/>
                </a:lnTo>
                <a:lnTo>
                  <a:pt x="0" y="216408"/>
                </a:lnTo>
                <a:lnTo>
                  <a:pt x="45720" y="216408"/>
                </a:lnTo>
                <a:lnTo>
                  <a:pt x="45720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700" y="457200"/>
            <a:ext cx="44450" cy="108585"/>
          </a:xfrm>
          <a:custGeom>
            <a:avLst/>
            <a:gdLst/>
            <a:ahLst/>
            <a:cxnLst/>
            <a:rect l="l" t="t" r="r" b="b"/>
            <a:pathLst>
              <a:path w="44450" h="108584">
                <a:moveTo>
                  <a:pt x="44196" y="0"/>
                </a:moveTo>
                <a:lnTo>
                  <a:pt x="0" y="0"/>
                </a:lnTo>
                <a:lnTo>
                  <a:pt x="0" y="108203"/>
                </a:lnTo>
                <a:lnTo>
                  <a:pt x="44196" y="108203"/>
                </a:lnTo>
                <a:lnTo>
                  <a:pt x="44196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4419" y="457200"/>
            <a:ext cx="41275" cy="951230"/>
          </a:xfrm>
          <a:custGeom>
            <a:avLst/>
            <a:gdLst/>
            <a:ahLst/>
            <a:cxnLst/>
            <a:rect l="l" t="t" r="r" b="b"/>
            <a:pathLst>
              <a:path w="41275" h="951230">
                <a:moveTo>
                  <a:pt x="41147" y="0"/>
                </a:moveTo>
                <a:lnTo>
                  <a:pt x="0" y="0"/>
                </a:lnTo>
                <a:lnTo>
                  <a:pt x="0" y="950976"/>
                </a:lnTo>
                <a:lnTo>
                  <a:pt x="41147" y="950976"/>
                </a:lnTo>
                <a:lnTo>
                  <a:pt x="41147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3480" y="457200"/>
            <a:ext cx="41275" cy="1059180"/>
          </a:xfrm>
          <a:custGeom>
            <a:avLst/>
            <a:gdLst/>
            <a:ahLst/>
            <a:cxnLst/>
            <a:rect l="l" t="t" r="r" b="b"/>
            <a:pathLst>
              <a:path w="41275" h="1059180">
                <a:moveTo>
                  <a:pt x="41147" y="0"/>
                </a:moveTo>
                <a:lnTo>
                  <a:pt x="0" y="0"/>
                </a:lnTo>
                <a:lnTo>
                  <a:pt x="0" y="1059179"/>
                </a:lnTo>
                <a:lnTo>
                  <a:pt x="41147" y="1059179"/>
                </a:lnTo>
                <a:lnTo>
                  <a:pt x="41147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69491" y="457200"/>
            <a:ext cx="43180" cy="1160145"/>
          </a:xfrm>
          <a:custGeom>
            <a:avLst/>
            <a:gdLst/>
            <a:ahLst/>
            <a:cxnLst/>
            <a:rect l="l" t="t" r="r" b="b"/>
            <a:pathLst>
              <a:path w="43180" h="1160145">
                <a:moveTo>
                  <a:pt x="42671" y="0"/>
                </a:moveTo>
                <a:lnTo>
                  <a:pt x="0" y="0"/>
                </a:lnTo>
                <a:lnTo>
                  <a:pt x="0" y="1159764"/>
                </a:lnTo>
                <a:lnTo>
                  <a:pt x="42671" y="1159764"/>
                </a:lnTo>
                <a:lnTo>
                  <a:pt x="4267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70075" y="457200"/>
            <a:ext cx="44450" cy="1270000"/>
          </a:xfrm>
          <a:custGeom>
            <a:avLst/>
            <a:gdLst/>
            <a:ahLst/>
            <a:cxnLst/>
            <a:rect l="l" t="t" r="r" b="b"/>
            <a:pathLst>
              <a:path w="44450" h="1270000">
                <a:moveTo>
                  <a:pt x="44196" y="0"/>
                </a:moveTo>
                <a:lnTo>
                  <a:pt x="0" y="0"/>
                </a:lnTo>
                <a:lnTo>
                  <a:pt x="0" y="1269491"/>
                </a:lnTo>
                <a:lnTo>
                  <a:pt x="44196" y="1269491"/>
                </a:lnTo>
                <a:lnTo>
                  <a:pt x="441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470660" y="457200"/>
            <a:ext cx="4413250" cy="2105660"/>
            <a:chOff x="1470660" y="457200"/>
            <a:chExt cx="4413250" cy="2105660"/>
          </a:xfrm>
        </p:grpSpPr>
        <p:sp>
          <p:nvSpPr>
            <p:cNvPr id="18" name="object 18"/>
            <p:cNvSpPr/>
            <p:nvPr/>
          </p:nvSpPr>
          <p:spPr>
            <a:xfrm>
              <a:off x="1470660" y="457200"/>
              <a:ext cx="43180" cy="1371600"/>
            </a:xfrm>
            <a:custGeom>
              <a:avLst/>
              <a:gdLst/>
              <a:ahLst/>
              <a:cxnLst/>
              <a:rect l="l" t="t" r="r" b="b"/>
              <a:pathLst>
                <a:path w="43180" h="1371600">
                  <a:moveTo>
                    <a:pt x="42671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42671" y="1371600"/>
                  </a:lnTo>
                  <a:lnTo>
                    <a:pt x="4267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0096" y="515111"/>
              <a:ext cx="2457450" cy="111937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7892" y="515111"/>
              <a:ext cx="916686" cy="111937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7648" y="1223772"/>
              <a:ext cx="3365754" cy="133883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07340" y="2774137"/>
            <a:ext cx="208216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Objectives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307340" y="3693667"/>
            <a:ext cx="746887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Upon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completion</a:t>
            </a:r>
            <a:r>
              <a:rPr sz="240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you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will</a:t>
            </a:r>
            <a:r>
              <a:rPr sz="2400" b="1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4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able</a:t>
            </a:r>
            <a:r>
              <a:rPr sz="24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to: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•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Explain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the difference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between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iteration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and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recursion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•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Design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recursive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algorithm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•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Determine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when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recursion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is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an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appropriate</a:t>
            </a:r>
            <a:r>
              <a:rPr sz="2400" b="1" dirty="0">
                <a:latin typeface="Times New Roman"/>
                <a:cs typeface="Times New Roman"/>
              </a:rPr>
              <a:t> solution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•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Write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simple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recursive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functions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831594" y="543178"/>
            <a:ext cx="3650615" cy="15976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  <a:tabLst>
                <a:tab pos="2190750" algn="l"/>
              </a:tabLst>
            </a:pPr>
            <a:r>
              <a:rPr sz="4000" spc="-5" dirty="0"/>
              <a:t>Chapter	2</a:t>
            </a:r>
            <a:endParaRPr sz="4000"/>
          </a:p>
          <a:p>
            <a:pPr marL="1049020" algn="ctr">
              <a:lnSpc>
                <a:spcPct val="100000"/>
              </a:lnSpc>
              <a:spcBef>
                <a:spcPts val="994"/>
              </a:spcBef>
            </a:pPr>
            <a:r>
              <a:rPr sz="4800" i="1" dirty="0">
                <a:latin typeface="Times New Roman"/>
                <a:cs typeface="Times New Roman"/>
              </a:rPr>
              <a:t>Recursion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4358"/>
            <a:ext cx="7132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0305" algn="l"/>
                <a:tab pos="3863975" algn="l"/>
              </a:tabLst>
            </a:pPr>
            <a:r>
              <a:rPr sz="4000" spc="-5" dirty="0">
                <a:latin typeface="Arial"/>
                <a:cs typeface="Arial"/>
              </a:rPr>
              <a:t>2-1	Factorial</a:t>
            </a:r>
            <a:r>
              <a:rPr sz="4000" spc="4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-	A</a:t>
            </a:r>
            <a:r>
              <a:rPr sz="4000" spc="-18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Case</a:t>
            </a:r>
            <a:r>
              <a:rPr sz="4000" spc="-2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Study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59" y="1672294"/>
            <a:ext cx="7327265" cy="1849120"/>
            <a:chOff x="22859" y="1672294"/>
            <a:chExt cx="7327265" cy="1849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956" y="1672294"/>
              <a:ext cx="7061626" cy="3457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59" y="1880615"/>
              <a:ext cx="6043422" cy="7871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59" y="2307335"/>
              <a:ext cx="6941058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59" y="2734055"/>
              <a:ext cx="6944106" cy="7871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6579" y="1558144"/>
            <a:ext cx="7104380" cy="2919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begin 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discussion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recursion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 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study and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 it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define the concept.</a:t>
            </a:r>
            <a:endParaRPr sz="2800" dirty="0">
              <a:latin typeface="Times New Roman"/>
              <a:cs typeface="Times New Roman"/>
            </a:endParaRPr>
          </a:p>
          <a:p>
            <a:pPr marL="12700" marR="610235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This section </a:t>
            </a:r>
            <a:r>
              <a:rPr sz="2800" b="1" i="1" dirty="0">
                <a:latin typeface="Times New Roman"/>
                <a:cs typeface="Times New Roman"/>
              </a:rPr>
              <a:t>also </a:t>
            </a:r>
            <a:r>
              <a:rPr sz="2800" b="1" i="1" spc="-5" dirty="0">
                <a:latin typeface="Times New Roman"/>
                <a:cs typeface="Times New Roman"/>
              </a:rPr>
              <a:t>presents an iterative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recursive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solution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factorial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algorithm.</a:t>
            </a:r>
            <a:endParaRPr sz="28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2625"/>
              </a:spcBef>
            </a:pPr>
            <a:r>
              <a:rPr sz="2800" spc="-5" dirty="0">
                <a:latin typeface="Times New Roman"/>
                <a:cs typeface="Times New Roman"/>
              </a:rPr>
              <a:t>•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Recursive</a:t>
            </a:r>
            <a:r>
              <a:rPr sz="2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Defined</a:t>
            </a:r>
            <a:endParaRPr sz="28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r>
              <a:rPr sz="28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Recursive</a:t>
            </a:r>
            <a:r>
              <a:rPr sz="2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Solution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AFF70C-6BD0-0450-679A-88E795A5015F}"/>
              </a:ext>
            </a:extLst>
          </p:cNvPr>
          <p:cNvSpPr txBox="1"/>
          <p:nvPr/>
        </p:nvSpPr>
        <p:spPr>
          <a:xfrm>
            <a:off x="307340" y="4543422"/>
            <a:ext cx="85995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CA" sz="28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Computer science"/>
              </a:rPr>
              <a:t>computer science</a:t>
            </a:r>
            <a:r>
              <a:rPr lang="en-CA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CA" sz="2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recursion</a:t>
            </a:r>
            <a:r>
              <a:rPr lang="en-CA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 method of solving a </a:t>
            </a:r>
            <a:r>
              <a:rPr lang="en-CA" sz="2800" b="0" i="0" u="sng" dirty="0">
                <a:solidFill>
                  <a:srgbClr val="3056A9"/>
                </a:solidFill>
                <a:effectLst/>
                <a:latin typeface="Arial" panose="020B0604020202020204" pitchFamily="34" charset="0"/>
                <a:hlinkClick r:id="rId7"/>
              </a:rPr>
              <a:t>computational problem</a:t>
            </a:r>
            <a:r>
              <a:rPr lang="en-CA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where the solution depends on solutions to smaller instances of the same problem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09800"/>
            <a:ext cx="8534400" cy="228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981200"/>
            <a:ext cx="8686800" cy="228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8686800" cy="38115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31" y="990600"/>
            <a:ext cx="8583168" cy="46558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574024" cy="39654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600"/>
            <a:ext cx="8610600" cy="609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75030"/>
            <a:ext cx="8114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4735" algn="l"/>
              </a:tabLst>
            </a:pPr>
            <a:r>
              <a:rPr sz="3600" spc="-5" dirty="0">
                <a:latin typeface="Arial"/>
                <a:cs typeface="Arial"/>
              </a:rPr>
              <a:t>2-2	</a:t>
            </a:r>
            <a:r>
              <a:rPr sz="3600" dirty="0">
                <a:latin typeface="Arial"/>
                <a:cs typeface="Arial"/>
              </a:rPr>
              <a:t>Designing</a:t>
            </a:r>
            <a:r>
              <a:rPr sz="3600" spc="-4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Recursive</a:t>
            </a:r>
            <a:r>
              <a:rPr sz="3600" spc="-19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Algorithms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596094"/>
            <a:ext cx="7258050" cy="1849120"/>
            <a:chOff x="0" y="1596094"/>
            <a:chExt cx="7258050" cy="18491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410" y="1596094"/>
              <a:ext cx="5749794" cy="3457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04416"/>
              <a:ext cx="6948678" cy="7871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231136"/>
              <a:ext cx="7258050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657855"/>
              <a:ext cx="3908298" cy="7871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4939" y="1469262"/>
            <a:ext cx="6776084" cy="3345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section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present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analytical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approach to </a:t>
            </a:r>
            <a:r>
              <a:rPr sz="2800" b="1" i="1" dirty="0">
                <a:latin typeface="Times New Roman"/>
                <a:cs typeface="Times New Roman"/>
              </a:rPr>
              <a:t>designing </a:t>
            </a:r>
            <a:r>
              <a:rPr sz="2800" b="1" i="1" spc="-5" dirty="0">
                <a:latin typeface="Times New Roman"/>
                <a:cs typeface="Times New Roman"/>
              </a:rPr>
              <a:t>recursive algorithms.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5" dirty="0">
                <a:latin typeface="Times New Roman"/>
                <a:cs typeface="Times New Roman"/>
              </a:rPr>
              <a:t> also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 algorithm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designs</a:t>
            </a:r>
            <a:r>
              <a:rPr sz="2800" b="1" i="1" dirty="0">
                <a:latin typeface="Times New Roman"/>
                <a:cs typeface="Times New Roman"/>
              </a:rPr>
              <a:t> that</a:t>
            </a:r>
            <a:r>
              <a:rPr sz="2800" b="1" i="1" spc="-5" dirty="0">
                <a:latin typeface="Times New Roman"/>
                <a:cs typeface="Times New Roman"/>
              </a:rPr>
              <a:t> are not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well </a:t>
            </a:r>
            <a:r>
              <a:rPr sz="2800" b="1" i="1" spc="-5" dirty="0">
                <a:latin typeface="Times New Roman"/>
                <a:cs typeface="Times New Roman"/>
              </a:rPr>
              <a:t>suited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recursion.</a:t>
            </a:r>
            <a:endParaRPr sz="28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625"/>
              </a:spcBef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r>
              <a:rPr sz="28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Design</a:t>
            </a:r>
            <a:r>
              <a:rPr sz="2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Methodology</a:t>
            </a:r>
            <a:endParaRPr sz="28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r>
              <a:rPr sz="280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Limitation</a:t>
            </a:r>
            <a:r>
              <a:rPr sz="2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Recusion</a:t>
            </a:r>
            <a:endParaRPr sz="28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•</a:t>
            </a:r>
            <a:r>
              <a:rPr sz="2800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Design</a:t>
            </a:r>
            <a:r>
              <a:rPr sz="2800" b="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Implemenation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447800"/>
            <a:ext cx="8593836" cy="40462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6" y="228600"/>
            <a:ext cx="7850124" cy="6172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95400"/>
            <a:ext cx="8583168" cy="464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219200"/>
            <a:ext cx="8610600" cy="3962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600"/>
            <a:ext cx="8610600" cy="6019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3390767" cy="4206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838200"/>
            <a:ext cx="8534400" cy="5562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411" y="3312602"/>
            <a:ext cx="8686800" cy="2590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CE788-1189-AA8C-34F4-5002FE12AD07}"/>
              </a:ext>
            </a:extLst>
          </p:cNvPr>
          <p:cNvSpPr txBox="1"/>
          <p:nvPr/>
        </p:nvSpPr>
        <p:spPr>
          <a:xfrm>
            <a:off x="208766" y="187896"/>
            <a:ext cx="86867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CA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Fibonacci sequence</a:t>
            </a:r>
            <a:r>
              <a:rPr lang="en-CA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CA" sz="32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Integer sequence"/>
              </a:rPr>
              <a:t>sequence</a:t>
            </a:r>
            <a:r>
              <a:rPr lang="en-CA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which each element is the sum of the two elements that precede it</a:t>
            </a:r>
            <a:br>
              <a:rPr lang="en-CA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CA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0, 1, 1, 2, 3, 5, 8, 13, 21, 34, 55, 89, 144, ...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600"/>
            <a:ext cx="3610325" cy="3313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288" y="838200"/>
            <a:ext cx="8509911" cy="5410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(Continued)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711" y="1066800"/>
            <a:ext cx="8400288" cy="4648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143000"/>
            <a:ext cx="8534400" cy="44500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4358"/>
            <a:ext cx="7132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0305" algn="l"/>
                <a:tab pos="3863975" algn="l"/>
              </a:tabLst>
            </a:pPr>
            <a:r>
              <a:rPr lang="en-CA" sz="4000" spc="-5" dirty="0">
                <a:latin typeface="Arial"/>
                <a:cs typeface="Arial"/>
              </a:rPr>
              <a:t>Advantages of recursion?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27FF8-4525-014F-A29B-E41FDAAF798C}"/>
              </a:ext>
            </a:extLst>
          </p:cNvPr>
          <p:cNvSpPr txBox="1"/>
          <p:nvPr/>
        </p:nvSpPr>
        <p:spPr>
          <a:xfrm>
            <a:off x="1066800" y="1828800"/>
            <a:ext cx="7696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Reduces the size of the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intuitive to solve problems that are inherently recursive in nature.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343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4358"/>
            <a:ext cx="7132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0305" algn="l"/>
                <a:tab pos="3863975" algn="l"/>
              </a:tabLst>
            </a:pPr>
            <a:r>
              <a:rPr lang="en-CA" sz="4000" spc="-5" dirty="0">
                <a:latin typeface="Arial"/>
                <a:cs typeface="Arial"/>
              </a:rPr>
              <a:t>Disadvantages of recursion?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0FBA49-2174-8449-ABA4-2C0C99F53448}"/>
              </a:ext>
            </a:extLst>
          </p:cNvPr>
          <p:cNvSpPr txBox="1"/>
          <p:nvPr/>
        </p:nvSpPr>
        <p:spPr>
          <a:xfrm>
            <a:off x="1066800" y="1828800"/>
            <a:ext cx="39705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Greater time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Greater space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79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24358"/>
            <a:ext cx="7132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0305" algn="l"/>
                <a:tab pos="3863975" algn="l"/>
              </a:tabLst>
            </a:pPr>
            <a:r>
              <a:rPr lang="en-CA" sz="4000" spc="-5" dirty="0">
                <a:latin typeface="Arial"/>
                <a:cs typeface="Arial"/>
              </a:rPr>
              <a:t>When (not) to use recursion?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5" dirty="0"/>
              <a:t> </a:t>
            </a:r>
            <a:r>
              <a:rPr spc="-10" dirty="0"/>
              <a:t>Structures:</a:t>
            </a:r>
            <a:r>
              <a:rPr spc="30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Pseudocode</a:t>
            </a:r>
            <a:r>
              <a:rPr spc="15" dirty="0"/>
              <a:t> </a:t>
            </a:r>
            <a:r>
              <a:rPr spc="-5" dirty="0"/>
              <a:t>Approach</a:t>
            </a:r>
            <a:r>
              <a:rPr spc="5" dirty="0"/>
              <a:t> </a:t>
            </a:r>
            <a:r>
              <a:rPr spc="-5" dirty="0"/>
              <a:t>with 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591630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AFDC-4D8A-094C-BA3E-82781A25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"/>
            <a:ext cx="7086600" cy="1231106"/>
          </a:xfrm>
        </p:spPr>
        <p:txBody>
          <a:bodyPr/>
          <a:lstStyle/>
          <a:p>
            <a:r>
              <a:rPr lang="en-US" sz="4000" dirty="0"/>
              <a:t>Examples: Print the reverse of a string </a:t>
            </a:r>
          </a:p>
        </p:txBody>
      </p:sp>
    </p:spTree>
    <p:extLst>
      <p:ext uri="{BB962C8B-B14F-4D97-AF65-F5344CB8AC3E}">
        <p14:creationId xmlns:p14="http://schemas.microsoft.com/office/powerpoint/2010/main" val="1767809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AFDC-4D8A-094C-BA3E-82781A25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"/>
            <a:ext cx="7086600" cy="1231106"/>
          </a:xfrm>
        </p:spPr>
        <p:txBody>
          <a:bodyPr/>
          <a:lstStyle/>
          <a:p>
            <a:r>
              <a:rPr lang="en-US" sz="4000" dirty="0"/>
              <a:t>Examples: Determine the length of a string</a:t>
            </a:r>
          </a:p>
        </p:txBody>
      </p:sp>
    </p:spTree>
    <p:extLst>
      <p:ext uri="{BB962C8B-B14F-4D97-AF65-F5344CB8AC3E}">
        <p14:creationId xmlns:p14="http://schemas.microsoft.com/office/powerpoint/2010/main" val="1567921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AFDC-4D8A-094C-BA3E-82781A25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"/>
            <a:ext cx="8229600" cy="1846659"/>
          </a:xfrm>
        </p:spPr>
        <p:txBody>
          <a:bodyPr/>
          <a:lstStyle/>
          <a:p>
            <a:r>
              <a:rPr lang="en-US" sz="4000" dirty="0"/>
              <a:t>Examples: Remove all occurrences of a character from a string</a:t>
            </a:r>
          </a:p>
        </p:txBody>
      </p:sp>
    </p:spTree>
    <p:extLst>
      <p:ext uri="{BB962C8B-B14F-4D97-AF65-F5344CB8AC3E}">
        <p14:creationId xmlns:p14="http://schemas.microsoft.com/office/powerpoint/2010/main" val="427798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480</Words>
  <Application>Microsoft Macintosh PowerPoint</Application>
  <PresentationFormat>On-screen Show (4:3)</PresentationFormat>
  <Paragraphs>78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Tahoma</vt:lpstr>
      <vt:lpstr>Times New Roman</vt:lpstr>
      <vt:lpstr>Office Theme</vt:lpstr>
      <vt:lpstr>Chapter 2 Recursion</vt:lpstr>
      <vt:lpstr>2-1 Factorial - A Case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2-2 Designing Recursive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(Continued)</vt:lpstr>
      <vt:lpstr>PowerPoint Presentation</vt:lpstr>
      <vt:lpstr>PowerPoint Presentation</vt:lpstr>
      <vt:lpstr>Advantages of recursion?</vt:lpstr>
      <vt:lpstr>Disadvantages of recursion?</vt:lpstr>
      <vt:lpstr>When (not) to use recursion?</vt:lpstr>
      <vt:lpstr>Examples: Print the reverse of a string </vt:lpstr>
      <vt:lpstr>Examples: Determine the length of a string</vt:lpstr>
      <vt:lpstr>Examples: Remove all occurrences of a character from a string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Muhammad Asaduzzaman</cp:lastModifiedBy>
  <cp:revision>5</cp:revision>
  <dcterms:created xsi:type="dcterms:W3CDTF">2021-09-14T19:51:56Z</dcterms:created>
  <dcterms:modified xsi:type="dcterms:W3CDTF">2025-07-07T22:18:57Z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2021-09-14T00:00:00Z</vt:filetime>
  </property>
</Properties>
</file>