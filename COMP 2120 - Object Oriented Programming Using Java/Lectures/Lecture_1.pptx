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75" r:id="rId12"/>
    <p:sldId id="266" r:id="rId13"/>
    <p:sldId id="270" r:id="rId14"/>
    <p:sldId id="271" r:id="rId15"/>
    <p:sldId id="272" r:id="rId16"/>
    <p:sldId id="274" r:id="rId17"/>
    <p:sldId id="273" r:id="rId18"/>
    <p:sldId id="268" r:id="rId19"/>
    <p:sldId id="269" r:id="rId20"/>
    <p:sldId id="276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5"/>
    <p:restoredTop sz="85145"/>
  </p:normalViewPr>
  <p:slideViewPr>
    <p:cSldViewPr snapToGrid="0">
      <p:cViewPr varScale="1">
        <p:scale>
          <a:sx n="91" d="100"/>
          <a:sy n="91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62312-95B9-B346-8DB4-F28B323A6732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F76C2B-8040-A449-A453-845B17E55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475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Find out</a:t>
            </a:r>
            <a:r>
              <a:rPr lang="en-CA" baseline="0" dirty="0"/>
              <a:t> if you are in the wrong classroom.</a:t>
            </a:r>
          </a:p>
          <a:p>
            <a:r>
              <a:rPr lang="en-CA" baseline="0" dirty="0"/>
              <a:t>Who is from School of Computer Science, </a:t>
            </a:r>
          </a:p>
          <a:p>
            <a:r>
              <a:rPr lang="en-CA" baseline="0" dirty="0"/>
              <a:t>Have you ever taken programming courses.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How many</a:t>
            </a:r>
            <a:r>
              <a:rPr lang="en-CA" baseline="0" dirty="0"/>
              <a:t> of you have heard about OOP?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6C2B-8040-A449-A453-845B17E55A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44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6C2B-8040-A449-A453-845B17E55A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76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www.tiobe.com</a:t>
            </a:r>
            <a:r>
              <a:rPr lang="en-US" dirty="0"/>
              <a:t>/</a:t>
            </a:r>
            <a:r>
              <a:rPr lang="en-US" dirty="0" err="1"/>
              <a:t>tiobe</a:t>
            </a:r>
            <a:r>
              <a:rPr lang="en-US" dirty="0"/>
              <a:t>-index/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6C2B-8040-A449-A453-845B17E55A2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06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98525" marR="0" lvl="0" indent="-44132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Procedures are often hard to reuse.</a:t>
            </a:r>
            <a:endParaRPr kumimoji="0" lang="en-CA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1260475" marR="0" lvl="1" indent="-361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alibri" pitchFamily="34" charset="0"/>
              <a:buChar char="◦"/>
              <a:tabLst/>
              <a:defRPr/>
            </a:pPr>
            <a:r>
              <a:rPr kumimoji="0" lang="en-CA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Think about if you need to handle cash accounts, check accounts, fix-rate cash accounts, variable-rate check accounts, etc.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6C2B-8040-A449-A453-845B17E55A2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13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Arial" pitchFamily="34" charset="0"/>
                <a:cs typeface="Arial" pitchFamily="34" charset="0"/>
              </a:rPr>
              <a:t>Think about how to effectively implement and maintain a cash account</a:t>
            </a:r>
            <a:r>
              <a:rPr lang="zh-CN" altLang="en-US" sz="1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z="1200" dirty="0">
                <a:latin typeface="Arial" pitchFamily="34" charset="0"/>
                <a:cs typeface="Arial" pitchFamily="34" charset="0"/>
              </a:rPr>
              <a:t>or a check account?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Arial" pitchFamily="34" charset="0"/>
                <a:cs typeface="Arial" pitchFamily="34" charset="0"/>
              </a:rPr>
              <a:t>Think about how if some information should not be visible to other classes or objects</a:t>
            </a:r>
            <a:r>
              <a:rPr lang="en-CA" altLang="zh-CN" sz="1200" dirty="0">
                <a:latin typeface="Arial" pitchFamily="34" charset="0"/>
                <a:cs typeface="Arial" pitchFamily="34" charset="0"/>
              </a:rPr>
              <a:t>?</a:t>
            </a:r>
            <a:endParaRPr lang="en-US" altLang="zh-CN" sz="14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F76C2B-8040-A449-A453-845B17E55A2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36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3E95-D880-B2B1-CAC7-40B9590B2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391AE-A97F-A6B4-F465-FC2B3A1C5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A5A2-BDD4-9AE2-A648-8666445D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DA1B0-2257-081D-7464-9B3B18F7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CDF05-26FF-03DE-76AC-E45B5237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97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E2BE-DA61-EE49-6F47-5E1197D9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AEEBD-43FD-DB1C-7271-6A9EEBA05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F947B-6804-8249-2E8A-B5239A592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01845-A872-D1C0-8378-BE8F2E7C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010EF-D237-4163-B16F-F74B9D5A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3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A828-F5BE-98F6-0EF9-C7FF2FC8D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59D14-BE8B-847B-EC1D-249CAD997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9311-2FFC-CA64-0B8D-6666BC88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A9B4-B791-9573-018F-ECD8FDCA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5526-8B0A-FCD4-735F-F966F9499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7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10B2C-A144-F93C-CF75-49FFAB93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D533-F88A-E617-AE22-3DB2F1CBC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B80B8-6D69-A54C-8A72-7B26EB74F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A2C10-6CB4-0D42-7807-48EA18DF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4FCAB-AA44-C3FC-325E-8FC6DFF8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56D1F-2E1D-FE29-5994-582EF9D4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3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14EB-E9B9-9BD4-D4E0-30302E628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02A50-3B1A-7D90-B9B8-D1E2DE851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C56A1-6B12-931B-D1D8-C0310B7B4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15C09-7315-8D8A-4731-544E71AA5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893E6-EC34-C67F-C29D-E79183E4D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093C3-1226-7F41-2CF1-3EE9EC8E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9C8DB-5B7F-CC40-2F3F-89DA909F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D32F72-BE65-9621-61C7-6493AD19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8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2057-176F-4D73-3D8B-0F8D768E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7AB74-5E5B-FA46-A108-E3611E16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2BC8C-927A-EACA-64BE-44B2F5F3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19026-1DF7-26BE-FF91-9D848FD5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2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5514B-23FC-7A30-CFD0-20BBBE7B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FEA6D-47D8-6482-E89D-268BFEA9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6135-8576-1C43-29EC-DB08F2D4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66A8-2CD0-AEC7-2893-E9CD01F0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2A5B2-F446-42DD-967A-D712F4D05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915B1-28B3-6FC2-FFD9-0FA09A1F3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25306-AA1A-C1C4-6936-40F73CF7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AD9D9-2C19-BE02-5B30-25D3C9C0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D86F2-D67A-FC8B-8605-ED5B66FC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1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7C63-E71C-5B7C-A56A-1EEDB0B86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2334B-10AB-FD48-B904-D5F5D21F0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0D68F-3E7A-4CD9-60BD-604380565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A5067-332F-3E17-1AE7-6594E258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B753E-FB2D-3EC2-7EC7-5BDDE5E2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362-1FAF-509D-4935-510281D4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45CF-0D80-266A-067D-02DBE0FA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0493D-46E7-BBA5-A2A5-9C6BFAA66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1070-496F-1F77-F075-5719DAC2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DC74F-FEBC-9314-600F-7841C3F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2DD2-81F2-EFFD-2C59-72C42D8C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18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6F012-9A24-B4B4-DC08-AB7C598FF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08D6F-7B29-C58B-BE47-E7760B125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3CF0F-9EE0-BBDD-A108-2404CDF5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C454B-B811-490E-2C80-9F116F80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F943-9489-A182-2BED-9B472D3E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04A00-A3EE-A778-3672-88AD0822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862A5-EB0A-E013-5F0C-C4644D791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1BB08-72FF-F82E-80BC-EA7274A3A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505E3-0F32-624F-9B03-B6B531806578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ABCA0-5DC0-79D9-3542-45A247467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1809-DE01-2A23-00D2-273BF521D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FB74A-4DAE-B54B-BF2B-880DEFD74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7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pearson.com/en-us/subject-catalog/p/java-an-introduction-to-problem-solving-and-programming/P200000003282/9780134448398?srsltid=AfmBOoorYeHBLbl5Ryjz599QhvYkYVzYI1rkEEWyGFF5IJnkOu6jAtt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923B-8CB6-6D02-2EE9-6702A5692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17290" cy="2387600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070C0"/>
                </a:solidFill>
              </a:rPr>
              <a:t>COMP 2120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sz="4400" b="1" dirty="0">
                <a:solidFill>
                  <a:srgbClr val="0070C0"/>
                </a:solidFill>
              </a:rPr>
              <a:t>Object Oriented Programming Using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78AB6-3B65-DE93-B9F2-8B984F799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6"/>
            <a:ext cx="9144000" cy="3030775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sz="3800" b="1" dirty="0"/>
              <a:t>Muhammad Asaduzzaman</a:t>
            </a:r>
          </a:p>
          <a:p>
            <a:r>
              <a:rPr lang="en-US" sz="3800" b="1" dirty="0"/>
              <a:t>School of Computer Science</a:t>
            </a:r>
          </a:p>
          <a:p>
            <a:r>
              <a:rPr lang="en-US" sz="3800" b="1" dirty="0"/>
              <a:t>University of Windsor</a:t>
            </a:r>
            <a:br>
              <a:rPr lang="en-US" sz="3800" b="1" dirty="0"/>
            </a:br>
            <a:endParaRPr lang="en-US" sz="3800" b="1" dirty="0"/>
          </a:p>
          <a:p>
            <a:r>
              <a:rPr lang="en-US" sz="3800" b="1" dirty="0"/>
              <a:t>Inter/Summer,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4FF77-13E7-6A78-B37C-CDDE06A4E36F}"/>
              </a:ext>
            </a:extLst>
          </p:cNvPr>
          <p:cNvSpPr txBox="1"/>
          <p:nvPr/>
        </p:nvSpPr>
        <p:spPr>
          <a:xfrm>
            <a:off x="211015" y="15193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17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2244-93B9-8091-6AFC-362ACB7F5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342"/>
            <a:ext cx="10515600" cy="11426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70C0"/>
                </a:solidFill>
                <a:latin typeface="Calibri" panose="020F0502020204030204" pitchFamily="34" charset="0"/>
                <a:ea typeface="Palatino" pitchFamily="2" charset="77"/>
                <a:cs typeface="Calibri" panose="020F0502020204030204" pitchFamily="34" charset="0"/>
              </a:rPr>
              <a:t>About You</a:t>
            </a:r>
          </a:p>
        </p:txBody>
      </p:sp>
    </p:spTree>
    <p:extLst>
      <p:ext uri="{BB962C8B-B14F-4D97-AF65-F5344CB8AC3E}">
        <p14:creationId xmlns:p14="http://schemas.microsoft.com/office/powerpoint/2010/main" val="102779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691C-6857-E396-0077-25373054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About 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6E67A-8DE8-43FE-B156-179E36A9C502}"/>
              </a:ext>
            </a:extLst>
          </p:cNvPr>
          <p:cNvSpPr txBox="1"/>
          <p:nvPr/>
        </p:nvSpPr>
        <p:spPr>
          <a:xfrm>
            <a:off x="3317931" y="1720840"/>
            <a:ext cx="610359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Assistant Professor</a:t>
            </a:r>
          </a:p>
          <a:p>
            <a:r>
              <a:rPr lang="en-US" sz="2400" dirty="0"/>
              <a:t>School of Computer Science</a:t>
            </a:r>
          </a:p>
          <a:p>
            <a:r>
              <a:rPr lang="en-US" sz="2400" dirty="0"/>
              <a:t>masaduzz@uwindsor.ca</a:t>
            </a:r>
          </a:p>
          <a:p>
            <a:r>
              <a:rPr lang="en-US" sz="2400" dirty="0"/>
              <a:t>https://muhammad-asaduzzaman.github.io/</a:t>
            </a:r>
          </a:p>
          <a:p>
            <a:endParaRPr lang="en-US" sz="2400" dirty="0"/>
          </a:p>
          <a:p>
            <a:pPr algn="l"/>
            <a:r>
              <a:rPr lang="en-US" sz="2400" u="sng" dirty="0"/>
              <a:t>Office Location</a:t>
            </a:r>
            <a:br>
              <a:rPr lang="en-US" sz="2400" dirty="0"/>
            </a:br>
            <a:r>
              <a:rPr lang="en-CA" sz="2400" b="1" i="0" dirty="0">
                <a:effectLst/>
                <a:latin typeface="Courier New" panose="02070309020205020404" pitchFamily="49" charset="0"/>
              </a:rPr>
              <a:t>Lambton Tower (LT. 8114)</a:t>
            </a:r>
          </a:p>
          <a:p>
            <a:pPr algn="l"/>
            <a:r>
              <a:rPr lang="en-CA" sz="2400" b="1" i="0" dirty="0">
                <a:effectLst/>
                <a:latin typeface="Courier New" panose="02070309020205020404" pitchFamily="49" charset="0"/>
              </a:rPr>
              <a:t>455 Sunset Ave</a:t>
            </a:r>
          </a:p>
          <a:p>
            <a:pPr algn="l"/>
            <a:r>
              <a:rPr lang="en-CA" sz="2400" b="1" i="0" dirty="0">
                <a:effectLst/>
                <a:latin typeface="Courier New" panose="02070309020205020404" pitchFamily="49" charset="0"/>
              </a:rPr>
              <a:t>Windsor, ON N9B 3P4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F3660-0200-6E9C-5D1B-F0B8DA2C88F5}"/>
              </a:ext>
            </a:extLst>
          </p:cNvPr>
          <p:cNvSpPr txBox="1"/>
          <p:nvPr/>
        </p:nvSpPr>
        <p:spPr>
          <a:xfrm>
            <a:off x="618978" y="5345723"/>
            <a:ext cx="110290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Research Interests: </a:t>
            </a:r>
          </a:p>
          <a:p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S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oftware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M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aintenance and Evolution</a:t>
            </a:r>
            <a:r>
              <a:rPr lang="en-CA" sz="2400" b="0" i="0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Mining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S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oftware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R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epositories</a:t>
            </a:r>
            <a:r>
              <a:rPr lang="en-CA" sz="2400" b="0" i="0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Program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C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omprehension</a:t>
            </a:r>
            <a:r>
              <a:rPr lang="en-CA" sz="2400" b="0" i="0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, and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R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ecommendation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S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ystems in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S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oftware </a:t>
            </a:r>
            <a:r>
              <a:rPr lang="en-CA" sz="2400" u="sng" dirty="0">
                <a:solidFill>
                  <a:srgbClr val="0070C0"/>
                </a:solidFill>
                <a:latin typeface="Roboto" panose="02000000000000000000" pitchFamily="2" charset="0"/>
              </a:rPr>
              <a:t>E</a:t>
            </a:r>
            <a:r>
              <a:rPr lang="en-CA" sz="2400" b="0" i="0" u="sng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ngineering</a:t>
            </a:r>
            <a:endParaRPr lang="en-US" sz="2400" u="sng" dirty="0">
              <a:solidFill>
                <a:srgbClr val="0070C0"/>
              </a:solidFill>
            </a:endParaRPr>
          </a:p>
        </p:txBody>
      </p:sp>
      <p:pic>
        <p:nvPicPr>
          <p:cNvPr id="4" name="Picture 3" descr="Medium shot of a person wearing glasses&#10;&#10;Description automatically generated">
            <a:extLst>
              <a:ext uri="{FF2B5EF4-FFF2-40B4-BE49-F238E27FC236}">
                <a16:creationId xmlns:a16="http://schemas.microsoft.com/office/drawing/2014/main" id="{E954321E-7CC5-526C-3F8E-455745C9A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9" y="1824745"/>
            <a:ext cx="2698953" cy="338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2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FB6E-F3D8-E9C1-9941-EB14CD053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About Our TAs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2ACCC8-CAC9-4505-AC2F-BD811BE36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777867"/>
              </p:ext>
            </p:extLst>
          </p:nvPr>
        </p:nvGraphicFramePr>
        <p:xfrm>
          <a:off x="2905266" y="2321856"/>
          <a:ext cx="9052272" cy="534572"/>
        </p:xfrm>
        <a:graphic>
          <a:graphicData uri="http://schemas.openxmlformats.org/drawingml/2006/table">
            <a:tbl>
              <a:tblPr/>
              <a:tblGrid>
                <a:gridCol w="2048369">
                  <a:extLst>
                    <a:ext uri="{9D8B030D-6E8A-4147-A177-3AD203B41FA5}">
                      <a16:colId xmlns:a16="http://schemas.microsoft.com/office/drawing/2014/main" val="1298210061"/>
                    </a:ext>
                  </a:extLst>
                </a:gridCol>
                <a:gridCol w="1671742">
                  <a:extLst>
                    <a:ext uri="{9D8B030D-6E8A-4147-A177-3AD203B41FA5}">
                      <a16:colId xmlns:a16="http://schemas.microsoft.com/office/drawing/2014/main" val="2601696824"/>
                    </a:ext>
                  </a:extLst>
                </a:gridCol>
                <a:gridCol w="3447477">
                  <a:extLst>
                    <a:ext uri="{9D8B030D-6E8A-4147-A177-3AD203B41FA5}">
                      <a16:colId xmlns:a16="http://schemas.microsoft.com/office/drawing/2014/main" val="2989968687"/>
                    </a:ext>
                  </a:extLst>
                </a:gridCol>
                <a:gridCol w="1884684">
                  <a:extLst>
                    <a:ext uri="{9D8B030D-6E8A-4147-A177-3AD203B41FA5}">
                      <a16:colId xmlns:a16="http://schemas.microsoft.com/office/drawing/2014/main" val="113229266"/>
                    </a:ext>
                  </a:extLst>
                </a:gridCol>
              </a:tblGrid>
              <a:tr h="534572">
                <a:tc>
                  <a:txBody>
                    <a:bodyPr/>
                    <a:lstStyle/>
                    <a:p>
                      <a:r>
                        <a:rPr lang="en-CA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Mehedi 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Shanto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shanto1@windsor.ca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PHD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097155"/>
                  </a:ext>
                </a:extLst>
              </a:tr>
            </a:tbl>
          </a:graphicData>
        </a:graphic>
      </p:graphicFrame>
      <p:pic>
        <p:nvPicPr>
          <p:cNvPr id="5" name="Google Shape;137;p13">
            <a:extLst>
              <a:ext uri="{FF2B5EF4-FFF2-40B4-BE49-F238E27FC236}">
                <a16:creationId xmlns:a16="http://schemas.microsoft.com/office/drawing/2014/main" id="{3CA3771F-15D9-C7E2-083D-362B967EF8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532" r="13510" b="16729"/>
          <a:stretch/>
        </p:blipFill>
        <p:spPr>
          <a:xfrm>
            <a:off x="952576" y="1587917"/>
            <a:ext cx="1711704" cy="200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Web Developer&quot; Illustration - Download ...">
            <a:extLst>
              <a:ext uri="{FF2B5EF4-FFF2-40B4-BE49-F238E27FC236}">
                <a16:creationId xmlns:a16="http://schemas.microsoft.com/office/drawing/2014/main" id="{568DAD4C-9423-B9C9-D5FF-5B597F6CF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76" y="4296333"/>
            <a:ext cx="1713520" cy="175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29445B-8E4A-2F73-3B03-6DFA58C10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227305"/>
              </p:ext>
            </p:extLst>
          </p:nvPr>
        </p:nvGraphicFramePr>
        <p:xfrm>
          <a:off x="2905266" y="4919172"/>
          <a:ext cx="9052272" cy="506437"/>
        </p:xfrm>
        <a:graphic>
          <a:graphicData uri="http://schemas.openxmlformats.org/drawingml/2006/table">
            <a:tbl>
              <a:tblPr/>
              <a:tblGrid>
                <a:gridCol w="2048369">
                  <a:extLst>
                    <a:ext uri="{9D8B030D-6E8A-4147-A177-3AD203B41FA5}">
                      <a16:colId xmlns:a16="http://schemas.microsoft.com/office/drawing/2014/main" val="1298210061"/>
                    </a:ext>
                  </a:extLst>
                </a:gridCol>
                <a:gridCol w="1671742">
                  <a:extLst>
                    <a:ext uri="{9D8B030D-6E8A-4147-A177-3AD203B41FA5}">
                      <a16:colId xmlns:a16="http://schemas.microsoft.com/office/drawing/2014/main" val="2601696824"/>
                    </a:ext>
                  </a:extLst>
                </a:gridCol>
                <a:gridCol w="3447477">
                  <a:extLst>
                    <a:ext uri="{9D8B030D-6E8A-4147-A177-3AD203B41FA5}">
                      <a16:colId xmlns:a16="http://schemas.microsoft.com/office/drawing/2014/main" val="2989968687"/>
                    </a:ext>
                  </a:extLst>
                </a:gridCol>
                <a:gridCol w="1884684">
                  <a:extLst>
                    <a:ext uri="{9D8B030D-6E8A-4147-A177-3AD203B41FA5}">
                      <a16:colId xmlns:a16="http://schemas.microsoft.com/office/drawing/2014/main" val="113229266"/>
                    </a:ext>
                  </a:extLst>
                </a:gridCol>
              </a:tblGrid>
              <a:tr h="506437">
                <a:tc>
                  <a:txBody>
                    <a:bodyPr/>
                    <a:lstStyle/>
                    <a:p>
                      <a:r>
                        <a:rPr lang="en-CA" sz="28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Jenish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Modi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modi8a@uwindsor.ca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MSC</a:t>
                      </a:r>
                      <a:endParaRPr lang="en-CA" sz="2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6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953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7DC0-C25A-A51F-534A-CE569CD4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How to Reach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F7DA3-2668-9D35-CC3E-543F051CE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Send email to masaduzz@uwindsor.ca</a:t>
            </a:r>
          </a:p>
          <a:p>
            <a:pPr marL="0" indent="0">
              <a:buNone/>
            </a:pPr>
            <a:r>
              <a:rPr lang="en-US" dirty="0"/>
              <a:t>Please put </a:t>
            </a:r>
            <a:r>
              <a:rPr lang="en-US" dirty="0">
                <a:solidFill>
                  <a:srgbClr val="0070C0"/>
                </a:solidFill>
              </a:rPr>
              <a:t>[COMP 2120]</a:t>
            </a:r>
            <a:r>
              <a:rPr lang="en-US" dirty="0"/>
              <a:t> in the subject of the email so that I can read your emails in a very organized way.</a:t>
            </a:r>
            <a:br>
              <a:rPr lang="en-US" dirty="0"/>
            </a:b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Office Hours: Monday 10:00 AM – 12:00 PM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also contact individual TAs using the email addresses listed in the previous page.</a:t>
            </a:r>
          </a:p>
        </p:txBody>
      </p:sp>
    </p:spTree>
    <p:extLst>
      <p:ext uri="{BB962C8B-B14F-4D97-AF65-F5344CB8AC3E}">
        <p14:creationId xmlns:p14="http://schemas.microsoft.com/office/powerpoint/2010/main" val="3982879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ABCB-143E-41B5-2874-472E3154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How to help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44DAC-3FAC-C0D5-CADF-EB4CA0159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Please help us to create a better learning environment:</a:t>
            </a:r>
          </a:p>
          <a:p>
            <a:pPr lvl="1"/>
            <a:r>
              <a:rPr lang="en-US" dirty="0"/>
              <a:t>Keep your phone silent</a:t>
            </a:r>
          </a:p>
          <a:p>
            <a:pPr lvl="1"/>
            <a:r>
              <a:rPr lang="en-US" dirty="0"/>
              <a:t>Don’t use your phones during the lectures</a:t>
            </a:r>
          </a:p>
          <a:p>
            <a:pPr lvl="1"/>
            <a:r>
              <a:rPr lang="en-US" dirty="0"/>
              <a:t>No social media, instant messages, or games</a:t>
            </a:r>
          </a:p>
          <a:p>
            <a:pPr lvl="1"/>
            <a:r>
              <a:rPr lang="en-US" dirty="0"/>
              <a:t>Use your common sense</a:t>
            </a:r>
          </a:p>
          <a:p>
            <a:pPr lvl="1"/>
            <a:r>
              <a:rPr lang="en-US" dirty="0"/>
              <a:t>Ask me if you are not sure </a:t>
            </a:r>
            <a:r>
              <a:rPr lang="en-US" dirty="0">
                <a:sym typeface="Wingdings" pitchFamily="2" charset="2"/>
              </a:rPr>
              <a:t> I am here to help you!</a:t>
            </a:r>
            <a:endParaRPr lang="en-US" dirty="0"/>
          </a:p>
        </p:txBody>
      </p:sp>
      <p:pic>
        <p:nvPicPr>
          <p:cNvPr id="6146" name="Picture 2" descr="No message Stock Photos, Royalty Free ...">
            <a:extLst>
              <a:ext uri="{FF2B5EF4-FFF2-40B4-BE49-F238E27FC236}">
                <a16:creationId xmlns:a16="http://schemas.microsoft.com/office/drawing/2014/main" id="{64F4AA19-7C07-8546-16FB-AA0E7DD3F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881" y="4612225"/>
            <a:ext cx="1564738" cy="156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no more facebook | casa azahar">
            <a:extLst>
              <a:ext uri="{FF2B5EF4-FFF2-40B4-BE49-F238E27FC236}">
                <a16:creationId xmlns:a16="http://schemas.microsoft.com/office/drawing/2014/main" id="{C4E48C22-0177-4C29-563A-7735F2BF0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266" y="4895557"/>
            <a:ext cx="1442877" cy="1100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525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0E82-E072-C9B0-3168-0A05F1114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Textbook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ED3E3E-EB1D-1329-A26D-16FA5E90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2763" y="1479141"/>
            <a:ext cx="1093528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Java: An Introduction to Problem Solving and Programming (8e) by Walter </a:t>
            </a:r>
            <a:r>
              <a:rPr kumimoji="0" lang="en-US" altLang="en-US" sz="3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Savitch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Java: An Introduction to Problem Solving and Programming">
            <a:extLst>
              <a:ext uri="{FF2B5EF4-FFF2-40B4-BE49-F238E27FC236}">
                <a16:creationId xmlns:a16="http://schemas.microsoft.com/office/drawing/2014/main" id="{BE92BE74-B5D8-207A-AA91-38477A4BD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142" y="2731542"/>
            <a:ext cx="3040771" cy="376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62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B247-7CCE-8C74-0C3E-847BE1532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Timetable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06A4E-E4FE-B11F-F0DF-532A1A54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Monday &amp; Wednesday, </a:t>
            </a:r>
            <a:r>
              <a:rPr lang="en-CA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n-CA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:30 </a:t>
            </a:r>
            <a:r>
              <a:rPr lang="en-CA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CA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 – 9:50 PM </a:t>
            </a:r>
          </a:p>
          <a:p>
            <a:pPr marL="0" indent="0">
              <a:buNone/>
            </a:pPr>
            <a:r>
              <a:rPr lang="en-CA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CA" sz="3600" b="0" i="0" dirty="0"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Erie Hall 1118</a:t>
            </a:r>
            <a:r>
              <a:rPr lang="en-CA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8382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D26B-C98A-0D7E-A40A-603ED73F7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BE25-E584-8AD9-98E1-BA767960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Timetable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1B72CE-CD91-0D64-F540-F19D61F78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85480"/>
              </p:ext>
            </p:extLst>
          </p:nvPr>
        </p:nvGraphicFramePr>
        <p:xfrm>
          <a:off x="436098" y="1997806"/>
          <a:ext cx="11268222" cy="28696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99770">
                  <a:extLst>
                    <a:ext uri="{9D8B030D-6E8A-4147-A177-3AD203B41FA5}">
                      <a16:colId xmlns:a16="http://schemas.microsoft.com/office/drawing/2014/main" val="2237765343"/>
                    </a:ext>
                  </a:extLst>
                </a:gridCol>
                <a:gridCol w="4887627">
                  <a:extLst>
                    <a:ext uri="{9D8B030D-6E8A-4147-A177-3AD203B41FA5}">
                      <a16:colId xmlns:a16="http://schemas.microsoft.com/office/drawing/2014/main" val="2247237355"/>
                    </a:ext>
                  </a:extLst>
                </a:gridCol>
                <a:gridCol w="3080825">
                  <a:extLst>
                    <a:ext uri="{9D8B030D-6E8A-4147-A177-3AD203B41FA5}">
                      <a16:colId xmlns:a16="http://schemas.microsoft.com/office/drawing/2014/main" val="989781736"/>
                    </a:ext>
                  </a:extLst>
                </a:gridCol>
              </a:tblGrid>
              <a:tr h="956539">
                <a:tc>
                  <a:txBody>
                    <a:bodyPr/>
                    <a:lstStyle/>
                    <a:p>
                      <a:pPr algn="ctr"/>
                      <a:r>
                        <a:rPr lang="en-CA" sz="3200" dirty="0">
                          <a:effectLst/>
                        </a:rPr>
                        <a:t>Lab Sections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3200" dirty="0">
                          <a:effectLst/>
                        </a:rPr>
                        <a:t>Time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3200" dirty="0">
                          <a:effectLst/>
                        </a:rPr>
                        <a:t>Location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156935"/>
                  </a:ext>
                </a:extLst>
              </a:tr>
              <a:tr h="956539">
                <a:tc>
                  <a:txBody>
                    <a:bodyPr/>
                    <a:lstStyle/>
                    <a:p>
                      <a:pPr algn="ctr"/>
                      <a:r>
                        <a:rPr lang="en-CA" sz="3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Section 51</a:t>
                      </a:r>
                      <a:endParaRPr lang="en-CA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3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Monday (1:00 PM-2:20 PM)</a:t>
                      </a:r>
                      <a:endParaRPr lang="en-CA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3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Erie Hall 3119</a:t>
                      </a:r>
                      <a:endParaRPr lang="en-CA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9575075"/>
                  </a:ext>
                </a:extLst>
              </a:tr>
              <a:tr h="956539">
                <a:tc>
                  <a:txBody>
                    <a:bodyPr/>
                    <a:lstStyle/>
                    <a:p>
                      <a:pPr algn="ctr"/>
                      <a:r>
                        <a:rPr lang="en-CA" sz="3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Section 52</a:t>
                      </a:r>
                      <a:endParaRPr lang="en-CA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3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Monday (4:00 PM-5:20 PM)</a:t>
                      </a:r>
                      <a:endParaRPr lang="en-CA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CA" sz="3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Erie Hall 3119</a:t>
                      </a:r>
                      <a:endParaRPr lang="en-CA" sz="3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04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15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58B8-14A6-4EFE-62A9-DD865F269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Evaluation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A04648-1DDE-1788-F224-024A6A567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742992"/>
              </p:ext>
            </p:extLst>
          </p:nvPr>
        </p:nvGraphicFramePr>
        <p:xfrm>
          <a:off x="1167618" y="1578146"/>
          <a:ext cx="9278156" cy="4405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33020">
                  <a:extLst>
                    <a:ext uri="{9D8B030D-6E8A-4147-A177-3AD203B41FA5}">
                      <a16:colId xmlns:a16="http://schemas.microsoft.com/office/drawing/2014/main" val="1708836425"/>
                    </a:ext>
                  </a:extLst>
                </a:gridCol>
                <a:gridCol w="2452418">
                  <a:extLst>
                    <a:ext uri="{9D8B030D-6E8A-4147-A177-3AD203B41FA5}">
                      <a16:colId xmlns:a16="http://schemas.microsoft.com/office/drawing/2014/main" val="2175294839"/>
                    </a:ext>
                  </a:extLst>
                </a:gridCol>
                <a:gridCol w="3092718">
                  <a:extLst>
                    <a:ext uri="{9D8B030D-6E8A-4147-A177-3AD203B41FA5}">
                      <a16:colId xmlns:a16="http://schemas.microsoft.com/office/drawing/2014/main" val="2024309864"/>
                    </a:ext>
                  </a:extLst>
                </a:gridCol>
              </a:tblGrid>
              <a:tr h="1037175"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Marks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8216080"/>
                  </a:ext>
                </a:extLst>
              </a:tr>
              <a:tr h="774993"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</a:rPr>
                        <a:t>Class Participation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10%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</a:rPr>
                        <a:t>End of class quiz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5995066"/>
                  </a:ext>
                </a:extLst>
              </a:tr>
              <a:tr h="518587"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Assignment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12%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3 Assignments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9232062"/>
                  </a:ext>
                </a:extLst>
              </a:tr>
              <a:tr h="518587"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</a:rPr>
                        <a:t>Labs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16%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8 Lab Activities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894343"/>
                  </a:ext>
                </a:extLst>
              </a:tr>
              <a:tr h="1037175"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Midterm Exam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22%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</a:rPr>
                        <a:t>Wednesday, June 25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3038738"/>
                  </a:ext>
                </a:extLst>
              </a:tr>
              <a:tr h="518587"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Final Exam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>
                          <a:effectLst/>
                        </a:rPr>
                        <a:t>40%</a:t>
                      </a:r>
                      <a:endParaRPr lang="en-CA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en-CA" sz="3200" dirty="0">
                          <a:effectLst/>
                        </a:rPr>
                        <a:t>TBA</a:t>
                      </a:r>
                      <a:endParaRPr lang="en-CA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7132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00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7151-42A8-D6CE-3DEB-DFF307B9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How to be successful in this course?</a:t>
            </a:r>
          </a:p>
        </p:txBody>
      </p:sp>
      <p:pic>
        <p:nvPicPr>
          <p:cNvPr id="5122" name="Picture 2" descr="Practice doesn't make perfect. It makes ...">
            <a:extLst>
              <a:ext uri="{FF2B5EF4-FFF2-40B4-BE49-F238E27FC236}">
                <a16:creationId xmlns:a16="http://schemas.microsoft.com/office/drawing/2014/main" id="{0CEE20D3-82E1-97A9-6417-D061D26DA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510" y="1092994"/>
            <a:ext cx="27940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7AD82-72BD-C9E7-4430-C5D0404A2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Attend lectures</a:t>
            </a:r>
          </a:p>
          <a:p>
            <a:r>
              <a:rPr lang="en-US" dirty="0"/>
              <a:t>Attend and practice in lab sessions</a:t>
            </a:r>
          </a:p>
          <a:p>
            <a:r>
              <a:rPr lang="en-US" dirty="0"/>
              <a:t>Finish assignments</a:t>
            </a:r>
          </a:p>
          <a:p>
            <a:r>
              <a:rPr lang="en-US" dirty="0"/>
              <a:t>Practice at home</a:t>
            </a:r>
          </a:p>
          <a:p>
            <a:r>
              <a:rPr lang="en-US" dirty="0"/>
              <a:t>Read resources (textbook and recommended resources)</a:t>
            </a:r>
          </a:p>
          <a:p>
            <a:r>
              <a:rPr lang="en-US" dirty="0"/>
              <a:t>Practice, again</a:t>
            </a:r>
          </a:p>
        </p:txBody>
      </p:sp>
    </p:spTree>
    <p:extLst>
      <p:ext uri="{BB962C8B-B14F-4D97-AF65-F5344CB8AC3E}">
        <p14:creationId xmlns:p14="http://schemas.microsoft.com/office/powerpoint/2010/main" val="2357943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53C0-D52D-0F72-910F-93F4B04D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Topics We Plan to Cover (Tentative)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E60583F-7DAB-2FCF-125A-131BA30DD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3883" y="1550249"/>
            <a:ext cx="651550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Introduction to Java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Basic Computation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Control Flow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Classes and Methods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Objects and Methods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Arrays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Inheritance, Polymorphism and Interfaces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Exception Handling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Recursion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Generics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Input/Output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Window Interfaces Using Swing (Time Permitted)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FDEB52-586D-B65D-7901-DFBD2454E983}"/>
              </a:ext>
            </a:extLst>
          </p:cNvPr>
          <p:cNvSpPr txBox="1"/>
          <p:nvPr/>
        </p:nvSpPr>
        <p:spPr>
          <a:xfrm>
            <a:off x="382292" y="6351563"/>
            <a:ext cx="11809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instructor reserves the right to change the outline to accommodate student pace and understanding of the subject matter.)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7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8390-60AA-5564-1253-4D445D54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56EDA-FDDB-C204-C7E2-E5B9C00A9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C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 the end of the course, the successful student will know and be able to:</a:t>
            </a:r>
            <a:endParaRPr lang="en-C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Write, compile, execute and debug Java programs</a:t>
            </a:r>
          </a:p>
        </p:txBody>
      </p:sp>
    </p:spTree>
    <p:extLst>
      <p:ext uri="{BB962C8B-B14F-4D97-AF65-F5344CB8AC3E}">
        <p14:creationId xmlns:p14="http://schemas.microsoft.com/office/powerpoint/2010/main" val="467915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FE9B-D6FF-7602-A7F2-7E7B26A5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FBD8-8348-FC87-F8E3-2470B949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201D-DF97-B755-5D3C-D1B64FAB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C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 the end of the course, the successful student will know and be able to:</a:t>
            </a:r>
            <a:endParaRPr lang="en-C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Write, compile, execute and debug Java programs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Understand object-oriented programming principles</a:t>
            </a:r>
          </a:p>
        </p:txBody>
      </p:sp>
    </p:spTree>
    <p:extLst>
      <p:ext uri="{BB962C8B-B14F-4D97-AF65-F5344CB8AC3E}">
        <p14:creationId xmlns:p14="http://schemas.microsoft.com/office/powerpoint/2010/main" val="1592014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F423C-C5E5-F314-095C-3B035551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B889-E915-4FCF-0DC7-A6C1C005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2624B-5E3F-842E-755A-6F2761D8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C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 the end of the course, the successful student will know and be able to:</a:t>
            </a:r>
            <a:endParaRPr lang="en-C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Write, compile, execute and debug Java programs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Understand object-oriented programming principles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 code to solve real-world problems using objects	</a:t>
            </a:r>
          </a:p>
        </p:txBody>
      </p:sp>
    </p:spTree>
    <p:extLst>
      <p:ext uri="{BB962C8B-B14F-4D97-AF65-F5344CB8AC3E}">
        <p14:creationId xmlns:p14="http://schemas.microsoft.com/office/powerpoint/2010/main" val="2823459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DDD63-80DA-0850-9CB4-62092C223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2D1C-FEBA-C48C-7AFF-E275A260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EB1D3-7BFA-6ECB-6813-EBD922635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C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 the end of the course, the successful student will know and be able to:</a:t>
            </a:r>
            <a:endParaRPr lang="en-C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Write, compile, execute and debug Java programs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Understand object-oriented programming principles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 code to solve real-world problems using objects	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Explain and use exception handling mechanism in Java programs</a:t>
            </a:r>
          </a:p>
        </p:txBody>
      </p:sp>
    </p:spTree>
    <p:extLst>
      <p:ext uri="{BB962C8B-B14F-4D97-AF65-F5344CB8AC3E}">
        <p14:creationId xmlns:p14="http://schemas.microsoft.com/office/powerpoint/2010/main" val="2878483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10315-F587-C824-01F8-E54D8C37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9F16-1191-466B-D195-B92BA4A5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3AA01-F99C-AAF3-D5CB-EB041FC11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CA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 the end of the course, the successful student will know and be able to:</a:t>
            </a:r>
            <a:endParaRPr lang="en-CA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Write, compile, execute and debug Java programs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Understand object-oriented programming principles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 code to solve real-world problems using objects	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Explain and use exception handling mechanism in Java programs</a:t>
            </a:r>
          </a:p>
          <a:p>
            <a:pPr marL="342900" lvl="0" indent="-342900">
              <a:buFont typeface="Symbol" pitchFamily="2" charset="2"/>
              <a:buChar char=""/>
              <a:tabLst>
                <a:tab pos="2133600" algn="l"/>
              </a:tabLst>
            </a:pPr>
            <a:r>
              <a:rPr lang="en-CA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Understand and use graphical user interfaces using Java libraries</a:t>
            </a:r>
            <a:r>
              <a:rPr lang="en-CA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225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BD2E7-D454-3643-EC70-352DC679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B7A13-80A0-3F99-8C57-E04820584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933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Pure OOP</a:t>
            </a:r>
          </a:p>
          <a:p>
            <a:pPr lvl="1"/>
            <a:r>
              <a:rPr lang="en-US" dirty="0"/>
              <a:t>Statically typed programming language</a:t>
            </a:r>
          </a:p>
          <a:p>
            <a:pPr lvl="1"/>
            <a:r>
              <a:rPr lang="en-US" dirty="0"/>
              <a:t>A popular programming language</a:t>
            </a:r>
          </a:p>
          <a:p>
            <a:pPr lvl="1"/>
            <a:r>
              <a:rPr lang="en-US" dirty="0"/>
              <a:t>Platform independent: "write once, run anywhere" (WORA)</a:t>
            </a:r>
          </a:p>
          <a:p>
            <a:pPr lvl="1"/>
            <a:r>
              <a:rPr lang="en-US" dirty="0"/>
              <a:t>Syntax of expressions and assignments are similar to that of other high-level languages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FF3F5D2-83D6-7856-C7E9-006C3C3F2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14" y="3854548"/>
            <a:ext cx="9115971" cy="280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2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C8A3-B876-B779-3F5A-DAF5A3E6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Procedural Programming</a:t>
            </a:r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2D3980E5-2913-024C-FC91-C033E8EDEDDE}"/>
              </a:ext>
            </a:extLst>
          </p:cNvPr>
          <p:cNvGrpSpPr>
            <a:grpSpLocks/>
          </p:cNvGrpSpPr>
          <p:nvPr/>
        </p:nvGrpSpPr>
        <p:grpSpPr bwMode="auto">
          <a:xfrm>
            <a:off x="1586157" y="1831201"/>
            <a:ext cx="8285161" cy="2374900"/>
            <a:chOff x="113" y="709"/>
            <a:chExt cx="5219" cy="1496"/>
          </a:xfrm>
        </p:grpSpPr>
        <p:sp>
          <p:nvSpPr>
            <p:cNvPr id="5" name="Line 12">
              <a:extLst>
                <a:ext uri="{FF2B5EF4-FFF2-40B4-BE49-F238E27FC236}">
                  <a16:creationId xmlns:a16="http://schemas.microsoft.com/office/drawing/2014/main" id="{FB637A62-8587-9512-DB4E-09CE790F33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4" y="1071"/>
              <a:ext cx="5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" name="Line 13">
              <a:extLst>
                <a:ext uri="{FF2B5EF4-FFF2-40B4-BE49-F238E27FC236}">
                  <a16:creationId xmlns:a16="http://schemas.microsoft.com/office/drawing/2014/main" id="{5B4BFC19-1951-9001-1626-50BDD3D773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89" y="1298"/>
              <a:ext cx="545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" name="Line 14">
              <a:extLst>
                <a:ext uri="{FF2B5EF4-FFF2-40B4-BE49-F238E27FC236}">
                  <a16:creationId xmlns:a16="http://schemas.microsoft.com/office/drawing/2014/main" id="{1C9ADD7C-456B-E9C8-9953-2807C6B557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89" y="1389"/>
              <a:ext cx="545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8" name="Line 15">
              <a:extLst>
                <a:ext uri="{FF2B5EF4-FFF2-40B4-BE49-F238E27FC236}">
                  <a16:creationId xmlns:a16="http://schemas.microsoft.com/office/drawing/2014/main" id="{1B11D6B2-70F6-04FD-A6C3-D44BADF89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98" y="709"/>
              <a:ext cx="0" cy="1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9" name="Group 22">
              <a:extLst>
                <a:ext uri="{FF2B5EF4-FFF2-40B4-BE49-F238E27FC236}">
                  <a16:creationId xmlns:a16="http://schemas.microsoft.com/office/drawing/2014/main" id="{622C82D8-6C7D-8368-53BE-E8C4A2D37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709"/>
              <a:ext cx="2994" cy="1496"/>
              <a:chOff x="113" y="709"/>
              <a:chExt cx="2994" cy="1496"/>
            </a:xfrm>
          </p:grpSpPr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9B67A820-0069-5562-D451-1BCFDC6D2F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8" y="890"/>
                <a:ext cx="1688" cy="12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1800" i="1" dirty="0" err="1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Struct</a:t>
                </a: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  account {</a:t>
                </a: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     char * owner;</a:t>
                </a: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     </a:t>
                </a:r>
                <a:r>
                  <a:rPr lang="en-US" altLang="zh-CN" sz="1800" i="1" dirty="0" err="1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int</a:t>
                </a: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 </a:t>
                </a:r>
                <a:r>
                  <a:rPr lang="en-US" altLang="zh-CN" sz="1800" i="1" dirty="0" err="1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accountId</a:t>
                </a: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;</a:t>
                </a: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     float balance;</a:t>
                </a: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     float </a:t>
                </a:r>
                <a:r>
                  <a:rPr lang="en-US" altLang="zh-CN" sz="1800" i="1" dirty="0" err="1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interestRate</a:t>
                </a: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;</a:t>
                </a: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    char </a:t>
                </a:r>
                <a:r>
                  <a:rPr lang="en-US" altLang="zh-CN" sz="1800" i="1" dirty="0" err="1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accountType</a:t>
                </a: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;</a:t>
                </a: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1800" i="1" dirty="0">
                    <a:solidFill>
                      <a:schemeClr val="tx1">
                        <a:lumMod val="85000"/>
                      </a:schemeClr>
                    </a:solidFill>
                    <a:ea typeface="楷体_GB2312" pitchFamily="49" charset="-122"/>
                    <a:cs typeface="Arial" charset="0"/>
                  </a:rPr>
                  <a:t>};</a:t>
                </a:r>
              </a:p>
            </p:txBody>
          </p:sp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B576547F-6F54-FCFB-5450-0652268CC5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" y="1253"/>
                <a:ext cx="1152" cy="3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2000" dirty="0">
                    <a:solidFill>
                      <a:srgbClr val="0000A2"/>
                    </a:solidFill>
                    <a:ea typeface="楷体_GB2312" pitchFamily="49" charset="-122"/>
                    <a:cs typeface="Arial" charset="0"/>
                  </a:rPr>
                  <a:t>Data Structure: </a:t>
                </a: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  <a:defRPr/>
                </a:pPr>
                <a:r>
                  <a:rPr lang="en-US" altLang="zh-CN" sz="2000" dirty="0">
                    <a:solidFill>
                      <a:srgbClr val="0000A2"/>
                    </a:solidFill>
                    <a:ea typeface="楷体_GB2312" pitchFamily="49" charset="-122"/>
                    <a:cs typeface="Arial" charset="0"/>
                  </a:rPr>
                  <a:t>Bank Account</a:t>
                </a:r>
                <a:endParaRPr lang="zh-CN" altLang="en-US" sz="2000" dirty="0">
                  <a:solidFill>
                    <a:srgbClr val="0000A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楷体_GB2312" pitchFamily="49" charset="-122"/>
                  <a:cs typeface="Arial" charset="0"/>
                </a:endParaRPr>
              </a:p>
            </p:txBody>
          </p:sp>
          <p:sp>
            <p:nvSpPr>
              <p:cNvPr id="15" name="Oval 21">
                <a:extLst>
                  <a:ext uri="{FF2B5EF4-FFF2-40B4-BE49-F238E27FC236}">
                    <a16:creationId xmlns:a16="http://schemas.microsoft.com/office/drawing/2014/main" id="{E189A2E3-0C3D-D272-B6FB-B9BCC47F9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" y="709"/>
                <a:ext cx="2994" cy="1496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" name="Text Box 24">
              <a:extLst>
                <a:ext uri="{FF2B5EF4-FFF2-40B4-BE49-F238E27FC236}">
                  <a16:creationId xmlns:a16="http://schemas.microsoft.com/office/drawing/2014/main" id="{C6C8FDF8-F724-31CB-D204-4EC1ED3D6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935"/>
              <a:ext cx="1785" cy="25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chemeClr val="tx1">
                      <a:lumMod val="85000"/>
                    </a:schemeClr>
                  </a:solidFill>
                  <a:cs typeface="Arial" charset="0"/>
                </a:rPr>
                <a:t>Procedure 1: Deposit() {...}</a:t>
              </a:r>
            </a:p>
          </p:txBody>
        </p:sp>
        <p:sp>
          <p:nvSpPr>
            <p:cNvPr id="11" name="Text Box 25">
              <a:extLst>
                <a:ext uri="{FF2B5EF4-FFF2-40B4-BE49-F238E27FC236}">
                  <a16:creationId xmlns:a16="http://schemas.microsoft.com/office/drawing/2014/main" id="{0C9C3CBF-B1B3-B9BC-1D3B-7B671E80D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253"/>
              <a:ext cx="1998" cy="25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chemeClr val="tx1">
                      <a:lumMod val="85000"/>
                    </a:schemeClr>
                  </a:solidFill>
                  <a:cs typeface="Arial" charset="0"/>
                </a:rPr>
                <a:t>Procedure 2: Withdraw() {...}</a:t>
              </a:r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656FFE7B-334B-C72B-F865-CA2DB0514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616"/>
              <a:ext cx="1878" cy="25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chemeClr val="tx1">
                      <a:lumMod val="85000"/>
                    </a:schemeClr>
                  </a:solidFill>
                  <a:cs typeface="Arial" charset="0"/>
                </a:rPr>
                <a:t>Procedure 3: Transfer() {...}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69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8DFD-2A93-CBD7-4EE2-2F988FCB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EEB06-6A8B-E28D-D535-4AAB069DF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Programs are organized using classes and objects (e.g., a person, a product, an account)</a:t>
            </a:r>
          </a:p>
          <a:p>
            <a:r>
              <a:rPr lang="en-US" dirty="0"/>
              <a:t>Classes have both data and methods</a:t>
            </a:r>
          </a:p>
          <a:p>
            <a:r>
              <a:rPr lang="en-US" dirty="0"/>
              <a:t>You can reuse by extending existing classes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5050B-7A8E-D29B-73A7-1328091006B0}"/>
              </a:ext>
            </a:extLst>
          </p:cNvPr>
          <p:cNvSpPr txBox="1"/>
          <p:nvPr/>
        </p:nvSpPr>
        <p:spPr>
          <a:xfrm>
            <a:off x="4047978" y="3898821"/>
            <a:ext cx="6098344" cy="2753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public class </a:t>
            </a:r>
            <a:r>
              <a:rPr lang="en-US" altLang="zh-CN" sz="1800" dirty="0" err="1">
                <a:solidFill>
                  <a:schemeClr val="tx1">
                    <a:lumMod val="85000"/>
                  </a:schemeClr>
                </a:solidFill>
                <a:cs typeface="Arial" charset="0"/>
              </a:rPr>
              <a:t>BankAccount</a:t>
            </a: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{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   private String owner;   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   private int </a:t>
            </a:r>
            <a:r>
              <a:rPr lang="en-US" altLang="zh-CN" sz="1800" dirty="0" err="1">
                <a:solidFill>
                  <a:schemeClr val="tx1">
                    <a:lumMod val="85000"/>
                  </a:schemeClr>
                </a:solidFill>
                <a:cs typeface="Arial" charset="0"/>
              </a:rPr>
              <a:t>accountId</a:t>
            </a: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   private double balance;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   private double </a:t>
            </a:r>
            <a:r>
              <a:rPr lang="en-US" altLang="zh-CN" sz="1800" dirty="0" err="1">
                <a:solidFill>
                  <a:schemeClr val="tx1">
                    <a:lumMod val="85000"/>
                  </a:schemeClr>
                </a:solidFill>
                <a:cs typeface="Arial" charset="0"/>
              </a:rPr>
              <a:t>interestRate</a:t>
            </a: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endParaRPr lang="en-US" altLang="zh-CN" sz="1800" dirty="0">
              <a:solidFill>
                <a:schemeClr val="tx1">
                  <a:lumMod val="85000"/>
                </a:schemeClr>
              </a:solidFill>
              <a:cs typeface="Arial" charset="0"/>
            </a:endParaRP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   public void deposit (double amount) {...}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   public double </a:t>
            </a:r>
            <a:r>
              <a:rPr lang="en-US" altLang="zh-CN" sz="1800" dirty="0" err="1">
                <a:solidFill>
                  <a:schemeClr val="tx1">
                    <a:lumMod val="85000"/>
                  </a:schemeClr>
                </a:solidFill>
                <a:cs typeface="Arial" charset="0"/>
              </a:rPr>
              <a:t>withdrawAll</a:t>
            </a: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() {...}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   private double </a:t>
            </a:r>
            <a:r>
              <a:rPr lang="en-US" altLang="zh-CN" sz="1800" dirty="0" err="1">
                <a:solidFill>
                  <a:schemeClr val="tx1">
                    <a:lumMod val="85000"/>
                  </a:schemeClr>
                </a:solidFill>
                <a:cs typeface="Arial" charset="0"/>
              </a:rPr>
              <a:t>computeInterest</a:t>
            </a: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 (double amount) {...}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tx1">
                    <a:lumMod val="85000"/>
                  </a:schemeClr>
                </a:solidFill>
                <a:cs typeface="Arial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63084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C79B9-63CC-8B66-1E37-EA1387683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See you on Wednesday!</a:t>
            </a:r>
          </a:p>
          <a:p>
            <a:pPr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(No lab sessions this week or next week </a:t>
            </a:r>
            <a:r>
              <a:rPr lang="en-US" sz="3600" dirty="0">
                <a:solidFill>
                  <a:srgbClr val="0070C0"/>
                </a:solidFill>
                <a:sym typeface="Wingdings" pitchFamily="2" charset="2"/>
              </a:rPr>
              <a:t></a:t>
            </a:r>
            <a:r>
              <a:rPr lang="en-US" sz="3600" dirty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83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968</Words>
  <Application>Microsoft Macintosh PowerPoint</Application>
  <PresentationFormat>Widescreen</PresentationFormat>
  <Paragraphs>168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Courier New</vt:lpstr>
      <vt:lpstr>楷体_GB2312</vt:lpstr>
      <vt:lpstr>Roboto</vt:lpstr>
      <vt:lpstr>Symbol</vt:lpstr>
      <vt:lpstr>Times New Roman</vt:lpstr>
      <vt:lpstr>Wingdings</vt:lpstr>
      <vt:lpstr>Office Theme</vt:lpstr>
      <vt:lpstr>COMP 2120 Object Oriented Programming Using Java</vt:lpstr>
      <vt:lpstr>PowerPoint Presentation</vt:lpstr>
      <vt:lpstr>About Me</vt:lpstr>
      <vt:lpstr>About Our TAs</vt:lpstr>
      <vt:lpstr>How to Reach Us?</vt:lpstr>
      <vt:lpstr>How to help us?</vt:lpstr>
      <vt:lpstr>Course Textbook</vt:lpstr>
      <vt:lpstr>Course Timetable</vt:lpstr>
      <vt:lpstr>Course Timetable</vt:lpstr>
      <vt:lpstr>Course Evaluation</vt:lpstr>
      <vt:lpstr>How to be successful in this course?</vt:lpstr>
      <vt:lpstr>Topics We Plan to Cover (Tentative)</vt:lpstr>
      <vt:lpstr>Course Learning Outcomes</vt:lpstr>
      <vt:lpstr>Course Learning Outcomes</vt:lpstr>
      <vt:lpstr>Course Learning Outcomes</vt:lpstr>
      <vt:lpstr>Course Learning Outcomes</vt:lpstr>
      <vt:lpstr>Course Learning Outcomes</vt:lpstr>
      <vt:lpstr>Why Java?</vt:lpstr>
      <vt:lpstr>Procedural Programming</vt:lpstr>
      <vt:lpstr>Object oriented programming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Asaduzzaman</dc:creator>
  <cp:lastModifiedBy>Muhammad Asaduzzaman</cp:lastModifiedBy>
  <cp:revision>16</cp:revision>
  <dcterms:created xsi:type="dcterms:W3CDTF">2024-09-05T17:13:02Z</dcterms:created>
  <dcterms:modified xsi:type="dcterms:W3CDTF">2025-05-05T11:11:08Z</dcterms:modified>
</cp:coreProperties>
</file>