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817" r:id="rId1"/>
  </p:sldMasterIdLst>
  <p:sldIdLst>
    <p:sldId id="256" r:id="rId2"/>
    <p:sldId id="257" r:id="rId3"/>
    <p:sldId id="258" r:id="rId4"/>
    <p:sldId id="259" r:id="rId5"/>
    <p:sldId id="286" r:id="rId6"/>
    <p:sldId id="260" r:id="rId7"/>
    <p:sldId id="261" r:id="rId8"/>
    <p:sldId id="288" r:id="rId9"/>
    <p:sldId id="262" r:id="rId10"/>
    <p:sldId id="263" r:id="rId11"/>
    <p:sldId id="289" r:id="rId12"/>
    <p:sldId id="290" r:id="rId13"/>
    <p:sldId id="291" r:id="rId14"/>
    <p:sldId id="264" r:id="rId15"/>
    <p:sldId id="265" r:id="rId16"/>
    <p:sldId id="292" r:id="rId17"/>
    <p:sldId id="293" r:id="rId18"/>
    <p:sldId id="266" r:id="rId19"/>
    <p:sldId id="268" r:id="rId20"/>
    <p:sldId id="269" r:id="rId21"/>
    <p:sldId id="267" r:id="rId22"/>
    <p:sldId id="270" r:id="rId23"/>
    <p:sldId id="294" r:id="rId24"/>
    <p:sldId id="271" r:id="rId25"/>
    <p:sldId id="295" r:id="rId26"/>
    <p:sldId id="317" r:id="rId27"/>
    <p:sldId id="318" r:id="rId28"/>
    <p:sldId id="272" r:id="rId29"/>
    <p:sldId id="273" r:id="rId30"/>
    <p:sldId id="296" r:id="rId31"/>
    <p:sldId id="275" r:id="rId32"/>
    <p:sldId id="297" r:id="rId33"/>
    <p:sldId id="298" r:id="rId34"/>
    <p:sldId id="299" r:id="rId35"/>
    <p:sldId id="276" r:id="rId36"/>
    <p:sldId id="277" r:id="rId37"/>
    <p:sldId id="300" r:id="rId38"/>
    <p:sldId id="301" r:id="rId39"/>
    <p:sldId id="302" r:id="rId40"/>
    <p:sldId id="304" r:id="rId41"/>
    <p:sldId id="303" r:id="rId42"/>
    <p:sldId id="305" r:id="rId43"/>
    <p:sldId id="278" r:id="rId44"/>
    <p:sldId id="306" r:id="rId45"/>
    <p:sldId id="279" r:id="rId46"/>
    <p:sldId id="280" r:id="rId47"/>
    <p:sldId id="281" r:id="rId48"/>
    <p:sldId id="307" r:id="rId49"/>
    <p:sldId id="308" r:id="rId50"/>
    <p:sldId id="309" r:id="rId51"/>
    <p:sldId id="282" r:id="rId52"/>
    <p:sldId id="310" r:id="rId53"/>
    <p:sldId id="283" r:id="rId54"/>
    <p:sldId id="311" r:id="rId55"/>
    <p:sldId id="319" r:id="rId56"/>
    <p:sldId id="320" r:id="rId57"/>
    <p:sldId id="321" r:id="rId58"/>
    <p:sldId id="322" r:id="rId59"/>
    <p:sldId id="284" r:id="rId60"/>
    <p:sldId id="285" r:id="rId61"/>
    <p:sldId id="312" r:id="rId62"/>
    <p:sldId id="315" r:id="rId63"/>
    <p:sldId id="316" r:id="rId6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0" autoAdjust="0"/>
    <p:restoredTop sz="94640" autoAdjust="0"/>
  </p:normalViewPr>
  <p:slideViewPr>
    <p:cSldViewPr snapToGrid="0">
      <p:cViewPr varScale="1">
        <p:scale>
          <a:sx n="102" d="100"/>
          <a:sy n="102" d="100"/>
        </p:scale>
        <p:origin x="18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D00C71A6-CFAE-657E-62E4-228106978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25463"/>
            <a:ext cx="4505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D00B867A-F7EA-C775-FB33-F6D6DC7A32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EBB385B-5E6D-F817-813B-879E1691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32DF2-FCD5-BE47-9379-B797D352F8BF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C6A921-043A-BC9C-4CF7-5CF38685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1023543-4A54-EDC8-80AD-0FC461EF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98F14-71C3-0E49-A257-CFF56B672A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6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19EC-96C6-AD19-0F6D-30982FBE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5A1BE-C8D6-2C46-9A50-1C3CDC234A06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001CC-1138-DC03-2A37-FCDB8A1E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5D41F-0769-C94D-BB81-661E899C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C519F9-80F5-A84E-901B-0931DF73C2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9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036E6-F276-3577-B5A1-38D70346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68B0-1880-1B41-88B5-2E09AEFC19CA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E5CE0-3F74-9BB3-85C1-8F36ED44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7E746-78B7-8EB7-A429-F6A58064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824A2-C50F-E743-8960-9B7578EE53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06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65A3EA-1154-1F8E-D09F-162E8AB8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CBA63-8FE2-FB4C-9C7B-22B2AA350AC0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52429D8-553A-6816-B4C9-36FE15F6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1BE4827-713B-1B00-55B2-073E83AE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0AD1E8-CE1B-7944-9322-3FCDC5A644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771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81D4C06-BC8B-6B5E-E245-AB6453F2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A8488-E04B-094E-9B69-13A28F533F1F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622EFD-E18D-4B65-7369-16B198D1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294CA1-86A0-780D-C14C-073A295D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E796A-FC64-6F47-A10D-261C89D882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20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53F4F7A-4722-76FE-5003-E9CE8DA7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5662-7AF2-354C-A8FD-521C79A2F9FE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6FB704A-1073-1B41-2233-45CDCCF5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F70BCB-0B47-2B02-DEEB-87ABCE62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6BE681-0FC8-5246-AFC6-52BE435F70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809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19B41A7-7D36-94CA-724B-B35ED7F1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1524-DFED-8D4C-8B5A-378F77126610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A730DAE-EBB1-4C58-D687-B7434E6D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0516645-B0C3-3622-03D0-4B46E371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222CA-2A31-D44F-BA2B-36D7A4A6D0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5402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6192D1-A6A7-323F-BCC9-F1672856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BD763-6A19-E445-9849-43667B52ECEF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767354F-B1E3-7B6C-8544-C7354B2B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69EDBD-D525-524A-0826-79849FAA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891282-12EC-4848-B286-EDC9B70555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32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F8F07F-1B9F-3B05-29EA-1E8FF4F3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2BCCF-2589-A64C-9F59-4D88D10CDF9B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2B891A-FB81-D862-4B8F-BD37AE0E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C8D373-AC8F-4BED-1F3C-F48EB3F2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3E7E5-6029-5D4B-AF37-7C5DBDE366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58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58A6C-D098-502A-D8DB-44C4D2CE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61BE2-A5AF-0745-89FE-16513329595D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9B433-2882-F8C4-80F6-D8B0E471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2B36F-F827-8CED-1EA0-539358E2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3D0A44-5B96-C142-BC8B-66BF3ECC33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11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FF2D9-8CED-E1E7-BA34-BCD686EA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2D5DF-70A4-444D-8447-C56888890416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B8A11-CB83-DC16-03A1-32F05681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1380F-0AF6-5071-96F1-089B9A54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694A0-E9F1-5D4F-BCA7-C4A93D7952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58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DAB7C35-97E3-9FF3-E59C-7CB2AC091AD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51F4CD1-61F7-96EA-F398-8B82EA54E9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2B509-FB18-EE71-8734-1E7EE4808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619FB58-6A30-1A4E-A03D-35BFD2394F8B}" type="datetimeFigureOut">
              <a:rPr lang="en-US"/>
              <a:pPr>
                <a:defRPr/>
              </a:pPr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4B4D-B518-2E54-8F0E-9522A858E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C2190-C75B-5A14-D827-3B556F11D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97F6D317-304D-2F40-8DD8-B6D07879294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43B2EEA-FA62-3817-7988-10DEEBBF99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  <a:p>
            <a:pPr algn="ctr" eaLnBrk="1" hangingPunct="1">
              <a:spcBef>
                <a:spcPct val="50000"/>
              </a:spcBef>
              <a:defRPr/>
            </a:pPr>
            <a:endParaRPr lang="en-US" sz="900" dirty="0">
              <a:solidFill>
                <a:prstClr val="black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CodeSamples5.htm#Listing 10.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CodeSamples5.htm#Listing 10.3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CodeSamples5.htm#Listing 10.4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5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CodeSamples5.htm#Listing 10.5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CodeSamples5.htm#Listing 10.6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7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8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9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10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CodeSamples5.htm#Listing 10.11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CodeSamples5.htm#Listing 10.13" TargetMode="External"/><Relationship Id="rId2" Type="http://schemas.openxmlformats.org/officeDocument/2006/relationships/hyperlink" Target="CodeSamples5.htm#Listing 10.12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CodeSamples5.htm#Listing 10.14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1EFC309-7C21-DAFD-D69A-A6DF09DBD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14525"/>
            <a:ext cx="6858000" cy="2387600"/>
          </a:xfrm>
        </p:spPr>
        <p:txBody>
          <a:bodyPr/>
          <a:lstStyle/>
          <a:p>
            <a:pPr eaLnBrk="1" hangingPunct="1"/>
            <a:r>
              <a:rPr lang="en-US" altLang="en-US"/>
              <a:t>Streams, File I/O, and Networking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C3AA711D-6D8F-23E1-D525-C7A384D62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394200"/>
            <a:ext cx="6858000" cy="1655763"/>
          </a:xfrm>
        </p:spPr>
        <p:txBody>
          <a:bodyPr/>
          <a:lstStyle/>
          <a:p>
            <a:pPr eaLnBrk="1" hangingPunct="1"/>
            <a:r>
              <a:rPr lang="en-US" altLang="en-US"/>
              <a:t>Chapter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5BD1CB7-0491-1A37-9F34-28D93CC9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5F708056-9803-8513-B4D7-EFA9046A4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63" y="1600200"/>
            <a:ext cx="7831137" cy="4525963"/>
          </a:xfrm>
        </p:spPr>
        <p:txBody>
          <a:bodyPr/>
          <a:lstStyle/>
          <a:p>
            <a:pPr eaLnBrk="1" hangingPunct="1"/>
            <a:r>
              <a:rPr lang="en-US" altLang="en-US"/>
              <a:t>Describe the concept of an I/O stream</a:t>
            </a:r>
          </a:p>
          <a:p>
            <a:pPr eaLnBrk="1" hangingPunct="1"/>
            <a:r>
              <a:rPr lang="en-US" altLang="en-US"/>
              <a:t>Explain the difference between text and binary files</a:t>
            </a:r>
          </a:p>
          <a:p>
            <a:pPr eaLnBrk="1" hangingPunct="1"/>
            <a:r>
              <a:rPr lang="en-US" altLang="en-US"/>
              <a:t>Save data, including objects, in a file</a:t>
            </a:r>
          </a:p>
          <a:p>
            <a:pPr eaLnBrk="1" hangingPunct="1"/>
            <a:r>
              <a:rPr lang="en-US" altLang="en-US"/>
              <a:t>Read data, including objects, in a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28DF1E93-7FD6-EACC-F9DE-10495751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Overview: Outline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F35389D-80F9-C217-3553-E9141509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50" y="1984375"/>
            <a:ext cx="7131050" cy="4141788"/>
          </a:xfrm>
        </p:spPr>
        <p:txBody>
          <a:bodyPr/>
          <a:lstStyle/>
          <a:p>
            <a:pPr eaLnBrk="1" hangingPunct="1"/>
            <a:r>
              <a:rPr lang="en-US" altLang="en-US"/>
              <a:t>The Concept of  a Stream</a:t>
            </a:r>
          </a:p>
          <a:p>
            <a:pPr eaLnBrk="1" hangingPunct="1"/>
            <a:r>
              <a:rPr lang="en-US" altLang="en-US"/>
              <a:t>Why Use Files for I/O?</a:t>
            </a:r>
          </a:p>
          <a:p>
            <a:pPr eaLnBrk="1" hangingPunct="1"/>
            <a:r>
              <a:rPr lang="en-US" altLang="en-US"/>
              <a:t>Text Files and Binary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C62F8F8-EB85-CF91-6682-3F68335B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Concept of a Stream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A4D00D63-8F8F-2B75-612F-D82A1ECE8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of files</a:t>
            </a:r>
          </a:p>
          <a:p>
            <a:pPr lvl="1" eaLnBrk="1" hangingPunct="1"/>
            <a:r>
              <a:rPr lang="en-US" altLang="en-US"/>
              <a:t>Store Java classes, programs</a:t>
            </a:r>
          </a:p>
          <a:p>
            <a:pPr lvl="1" eaLnBrk="1" hangingPunct="1"/>
            <a:r>
              <a:rPr lang="en-US" altLang="en-US"/>
              <a:t>Store pictures, music, videos</a:t>
            </a:r>
          </a:p>
          <a:p>
            <a:pPr lvl="1" eaLnBrk="1" hangingPunct="1"/>
            <a:r>
              <a:rPr lang="en-US" altLang="en-US"/>
              <a:t>Can also use files to store program I/O</a:t>
            </a:r>
          </a:p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stream</a:t>
            </a:r>
            <a:r>
              <a:rPr lang="en-US" altLang="en-US"/>
              <a:t> is a flow of input or output data</a:t>
            </a:r>
          </a:p>
          <a:p>
            <a:pPr lvl="1" eaLnBrk="1" hangingPunct="1"/>
            <a:r>
              <a:rPr lang="en-US" altLang="en-US"/>
              <a:t>Characters</a:t>
            </a:r>
          </a:p>
          <a:p>
            <a:pPr lvl="1" eaLnBrk="1" hangingPunct="1"/>
            <a:r>
              <a:rPr lang="en-US" altLang="en-US"/>
              <a:t>Numbers</a:t>
            </a:r>
          </a:p>
          <a:p>
            <a:pPr lvl="1" eaLnBrk="1" hangingPunct="1"/>
            <a:r>
              <a:rPr lang="en-US" altLang="en-US"/>
              <a:t>Bytes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91BFAC4-0735-8AF2-622A-459C771A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Concept of a Stream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AC10F435-936D-E989-1F3F-E431D3F1C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8913"/>
            <a:ext cx="8229600" cy="4667250"/>
          </a:xfrm>
        </p:spPr>
        <p:txBody>
          <a:bodyPr/>
          <a:lstStyle/>
          <a:p>
            <a:pPr eaLnBrk="1" hangingPunct="1"/>
            <a:r>
              <a:rPr lang="en-US" altLang="en-US"/>
              <a:t>Streams are implemented as objects of special stream classes</a:t>
            </a:r>
          </a:p>
          <a:p>
            <a:pPr lvl="1" eaLnBrk="1" hangingPunct="1"/>
            <a:r>
              <a:rPr lang="en-US" altLang="en-US"/>
              <a:t>Class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</a:p>
          <a:p>
            <a:pPr lvl="1" eaLnBrk="1" hangingPunct="1"/>
            <a:r>
              <a:rPr lang="en-US" altLang="en-US"/>
              <a:t>Object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</a:t>
            </a:r>
          </a:p>
          <a:p>
            <a:pPr eaLnBrk="1" hangingPunct="1"/>
            <a:r>
              <a:rPr lang="en-US" altLang="en-US"/>
              <a:t>Figure</a:t>
            </a:r>
            <a:br>
              <a:rPr lang="en-US" altLang="en-US"/>
            </a:br>
            <a:r>
              <a:rPr lang="en-US" altLang="en-US"/>
              <a:t>10.1</a:t>
            </a:r>
            <a:br>
              <a:rPr lang="en-US" altLang="en-US"/>
            </a:br>
            <a:r>
              <a:rPr lang="en-US" altLang="en-US"/>
              <a:t>I/O Streams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71D5EF84-2418-4117-31F3-464D73297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9763" y="3822700"/>
            <a:ext cx="5735637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1">
                <a:lumMod val="50000"/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E01107D-D334-FCC7-9FF0-3200E5CE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Use Files for I/O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08E4490-6985-7006-7184-FAF877BEE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Keyboard input, screen output deal with temporary data</a:t>
            </a:r>
          </a:p>
          <a:p>
            <a:pPr lvl="1" eaLnBrk="1" hangingPunct="1"/>
            <a:r>
              <a:rPr lang="en-US" altLang="en-US"/>
              <a:t>When program ends, data is gone</a:t>
            </a:r>
          </a:p>
          <a:p>
            <a:pPr eaLnBrk="1" hangingPunct="1"/>
            <a:r>
              <a:rPr lang="en-US" altLang="en-US"/>
              <a:t>Data in a file remains after program ends</a:t>
            </a:r>
          </a:p>
          <a:p>
            <a:pPr lvl="1" eaLnBrk="1" hangingPunct="1"/>
            <a:r>
              <a:rPr lang="en-US" altLang="en-US"/>
              <a:t>Can be used next time program runs</a:t>
            </a:r>
          </a:p>
          <a:p>
            <a:pPr lvl="1" eaLnBrk="1" hangingPunct="1"/>
            <a:r>
              <a:rPr lang="en-US" altLang="en-US"/>
              <a:t>Can be used by another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7B427B7-5C4E-AB27-8669-E2253DA2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Text Files and Binary Files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04E35B5-9362-0C77-EF2A-AE73EB962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9863"/>
            <a:ext cx="8229600" cy="4686300"/>
          </a:xfrm>
        </p:spPr>
        <p:txBody>
          <a:bodyPr/>
          <a:lstStyle/>
          <a:p>
            <a:pPr eaLnBrk="1" hangingPunct="1"/>
            <a:r>
              <a:rPr lang="en-US" altLang="en-US"/>
              <a:t>All data in files stored as binary digits</a:t>
            </a:r>
          </a:p>
          <a:p>
            <a:pPr lvl="1" eaLnBrk="1" hangingPunct="1"/>
            <a:r>
              <a:rPr lang="en-US" altLang="en-US"/>
              <a:t>Long series of zeros and ones</a:t>
            </a:r>
          </a:p>
          <a:p>
            <a:pPr eaLnBrk="1" hangingPunct="1"/>
            <a:r>
              <a:rPr lang="en-US" altLang="en-US"/>
              <a:t>Files treated as sequence of characters called </a:t>
            </a:r>
            <a:r>
              <a:rPr lang="en-US" altLang="en-US" i="1"/>
              <a:t>text files</a:t>
            </a:r>
            <a:endParaRPr lang="en-US" altLang="en-US"/>
          </a:p>
          <a:p>
            <a:pPr lvl="1" eaLnBrk="1" hangingPunct="1"/>
            <a:r>
              <a:rPr lang="en-US" altLang="en-US"/>
              <a:t>Java program source code</a:t>
            </a:r>
          </a:p>
          <a:p>
            <a:pPr lvl="1" eaLnBrk="1" hangingPunct="1"/>
            <a:r>
              <a:rPr lang="en-US" altLang="en-US"/>
              <a:t>Can be viewed, edited with text editor</a:t>
            </a:r>
          </a:p>
          <a:p>
            <a:pPr eaLnBrk="1" hangingPunct="1"/>
            <a:r>
              <a:rPr lang="en-US" altLang="en-US"/>
              <a:t>All other files are called </a:t>
            </a:r>
            <a:r>
              <a:rPr lang="en-US" altLang="en-US" i="1"/>
              <a:t>binary files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Movie, music files</a:t>
            </a:r>
          </a:p>
          <a:p>
            <a:pPr lvl="1" eaLnBrk="1" hangingPunct="1"/>
            <a:r>
              <a:rPr lang="en-US" altLang="en-US"/>
              <a:t>Access requires specialized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BDBDF46-4A48-40FA-3D6F-76CCAA1B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Text Files and Binary Files</a:t>
            </a:r>
          </a:p>
        </p:txBody>
      </p:sp>
      <p:sp>
        <p:nvSpPr>
          <p:cNvPr id="10243" name="Content Placeholder 3">
            <a:extLst>
              <a:ext uri="{FF2B5EF4-FFF2-40B4-BE49-F238E27FC236}">
                <a16:creationId xmlns:a16="http://schemas.microsoft.com/office/drawing/2014/main" id="{52E9912D-608D-D63F-6C7F-192DB4AC3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10.2  A text file and a binary file containing the same values</a:t>
            </a:r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id="{D72746F6-B3DD-4B61-714B-F35AF0903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3217863"/>
            <a:ext cx="7259638" cy="221456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0A0F140-3ECD-4BF8-60C6-FB13F7AC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Text-File I/O: Outlline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C8E8EDEF-F855-55C6-CF99-F23DF3484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963" y="1946275"/>
            <a:ext cx="7208837" cy="4179888"/>
          </a:xfrm>
        </p:spPr>
        <p:txBody>
          <a:bodyPr/>
          <a:lstStyle/>
          <a:p>
            <a:pPr eaLnBrk="1" hangingPunct="1"/>
            <a:r>
              <a:rPr lang="en-US" altLang="en-US"/>
              <a:t>Creating a Text File</a:t>
            </a:r>
          </a:p>
          <a:p>
            <a:pPr eaLnBrk="1" hangingPunct="1"/>
            <a:r>
              <a:rPr lang="en-US" altLang="en-US"/>
              <a:t>Appending to a text File</a:t>
            </a:r>
          </a:p>
          <a:p>
            <a:pPr eaLnBrk="1" hangingPunct="1"/>
            <a:r>
              <a:rPr lang="en-US" altLang="en-US"/>
              <a:t>Reading from a Text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7B8BF75-06A3-E74D-18F1-436EC1F0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Text File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7F5D2823-3E72-3234-A798-1B37F2525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altLang="en-US"/>
              <a:t> defines methods needed to create and write to a text file</a:t>
            </a:r>
          </a:p>
          <a:p>
            <a:pPr lvl="1" eaLnBrk="1" hangingPunct="1"/>
            <a:r>
              <a:rPr lang="en-US" altLang="en-US"/>
              <a:t>Must import package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java.io</a:t>
            </a:r>
            <a:endParaRPr lang="en-US" altLang="en-US" sz="32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To open the file </a:t>
            </a:r>
          </a:p>
          <a:p>
            <a:pPr lvl="1" eaLnBrk="1" hangingPunct="1"/>
            <a:r>
              <a:rPr lang="en-US" altLang="en-US"/>
              <a:t>Declare </a:t>
            </a:r>
            <a:r>
              <a:rPr lang="en-US" altLang="en-US" i="1"/>
              <a:t>stream variable </a:t>
            </a:r>
            <a:r>
              <a:rPr lang="en-US" altLang="en-US"/>
              <a:t>for referencing the stream</a:t>
            </a:r>
          </a:p>
          <a:p>
            <a:pPr lvl="1" eaLnBrk="1" hangingPunct="1"/>
            <a:r>
              <a:rPr lang="en-US" altLang="en-US"/>
              <a:t>Invoke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altLang="en-US"/>
              <a:t> constructor, pass file name as argument</a:t>
            </a:r>
          </a:p>
          <a:p>
            <a:pPr lvl="1" eaLnBrk="1" hangingPunct="1"/>
            <a:r>
              <a:rPr lang="en-US" altLang="en-US"/>
              <a:t>Requires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and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C516148-7F61-CD58-7742-4DC5960D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Text File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446372E-ACA6-CB6A-7E2E-CE26516A9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5" y="1868488"/>
            <a:ext cx="7927975" cy="4257675"/>
          </a:xfrm>
        </p:spPr>
        <p:txBody>
          <a:bodyPr/>
          <a:lstStyle/>
          <a:p>
            <a:pPr eaLnBrk="1" hangingPunct="1"/>
            <a:r>
              <a:rPr lang="en-US" altLang="en-US"/>
              <a:t>File is empty initially</a:t>
            </a:r>
          </a:p>
          <a:p>
            <a:pPr lvl="1" eaLnBrk="1" hangingPunct="1"/>
            <a:r>
              <a:rPr lang="en-US" altLang="en-US"/>
              <a:t>May now be written to with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</a:p>
          <a:p>
            <a:pPr eaLnBrk="1" hangingPunct="1"/>
            <a:r>
              <a:rPr lang="en-US" altLang="en-US"/>
              <a:t>Data goes initially to memory buffer</a:t>
            </a:r>
          </a:p>
          <a:p>
            <a:pPr lvl="1" eaLnBrk="1" hangingPunct="1"/>
            <a:r>
              <a:rPr lang="en-US" altLang="en-US"/>
              <a:t>When buffer full, goes to file</a:t>
            </a:r>
          </a:p>
          <a:p>
            <a:pPr eaLnBrk="1" hangingPunct="1"/>
            <a:r>
              <a:rPr lang="en-US" altLang="en-US"/>
              <a:t>Closing file empties buffer, disconnects from stream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04F7AF7-E818-B9CB-4175-CDE96366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Text File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5130E49-4923-91A2-812C-98E9F888A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program</a:t>
            </a:r>
            <a:r>
              <a:rPr lang="en-US" altLang="en-US"/>
              <a:t>, listing 10.1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TextFileOutput</a:t>
            </a:r>
          </a:p>
          <a:p>
            <a:pPr eaLnBrk="1" hangingPunct="1"/>
            <a:endParaRPr lang="en-US" altLang="en-US"/>
          </a:p>
        </p:txBody>
      </p:sp>
      <p:pic>
        <p:nvPicPr>
          <p:cNvPr id="14340" name="Picture 2">
            <a:extLst>
              <a:ext uri="{FF2B5EF4-FFF2-40B4-BE49-F238E27FC236}">
                <a16:creationId xmlns:a16="http://schemas.microsoft.com/office/drawing/2014/main" id="{44F45A7C-5675-4256-7D95-98739ED39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2943225"/>
            <a:ext cx="6829425" cy="1476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476174E8-ECB3-A384-0A97-1AB6B59AC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2665413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  <p:pic>
        <p:nvPicPr>
          <p:cNvPr id="14342" name="Picture 7">
            <a:extLst>
              <a:ext uri="{FF2B5EF4-FFF2-40B4-BE49-F238E27FC236}">
                <a16:creationId xmlns:a16="http://schemas.microsoft.com/office/drawing/2014/main" id="{E85B07C5-4669-115A-1E7F-BEF4FA086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5" y="4745038"/>
            <a:ext cx="6075363" cy="1260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1985F1C-AE8C-CE52-5CD7-950B0243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Text File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D9155B62-E219-C774-EDB4-5F5F4F0A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creating a file</a:t>
            </a:r>
          </a:p>
          <a:p>
            <a:pPr lvl="1" eaLnBrk="1" hangingPunct="1"/>
            <a:r>
              <a:rPr lang="en-US" altLang="en-US"/>
              <a:t>Inform the user of ongoing I/O events, program should not be "silent"</a:t>
            </a:r>
          </a:p>
          <a:p>
            <a:pPr eaLnBrk="1" hangingPunct="1"/>
            <a:r>
              <a:rPr lang="en-US" altLang="en-US"/>
              <a:t>A file has two names in the program</a:t>
            </a:r>
          </a:p>
          <a:p>
            <a:pPr lvl="1" eaLnBrk="1" hangingPunct="1"/>
            <a:r>
              <a:rPr lang="en-US" altLang="en-US"/>
              <a:t>File name used by the operating system</a:t>
            </a:r>
          </a:p>
          <a:p>
            <a:pPr lvl="1" eaLnBrk="1" hangingPunct="1"/>
            <a:r>
              <a:rPr lang="en-US" altLang="en-US"/>
              <a:t>The stream name variable</a:t>
            </a:r>
          </a:p>
          <a:p>
            <a:pPr eaLnBrk="1" hangingPunct="1"/>
            <a:r>
              <a:rPr lang="en-US" altLang="en-US"/>
              <a:t>Opening, writing to file overwrites pre-existing file in directory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0F4E0E9-FC86-DB5B-816F-54F1E6A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Appending to a Text File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E3F8990B-0107-282A-CD08-BA21C31AA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/>
              <a:t>Opening a file new begins with an empty file</a:t>
            </a:r>
          </a:p>
          <a:p>
            <a:pPr lvl="1" eaLnBrk="1" hangingPunct="1"/>
            <a:r>
              <a:rPr lang="en-US" altLang="en-US"/>
              <a:t>If already exists, will be overwritten</a:t>
            </a:r>
          </a:p>
          <a:p>
            <a:pPr eaLnBrk="1" hangingPunct="1"/>
            <a:r>
              <a:rPr lang="en-US" altLang="en-US"/>
              <a:t>Some situations require appending data to existing file</a:t>
            </a:r>
          </a:p>
          <a:p>
            <a:pPr eaLnBrk="1" hangingPunct="1"/>
            <a:r>
              <a:rPr lang="en-US" altLang="en-US"/>
              <a:t>Command could be</a:t>
            </a:r>
            <a:br>
              <a:rPr lang="en-US" altLang="en-US"/>
            </a:b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outputStream = </a:t>
            </a:r>
            <a:b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new PrintWriter(</a:t>
            </a:r>
            <a:b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new FileOutputstream(fileName, true));</a:t>
            </a:r>
          </a:p>
          <a:p>
            <a:pPr eaLnBrk="1" hangingPunct="1"/>
            <a:r>
              <a:rPr lang="en-US" altLang="en-US"/>
              <a:t>Method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would append data at 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3F277B85-E88E-D629-1B22-8CDF431B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Text File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65D66F0E-A4A3-A5F3-D308-B4306131E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2" action="ppaction://hlinkfile"/>
              </a:rPr>
              <a:t>text file reading program</a:t>
            </a:r>
            <a:r>
              <a:rPr lang="en-US" altLang="en-US"/>
              <a:t>, listing 10.2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TextFileInputDemo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Reads text from file, displays on screen</a:t>
            </a:r>
          </a:p>
          <a:p>
            <a:pPr eaLnBrk="1" hangingPunct="1"/>
            <a:r>
              <a:rPr lang="en-US" altLang="en-US"/>
              <a:t>Note </a:t>
            </a:r>
          </a:p>
          <a:p>
            <a:pPr lvl="1" eaLnBrk="1" hangingPunct="1"/>
            <a:r>
              <a:rPr lang="en-US" altLang="en-US"/>
              <a:t>Statement which opens the file</a:t>
            </a:r>
          </a:p>
          <a:p>
            <a:pPr lvl="1" eaLnBrk="1" hangingPunct="1"/>
            <a:r>
              <a:rPr lang="en-US" altLang="en-US"/>
              <a:t>Use of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altLang="en-US"/>
              <a:t> object</a:t>
            </a:r>
          </a:p>
          <a:p>
            <a:pPr lvl="1" eaLnBrk="1" hangingPunct="1"/>
            <a:r>
              <a:rPr lang="en-US" altLang="en-US"/>
              <a:t>Boolean statement which reads the file and terminates reading loop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BFF43087-6C64-1047-96EE-A20765F4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Text File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B65B7262-6C06-544A-ECFB-A47B8FDB2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2716213"/>
            <a:ext cx="5753100" cy="22637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8DDFA59D-07C9-BBD8-2C8A-D6CC28124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406650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DB71B04-24A5-CAC3-CD2B-3B4CE656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Text File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13F1F89A-5C1E-F7F9-87BD-BC24A64C9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7650"/>
            <a:ext cx="8229600" cy="4608513"/>
          </a:xfrm>
        </p:spPr>
        <p:txBody>
          <a:bodyPr/>
          <a:lstStyle/>
          <a:p>
            <a:pPr eaLnBrk="1" hangingPunct="1"/>
            <a:r>
              <a:rPr lang="en-US" altLang="en-US"/>
              <a:t>Figure 10.3 Additional methods in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</a:p>
        </p:txBody>
      </p:sp>
      <p:pic>
        <p:nvPicPr>
          <p:cNvPr id="19461" name="Picture 5">
            <a:extLst>
              <a:ext uri="{FF2B5EF4-FFF2-40B4-BE49-F238E27FC236}">
                <a16:creationId xmlns:a16="http://schemas.microsoft.com/office/drawing/2014/main" id="{2109F748-75E3-7385-C8AC-803EBD7B3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6763" y="2573338"/>
            <a:ext cx="5275262" cy="3608387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8B1C68C-4190-B511-A8A1-C6DCFB4E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Techniques for Any File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57F3195-5BEC-8A77-E151-8BD7847E6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3" y="1600200"/>
            <a:ext cx="7812087" cy="4525963"/>
          </a:xfrm>
        </p:spPr>
        <p:txBody>
          <a:bodyPr/>
          <a:lstStyle/>
          <a:p>
            <a:pPr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</a:p>
          <a:p>
            <a:pPr eaLnBrk="1" hangingPunct="1"/>
            <a:r>
              <a:rPr lang="en-US" altLang="en-US"/>
              <a:t>Programming Example: Reading a File Name from the Keyboard</a:t>
            </a:r>
          </a:p>
          <a:p>
            <a:pPr eaLnBrk="1" hangingPunct="1"/>
            <a:r>
              <a:rPr lang="en-US" altLang="en-US"/>
              <a:t>Using Path Names</a:t>
            </a:r>
          </a:p>
          <a:p>
            <a:pPr eaLnBrk="1" hangingPunct="1"/>
            <a:r>
              <a:rPr lang="en-US" altLang="en-US"/>
              <a:t>Methods of the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</a:p>
          <a:p>
            <a:pPr eaLnBrk="1" hangingPunct="1"/>
            <a:r>
              <a:rPr lang="en-US" altLang="en-US"/>
              <a:t>Defining a Method to Open a Stream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55D7BE73-ED89-3D7C-BF10-8353E23F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C8E8FE2-BF29-8D0C-D5D9-6C9541132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provides a way to represent file names in a general way</a:t>
            </a:r>
          </a:p>
          <a:p>
            <a:pPr lvl="1" eaLnBrk="1" hangingPunct="1"/>
            <a:r>
              <a:rPr lang="en-US" altLang="en-US"/>
              <a:t>A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/>
              <a:t> object represents the name of a file</a:t>
            </a:r>
          </a:p>
          <a:p>
            <a:pPr eaLnBrk="1" hangingPunct="1"/>
            <a:r>
              <a:rPr lang="en-US" altLang="en-US"/>
              <a:t>The object</a:t>
            </a:r>
            <a:br>
              <a:rPr lang="en-US" altLang="en-US"/>
            </a:br>
            <a:r>
              <a:rPr lang="en-US" altLang="en-US"/>
              <a:t>   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File ("treasure.txt")</a:t>
            </a:r>
            <a:br>
              <a:rPr lang="en-US" altLang="en-US"/>
            </a:br>
            <a:r>
              <a:rPr lang="en-US" altLang="en-US"/>
              <a:t>is not simply a string</a:t>
            </a:r>
          </a:p>
          <a:p>
            <a:pPr lvl="1" eaLnBrk="1" hangingPunct="1"/>
            <a:r>
              <a:rPr lang="en-US" altLang="en-US"/>
              <a:t>It is an object that </a:t>
            </a:r>
            <a:r>
              <a:rPr lang="en-US" altLang="en-US" i="1"/>
              <a:t>knows</a:t>
            </a:r>
            <a:r>
              <a:rPr lang="en-US" altLang="en-US"/>
              <a:t> it is supposed to name a file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8A81E1E3-EAD6-6975-E0A9-505BFC60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8DC82FB-B0C9-7FAF-3616-7477EB346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a file name from the keyboard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10.3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TextFileInputDemo2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CDF2F011-DD48-0C3D-0807-7DAEAB4AA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3763963"/>
            <a:ext cx="4095750" cy="17430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C4F35DDB-2526-17AD-7633-0F39DA84A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3598863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B167336-537E-8D4E-4A6A-2A529C3A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Path Names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4C4665F5-8920-6698-4242-229E5C29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Files opened in our examples assumed to be in same folder as where program run</a:t>
            </a:r>
          </a:p>
          <a:p>
            <a:pPr eaLnBrk="1" hangingPunct="1"/>
            <a:r>
              <a:rPr lang="en-US" altLang="en-US"/>
              <a:t>Possible to specify path names</a:t>
            </a:r>
          </a:p>
          <a:p>
            <a:pPr lvl="1" eaLnBrk="1" hangingPunct="1"/>
            <a:r>
              <a:rPr lang="en-US" altLang="en-US"/>
              <a:t>Full path name</a:t>
            </a:r>
          </a:p>
          <a:p>
            <a:pPr lvl="1" eaLnBrk="1" hangingPunct="1"/>
            <a:r>
              <a:rPr lang="en-US" altLang="en-US"/>
              <a:t>Relative path name</a:t>
            </a:r>
          </a:p>
          <a:p>
            <a:pPr eaLnBrk="1" hangingPunct="1"/>
            <a:r>
              <a:rPr lang="en-US" altLang="en-US"/>
              <a:t>Be aware of differences of pathname styles in different operating systems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7397481-B3ED-9635-C5E0-4D41CE46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of the Class File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D22587A-D9AC-E8B2-36FB-80E9CE96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that a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/>
              <a:t> object is a system-independent abstraction of file's path name</a:t>
            </a:r>
          </a:p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/>
              <a:t> has methods to access information about a path and the files in it</a:t>
            </a:r>
          </a:p>
          <a:p>
            <a:pPr lvl="1" eaLnBrk="1" hangingPunct="1"/>
            <a:r>
              <a:rPr lang="en-US" altLang="en-US"/>
              <a:t>Whether the file exists</a:t>
            </a:r>
          </a:p>
          <a:p>
            <a:pPr lvl="1" eaLnBrk="1" hangingPunct="1"/>
            <a:r>
              <a:rPr lang="en-US" altLang="en-US"/>
              <a:t>Whether it is specified as readable or not</a:t>
            </a:r>
          </a:p>
          <a:p>
            <a:pPr lvl="1" eaLnBrk="1" hangingPunct="1"/>
            <a:r>
              <a:rPr lang="en-US" altLang="en-US"/>
              <a:t>Etc.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D3544B5-205D-C31B-05F5-5CE047BD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of the Class File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EA2A4640-50CB-6E7E-263B-8154ABF3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10.4 Some methods in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</a:p>
        </p:txBody>
      </p:sp>
      <p:pic>
        <p:nvPicPr>
          <p:cNvPr id="25605" name="Picture 5">
            <a:extLst>
              <a:ext uri="{FF2B5EF4-FFF2-40B4-BE49-F238E27FC236}">
                <a16:creationId xmlns:a16="http://schemas.microsoft.com/office/drawing/2014/main" id="{516164E2-8D83-2B39-F558-7394EF660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1150" y="2297113"/>
            <a:ext cx="6200775" cy="40100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F15AB01E-B0F2-3874-D573-1390413F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Defining a Method to Open a Stream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E3A9C1C-7C60-B625-994A-C6E52E1AC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 will have a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/>
              <a:t> parameter</a:t>
            </a:r>
          </a:p>
          <a:p>
            <a:pPr lvl="1" eaLnBrk="1" hangingPunct="1"/>
            <a:r>
              <a:rPr lang="en-US" altLang="en-US"/>
              <a:t>The file name</a:t>
            </a:r>
          </a:p>
          <a:p>
            <a:pPr eaLnBrk="1" hangingPunct="1"/>
            <a:r>
              <a:rPr lang="en-US" altLang="en-US"/>
              <a:t>Method will return the stream object</a:t>
            </a:r>
          </a:p>
          <a:p>
            <a:pPr eaLnBrk="1" hangingPunct="1"/>
            <a:r>
              <a:rPr lang="en-US" altLang="en-US"/>
              <a:t>Will throw exceptions</a:t>
            </a:r>
          </a:p>
          <a:p>
            <a:pPr lvl="1" eaLnBrk="1" hangingPunct="1"/>
            <a:r>
              <a:rPr lang="en-US" altLang="en-US"/>
              <a:t>If file not found</a:t>
            </a:r>
          </a:p>
          <a:p>
            <a:pPr lvl="1" eaLnBrk="1" hangingPunct="1"/>
            <a:r>
              <a:rPr lang="en-US" altLang="en-US"/>
              <a:t>If some other I/O problem arises</a:t>
            </a:r>
          </a:p>
          <a:p>
            <a:pPr eaLnBrk="1" hangingPunct="1"/>
            <a:r>
              <a:rPr lang="en-US" altLang="en-US"/>
              <a:t>Should be invoked inside a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block and have appropriate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/>
              <a:t> block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B23B09BC-35C1-5998-F22E-BED6FCC6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Defining a Method to Open a Stream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203F659B-4278-62AA-51C3-8610F3480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code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Example call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1012C485-8B7B-3274-F392-B768EA3DF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2295525"/>
            <a:ext cx="6296025" cy="133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3">
            <a:extLst>
              <a:ext uri="{FF2B5EF4-FFF2-40B4-BE49-F238E27FC236}">
                <a16:creationId xmlns:a16="http://schemas.microsoft.com/office/drawing/2014/main" id="{98B4F47D-105B-2BC9-7F7D-C418C0E7A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4427538"/>
            <a:ext cx="5124450" cy="137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B1B43E7C-5873-62B7-85EA-5C52E968B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523875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/>
              <a:t>Case Study</a:t>
            </a:r>
            <a:br>
              <a:rPr lang="en-US" altLang="en-US" sz="4000"/>
            </a:br>
            <a:r>
              <a:rPr lang="en-US" altLang="en-US" sz="4000"/>
              <a:t>Processing a Comma-Separated Values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27773-97D7-C1F4-DF87-99EC3F19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76438"/>
            <a:ext cx="8229600" cy="39830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 comma-separated values or CSV file is a simple text format used to store a list of records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from log of a cash register’s transactions for the day: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SKU,Quantity,Price,Description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4039,50,0.99,SODA</a:t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	9100,5,9.50,T-SHIRT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1949,30,110.00,JAVA PROGRAMMING TEXTBOOK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5199,25,1.50,COOKIE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356936E6-E72B-5562-B691-E6F0072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Processing a CSV File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4762C49C-6D0D-8259-AB3C-540B0B753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program that calculates total sales</a:t>
            </a:r>
            <a:r>
              <a:rPr lang="en-US" altLang="en-US"/>
              <a:t>, </a:t>
            </a:r>
            <a:br>
              <a:rPr lang="en-US" altLang="en-US"/>
            </a:br>
            <a:r>
              <a:rPr lang="en-US" altLang="en-US"/>
              <a:t>listing 10.4 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TransactionReader</a:t>
            </a:r>
          </a:p>
          <a:p>
            <a:pPr eaLnBrk="1" hangingPunct="1"/>
            <a:r>
              <a:rPr lang="en-US" altLang="en-US"/>
              <a:t>Uses the split method which puts strings separated by a delimiter into an array</a:t>
            </a:r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F28C3BD0-1F60-B179-A9D3-C103310B2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3971925"/>
            <a:ext cx="7254875" cy="17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F9EDA83-D20E-9FE9-9A08-11370060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Binary-File I/O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4240A993-D833-7F23-FB9B-7AF3CAE1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Binary File</a:t>
            </a:r>
          </a:p>
          <a:p>
            <a:pPr eaLnBrk="1" hangingPunct="1"/>
            <a:r>
              <a:rPr lang="en-US" altLang="en-US"/>
              <a:t>Writing Primitive Values to a Binary File</a:t>
            </a:r>
          </a:p>
          <a:p>
            <a:pPr eaLnBrk="1" hangingPunct="1"/>
            <a:r>
              <a:rPr lang="en-US" altLang="en-US"/>
              <a:t>Writing Strings to a Binary File</a:t>
            </a:r>
          </a:p>
          <a:p>
            <a:pPr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EOFException</a:t>
            </a:r>
          </a:p>
          <a:p>
            <a:pPr eaLnBrk="1" hangingPunct="1"/>
            <a:r>
              <a:rPr lang="en-US" altLang="en-US"/>
              <a:t>Programming Example: Processing a File of Binary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E341742-BA93-D7A7-43C8-C231CAD4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Binary File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7EF84AA2-C129-94DB-03F8-E5525AAF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Stream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  <a:r>
              <a:rPr lang="en-US" altLang="en-US"/>
              <a:t> allows files which can store</a:t>
            </a:r>
          </a:p>
          <a:p>
            <a:pPr lvl="1" eaLnBrk="1" hangingPunct="1"/>
            <a:r>
              <a:rPr lang="en-US" altLang="en-US"/>
              <a:t>Values of primitive types</a:t>
            </a:r>
          </a:p>
          <a:p>
            <a:pPr lvl="1" eaLnBrk="1" hangingPunct="1"/>
            <a:r>
              <a:rPr lang="en-US" altLang="en-US"/>
              <a:t>Strings</a:t>
            </a:r>
          </a:p>
          <a:p>
            <a:pPr lvl="1" eaLnBrk="1" hangingPunct="1"/>
            <a:r>
              <a:rPr lang="en-US" altLang="en-US"/>
              <a:t>Other objects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program which writes integers</a:t>
            </a:r>
            <a:r>
              <a:rPr lang="en-US" altLang="en-US"/>
              <a:t>, </a:t>
            </a:r>
            <a:br>
              <a:rPr lang="en-US" altLang="en-US"/>
            </a:br>
            <a:r>
              <a:rPr lang="en-US" altLang="en-US"/>
              <a:t>listing 10.5   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BinaryOutputDemo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769CA7F-5B49-901B-4B0E-965DDAF0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 Binary File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CAD4B9B4-07DF-3260-1109-60C4281D0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Note the line to open the file</a:t>
            </a:r>
          </a:p>
          <a:p>
            <a:pPr lvl="1" eaLnBrk="1" hangingPunct="1"/>
            <a:r>
              <a:rPr lang="en-US" altLang="en-US"/>
              <a:t>Constructor for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  <a:r>
              <a:rPr lang="en-US" altLang="en-US"/>
              <a:t> cannot take a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/>
              <a:t> parameter</a:t>
            </a:r>
          </a:p>
          <a:p>
            <a:pPr lvl="1" eaLnBrk="1" hangingPunct="1"/>
            <a:r>
              <a:rPr lang="en-US" altLang="en-US"/>
              <a:t>Constructor for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FileOutputSream</a:t>
            </a:r>
            <a:r>
              <a:rPr lang="en-US" altLang="en-US"/>
              <a:t> can</a:t>
            </a:r>
          </a:p>
        </p:txBody>
      </p:sp>
      <p:pic>
        <p:nvPicPr>
          <p:cNvPr id="32772" name="Picture 2">
            <a:extLst>
              <a:ext uri="{FF2B5EF4-FFF2-40B4-BE49-F238E27FC236}">
                <a16:creationId xmlns:a16="http://schemas.microsoft.com/office/drawing/2014/main" id="{B7DEF98D-A4AF-41DE-A5FE-D8F275D87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3" y="1520825"/>
            <a:ext cx="6486525" cy="1752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A2D20FFA-6949-A2D4-F224-92E35185A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8" y="1303338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0D869F0F-B7C0-64FE-44FE-80AB6284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Writing Primitive Values to a Binary File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F2B0078F-6520-284C-19F1-18CD5D8C8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 println not available</a:t>
            </a:r>
          </a:p>
          <a:p>
            <a:pPr lvl="1" eaLnBrk="1" hangingPunct="1"/>
            <a:r>
              <a:rPr lang="en-US" altLang="en-US"/>
              <a:t>Instead use writeInt method</a:t>
            </a:r>
          </a:p>
          <a:p>
            <a:pPr lvl="1" eaLnBrk="1" hangingPunct="1"/>
            <a:r>
              <a:rPr lang="en-US" altLang="en-US"/>
              <a:t>View in </a:t>
            </a:r>
            <a:r>
              <a:rPr lang="en-US" altLang="en-US">
                <a:hlinkClick r:id="rId2" action="ppaction://hlinkfile"/>
              </a:rPr>
              <a:t>listing 10.5</a:t>
            </a:r>
            <a:endParaRPr lang="en-US" altLang="en-US"/>
          </a:p>
          <a:p>
            <a:pPr eaLnBrk="1" hangingPunct="1"/>
            <a:r>
              <a:rPr lang="en-US" altLang="en-US"/>
              <a:t>Binary file stores numbers in binary form</a:t>
            </a:r>
          </a:p>
          <a:p>
            <a:pPr lvl="1" eaLnBrk="1" hangingPunct="1"/>
            <a:r>
              <a:rPr lang="en-US" altLang="en-US"/>
              <a:t>A sequence of bytes</a:t>
            </a:r>
          </a:p>
          <a:p>
            <a:pPr lvl="1" eaLnBrk="1" hangingPunct="1"/>
            <a:r>
              <a:rPr lang="en-US" altLang="en-US"/>
              <a:t>One </a:t>
            </a:r>
            <a:br>
              <a:rPr lang="en-US" altLang="en-US"/>
            </a:br>
            <a:r>
              <a:rPr lang="en-US" altLang="en-US"/>
              <a:t>immediately </a:t>
            </a:r>
            <a:br>
              <a:rPr lang="en-US" altLang="en-US"/>
            </a:br>
            <a:r>
              <a:rPr lang="en-US" altLang="en-US"/>
              <a:t>after another</a:t>
            </a:r>
          </a:p>
        </p:txBody>
      </p:sp>
      <p:pic>
        <p:nvPicPr>
          <p:cNvPr id="33796" name="Picture 5">
            <a:extLst>
              <a:ext uri="{FF2B5EF4-FFF2-40B4-BE49-F238E27FC236}">
                <a16:creationId xmlns:a16="http://schemas.microsoft.com/office/drawing/2014/main" id="{3A8A6F13-EC44-95F4-F9CC-FAE69AA9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0" y="4381500"/>
            <a:ext cx="5500688" cy="1852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556E55AE-4FB2-F202-0483-54BB9747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63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Writing Primitive Values to a Binary File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CD84BEA0-E2F3-091C-A710-B78E19CBC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10.5a  Some methods in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A61655AC-3B9F-44FD-27C8-A52A69C41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0538" y="2689225"/>
            <a:ext cx="5667375" cy="3697288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C7AAAA7-21DF-A3EE-C0B0-E35AECB21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63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Writing Primitive Values to a Binary File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02B9632-7338-4E1A-96B4-DED27EA3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10.5b  Some methods in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</a:p>
        </p:txBody>
      </p:sp>
      <p:pic>
        <p:nvPicPr>
          <p:cNvPr id="33797" name="Picture 5">
            <a:extLst>
              <a:ext uri="{FF2B5EF4-FFF2-40B4-BE49-F238E27FC236}">
                <a16:creationId xmlns:a16="http://schemas.microsoft.com/office/drawing/2014/main" id="{A5B6FB05-B7CA-6C20-0A64-7644433F5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9588" y="2606675"/>
            <a:ext cx="6051550" cy="37909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E86B596B-9975-BBEC-3042-73CA6A43C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63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Writing Primitive Values to a Binary File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A3D85F92-1141-DF23-3600-1CC605CA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10.5c  Some methods in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693AD32D-AFA3-0A58-B1FF-305F38075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2700" y="3114675"/>
            <a:ext cx="7162800" cy="2357438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B5F0E393-1415-158A-0EB3-DE47148B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Writing Strings to a Binary File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24EAFA61-58DE-0F36-FF56-10AAB71F7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3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/>
              <a:t>Use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writeUTF</a:t>
            </a:r>
          </a:p>
          <a:p>
            <a:pPr eaLnBrk="1" hangingPunct="1"/>
            <a:r>
              <a:rPr lang="en-US" altLang="en-US"/>
              <a:t>Example </a:t>
            </a:r>
            <a:br>
              <a:rPr lang="en-US" altLang="en-US"/>
            </a:br>
            <a:r>
              <a:rPr lang="en-US" altLang="en-US"/>
              <a:t>  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outputStream.writeUTF("Hi Mom");</a:t>
            </a:r>
          </a:p>
          <a:p>
            <a:pPr eaLnBrk="1" hangingPunct="1"/>
            <a:r>
              <a:rPr lang="en-US" altLang="en-US"/>
              <a:t>UTF stands for </a:t>
            </a:r>
            <a:r>
              <a:rPr lang="en-US" altLang="en-US" i="1"/>
              <a:t>Unicode Text Format</a:t>
            </a:r>
            <a:endParaRPr lang="en-US" altLang="en-US"/>
          </a:p>
          <a:p>
            <a:pPr eaLnBrk="1" hangingPunct="1"/>
            <a:r>
              <a:rPr lang="en-US" altLang="en-US"/>
              <a:t>Uses a varying number of bytes to store different strings</a:t>
            </a:r>
          </a:p>
          <a:p>
            <a:pPr lvl="1" eaLnBrk="1" hangingPunct="1"/>
            <a:r>
              <a:rPr lang="en-US" altLang="en-US"/>
              <a:t>Depends on length of string</a:t>
            </a:r>
          </a:p>
          <a:p>
            <a:pPr lvl="1" eaLnBrk="1" hangingPunct="1"/>
            <a:r>
              <a:rPr lang="en-US" altLang="en-US"/>
              <a:t>Contrast to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writeInt</a:t>
            </a:r>
            <a:r>
              <a:rPr lang="en-US" altLang="en-US"/>
              <a:t> which uses same for each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E072941D-33C9-BC83-2C33-83546EEF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466EB7EA-6F8D-C774-9134-A3814BD73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 must be opened as an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</a:p>
          <a:p>
            <a:pPr eaLnBrk="1" hangingPunct="1"/>
            <a:r>
              <a:rPr lang="en-US" altLang="en-US"/>
              <a:t>Read from binary file using methods which correspond to write methods</a:t>
            </a:r>
          </a:p>
          <a:p>
            <a:pPr lvl="1" eaLnBrk="1" hangingPunct="1"/>
            <a:r>
              <a:rPr lang="en-US" altLang="en-US"/>
              <a:t>Integer written with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writeInt</a:t>
            </a:r>
            <a:r>
              <a:rPr lang="en-US" altLang="en-US"/>
              <a:t> will be read with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readInt</a:t>
            </a:r>
          </a:p>
          <a:p>
            <a:pPr eaLnBrk="1" hangingPunct="1"/>
            <a:r>
              <a:rPr lang="en-US" altLang="en-US"/>
              <a:t>Be careful to read same type as was written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2DB709A-35AD-8D73-201B-C2D514C7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93C32E18-FDD8-A099-E8C0-E330E91A4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10.6a  Some methods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</a:p>
        </p:txBody>
      </p:sp>
      <p:pic>
        <p:nvPicPr>
          <p:cNvPr id="37893" name="Picture 5">
            <a:extLst>
              <a:ext uri="{FF2B5EF4-FFF2-40B4-BE49-F238E27FC236}">
                <a16:creationId xmlns:a16="http://schemas.microsoft.com/office/drawing/2014/main" id="{61CDEC3D-BC4E-29EF-4854-D89180C31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4013" y="2674938"/>
            <a:ext cx="5978525" cy="3675062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9C74CCA-4BF6-B822-334A-437804EF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3B606BB8-0A22-F16F-A78B-3F554951E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10.6b  Some methods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</a:p>
          <a:p>
            <a:pPr eaLnBrk="1" hangingPunct="1"/>
            <a:endParaRPr lang="en-US" altLang="en-US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7A046C0F-2A89-3920-26FB-B5807B20E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7463" y="2703513"/>
            <a:ext cx="6978650" cy="34385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178B1C41-78F8-5981-D25A-C6B44498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E33587FE-35AE-A581-337D-D46DCF0D5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10.6c  Some methods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</a:p>
          <a:p>
            <a:pPr eaLnBrk="1" hangingPunct="1"/>
            <a:endParaRPr lang="en-US" altLang="en-US"/>
          </a:p>
        </p:txBody>
      </p:sp>
      <p:pic>
        <p:nvPicPr>
          <p:cNvPr id="39941" name="Picture 5">
            <a:extLst>
              <a:ext uri="{FF2B5EF4-FFF2-40B4-BE49-F238E27FC236}">
                <a16:creationId xmlns:a16="http://schemas.microsoft.com/office/drawing/2014/main" id="{6015227B-F822-2638-C9DF-67FB9867C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9300" y="2841625"/>
            <a:ext cx="7962900" cy="30543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F6B15FF6-188D-5338-7D02-8F5D2134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09CC6F1E-0202-B010-A7E1-6517B75C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10.6d  Some methods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</a:p>
          <a:p>
            <a:pPr eaLnBrk="1" hangingPunct="1"/>
            <a:endParaRPr lang="en-US" altLang="en-US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70F0433E-7174-F13E-1181-BC2FA4589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6650" y="2890838"/>
            <a:ext cx="7394575" cy="2951162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E5A9198A-179A-292B-1A2D-F89BA60D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52C73378-550B-37F8-F094-1682387FD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3200"/>
            <a:ext cx="8229600" cy="4652963"/>
          </a:xfrm>
        </p:spPr>
        <p:txBody>
          <a:bodyPr/>
          <a:lstStyle/>
          <a:p>
            <a:pPr eaLnBrk="1" hangingPunct="1"/>
            <a:r>
              <a:rPr lang="en-US" altLang="en-US"/>
              <a:t>Figure 10.6e Some methods of 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</a:p>
          <a:p>
            <a:pPr eaLnBrk="1" hangingPunct="1"/>
            <a:endParaRPr lang="en-US" altLang="en-US"/>
          </a:p>
        </p:txBody>
      </p:sp>
      <p:pic>
        <p:nvPicPr>
          <p:cNvPr id="41989" name="Picture 5">
            <a:extLst>
              <a:ext uri="{FF2B5EF4-FFF2-40B4-BE49-F238E27FC236}">
                <a16:creationId xmlns:a16="http://schemas.microsoft.com/office/drawing/2014/main" id="{ABBDC8ED-E569-5509-D735-C689D73EE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1813" y="2614613"/>
            <a:ext cx="6059487" cy="3716337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5E3E4BE-7536-09F0-AB00-3B5A2C6D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Reading from a Binary File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B8394674-7B16-0B4F-8FCB-08B40B22B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program to read</a:t>
            </a:r>
            <a:r>
              <a:rPr lang="en-US" altLang="en-US"/>
              <a:t>, listing 10.6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BinaryInputDemo</a:t>
            </a:r>
          </a:p>
          <a:p>
            <a:pPr eaLnBrk="1" hangingPunct="1"/>
            <a:endParaRPr lang="en-US" altLang="en-US"/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0F42406E-2741-EAE9-FE23-C0986867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3186113"/>
            <a:ext cx="4352925" cy="22494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9F59A8DB-AD8B-C7DA-72F5-2AD8E0A64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4532313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5838043-2C31-700D-E16D-46EC2384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Class </a:t>
            </a:r>
            <a:r>
              <a:rPr lang="en-US" b="1" dirty="0" err="1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EOFException</a:t>
            </a:r>
            <a:endParaRPr lang="en-US" sz="3200" b="1" dirty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9501BA44-DE34-3E59-DAE4-A3B8A61DD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Many methods that read from a binary file will throw an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EOFException</a:t>
            </a:r>
          </a:p>
          <a:p>
            <a:pPr lvl="1" eaLnBrk="1" hangingPunct="1"/>
            <a:r>
              <a:rPr lang="en-US" altLang="en-US"/>
              <a:t>Can be used to test for end of file</a:t>
            </a:r>
          </a:p>
          <a:p>
            <a:pPr lvl="1" eaLnBrk="1" hangingPunct="1"/>
            <a:r>
              <a:rPr lang="en-US" altLang="en-US"/>
              <a:t>Thus can end a reading loop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example program</a:t>
            </a:r>
            <a:r>
              <a:rPr lang="en-US" altLang="en-US"/>
              <a:t>, listing 10.7</a:t>
            </a:r>
            <a:br>
              <a:rPr lang="en-US" altLang="en-US"/>
            </a:br>
            <a:r>
              <a:rPr lang="en-US" altLang="en-US"/>
              <a:t>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EOFExceptionDemo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F614-7828-F60F-4551-3DB3E7F0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Class </a:t>
            </a:r>
            <a:r>
              <a:rPr lang="en-US" b="1" dirty="0" err="1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EOFException</a:t>
            </a:r>
            <a:endParaRPr lang="en-US" b="1" dirty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7107" name="Content Placeholder 5">
            <a:extLst>
              <a:ext uri="{FF2B5EF4-FFF2-40B4-BE49-F238E27FC236}">
                <a16:creationId xmlns:a16="http://schemas.microsoft.com/office/drawing/2014/main" id="{7C70F7D9-5115-8F25-2BF6-903D432E5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the  -1  formerly needed as a sentinel value is now also read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Always a good idea to check for end of file even if you have a sentinel value</a:t>
            </a:r>
          </a:p>
        </p:txBody>
      </p:sp>
      <p:pic>
        <p:nvPicPr>
          <p:cNvPr id="47108" name="Picture 2">
            <a:extLst>
              <a:ext uri="{FF2B5EF4-FFF2-40B4-BE49-F238E27FC236}">
                <a16:creationId xmlns:a16="http://schemas.microsoft.com/office/drawing/2014/main" id="{8DB1C7F3-2013-D5CF-E165-7EE38DE41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2679700"/>
            <a:ext cx="38766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DC6A93F1-F714-FC6C-5E9F-90F0594C1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713" y="3054350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554E9A3C-BFB9-9A54-678A-55E42545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AF54ED8A-3173-5CA5-D75B-86E50E62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Processing a file of binary data</a:t>
            </a:r>
          </a:p>
          <a:p>
            <a:pPr lvl="1" eaLnBrk="1" hangingPunct="1"/>
            <a:r>
              <a:rPr lang="en-US" altLang="en-US"/>
              <a:t>Asks user for 2 file names</a:t>
            </a:r>
          </a:p>
          <a:p>
            <a:pPr lvl="1" eaLnBrk="1" hangingPunct="1"/>
            <a:r>
              <a:rPr lang="en-US" altLang="en-US"/>
              <a:t>Reads numbers in input file</a:t>
            </a:r>
          </a:p>
          <a:p>
            <a:pPr lvl="1" eaLnBrk="1" hangingPunct="1"/>
            <a:r>
              <a:rPr lang="en-US" altLang="en-US"/>
              <a:t>Doubles them</a:t>
            </a:r>
          </a:p>
          <a:p>
            <a:pPr lvl="1" eaLnBrk="1" hangingPunct="1"/>
            <a:r>
              <a:rPr lang="en-US" altLang="en-US"/>
              <a:t>Writes them to output file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processing program</a:t>
            </a:r>
            <a:r>
              <a:rPr lang="en-US" altLang="en-US"/>
              <a:t>, listing 10.8</a:t>
            </a:r>
            <a:br>
              <a:rPr lang="en-US" altLang="en-US"/>
            </a:br>
            <a:r>
              <a:rPr lang="en-US" altLang="en-US"/>
              <a:t>class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C179138F-7F51-D0B8-86B1-9D8A12AA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/>
              <a:t>Binary-File I/O, Objects &amp; Arrays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39E3946F-C369-04DB-204C-4318CC40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1906588"/>
            <a:ext cx="7480300" cy="4219575"/>
          </a:xfrm>
        </p:spPr>
        <p:txBody>
          <a:bodyPr/>
          <a:lstStyle/>
          <a:p>
            <a:pPr eaLnBrk="1" hangingPunct="1"/>
            <a:r>
              <a:rPr lang="en-US" altLang="en-US"/>
              <a:t>Binary-File I/O with Objects of a Class</a:t>
            </a:r>
          </a:p>
          <a:p>
            <a:pPr eaLnBrk="1" hangingPunct="1"/>
            <a:r>
              <a:rPr lang="en-US" altLang="en-US"/>
              <a:t>Some Details of Serialization</a:t>
            </a:r>
          </a:p>
          <a:p>
            <a:pPr eaLnBrk="1" hangingPunct="1"/>
            <a:r>
              <a:rPr lang="en-US" altLang="en-US"/>
              <a:t>Array Objects in Binary Files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97BAC234-9FA7-1DED-96AD-DA6D6A6E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6838"/>
            <a:ext cx="8462962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Binary-File I/O with Class Objects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AD7705DA-9214-8D83-0C29-63DA36615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8100"/>
            <a:ext cx="8453438" cy="4525963"/>
          </a:xfrm>
        </p:spPr>
        <p:txBody>
          <a:bodyPr/>
          <a:lstStyle/>
          <a:p>
            <a:pPr eaLnBrk="1" hangingPunct="1"/>
            <a:r>
              <a:rPr lang="en-US" altLang="en-US"/>
              <a:t>Consider the need to write/read objects other than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</a:p>
          <a:p>
            <a:pPr lvl="1" eaLnBrk="1" hangingPunct="1"/>
            <a:r>
              <a:rPr lang="en-US" altLang="en-US"/>
              <a:t>Possible to write the individual instance variable values</a:t>
            </a:r>
          </a:p>
          <a:p>
            <a:pPr lvl="1" eaLnBrk="1" hangingPunct="1"/>
            <a:r>
              <a:rPr lang="en-US" altLang="en-US"/>
              <a:t>Then reconstruct the object when file is read</a:t>
            </a:r>
          </a:p>
          <a:p>
            <a:pPr eaLnBrk="1" hangingPunct="1"/>
            <a:r>
              <a:rPr lang="en-US" altLang="en-US"/>
              <a:t>A better way is provided by Java</a:t>
            </a:r>
          </a:p>
          <a:p>
            <a:pPr lvl="1" eaLnBrk="1" hangingPunct="1"/>
            <a:r>
              <a:rPr lang="en-US" altLang="en-US" i="1"/>
              <a:t>Object serialization </a:t>
            </a:r>
            <a:r>
              <a:rPr lang="en-US" altLang="en-US"/>
              <a:t>– represent an object as a sequence of bytes to be written/read</a:t>
            </a:r>
          </a:p>
          <a:p>
            <a:pPr lvl="1" eaLnBrk="1" hangingPunct="1"/>
            <a:r>
              <a:rPr lang="en-US" altLang="en-US"/>
              <a:t>Possible for any class implementing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1B734FEC-9B3E-6A2D-38CF-06A9BD2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Binary-File I/O with Class Objects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4946EF20-D9C9-9372-16D0-8AC6F9BEC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  <a:r>
              <a:rPr lang="en-US" altLang="en-US"/>
              <a:t> is an empty interface</a:t>
            </a:r>
          </a:p>
          <a:p>
            <a:pPr lvl="1" eaLnBrk="1" hangingPunct="1"/>
            <a:r>
              <a:rPr lang="en-US" altLang="en-US"/>
              <a:t>No need to implement additional methods</a:t>
            </a:r>
          </a:p>
          <a:p>
            <a:pPr lvl="1" eaLnBrk="1" hangingPunct="1"/>
            <a:r>
              <a:rPr lang="en-US" altLang="en-US"/>
              <a:t>Tells Java to make the class serializable (class objects convertible to sequence of bytes)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 </a:t>
            </a:r>
            <a:r>
              <a:rPr lang="en-US" altLang="en-US"/>
              <a:t>, listing 10.9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Species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AB2E5390-12C4-DAA3-DF0D-5227761A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Binary-File I/O with Class Objects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B416EDB8-DEA2-563C-8487-D3A97F75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Once we have a class that is specified as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  <a:r>
              <a:rPr lang="en-US" altLang="en-US"/>
              <a:t> we can write objects to a binary file</a:t>
            </a:r>
          </a:p>
          <a:p>
            <a:pPr lvl="1" eaLnBrk="1" hangingPunct="1"/>
            <a:r>
              <a:rPr lang="en-US" altLang="en-US"/>
              <a:t>Use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writeObject</a:t>
            </a:r>
          </a:p>
          <a:p>
            <a:pPr eaLnBrk="1" hangingPunct="1"/>
            <a:r>
              <a:rPr lang="en-US" altLang="en-US"/>
              <a:t>Read objects with method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readObject();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Also required to use typecast of the object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program</a:t>
            </a:r>
            <a:r>
              <a:rPr lang="en-US" altLang="en-US"/>
              <a:t>, listing 10.10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ObjectIODemo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832BDCB9-21D4-1CE5-E0A7-0383BFD1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Binary-File I/O with Class Objects</a:t>
            </a:r>
          </a:p>
        </p:txBody>
      </p:sp>
      <p:pic>
        <p:nvPicPr>
          <p:cNvPr id="53251" name="Picture 2">
            <a:extLst>
              <a:ext uri="{FF2B5EF4-FFF2-40B4-BE49-F238E27FC236}">
                <a16:creationId xmlns:a16="http://schemas.microsoft.com/office/drawing/2014/main" id="{9902E98A-CDD1-C7E8-2C90-69BBE5796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1624013"/>
            <a:ext cx="6534150" cy="3609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E439B6EB-4EE5-8271-522B-3B96EF2A4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3" y="3502025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79F27999-0283-299A-3720-0A415BB3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Details of Serialization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2E0BEB59-BFBC-5E31-C98E-F6F74E95F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Requirements for a class to be serializable</a:t>
            </a:r>
          </a:p>
          <a:p>
            <a:pPr lvl="1" eaLnBrk="1" hangingPunct="1"/>
            <a:r>
              <a:rPr lang="en-US" altLang="en-US"/>
              <a:t>Implments interface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</a:p>
          <a:p>
            <a:pPr lvl="1" eaLnBrk="1" hangingPunct="1"/>
            <a:r>
              <a:rPr lang="en-US" altLang="en-US"/>
              <a:t>Any instance variables of a class type are also objects of a serializable class</a:t>
            </a:r>
          </a:p>
          <a:p>
            <a:pPr lvl="1" eaLnBrk="1" hangingPunct="1"/>
            <a:r>
              <a:rPr lang="en-US" altLang="en-US"/>
              <a:t>Class's direct superclass (if any) is either serializable or defines a default constructor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E444E5BB-9018-1151-1F08-21369FC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Details of Serialization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C747BB4D-F088-909A-E9C0-62C355E4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Effects of making a class serializable</a:t>
            </a:r>
          </a:p>
          <a:p>
            <a:pPr lvl="1" eaLnBrk="1" hangingPunct="1"/>
            <a:r>
              <a:rPr lang="en-US" altLang="en-US"/>
              <a:t>Affects how Java performs I/O with class objects</a:t>
            </a:r>
          </a:p>
          <a:p>
            <a:pPr lvl="1" eaLnBrk="1" hangingPunct="1"/>
            <a:r>
              <a:rPr lang="en-US" altLang="en-US"/>
              <a:t>Java assigns a </a:t>
            </a:r>
            <a:r>
              <a:rPr lang="en-US" altLang="en-US" i="1"/>
              <a:t>serial number</a:t>
            </a:r>
            <a:r>
              <a:rPr lang="en-US" altLang="en-US"/>
              <a:t> to each object of the class it writes to the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</a:p>
          <a:p>
            <a:pPr lvl="1" eaLnBrk="1" hangingPunct="1"/>
            <a:r>
              <a:rPr lang="en-US" altLang="en-US"/>
              <a:t>If same object written to stream multiple times, only the serial number written after first time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D61AB5EE-E18E-E2CD-9D8A-3D0A28E5A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Objects in Binary Files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4F4031A1-A45E-E479-DD43-EBA21643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Since an array is an object, possible to use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writeObject</a:t>
            </a:r>
            <a:r>
              <a:rPr lang="en-US" altLang="en-US"/>
              <a:t> with entire array</a:t>
            </a:r>
          </a:p>
          <a:p>
            <a:pPr lvl="1" eaLnBrk="1" hangingPunct="1"/>
            <a:r>
              <a:rPr lang="en-US" altLang="en-US"/>
              <a:t>Similarly use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readObject</a:t>
            </a:r>
            <a:r>
              <a:rPr lang="en-US" altLang="en-US"/>
              <a:t> to read entire array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array I/O program</a:t>
            </a:r>
            <a:r>
              <a:rPr lang="en-US" altLang="en-US"/>
              <a:t>, listing 10.11</a:t>
            </a:r>
            <a:br>
              <a:rPr lang="en-US" altLang="en-US"/>
            </a:br>
            <a:r>
              <a:rPr lang="en-US" altLang="en-US"/>
              <a:t>class ArrayIODemo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4E37D40A-1CDF-F7BA-A9F0-220330E1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Objects in Binary Files</a:t>
            </a:r>
          </a:p>
        </p:txBody>
      </p:sp>
      <p:pic>
        <p:nvPicPr>
          <p:cNvPr id="57347" name="Picture 2">
            <a:extLst>
              <a:ext uri="{FF2B5EF4-FFF2-40B4-BE49-F238E27FC236}">
                <a16:creationId xmlns:a16="http://schemas.microsoft.com/office/drawing/2014/main" id="{D20BF245-3A83-92A6-764D-3C34C1EE6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590675"/>
            <a:ext cx="6524625" cy="36766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ADD4E305-22CE-87DD-9561-0648083C6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3" y="3502025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8A41F84A-89E7-85F6-36BA-2BDD2166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to Sockets and Networking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6405EADE-D41A-7AA0-43E9-E1DC844A0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Classes such as Scanner and PrintWriter can be used with any data stream – such as communicating over a network using streams</a:t>
            </a:r>
          </a:p>
          <a:p>
            <a:pPr eaLnBrk="1" hangingPunct="1"/>
            <a:r>
              <a:rPr lang="en-US" altLang="en-US" sz="2400"/>
              <a:t>Java uses sockets</a:t>
            </a:r>
          </a:p>
          <a:p>
            <a:pPr lvl="1" eaLnBrk="1" hangingPunct="1"/>
            <a:r>
              <a:rPr lang="en-US" altLang="en-US" sz="2000"/>
              <a:t>A socket consists of the address that identifies the remote computer and a port ranging from 0 to 65535</a:t>
            </a:r>
          </a:p>
          <a:p>
            <a:pPr lvl="1" eaLnBrk="1" hangingPunct="1"/>
            <a:r>
              <a:rPr lang="en-US" altLang="en-US" sz="2000"/>
              <a:t>The process of communicating between a client and server is shown in the following figure</a:t>
            </a:r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3">
            <a:extLst>
              <a:ext uri="{FF2B5EF4-FFF2-40B4-BE49-F238E27FC236}">
                <a16:creationId xmlns:a16="http://schemas.microsoft.com/office/drawing/2014/main" id="{3B553DB1-A8FC-0AE0-3BE4-D61CA920D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2288"/>
            <a:ext cx="5010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B0F0"/>
                </a:solidFill>
                <a:cs typeface="Arial" panose="020B0604020202020204" pitchFamily="34" charset="0"/>
              </a:rPr>
              <a:t>FIGURE 10.7    </a:t>
            </a:r>
            <a:r>
              <a:rPr lang="en-US" altLang="en-US" sz="1400" b="1">
                <a:cs typeface="Arial" panose="020B0604020202020204" pitchFamily="34" charset="0"/>
              </a:rPr>
              <a:t>Client/Server Network Communication via Sockets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33497-413C-33D4-E9BB-598975C9CAE0}"/>
              </a:ext>
            </a:extLst>
          </p:cNvPr>
          <p:cNvSpPr txBox="1"/>
          <p:nvPr/>
        </p:nvSpPr>
        <p:spPr>
          <a:xfrm>
            <a:off x="871538" y="928688"/>
            <a:ext cx="64833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buFontTx/>
              <a:buAutoNum type="arabicPeriod"/>
              <a:defRPr/>
            </a:pPr>
            <a:r>
              <a:rPr lang="en-US" sz="1200" dirty="0"/>
              <a:t>The Java server program listens and waits for a connection on port 6789.  Different programs may be listening on other ports.</a:t>
            </a:r>
          </a:p>
          <a:p>
            <a:pPr eaLnBrk="1" hangingPunct="1">
              <a:defRPr/>
            </a:pP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DB1DD-7882-022F-A93D-21A79D69F741}"/>
              </a:ext>
            </a:extLst>
          </p:cNvPr>
          <p:cNvSpPr/>
          <p:nvPr/>
        </p:nvSpPr>
        <p:spPr>
          <a:xfrm>
            <a:off x="1322388" y="1720850"/>
            <a:ext cx="2038350" cy="13843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/>
          </a:p>
        </p:txBody>
      </p:sp>
      <p:sp>
        <p:nvSpPr>
          <p:cNvPr id="59397" name="TextBox 6">
            <a:extLst>
              <a:ext uri="{FF2B5EF4-FFF2-40B4-BE49-F238E27FC236}">
                <a16:creationId xmlns:a16="http://schemas.microsoft.com/office/drawing/2014/main" id="{150E954F-D3D0-288A-455A-69A5C8CDD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1444625"/>
            <a:ext cx="12461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Server Computer</a:t>
            </a:r>
          </a:p>
        </p:txBody>
      </p:sp>
      <p:sp>
        <p:nvSpPr>
          <p:cNvPr id="59398" name="TextBox 7">
            <a:extLst>
              <a:ext uri="{FF2B5EF4-FFF2-40B4-BE49-F238E27FC236}">
                <a16:creationId xmlns:a16="http://schemas.microsoft.com/office/drawing/2014/main" id="{36990293-1C63-D7B9-CB40-2FBC9297E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063" y="2282825"/>
            <a:ext cx="715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Java</a:t>
            </a:r>
          </a:p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server</a:t>
            </a:r>
          </a:p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program</a:t>
            </a:r>
          </a:p>
        </p:txBody>
      </p:sp>
      <p:sp>
        <p:nvSpPr>
          <p:cNvPr id="59399" name="TextBox 8">
            <a:extLst>
              <a:ext uri="{FF2B5EF4-FFF2-40B4-BE49-F238E27FC236}">
                <a16:creationId xmlns:a16="http://schemas.microsoft.com/office/drawing/2014/main" id="{2405311D-E871-5BE7-B53C-629539AEC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1720850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0</a:t>
            </a:r>
          </a:p>
        </p:txBody>
      </p:sp>
      <p:sp>
        <p:nvSpPr>
          <p:cNvPr id="59400" name="TextBox 9">
            <a:extLst>
              <a:ext uri="{FF2B5EF4-FFF2-40B4-BE49-F238E27FC236}">
                <a16:creationId xmlns:a16="http://schemas.microsoft.com/office/drawing/2014/main" id="{DE95CCF6-E070-B9D6-3213-D6DECD226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998663"/>
            <a:ext cx="1017588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1</a:t>
            </a:r>
          </a:p>
        </p:txBody>
      </p:sp>
      <p:sp>
        <p:nvSpPr>
          <p:cNvPr id="59401" name="TextBox 10">
            <a:extLst>
              <a:ext uri="{FF2B5EF4-FFF2-40B4-BE49-F238E27FC236}">
                <a16:creationId xmlns:a16="http://schemas.microsoft.com/office/drawing/2014/main" id="{7218247F-AA74-1335-AB8D-0A0085388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2273300"/>
            <a:ext cx="1017588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9402" name="TextBox 11">
            <a:extLst>
              <a:ext uri="{FF2B5EF4-FFF2-40B4-BE49-F238E27FC236}">
                <a16:creationId xmlns:a16="http://schemas.microsoft.com/office/drawing/2014/main" id="{3842C747-5847-3110-CC00-E206B4D79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2551113"/>
            <a:ext cx="1017588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6789</a:t>
            </a:r>
          </a:p>
        </p:txBody>
      </p:sp>
      <p:sp>
        <p:nvSpPr>
          <p:cNvPr id="59403" name="TextBox 12">
            <a:extLst>
              <a:ext uri="{FF2B5EF4-FFF2-40B4-BE49-F238E27FC236}">
                <a16:creationId xmlns:a16="http://schemas.microsoft.com/office/drawing/2014/main" id="{EF042B45-89D8-1CE1-4DEF-46502B7E6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2827338"/>
            <a:ext cx="1019175" cy="277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93C5E47-399A-F661-C803-57F8B2C8E6F5}"/>
              </a:ext>
            </a:extLst>
          </p:cNvPr>
          <p:cNvSpPr/>
          <p:nvPr/>
        </p:nvSpPr>
        <p:spPr>
          <a:xfrm>
            <a:off x="2084388" y="2611438"/>
            <a:ext cx="222250" cy="1555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1530B8-144B-CA6E-F503-E00D83BDC5FA}"/>
              </a:ext>
            </a:extLst>
          </p:cNvPr>
          <p:cNvSpPr txBox="1"/>
          <p:nvPr/>
        </p:nvSpPr>
        <p:spPr>
          <a:xfrm>
            <a:off x="871538" y="3324225"/>
            <a:ext cx="695007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buFont typeface="+mj-lt"/>
              <a:buAutoNum type="arabicPeriod" startAt="2"/>
              <a:defRPr/>
            </a:pPr>
            <a:r>
              <a:rPr lang="en-US" sz="1200" dirty="0"/>
              <a:t>The Java client program connects to the server on port 6789. It uses a local port that is assigned automatically, in this case, port 8312.</a:t>
            </a:r>
          </a:p>
          <a:p>
            <a:pPr eaLnBrk="1" hangingPunct="1">
              <a:defRPr/>
            </a:pP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E85526-351C-A014-7B9C-6DBB864EDF8F}"/>
              </a:ext>
            </a:extLst>
          </p:cNvPr>
          <p:cNvSpPr/>
          <p:nvPr/>
        </p:nvSpPr>
        <p:spPr>
          <a:xfrm>
            <a:off x="1311275" y="4089400"/>
            <a:ext cx="2038350" cy="13843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/>
          </a:p>
        </p:txBody>
      </p:sp>
      <p:sp>
        <p:nvSpPr>
          <p:cNvPr id="59407" name="TextBox 16">
            <a:extLst>
              <a:ext uri="{FF2B5EF4-FFF2-40B4-BE49-F238E27FC236}">
                <a16:creationId xmlns:a16="http://schemas.microsoft.com/office/drawing/2014/main" id="{27E9F74A-8720-C53F-F199-D81DE2611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4649788"/>
            <a:ext cx="7159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Java</a:t>
            </a:r>
          </a:p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server</a:t>
            </a:r>
          </a:p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program</a:t>
            </a:r>
          </a:p>
        </p:txBody>
      </p:sp>
      <p:sp>
        <p:nvSpPr>
          <p:cNvPr id="59408" name="TextBox 17">
            <a:extLst>
              <a:ext uri="{FF2B5EF4-FFF2-40B4-BE49-F238E27FC236}">
                <a16:creationId xmlns:a16="http://schemas.microsoft.com/office/drawing/2014/main" id="{2FEDB449-EA63-191E-9822-45118DBC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4089400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0</a:t>
            </a:r>
          </a:p>
        </p:txBody>
      </p:sp>
      <p:sp>
        <p:nvSpPr>
          <p:cNvPr id="59409" name="TextBox 18">
            <a:extLst>
              <a:ext uri="{FF2B5EF4-FFF2-40B4-BE49-F238E27FC236}">
                <a16:creationId xmlns:a16="http://schemas.microsoft.com/office/drawing/2014/main" id="{99630701-7052-D2CA-0FE7-DA5C889EA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275" y="4365625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1</a:t>
            </a:r>
          </a:p>
        </p:txBody>
      </p:sp>
      <p:sp>
        <p:nvSpPr>
          <p:cNvPr id="59410" name="TextBox 19">
            <a:extLst>
              <a:ext uri="{FF2B5EF4-FFF2-40B4-BE49-F238E27FC236}">
                <a16:creationId xmlns:a16="http://schemas.microsoft.com/office/drawing/2014/main" id="{04093ED4-47C8-85D4-4A12-75BB42303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275" y="4641850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9411" name="TextBox 20">
            <a:extLst>
              <a:ext uri="{FF2B5EF4-FFF2-40B4-BE49-F238E27FC236}">
                <a16:creationId xmlns:a16="http://schemas.microsoft.com/office/drawing/2014/main" id="{BAB6769A-8B87-8B61-876F-40B179646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275" y="4919663"/>
            <a:ext cx="1019175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6789</a:t>
            </a:r>
          </a:p>
        </p:txBody>
      </p:sp>
      <p:sp>
        <p:nvSpPr>
          <p:cNvPr id="59412" name="TextBox 21">
            <a:extLst>
              <a:ext uri="{FF2B5EF4-FFF2-40B4-BE49-F238E27FC236}">
                <a16:creationId xmlns:a16="http://schemas.microsoft.com/office/drawing/2014/main" id="{F536ADB3-8BF5-B3BF-60E2-1CC839629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5195888"/>
            <a:ext cx="1019175" cy="277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7109E1EE-DFD0-7FAF-33B4-F34611D81A02}"/>
              </a:ext>
            </a:extLst>
          </p:cNvPr>
          <p:cNvSpPr/>
          <p:nvPr/>
        </p:nvSpPr>
        <p:spPr>
          <a:xfrm>
            <a:off x="2071688" y="4979988"/>
            <a:ext cx="223837" cy="1555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/>
          </a:p>
        </p:txBody>
      </p:sp>
      <p:sp>
        <p:nvSpPr>
          <p:cNvPr id="59414" name="TextBox 23">
            <a:extLst>
              <a:ext uri="{FF2B5EF4-FFF2-40B4-BE49-F238E27FC236}">
                <a16:creationId xmlns:a16="http://schemas.microsoft.com/office/drawing/2014/main" id="{79093BAB-E128-62B0-9BB8-422F2D75D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3838575"/>
            <a:ext cx="12461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Server Computer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EEEA54-7072-943E-A7E8-B1B344C6056B}"/>
              </a:ext>
            </a:extLst>
          </p:cNvPr>
          <p:cNvSpPr/>
          <p:nvPr/>
        </p:nvSpPr>
        <p:spPr>
          <a:xfrm>
            <a:off x="5189538" y="4089400"/>
            <a:ext cx="2038350" cy="13843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/>
          </a:p>
        </p:txBody>
      </p:sp>
      <p:sp>
        <p:nvSpPr>
          <p:cNvPr id="59416" name="TextBox 25">
            <a:extLst>
              <a:ext uri="{FF2B5EF4-FFF2-40B4-BE49-F238E27FC236}">
                <a16:creationId xmlns:a16="http://schemas.microsoft.com/office/drawing/2014/main" id="{A20EAA1E-9368-2B97-7904-061F8BFE9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0" y="4629150"/>
            <a:ext cx="7159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Java</a:t>
            </a:r>
          </a:p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client</a:t>
            </a:r>
          </a:p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program</a:t>
            </a:r>
          </a:p>
        </p:txBody>
      </p:sp>
      <p:sp>
        <p:nvSpPr>
          <p:cNvPr id="59417" name="TextBox 26">
            <a:extLst>
              <a:ext uri="{FF2B5EF4-FFF2-40B4-BE49-F238E27FC236}">
                <a16:creationId xmlns:a16="http://schemas.microsoft.com/office/drawing/2014/main" id="{8B8E2BB0-B2B3-D19F-8131-0E2354BD7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300" y="4089400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0</a:t>
            </a:r>
          </a:p>
        </p:txBody>
      </p:sp>
      <p:sp>
        <p:nvSpPr>
          <p:cNvPr id="59418" name="TextBox 27">
            <a:extLst>
              <a:ext uri="{FF2B5EF4-FFF2-40B4-BE49-F238E27FC236}">
                <a16:creationId xmlns:a16="http://schemas.microsoft.com/office/drawing/2014/main" id="{AF264664-3180-736E-927B-E5BE47AEA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2713" y="4365625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1</a:t>
            </a:r>
          </a:p>
        </p:txBody>
      </p:sp>
      <p:sp>
        <p:nvSpPr>
          <p:cNvPr id="59419" name="TextBox 28">
            <a:extLst>
              <a:ext uri="{FF2B5EF4-FFF2-40B4-BE49-F238E27FC236}">
                <a16:creationId xmlns:a16="http://schemas.microsoft.com/office/drawing/2014/main" id="{211A8E3A-41AA-C851-AD41-0F018743A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2713" y="4641850"/>
            <a:ext cx="1019175" cy="27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9420" name="TextBox 29">
            <a:extLst>
              <a:ext uri="{FF2B5EF4-FFF2-40B4-BE49-F238E27FC236}">
                <a16:creationId xmlns:a16="http://schemas.microsoft.com/office/drawing/2014/main" id="{59BC5504-3260-C397-3B68-2E8BC24D6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2713" y="4919663"/>
            <a:ext cx="1019175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port 8312</a:t>
            </a:r>
          </a:p>
        </p:txBody>
      </p:sp>
      <p:sp>
        <p:nvSpPr>
          <p:cNvPr id="59421" name="TextBox 30">
            <a:extLst>
              <a:ext uri="{FF2B5EF4-FFF2-40B4-BE49-F238E27FC236}">
                <a16:creationId xmlns:a16="http://schemas.microsoft.com/office/drawing/2014/main" id="{A0325D2A-2ECF-4DD9-EC77-B7B39499E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300" y="5195888"/>
            <a:ext cx="1019175" cy="277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7F2E449-DFA9-B927-BB95-70003B30A1CB}"/>
              </a:ext>
            </a:extLst>
          </p:cNvPr>
          <p:cNvSpPr/>
          <p:nvPr/>
        </p:nvSpPr>
        <p:spPr>
          <a:xfrm rot="10800000">
            <a:off x="6265863" y="4979988"/>
            <a:ext cx="223837" cy="1555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200"/>
          </a:p>
        </p:txBody>
      </p:sp>
      <p:sp>
        <p:nvSpPr>
          <p:cNvPr id="59423" name="TextBox 32">
            <a:extLst>
              <a:ext uri="{FF2B5EF4-FFF2-40B4-BE49-F238E27FC236}">
                <a16:creationId xmlns:a16="http://schemas.microsoft.com/office/drawing/2014/main" id="{51158DB6-53AB-2012-4096-221CCB5F0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950" y="3838575"/>
            <a:ext cx="1206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Client Computer</a:t>
            </a:r>
          </a:p>
        </p:txBody>
      </p:sp>
      <p:sp>
        <p:nvSpPr>
          <p:cNvPr id="34" name="Left-Right Arrow 33">
            <a:extLst>
              <a:ext uri="{FF2B5EF4-FFF2-40B4-BE49-F238E27FC236}">
                <a16:creationId xmlns:a16="http://schemas.microsoft.com/office/drawing/2014/main" id="{3B1EDED3-A295-C69D-97F5-76F8E41AAE5C}"/>
              </a:ext>
            </a:extLst>
          </p:cNvPr>
          <p:cNvSpPr/>
          <p:nvPr/>
        </p:nvSpPr>
        <p:spPr>
          <a:xfrm>
            <a:off x="3522663" y="4957763"/>
            <a:ext cx="1493837" cy="21590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9425" name="TextBox 34">
            <a:extLst>
              <a:ext uri="{FF2B5EF4-FFF2-40B4-BE49-F238E27FC236}">
                <a16:creationId xmlns:a16="http://schemas.microsoft.com/office/drawing/2014/main" id="{1BDCC7A7-5B68-858D-9DEF-2E9AAB29E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4706938"/>
            <a:ext cx="725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cs typeface="Arial" panose="020B0604020202020204" pitchFamily="34" charset="0"/>
              </a:rPr>
              <a:t>Network</a:t>
            </a:r>
          </a:p>
        </p:txBody>
      </p:sp>
      <p:sp>
        <p:nvSpPr>
          <p:cNvPr id="59426" name="TextBox 35">
            <a:extLst>
              <a:ext uri="{FF2B5EF4-FFF2-40B4-BE49-F238E27FC236}">
                <a16:creationId xmlns:a16="http://schemas.microsoft.com/office/drawing/2014/main" id="{DE4B7451-B9A1-F374-1928-AE7805754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2008188"/>
            <a:ext cx="2689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B0F0"/>
                </a:solidFill>
                <a:cs typeface="Arial" panose="020B0604020202020204" pitchFamily="34" charset="0"/>
              </a:rPr>
              <a:t>In Listing 10.13 the server and client are running on the same computer which is identified by the special address of “localhost”.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E902AB-456A-B4FE-9464-9F62D038B894}"/>
              </a:ext>
            </a:extLst>
          </p:cNvPr>
          <p:cNvSpPr txBox="1"/>
          <p:nvPr/>
        </p:nvSpPr>
        <p:spPr>
          <a:xfrm>
            <a:off x="871538" y="5629275"/>
            <a:ext cx="6950075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buFont typeface="+mj-lt"/>
              <a:buAutoNum type="arabicPeriod" startAt="3"/>
              <a:defRPr/>
            </a:pPr>
            <a:r>
              <a:rPr lang="en-US" sz="1200" dirty="0"/>
              <a:t>The Java server program can now communicate over a socket bound locally to port 6789 and remotely to the client’s address at port 8312, while the client communicates over a socket bound locally to port 8312 and remotely to the server’s address at port 6789.</a:t>
            </a:r>
          </a:p>
          <a:p>
            <a:pPr eaLnBrk="1" hangingPunct="1">
              <a:defRPr/>
            </a:pP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8E24A2E0-4360-78FD-CD24-505D157E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to Sockets and Networking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D8967AAD-681C-7437-D3E3-AFFB0D07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Server program</a:t>
            </a:r>
          </a:p>
          <a:p>
            <a:pPr lvl="1" eaLnBrk="1" hangingPunct="1"/>
            <a:r>
              <a:rPr lang="en-US" altLang="en-US" sz="2000"/>
              <a:t>Listen for a connection on a specified port; when one is made:</a:t>
            </a:r>
          </a:p>
          <a:p>
            <a:pPr lvl="2" eaLnBrk="1" hangingPunct="1"/>
            <a:r>
              <a:rPr lang="en-US" altLang="en-US" sz="1800"/>
              <a:t>Create a Scanner with an InputStreamReader based on the socket that the server will listen on; use this for input from a client</a:t>
            </a:r>
          </a:p>
          <a:p>
            <a:pPr lvl="2" eaLnBrk="1" hangingPunct="1"/>
            <a:r>
              <a:rPr lang="en-US" altLang="en-US" sz="1800"/>
              <a:t>Create a PrintWriter with the socket to send data to the client</a:t>
            </a:r>
          </a:p>
          <a:p>
            <a:pPr lvl="1" eaLnBrk="1" hangingPunct="1"/>
            <a:r>
              <a:rPr lang="en-US" altLang="en-US" sz="2100"/>
              <a:t>See </a:t>
            </a:r>
            <a:r>
              <a:rPr lang="en-US" altLang="en-US" sz="2100">
                <a:hlinkClick r:id="rId2" action="ppaction://hlinkfile"/>
              </a:rPr>
              <a:t>Listing 10.12</a:t>
            </a:r>
            <a:endParaRPr lang="en-US" altLang="en-US" sz="2100"/>
          </a:p>
          <a:p>
            <a:pPr eaLnBrk="1" hangingPunct="1"/>
            <a:r>
              <a:rPr lang="en-US" altLang="en-US" sz="2800"/>
              <a:t>Client program</a:t>
            </a:r>
          </a:p>
          <a:p>
            <a:pPr lvl="1" eaLnBrk="1" hangingPunct="1"/>
            <a:r>
              <a:rPr lang="en-US" altLang="en-US" sz="2000"/>
              <a:t>Initiate a connection to the server on a specified port</a:t>
            </a:r>
          </a:p>
          <a:p>
            <a:pPr lvl="1" eaLnBrk="1" hangingPunct="1"/>
            <a:r>
              <a:rPr lang="en-US" altLang="en-US" sz="2000"/>
              <a:t>Create a Scanner to read from the socket</a:t>
            </a:r>
          </a:p>
          <a:p>
            <a:pPr lvl="1" eaLnBrk="1" hangingPunct="1"/>
            <a:r>
              <a:rPr lang="en-US" altLang="en-US" sz="2000"/>
              <a:t>Create a PrintWriter to send to the socket</a:t>
            </a:r>
          </a:p>
          <a:p>
            <a:pPr lvl="1" eaLnBrk="1" hangingPunct="1"/>
            <a:r>
              <a:rPr lang="en-US" altLang="en-US" sz="2000"/>
              <a:t>Set </a:t>
            </a:r>
            <a:r>
              <a:rPr lang="en-US" altLang="en-US" sz="2000">
                <a:hlinkClick r:id="rId3" action="ppaction://hlinkfile"/>
              </a:rPr>
              <a:t>Listing 10.13</a:t>
            </a:r>
            <a:endParaRPr lang="en-US" altLang="en-US" sz="2000"/>
          </a:p>
          <a:p>
            <a:pPr lvl="1" eaLnBrk="1" hangingPunct="1"/>
            <a:endParaRPr lang="en-US" altLang="en-US" sz="2000"/>
          </a:p>
          <a:p>
            <a:pPr eaLnBrk="1" hangingPunct="1"/>
            <a:endParaRPr lang="en-US" altLang="en-US" sz="3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F4F08016-B52B-BDE0-E763-37CA3EE8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URL Class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F17CC3B8-79C1-D6E8-3C72-AF61494D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57325"/>
            <a:ext cx="7886700" cy="4351338"/>
          </a:xfrm>
        </p:spPr>
        <p:txBody>
          <a:bodyPr/>
          <a:lstStyle/>
          <a:p>
            <a:pPr eaLnBrk="1" hangingPunct="1"/>
            <a:r>
              <a:rPr lang="en-US" altLang="en-US" sz="2400"/>
              <a:t>The URL class gives us a simple way to read from a webpage</a:t>
            </a:r>
          </a:p>
          <a:p>
            <a:pPr lvl="1" eaLnBrk="1" hangingPunct="1"/>
            <a:r>
              <a:rPr lang="en-US" altLang="en-US" sz="2400"/>
              <a:t>Thanks to polymorphism we can create a Scanner that is linked to a website</a:t>
            </a:r>
          </a:p>
          <a:p>
            <a:pPr lvl="1" eaLnBrk="1" hangingPunct="1"/>
            <a:r>
              <a:rPr lang="en-US" altLang="en-US" sz="2400"/>
              <a:t>The example outputs the text from wikipedia</a:t>
            </a:r>
            <a:endParaRPr lang="en-US" altLang="en-US" sz="1600"/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5CED47-8BF9-CEDB-B44B-9A28FB925328}"/>
              </a:ext>
            </a:extLst>
          </p:cNvPr>
          <p:cNvSpPr/>
          <p:nvPr/>
        </p:nvSpPr>
        <p:spPr>
          <a:xfrm>
            <a:off x="231775" y="3025775"/>
            <a:ext cx="8283575" cy="310832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URL website = </a:t>
            </a:r>
            <a:r>
              <a:rPr lang="en-US" sz="1600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URL("http://www.wikipedia.org");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Scanner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inputStream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Scanner(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InputStreamReader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website.openStream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()));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inputStream.hasNextLine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())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String s =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inputStream.nextLine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(s);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inputStream.close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913B8A13-756D-E90B-EA8A-5549FAA60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13FB926B-5098-7E1A-2885-E73373A1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275" y="1673225"/>
            <a:ext cx="6740525" cy="4452938"/>
          </a:xfrm>
        </p:spPr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  <a:p>
            <a:pPr eaLnBrk="1" hangingPunct="1"/>
            <a:r>
              <a:rPr lang="en-US" altLang="en-US"/>
              <a:t>A JavaFX GUI for Manipulating Files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AE0AFD07-ADC3-673A-07B0-B3CE4D12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E012F55B-03F1-DB4C-C714-0D6716C7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JavaFX GUI for manipulating files</a:t>
            </a:r>
          </a:p>
          <a:p>
            <a:pPr eaLnBrk="1" hangingPunct="1"/>
            <a:r>
              <a:rPr lang="en-US" altLang="en-US"/>
              <a:t>Note buttons</a:t>
            </a:r>
          </a:p>
          <a:p>
            <a:pPr lvl="1" eaLnBrk="1" hangingPunct="1"/>
            <a:r>
              <a:rPr lang="en-US" altLang="en-US"/>
              <a:t>Show first line</a:t>
            </a:r>
          </a:p>
          <a:p>
            <a:pPr lvl="1" eaLnBrk="1" hangingPunct="1"/>
            <a:r>
              <a:rPr lang="en-US" altLang="en-US"/>
              <a:t>Remove file</a:t>
            </a:r>
          </a:p>
          <a:p>
            <a:pPr lvl="1" eaLnBrk="1" hangingPunct="1"/>
            <a:r>
              <a:rPr lang="en-US" altLang="en-US"/>
              <a:t>Reset</a:t>
            </a:r>
          </a:p>
          <a:p>
            <a:pPr eaLnBrk="1" hangingPunct="1"/>
            <a:r>
              <a:rPr lang="en-US" altLang="en-US"/>
              <a:t>Note also the text fields</a:t>
            </a:r>
          </a:p>
          <a:p>
            <a:pPr lvl="1" eaLnBrk="1" hangingPunct="1"/>
            <a:r>
              <a:rPr lang="en-US" altLang="en-US"/>
              <a:t>Type in a file name</a:t>
            </a:r>
          </a:p>
          <a:p>
            <a:pPr lvl="1" eaLnBrk="1" hangingPunct="1"/>
            <a:r>
              <a:rPr lang="en-US" altLang="en-US"/>
              <a:t>Display first line of file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">
            <a:extLst>
              <a:ext uri="{FF2B5EF4-FFF2-40B4-BE49-F238E27FC236}">
                <a16:creationId xmlns:a16="http://schemas.microsoft.com/office/drawing/2014/main" id="{0BF5A7BB-1DE2-2F05-2C61-C0C82C8F7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3027363"/>
            <a:ext cx="382270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Title 1">
            <a:extLst>
              <a:ext uri="{FF2B5EF4-FFF2-40B4-BE49-F238E27FC236}">
                <a16:creationId xmlns:a16="http://schemas.microsoft.com/office/drawing/2014/main" id="{12857E27-9AB3-7970-30F4-78052FAD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64516" name="Content Placeholder 2">
            <a:extLst>
              <a:ext uri="{FF2B5EF4-FFF2-40B4-BE49-F238E27FC236}">
                <a16:creationId xmlns:a16="http://schemas.microsoft.com/office/drawing/2014/main" id="{9DC185D5-1E79-2775-E54B-30213D664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3" y="1522413"/>
            <a:ext cx="7886700" cy="4351337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JavaFX program</a:t>
            </a:r>
            <a:r>
              <a:rPr lang="en-US" altLang="en-US"/>
              <a:t>, listing 10.14</a:t>
            </a:r>
            <a:br>
              <a:rPr lang="en-US" altLang="en-US"/>
            </a:b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FileOrganizer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85AB6661-02EE-F3F3-E76F-91E1BF58C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650" y="4357688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D3A1E72B-C36E-8D06-6A2A-EEBF5E0E4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C4D6E1F1-F6A2-2E69-3475-ACD50FA1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338"/>
            <a:ext cx="8229600" cy="4822825"/>
          </a:xfrm>
        </p:spPr>
        <p:txBody>
          <a:bodyPr/>
          <a:lstStyle/>
          <a:p>
            <a:pPr eaLnBrk="1" hangingPunct="1"/>
            <a:r>
              <a:rPr lang="en-US" altLang="en-US"/>
              <a:t>Files with characters are text files</a:t>
            </a:r>
          </a:p>
          <a:p>
            <a:pPr lvl="1" eaLnBrk="1" hangingPunct="1"/>
            <a:r>
              <a:rPr lang="en-US" altLang="en-US"/>
              <a:t>Other files are binary files</a:t>
            </a:r>
          </a:p>
          <a:p>
            <a:pPr eaLnBrk="1" hangingPunct="1"/>
            <a:r>
              <a:rPr lang="en-US" altLang="en-US"/>
              <a:t>Programs can use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PrintWriter</a:t>
            </a:r>
            <a:r>
              <a:rPr lang="en-US" altLang="en-US"/>
              <a:t> and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altLang="en-US"/>
              <a:t> for I/O </a:t>
            </a:r>
          </a:p>
          <a:p>
            <a:pPr eaLnBrk="1" hangingPunct="1"/>
            <a:r>
              <a:rPr lang="en-US" altLang="en-US"/>
              <a:t>Always check for end of file</a:t>
            </a:r>
          </a:p>
          <a:p>
            <a:pPr eaLnBrk="1" hangingPunct="1"/>
            <a:r>
              <a:rPr lang="en-US" altLang="en-US"/>
              <a:t>File name can be literal string or variable of type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eaLnBrk="1" hangingPunct="1"/>
            <a:r>
              <a:rPr lang="en-US" altLang="en-US"/>
              <a:t>Class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/>
              <a:t> gives additional capabilities to deal with file names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43DE7D38-9DD3-C2A2-89B3-4C9ABB13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8249B307-4D60-F87E-B641-E2570ED35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  <a:r>
              <a:rPr lang="en-US" altLang="en-US"/>
              <a:t> and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  <a:r>
              <a:rPr lang="en-US" altLang="en-US"/>
              <a:t> classes enable writing to, reading from binary files</a:t>
            </a:r>
          </a:p>
          <a:p>
            <a:pPr eaLnBrk="1" hangingPunct="1"/>
            <a:r>
              <a:rPr lang="en-US" altLang="en-US"/>
              <a:t>Use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writeObject</a:t>
            </a:r>
            <a:r>
              <a:rPr lang="en-US" altLang="en-US"/>
              <a:t> to write class objects to binary file</a:t>
            </a:r>
          </a:p>
          <a:p>
            <a:pPr eaLnBrk="1" hangingPunct="1"/>
            <a:r>
              <a:rPr lang="en-US" altLang="en-US"/>
              <a:t>Use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readObject</a:t>
            </a:r>
            <a:r>
              <a:rPr lang="en-US" altLang="en-US"/>
              <a:t> with type cast to read objects from binary file</a:t>
            </a:r>
          </a:p>
          <a:p>
            <a:pPr eaLnBrk="1" hangingPunct="1"/>
            <a:r>
              <a:rPr lang="en-US" altLang="en-US"/>
              <a:t>Classes for binary I/O must be serializable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1269</TotalTime>
  <Words>2275</Words>
  <Application>Microsoft Macintosh PowerPoint</Application>
  <PresentationFormat>On-screen Show (4:3)</PresentationFormat>
  <Paragraphs>352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Courier New</vt:lpstr>
      <vt:lpstr>Times New Roman</vt:lpstr>
      <vt:lpstr>Office Theme</vt:lpstr>
      <vt:lpstr>Streams, File I/O, and Networking</vt:lpstr>
      <vt:lpstr>Objectives</vt:lpstr>
      <vt:lpstr>Overview: Outline</vt:lpstr>
      <vt:lpstr>The Concept of a Stream</vt:lpstr>
      <vt:lpstr>The Concept of a Stream</vt:lpstr>
      <vt:lpstr>Why Use Files for I/O</vt:lpstr>
      <vt:lpstr>Text Files and Binary Files</vt:lpstr>
      <vt:lpstr>Text Files and Binary Files</vt:lpstr>
      <vt:lpstr>Text-File I/O: Outlline</vt:lpstr>
      <vt:lpstr>Creating a Text File</vt:lpstr>
      <vt:lpstr>Creating a Text File</vt:lpstr>
      <vt:lpstr>Creating a Text File</vt:lpstr>
      <vt:lpstr>Creating a Text File</vt:lpstr>
      <vt:lpstr>Appending to a Text File</vt:lpstr>
      <vt:lpstr>Reading from a Text File</vt:lpstr>
      <vt:lpstr>Reading from a Text File</vt:lpstr>
      <vt:lpstr>Reading from a Text File</vt:lpstr>
      <vt:lpstr>Techniques for Any File</vt:lpstr>
      <vt:lpstr>The Class File</vt:lpstr>
      <vt:lpstr>Programming Example</vt:lpstr>
      <vt:lpstr>Using Path Names</vt:lpstr>
      <vt:lpstr>Methods of the Class File</vt:lpstr>
      <vt:lpstr>Methods of the Class File</vt:lpstr>
      <vt:lpstr>Defining a Method to Open a Stream</vt:lpstr>
      <vt:lpstr>Defining a Method to Open a Stream</vt:lpstr>
      <vt:lpstr>Case Study Processing a Comma-Separated Values File</vt:lpstr>
      <vt:lpstr>Example Processing a CSV File</vt:lpstr>
      <vt:lpstr>Basic Binary-File I/O</vt:lpstr>
      <vt:lpstr>Creating a Binary File</vt:lpstr>
      <vt:lpstr>Creating a Binary File</vt:lpstr>
      <vt:lpstr>Writing Primitive Values to a Binary File</vt:lpstr>
      <vt:lpstr>Writing Primitive Values to a Binary File</vt:lpstr>
      <vt:lpstr>Writing Primitive Values to a Binary File</vt:lpstr>
      <vt:lpstr>Writing Primitive Values to a Binary File</vt:lpstr>
      <vt:lpstr>Writing Strings to a Binary File</vt:lpstr>
      <vt:lpstr>Reading from a Binary File</vt:lpstr>
      <vt:lpstr>Reading from a Binary File</vt:lpstr>
      <vt:lpstr>Reading from a Binary File</vt:lpstr>
      <vt:lpstr>Reading from a Binary File</vt:lpstr>
      <vt:lpstr>Reading from a Binary File</vt:lpstr>
      <vt:lpstr>Reading from a Binary File</vt:lpstr>
      <vt:lpstr>Reading from a Binary File</vt:lpstr>
      <vt:lpstr>The Class EOFException</vt:lpstr>
      <vt:lpstr>The Class EOFException</vt:lpstr>
      <vt:lpstr>Programming Example</vt:lpstr>
      <vt:lpstr>Binary-File I/O, Objects &amp; Arrays</vt:lpstr>
      <vt:lpstr>Binary-File I/O with Class Objects</vt:lpstr>
      <vt:lpstr>Binary-File I/O with Class Objects</vt:lpstr>
      <vt:lpstr>Binary-File I/O with Class Objects</vt:lpstr>
      <vt:lpstr>Binary-File I/O with Class Objects</vt:lpstr>
      <vt:lpstr>Some Details of Serialization</vt:lpstr>
      <vt:lpstr>Some Details of Serialization</vt:lpstr>
      <vt:lpstr>Array Objects in Binary Files</vt:lpstr>
      <vt:lpstr>Array Objects in Binary Files</vt:lpstr>
      <vt:lpstr>Introduction to Sockets and Networking</vt:lpstr>
      <vt:lpstr>PowerPoint Presentation</vt:lpstr>
      <vt:lpstr>Introduction to Sockets and Networking</vt:lpstr>
      <vt:lpstr>The URL Class</vt:lpstr>
      <vt:lpstr>Graphics Supplement</vt:lpstr>
      <vt:lpstr>Programming Example</vt:lpstr>
      <vt:lpstr>Programming Example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 and File I/O</dc:title>
  <dc:creator>Steve Armstrong</dc:creator>
  <cp:lastModifiedBy>Muhammad Asaduzzaman</cp:lastModifiedBy>
  <cp:revision>70</cp:revision>
  <dcterms:created xsi:type="dcterms:W3CDTF">2007-10-21T18:46:28Z</dcterms:created>
  <dcterms:modified xsi:type="dcterms:W3CDTF">2025-07-14T14:57:33Z</dcterms:modified>
</cp:coreProperties>
</file>