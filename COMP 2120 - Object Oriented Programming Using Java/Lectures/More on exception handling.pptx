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781" r:id="rId1"/>
  </p:sldMasterIdLst>
  <p:sldIdLst>
    <p:sldId id="256" r:id="rId2"/>
    <p:sldId id="284" r:id="rId3"/>
    <p:sldId id="285" r:id="rId4"/>
    <p:sldId id="286" r:id="rId5"/>
    <p:sldId id="265" r:id="rId6"/>
    <p:sldId id="308" r:id="rId7"/>
    <p:sldId id="309" r:id="rId8"/>
    <p:sldId id="310" r:id="rId9"/>
    <p:sldId id="311" r:id="rId10"/>
    <p:sldId id="267" r:id="rId11"/>
    <p:sldId id="268" r:id="rId12"/>
    <p:sldId id="306" r:id="rId13"/>
    <p:sldId id="307" r:id="rId14"/>
    <p:sldId id="304" r:id="rId15"/>
    <p:sldId id="302" r:id="rId16"/>
    <p:sldId id="303" r:id="rId17"/>
    <p:sldId id="305" r:id="rId1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51" autoAdjust="0"/>
    <p:restoredTop sz="94564" autoAdjust="0"/>
  </p:normalViewPr>
  <p:slideViewPr>
    <p:cSldViewPr snapToGrid="0">
      <p:cViewPr>
        <p:scale>
          <a:sx n="116" d="100"/>
          <a:sy n="116" d="100"/>
        </p:scale>
        <p:origin x="1432"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7">
            <a:extLst>
              <a:ext uri="{FF2B5EF4-FFF2-40B4-BE49-F238E27FC236}">
                <a16:creationId xmlns:a16="http://schemas.microsoft.com/office/drawing/2014/main" id="{F4CECD33-E13E-E7A7-2C7B-294AEED276C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95513" y="525463"/>
            <a:ext cx="4505325"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a:extLst>
              <a:ext uri="{FF2B5EF4-FFF2-40B4-BE49-F238E27FC236}">
                <a16:creationId xmlns:a16="http://schemas.microsoft.com/office/drawing/2014/main" id="{51379181-311C-4B3C-44F4-4A71A11AFD6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653088" y="2312988"/>
            <a:ext cx="1609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6" name="Date Placeholder 3">
            <a:extLst>
              <a:ext uri="{FF2B5EF4-FFF2-40B4-BE49-F238E27FC236}">
                <a16:creationId xmlns:a16="http://schemas.microsoft.com/office/drawing/2014/main" id="{FBC82E31-B714-2CC0-2A35-07C219D77264}"/>
              </a:ext>
            </a:extLst>
          </p:cNvPr>
          <p:cNvSpPr>
            <a:spLocks noGrp="1"/>
          </p:cNvSpPr>
          <p:nvPr>
            <p:ph type="dt" sz="half" idx="10"/>
          </p:nvPr>
        </p:nvSpPr>
        <p:spPr/>
        <p:txBody>
          <a:bodyPr/>
          <a:lstStyle>
            <a:lvl1pPr>
              <a:defRPr/>
            </a:lvl1pPr>
          </a:lstStyle>
          <a:p>
            <a:pPr>
              <a:defRPr/>
            </a:pPr>
            <a:fld id="{247DCDB0-4CF6-0941-AD6F-8CE47D4336BA}" type="datetimeFigureOut">
              <a:rPr lang="en-US"/>
              <a:pPr>
                <a:defRPr/>
              </a:pPr>
              <a:t>10/29/24</a:t>
            </a:fld>
            <a:endParaRPr lang="en-US"/>
          </a:p>
        </p:txBody>
      </p:sp>
      <p:sp>
        <p:nvSpPr>
          <p:cNvPr id="7" name="Footer Placeholder 4">
            <a:extLst>
              <a:ext uri="{FF2B5EF4-FFF2-40B4-BE49-F238E27FC236}">
                <a16:creationId xmlns:a16="http://schemas.microsoft.com/office/drawing/2014/main" id="{52F4B38E-7CBB-922B-4431-15125EA03BA6}"/>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EDD3D0AC-58A9-A1CA-878C-F21B3BE9C814}"/>
              </a:ext>
            </a:extLst>
          </p:cNvPr>
          <p:cNvSpPr>
            <a:spLocks noGrp="1"/>
          </p:cNvSpPr>
          <p:nvPr>
            <p:ph type="sldNum" sz="quarter" idx="12"/>
          </p:nvPr>
        </p:nvSpPr>
        <p:spPr/>
        <p:txBody>
          <a:bodyPr/>
          <a:lstStyle>
            <a:lvl1pPr>
              <a:defRPr/>
            </a:lvl1pPr>
          </a:lstStyle>
          <a:p>
            <a:fld id="{FD80E79F-EA51-EF4B-BE22-412210E20B8A}" type="slidenum">
              <a:rPr lang="en-US" altLang="en-US"/>
              <a:pPr/>
              <a:t>‹#›</a:t>
            </a:fld>
            <a:endParaRPr lang="en-US" altLang="en-US"/>
          </a:p>
        </p:txBody>
      </p:sp>
    </p:spTree>
    <p:extLst>
      <p:ext uri="{BB962C8B-B14F-4D97-AF65-F5344CB8AC3E}">
        <p14:creationId xmlns:p14="http://schemas.microsoft.com/office/powerpoint/2010/main" val="834950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223AAA-883D-1096-E0DC-B723AB191E8D}"/>
              </a:ext>
            </a:extLst>
          </p:cNvPr>
          <p:cNvSpPr>
            <a:spLocks noGrp="1"/>
          </p:cNvSpPr>
          <p:nvPr>
            <p:ph type="dt" sz="half" idx="10"/>
          </p:nvPr>
        </p:nvSpPr>
        <p:spPr/>
        <p:txBody>
          <a:bodyPr/>
          <a:lstStyle>
            <a:lvl1pPr>
              <a:defRPr/>
            </a:lvl1pPr>
          </a:lstStyle>
          <a:p>
            <a:pPr>
              <a:defRPr/>
            </a:pPr>
            <a:fld id="{43E8194A-798C-834D-9007-8745A30A0A61}" type="datetimeFigureOut">
              <a:rPr lang="en-US"/>
              <a:pPr>
                <a:defRPr/>
              </a:pPr>
              <a:t>10/29/24</a:t>
            </a:fld>
            <a:endParaRPr lang="en-US"/>
          </a:p>
        </p:txBody>
      </p:sp>
      <p:sp>
        <p:nvSpPr>
          <p:cNvPr id="5" name="Footer Placeholder 4">
            <a:extLst>
              <a:ext uri="{FF2B5EF4-FFF2-40B4-BE49-F238E27FC236}">
                <a16:creationId xmlns:a16="http://schemas.microsoft.com/office/drawing/2014/main" id="{653DBF07-2037-DD5F-19C8-80AF7E03C6B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9CC056C-62B7-F7E5-953B-F45B977E30E6}"/>
              </a:ext>
            </a:extLst>
          </p:cNvPr>
          <p:cNvSpPr>
            <a:spLocks noGrp="1"/>
          </p:cNvSpPr>
          <p:nvPr>
            <p:ph type="sldNum" sz="quarter" idx="12"/>
          </p:nvPr>
        </p:nvSpPr>
        <p:spPr/>
        <p:txBody>
          <a:bodyPr/>
          <a:lstStyle>
            <a:lvl1pPr>
              <a:defRPr/>
            </a:lvl1pPr>
          </a:lstStyle>
          <a:p>
            <a:fld id="{445B15DA-F231-CC49-BF26-DA6162DFF565}" type="slidenum">
              <a:rPr lang="en-US" altLang="en-US"/>
              <a:pPr/>
              <a:t>‹#›</a:t>
            </a:fld>
            <a:endParaRPr lang="en-US" altLang="en-US"/>
          </a:p>
        </p:txBody>
      </p:sp>
    </p:spTree>
    <p:extLst>
      <p:ext uri="{BB962C8B-B14F-4D97-AF65-F5344CB8AC3E}">
        <p14:creationId xmlns:p14="http://schemas.microsoft.com/office/powerpoint/2010/main" val="912678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E794C6-7B47-4968-8476-F14F10656FDF}"/>
              </a:ext>
            </a:extLst>
          </p:cNvPr>
          <p:cNvSpPr>
            <a:spLocks noGrp="1"/>
          </p:cNvSpPr>
          <p:nvPr>
            <p:ph type="dt" sz="half" idx="10"/>
          </p:nvPr>
        </p:nvSpPr>
        <p:spPr/>
        <p:txBody>
          <a:bodyPr/>
          <a:lstStyle>
            <a:lvl1pPr>
              <a:defRPr/>
            </a:lvl1pPr>
          </a:lstStyle>
          <a:p>
            <a:pPr>
              <a:defRPr/>
            </a:pPr>
            <a:fld id="{DDDC429E-CD26-3448-BAE5-B1D93145C043}" type="datetimeFigureOut">
              <a:rPr lang="en-US"/>
              <a:pPr>
                <a:defRPr/>
              </a:pPr>
              <a:t>10/29/24</a:t>
            </a:fld>
            <a:endParaRPr lang="en-US"/>
          </a:p>
        </p:txBody>
      </p:sp>
      <p:sp>
        <p:nvSpPr>
          <p:cNvPr id="5" name="Footer Placeholder 4">
            <a:extLst>
              <a:ext uri="{FF2B5EF4-FFF2-40B4-BE49-F238E27FC236}">
                <a16:creationId xmlns:a16="http://schemas.microsoft.com/office/drawing/2014/main" id="{BD7F1086-D389-0F0E-8683-5491A85E76B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7E2F7D2-5AB5-D2C7-2502-D3B512B9A754}"/>
              </a:ext>
            </a:extLst>
          </p:cNvPr>
          <p:cNvSpPr>
            <a:spLocks noGrp="1"/>
          </p:cNvSpPr>
          <p:nvPr>
            <p:ph type="sldNum" sz="quarter" idx="12"/>
          </p:nvPr>
        </p:nvSpPr>
        <p:spPr/>
        <p:txBody>
          <a:bodyPr/>
          <a:lstStyle>
            <a:lvl1pPr>
              <a:defRPr/>
            </a:lvl1pPr>
          </a:lstStyle>
          <a:p>
            <a:fld id="{6F5883AF-841F-334C-81BE-AA468FE4D031}" type="slidenum">
              <a:rPr lang="en-US" altLang="en-US"/>
              <a:pPr/>
              <a:t>‹#›</a:t>
            </a:fld>
            <a:endParaRPr lang="en-US" altLang="en-US"/>
          </a:p>
        </p:txBody>
      </p:sp>
    </p:spTree>
    <p:extLst>
      <p:ext uri="{BB962C8B-B14F-4D97-AF65-F5344CB8AC3E}">
        <p14:creationId xmlns:p14="http://schemas.microsoft.com/office/powerpoint/2010/main" val="1538472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DA1C2257-6D35-F70D-3814-FF9C4E558FA0}"/>
              </a:ext>
            </a:extLst>
          </p:cNvPr>
          <p:cNvSpPr>
            <a:spLocks noGrp="1"/>
          </p:cNvSpPr>
          <p:nvPr>
            <p:ph type="dt" sz="half" idx="10"/>
          </p:nvPr>
        </p:nvSpPr>
        <p:spPr/>
        <p:txBody>
          <a:bodyPr/>
          <a:lstStyle>
            <a:lvl1pPr>
              <a:defRPr/>
            </a:lvl1pPr>
          </a:lstStyle>
          <a:p>
            <a:pPr>
              <a:defRPr/>
            </a:pPr>
            <a:fld id="{0E209F77-CE69-1149-BB61-B0D9596DA525}" type="datetimeFigureOut">
              <a:rPr lang="en-US"/>
              <a:pPr>
                <a:defRPr/>
              </a:pPr>
              <a:t>10/29/24</a:t>
            </a:fld>
            <a:endParaRPr lang="en-US"/>
          </a:p>
        </p:txBody>
      </p:sp>
      <p:sp>
        <p:nvSpPr>
          <p:cNvPr id="6" name="Footer Placeholder 4">
            <a:extLst>
              <a:ext uri="{FF2B5EF4-FFF2-40B4-BE49-F238E27FC236}">
                <a16:creationId xmlns:a16="http://schemas.microsoft.com/office/drawing/2014/main" id="{72A1558B-0644-8834-1D60-737E4A32C71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3D80D05-01BE-A2FA-987C-C33FF754CC00}"/>
              </a:ext>
            </a:extLst>
          </p:cNvPr>
          <p:cNvSpPr>
            <a:spLocks noGrp="1"/>
          </p:cNvSpPr>
          <p:nvPr>
            <p:ph type="sldNum" sz="quarter" idx="12"/>
          </p:nvPr>
        </p:nvSpPr>
        <p:spPr/>
        <p:txBody>
          <a:bodyPr/>
          <a:lstStyle>
            <a:lvl1pPr>
              <a:defRPr/>
            </a:lvl1pPr>
          </a:lstStyle>
          <a:p>
            <a:fld id="{0FD53377-DF5F-2445-82F4-93C6109DDA0B}" type="slidenum">
              <a:rPr lang="en-US" altLang="en-US"/>
              <a:pPr/>
              <a:t>‹#›</a:t>
            </a:fld>
            <a:endParaRPr lang="en-US" altLang="en-US"/>
          </a:p>
        </p:txBody>
      </p:sp>
    </p:spTree>
    <p:extLst>
      <p:ext uri="{BB962C8B-B14F-4D97-AF65-F5344CB8AC3E}">
        <p14:creationId xmlns:p14="http://schemas.microsoft.com/office/powerpoint/2010/main" val="92196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2260A9F-48C3-2AE6-5ED8-BE3F0262234A}"/>
              </a:ext>
            </a:extLst>
          </p:cNvPr>
          <p:cNvSpPr>
            <a:spLocks noGrp="1"/>
          </p:cNvSpPr>
          <p:nvPr>
            <p:ph type="dt" sz="half" idx="10"/>
          </p:nvPr>
        </p:nvSpPr>
        <p:spPr/>
        <p:txBody>
          <a:bodyPr/>
          <a:lstStyle>
            <a:lvl1pPr>
              <a:defRPr/>
            </a:lvl1pPr>
          </a:lstStyle>
          <a:p>
            <a:pPr>
              <a:defRPr/>
            </a:pPr>
            <a:fld id="{3336A822-0E43-864F-AEA7-F3969B2B52B7}" type="datetimeFigureOut">
              <a:rPr lang="en-US"/>
              <a:pPr>
                <a:defRPr/>
              </a:pPr>
              <a:t>10/29/24</a:t>
            </a:fld>
            <a:endParaRPr lang="en-US"/>
          </a:p>
        </p:txBody>
      </p:sp>
      <p:sp>
        <p:nvSpPr>
          <p:cNvPr id="8" name="Footer Placeholder 4">
            <a:extLst>
              <a:ext uri="{FF2B5EF4-FFF2-40B4-BE49-F238E27FC236}">
                <a16:creationId xmlns:a16="http://schemas.microsoft.com/office/drawing/2014/main" id="{2EC50521-FD5E-E480-0A61-7EED92D3C622}"/>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6EBF37B7-C0EB-656B-A943-A668A8907216}"/>
              </a:ext>
            </a:extLst>
          </p:cNvPr>
          <p:cNvSpPr>
            <a:spLocks noGrp="1"/>
          </p:cNvSpPr>
          <p:nvPr>
            <p:ph type="sldNum" sz="quarter" idx="12"/>
          </p:nvPr>
        </p:nvSpPr>
        <p:spPr/>
        <p:txBody>
          <a:bodyPr/>
          <a:lstStyle>
            <a:lvl1pPr>
              <a:defRPr/>
            </a:lvl1pPr>
          </a:lstStyle>
          <a:p>
            <a:fld id="{E013FDFB-4369-764D-A51C-FF28BAA07DC6}" type="slidenum">
              <a:rPr lang="en-US" altLang="en-US"/>
              <a:pPr/>
              <a:t>‹#›</a:t>
            </a:fld>
            <a:endParaRPr lang="en-US" altLang="en-US"/>
          </a:p>
        </p:txBody>
      </p:sp>
    </p:spTree>
    <p:extLst>
      <p:ext uri="{BB962C8B-B14F-4D97-AF65-F5344CB8AC3E}">
        <p14:creationId xmlns:p14="http://schemas.microsoft.com/office/powerpoint/2010/main" val="651361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DD4F9E0-013C-079A-11C6-31DE0B9A44CB}"/>
              </a:ext>
            </a:extLst>
          </p:cNvPr>
          <p:cNvSpPr>
            <a:spLocks noGrp="1"/>
          </p:cNvSpPr>
          <p:nvPr>
            <p:ph type="dt" sz="half" idx="10"/>
          </p:nvPr>
        </p:nvSpPr>
        <p:spPr/>
        <p:txBody>
          <a:bodyPr/>
          <a:lstStyle>
            <a:lvl1pPr>
              <a:defRPr/>
            </a:lvl1pPr>
          </a:lstStyle>
          <a:p>
            <a:pPr>
              <a:defRPr/>
            </a:pPr>
            <a:fld id="{85F06010-0FD3-3C44-AAB0-4B2F1F5119D0}" type="datetimeFigureOut">
              <a:rPr lang="en-US"/>
              <a:pPr>
                <a:defRPr/>
              </a:pPr>
              <a:t>10/29/24</a:t>
            </a:fld>
            <a:endParaRPr lang="en-US"/>
          </a:p>
        </p:txBody>
      </p:sp>
      <p:sp>
        <p:nvSpPr>
          <p:cNvPr id="4" name="Footer Placeholder 4">
            <a:extLst>
              <a:ext uri="{FF2B5EF4-FFF2-40B4-BE49-F238E27FC236}">
                <a16:creationId xmlns:a16="http://schemas.microsoft.com/office/drawing/2014/main" id="{2ACC5B96-C64B-3FDD-E0EE-C191730603D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C378A9EB-3636-64ED-E73E-B50FFFFF9A72}"/>
              </a:ext>
            </a:extLst>
          </p:cNvPr>
          <p:cNvSpPr>
            <a:spLocks noGrp="1"/>
          </p:cNvSpPr>
          <p:nvPr>
            <p:ph type="sldNum" sz="quarter" idx="12"/>
          </p:nvPr>
        </p:nvSpPr>
        <p:spPr/>
        <p:txBody>
          <a:bodyPr/>
          <a:lstStyle>
            <a:lvl1pPr>
              <a:defRPr/>
            </a:lvl1pPr>
          </a:lstStyle>
          <a:p>
            <a:fld id="{838602BD-DACE-2046-B76B-C36A600B598C}" type="slidenum">
              <a:rPr lang="en-US" altLang="en-US"/>
              <a:pPr/>
              <a:t>‹#›</a:t>
            </a:fld>
            <a:endParaRPr lang="en-US" altLang="en-US"/>
          </a:p>
        </p:txBody>
      </p:sp>
    </p:spTree>
    <p:extLst>
      <p:ext uri="{BB962C8B-B14F-4D97-AF65-F5344CB8AC3E}">
        <p14:creationId xmlns:p14="http://schemas.microsoft.com/office/powerpoint/2010/main" val="3888632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EF7CDA4-8711-5430-B3AA-0E3384301359}"/>
              </a:ext>
            </a:extLst>
          </p:cNvPr>
          <p:cNvSpPr>
            <a:spLocks noGrp="1"/>
          </p:cNvSpPr>
          <p:nvPr>
            <p:ph type="dt" sz="half" idx="10"/>
          </p:nvPr>
        </p:nvSpPr>
        <p:spPr/>
        <p:txBody>
          <a:bodyPr/>
          <a:lstStyle>
            <a:lvl1pPr>
              <a:defRPr/>
            </a:lvl1pPr>
          </a:lstStyle>
          <a:p>
            <a:pPr>
              <a:defRPr/>
            </a:pPr>
            <a:fld id="{020FFD74-A2B5-0C45-BA28-8DDCC32784EF}" type="datetimeFigureOut">
              <a:rPr lang="en-US"/>
              <a:pPr>
                <a:defRPr/>
              </a:pPr>
              <a:t>10/29/24</a:t>
            </a:fld>
            <a:endParaRPr lang="en-US"/>
          </a:p>
        </p:txBody>
      </p:sp>
      <p:sp>
        <p:nvSpPr>
          <p:cNvPr id="3" name="Footer Placeholder 4">
            <a:extLst>
              <a:ext uri="{FF2B5EF4-FFF2-40B4-BE49-F238E27FC236}">
                <a16:creationId xmlns:a16="http://schemas.microsoft.com/office/drawing/2014/main" id="{41FB7949-6CA1-2824-2360-45F9ECA8938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F42C644-F103-09DA-9110-218C55EEFE1E}"/>
              </a:ext>
            </a:extLst>
          </p:cNvPr>
          <p:cNvSpPr>
            <a:spLocks noGrp="1"/>
          </p:cNvSpPr>
          <p:nvPr>
            <p:ph type="sldNum" sz="quarter" idx="12"/>
          </p:nvPr>
        </p:nvSpPr>
        <p:spPr/>
        <p:txBody>
          <a:bodyPr/>
          <a:lstStyle>
            <a:lvl1pPr>
              <a:defRPr/>
            </a:lvl1pPr>
          </a:lstStyle>
          <a:p>
            <a:fld id="{461711C5-C60D-5A4E-9193-8CC85F9DF38E}" type="slidenum">
              <a:rPr lang="en-US" altLang="en-US"/>
              <a:pPr/>
              <a:t>‹#›</a:t>
            </a:fld>
            <a:endParaRPr lang="en-US" altLang="en-US"/>
          </a:p>
        </p:txBody>
      </p:sp>
    </p:spTree>
    <p:extLst>
      <p:ext uri="{BB962C8B-B14F-4D97-AF65-F5344CB8AC3E}">
        <p14:creationId xmlns:p14="http://schemas.microsoft.com/office/powerpoint/2010/main" val="2085567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C16071E0-296F-CB92-7033-04E28F272C03}"/>
              </a:ext>
            </a:extLst>
          </p:cNvPr>
          <p:cNvSpPr>
            <a:spLocks noGrp="1"/>
          </p:cNvSpPr>
          <p:nvPr>
            <p:ph type="dt" sz="half" idx="10"/>
          </p:nvPr>
        </p:nvSpPr>
        <p:spPr/>
        <p:txBody>
          <a:bodyPr/>
          <a:lstStyle>
            <a:lvl1pPr>
              <a:defRPr/>
            </a:lvl1pPr>
          </a:lstStyle>
          <a:p>
            <a:pPr>
              <a:defRPr/>
            </a:pPr>
            <a:fld id="{FF8F419E-A696-564A-A126-48419D7B765B}" type="datetimeFigureOut">
              <a:rPr lang="en-US"/>
              <a:pPr>
                <a:defRPr/>
              </a:pPr>
              <a:t>10/29/24</a:t>
            </a:fld>
            <a:endParaRPr lang="en-US"/>
          </a:p>
        </p:txBody>
      </p:sp>
      <p:sp>
        <p:nvSpPr>
          <p:cNvPr id="6" name="Footer Placeholder 4">
            <a:extLst>
              <a:ext uri="{FF2B5EF4-FFF2-40B4-BE49-F238E27FC236}">
                <a16:creationId xmlns:a16="http://schemas.microsoft.com/office/drawing/2014/main" id="{4721EDCC-4968-E5BB-2FC0-6E7F15E7AA5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8D05B28-09D3-35D0-6E26-8FEF7426C488}"/>
              </a:ext>
            </a:extLst>
          </p:cNvPr>
          <p:cNvSpPr>
            <a:spLocks noGrp="1"/>
          </p:cNvSpPr>
          <p:nvPr>
            <p:ph type="sldNum" sz="quarter" idx="12"/>
          </p:nvPr>
        </p:nvSpPr>
        <p:spPr/>
        <p:txBody>
          <a:bodyPr/>
          <a:lstStyle>
            <a:lvl1pPr>
              <a:defRPr/>
            </a:lvl1pPr>
          </a:lstStyle>
          <a:p>
            <a:fld id="{7004EE1F-72EC-E542-AE63-8ED020B13E5A}" type="slidenum">
              <a:rPr lang="en-US" altLang="en-US"/>
              <a:pPr/>
              <a:t>‹#›</a:t>
            </a:fld>
            <a:endParaRPr lang="en-US" altLang="en-US"/>
          </a:p>
        </p:txBody>
      </p:sp>
    </p:spTree>
    <p:extLst>
      <p:ext uri="{BB962C8B-B14F-4D97-AF65-F5344CB8AC3E}">
        <p14:creationId xmlns:p14="http://schemas.microsoft.com/office/powerpoint/2010/main" val="2896310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BF67D462-6D22-21EF-6B1D-1BED5F091DE6}"/>
              </a:ext>
            </a:extLst>
          </p:cNvPr>
          <p:cNvSpPr>
            <a:spLocks noGrp="1"/>
          </p:cNvSpPr>
          <p:nvPr>
            <p:ph type="dt" sz="half" idx="10"/>
          </p:nvPr>
        </p:nvSpPr>
        <p:spPr/>
        <p:txBody>
          <a:bodyPr/>
          <a:lstStyle>
            <a:lvl1pPr>
              <a:defRPr/>
            </a:lvl1pPr>
          </a:lstStyle>
          <a:p>
            <a:pPr>
              <a:defRPr/>
            </a:pPr>
            <a:fld id="{B04B1D95-2E01-EF48-BAF7-4AE201E55038}" type="datetimeFigureOut">
              <a:rPr lang="en-US"/>
              <a:pPr>
                <a:defRPr/>
              </a:pPr>
              <a:t>10/29/24</a:t>
            </a:fld>
            <a:endParaRPr lang="en-US"/>
          </a:p>
        </p:txBody>
      </p:sp>
      <p:sp>
        <p:nvSpPr>
          <p:cNvPr id="6" name="Footer Placeholder 4">
            <a:extLst>
              <a:ext uri="{FF2B5EF4-FFF2-40B4-BE49-F238E27FC236}">
                <a16:creationId xmlns:a16="http://schemas.microsoft.com/office/drawing/2014/main" id="{5EA8D62E-9E97-433E-09F3-B64C7E4428C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96290B7-A458-01E7-6639-AE34269518F9}"/>
              </a:ext>
            </a:extLst>
          </p:cNvPr>
          <p:cNvSpPr>
            <a:spLocks noGrp="1"/>
          </p:cNvSpPr>
          <p:nvPr>
            <p:ph type="sldNum" sz="quarter" idx="12"/>
          </p:nvPr>
        </p:nvSpPr>
        <p:spPr/>
        <p:txBody>
          <a:bodyPr/>
          <a:lstStyle>
            <a:lvl1pPr>
              <a:defRPr/>
            </a:lvl1pPr>
          </a:lstStyle>
          <a:p>
            <a:fld id="{736E3AD2-5477-BB4A-BB93-09596386E1A4}" type="slidenum">
              <a:rPr lang="en-US" altLang="en-US"/>
              <a:pPr/>
              <a:t>‹#›</a:t>
            </a:fld>
            <a:endParaRPr lang="en-US" altLang="en-US"/>
          </a:p>
        </p:txBody>
      </p:sp>
    </p:spTree>
    <p:extLst>
      <p:ext uri="{BB962C8B-B14F-4D97-AF65-F5344CB8AC3E}">
        <p14:creationId xmlns:p14="http://schemas.microsoft.com/office/powerpoint/2010/main" val="1674582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BAE007-FB47-096C-840A-FF0C09D5B871}"/>
              </a:ext>
            </a:extLst>
          </p:cNvPr>
          <p:cNvSpPr>
            <a:spLocks noGrp="1"/>
          </p:cNvSpPr>
          <p:nvPr>
            <p:ph type="dt" sz="half" idx="10"/>
          </p:nvPr>
        </p:nvSpPr>
        <p:spPr/>
        <p:txBody>
          <a:bodyPr/>
          <a:lstStyle>
            <a:lvl1pPr>
              <a:defRPr/>
            </a:lvl1pPr>
          </a:lstStyle>
          <a:p>
            <a:pPr>
              <a:defRPr/>
            </a:pPr>
            <a:fld id="{A4F38DFA-FA79-D545-9E9D-E7ECCB29A8E1}" type="datetimeFigureOut">
              <a:rPr lang="en-US"/>
              <a:pPr>
                <a:defRPr/>
              </a:pPr>
              <a:t>10/29/24</a:t>
            </a:fld>
            <a:endParaRPr lang="en-US"/>
          </a:p>
        </p:txBody>
      </p:sp>
      <p:sp>
        <p:nvSpPr>
          <p:cNvPr id="5" name="Footer Placeholder 4">
            <a:extLst>
              <a:ext uri="{FF2B5EF4-FFF2-40B4-BE49-F238E27FC236}">
                <a16:creationId xmlns:a16="http://schemas.microsoft.com/office/drawing/2014/main" id="{AD0EAE2F-71FD-8AC1-250C-1785AD676BB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11B2B12-BE9C-09F1-6B4B-21C7F4429502}"/>
              </a:ext>
            </a:extLst>
          </p:cNvPr>
          <p:cNvSpPr>
            <a:spLocks noGrp="1"/>
          </p:cNvSpPr>
          <p:nvPr>
            <p:ph type="sldNum" sz="quarter" idx="12"/>
          </p:nvPr>
        </p:nvSpPr>
        <p:spPr/>
        <p:txBody>
          <a:bodyPr/>
          <a:lstStyle>
            <a:lvl1pPr>
              <a:defRPr/>
            </a:lvl1pPr>
          </a:lstStyle>
          <a:p>
            <a:fld id="{9C06AAA5-082B-EA47-9A66-A79219829565}" type="slidenum">
              <a:rPr lang="en-US" altLang="en-US"/>
              <a:pPr/>
              <a:t>‹#›</a:t>
            </a:fld>
            <a:endParaRPr lang="en-US" altLang="en-US"/>
          </a:p>
        </p:txBody>
      </p:sp>
    </p:spTree>
    <p:extLst>
      <p:ext uri="{BB962C8B-B14F-4D97-AF65-F5344CB8AC3E}">
        <p14:creationId xmlns:p14="http://schemas.microsoft.com/office/powerpoint/2010/main" val="319044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825C27-294E-12B0-D769-45E0EB4D50D8}"/>
              </a:ext>
            </a:extLst>
          </p:cNvPr>
          <p:cNvSpPr>
            <a:spLocks noGrp="1"/>
          </p:cNvSpPr>
          <p:nvPr>
            <p:ph type="dt" sz="half" idx="10"/>
          </p:nvPr>
        </p:nvSpPr>
        <p:spPr/>
        <p:txBody>
          <a:bodyPr/>
          <a:lstStyle>
            <a:lvl1pPr>
              <a:defRPr/>
            </a:lvl1pPr>
          </a:lstStyle>
          <a:p>
            <a:pPr>
              <a:defRPr/>
            </a:pPr>
            <a:fld id="{A771CF28-F02F-3143-B266-69B2827E880D}" type="datetimeFigureOut">
              <a:rPr lang="en-US"/>
              <a:pPr>
                <a:defRPr/>
              </a:pPr>
              <a:t>10/29/24</a:t>
            </a:fld>
            <a:endParaRPr lang="en-US"/>
          </a:p>
        </p:txBody>
      </p:sp>
      <p:sp>
        <p:nvSpPr>
          <p:cNvPr id="5" name="Footer Placeholder 4">
            <a:extLst>
              <a:ext uri="{FF2B5EF4-FFF2-40B4-BE49-F238E27FC236}">
                <a16:creationId xmlns:a16="http://schemas.microsoft.com/office/drawing/2014/main" id="{D5301484-B321-AECA-199D-D380FE9E129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B664C82-025A-6C16-DDD5-1432D4774C97}"/>
              </a:ext>
            </a:extLst>
          </p:cNvPr>
          <p:cNvSpPr>
            <a:spLocks noGrp="1"/>
          </p:cNvSpPr>
          <p:nvPr>
            <p:ph type="sldNum" sz="quarter" idx="12"/>
          </p:nvPr>
        </p:nvSpPr>
        <p:spPr/>
        <p:txBody>
          <a:bodyPr/>
          <a:lstStyle>
            <a:lvl1pPr>
              <a:defRPr/>
            </a:lvl1pPr>
          </a:lstStyle>
          <a:p>
            <a:fld id="{6B1AB379-9190-CA4F-8C16-81D13D224AE7}" type="slidenum">
              <a:rPr lang="en-US" altLang="en-US"/>
              <a:pPr/>
              <a:t>‹#›</a:t>
            </a:fld>
            <a:endParaRPr lang="en-US" altLang="en-US"/>
          </a:p>
        </p:txBody>
      </p:sp>
    </p:spTree>
    <p:extLst>
      <p:ext uri="{BB962C8B-B14F-4D97-AF65-F5344CB8AC3E}">
        <p14:creationId xmlns:p14="http://schemas.microsoft.com/office/powerpoint/2010/main" val="2887763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7EE5DC0-A546-187C-B8A0-3BB460F41606}"/>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6635AF71-DCBC-FF69-CF05-F160F9F61C41}"/>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3B72DEF-B718-4F6B-C84F-59EFDE2F219B}"/>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defRPr sz="900">
                <a:solidFill>
                  <a:schemeClr val="tx1">
                    <a:tint val="75000"/>
                  </a:schemeClr>
                </a:solidFill>
              </a:defRPr>
            </a:lvl1pPr>
          </a:lstStyle>
          <a:p>
            <a:pPr>
              <a:defRPr/>
            </a:pPr>
            <a:fld id="{F15D12A7-C4E5-3C45-8D2D-61444FEF66C5}" type="datetimeFigureOut">
              <a:rPr lang="en-US"/>
              <a:pPr>
                <a:defRPr/>
              </a:pPr>
              <a:t>10/29/24</a:t>
            </a:fld>
            <a:endParaRPr lang="en-US"/>
          </a:p>
        </p:txBody>
      </p:sp>
      <p:sp>
        <p:nvSpPr>
          <p:cNvPr id="5" name="Footer Placeholder 4">
            <a:extLst>
              <a:ext uri="{FF2B5EF4-FFF2-40B4-BE49-F238E27FC236}">
                <a16:creationId xmlns:a16="http://schemas.microsoft.com/office/drawing/2014/main" id="{0BEB84A8-2D47-D98F-F97C-186AD2B22005}"/>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hangingPunct="1">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3BE3885A-FC0D-33C3-0377-BFCA246FAA6F}"/>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fld id="{D2B5C851-C0E9-254E-93C6-48DEDDEDE79B}" type="slidenum">
              <a:rPr lang="en-US" altLang="en-US"/>
              <a:pPr/>
              <a:t>‹#›</a:t>
            </a:fld>
            <a:endParaRPr lang="en-US" altLang="en-US"/>
          </a:p>
        </p:txBody>
      </p:sp>
      <p:sp>
        <p:nvSpPr>
          <p:cNvPr id="7" name="Text Box 6">
            <a:extLst>
              <a:ext uri="{FF2B5EF4-FFF2-40B4-BE49-F238E27FC236}">
                <a16:creationId xmlns:a16="http://schemas.microsoft.com/office/drawing/2014/main" id="{3423732C-B92D-F912-F35F-A08E2F33C1A3}"/>
              </a:ext>
            </a:extLst>
          </p:cNvPr>
          <p:cNvSpPr txBox="1">
            <a:spLocks noChangeArrowheads="1"/>
          </p:cNvSpPr>
          <p:nvPr userDrawn="1"/>
        </p:nvSpPr>
        <p:spPr bwMode="auto">
          <a:xfrm>
            <a:off x="685800" y="6400800"/>
            <a:ext cx="8229600" cy="577850"/>
          </a:xfrm>
          <a:prstGeom prst="rect">
            <a:avLst/>
          </a:prstGeom>
          <a:noFill/>
          <a:ln w="9525">
            <a:noFill/>
            <a:miter lim="800000"/>
            <a:headEnd/>
            <a:tailEnd/>
          </a:ln>
          <a:effec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spcBef>
                <a:spcPct val="50000"/>
              </a:spcBef>
              <a:defRPr/>
            </a:pPr>
            <a:r>
              <a:rPr lang="en-US" altLang="en-US" sz="900" i="1" dirty="0"/>
              <a:t>JAVA: An Introduction to Problem Solving &amp; Programming, 8</a:t>
            </a:r>
            <a:r>
              <a:rPr lang="en-US" altLang="en-US" sz="900" baseline="30000" dirty="0"/>
              <a:t>th</a:t>
            </a:r>
            <a:r>
              <a:rPr lang="en-US" altLang="en-US" sz="900" dirty="0"/>
              <a:t> Ed. By Walter Savitch</a:t>
            </a:r>
            <a:br>
              <a:rPr lang="en-US" altLang="en-US" sz="900" dirty="0"/>
            </a:br>
            <a:r>
              <a:rPr lang="en-US" altLang="en-US" sz="900" dirty="0"/>
              <a:t>ISBN </a:t>
            </a:r>
            <a:r>
              <a:rPr lang="en-US" sz="900" dirty="0"/>
              <a:t>0134462033 </a:t>
            </a:r>
            <a:r>
              <a:rPr lang="en-US" altLang="en-US" sz="900" dirty="0"/>
              <a:t> © 2018 Pearson Education, Inc., Hoboken, NJ. All Rights Reserved</a:t>
            </a:r>
          </a:p>
          <a:p>
            <a:pPr algn="ctr" eaLnBrk="1" hangingPunct="1">
              <a:spcBef>
                <a:spcPct val="50000"/>
              </a:spcBef>
              <a:defRPr/>
            </a:pPr>
            <a:endParaRPr lang="en-US" sz="900" dirty="0">
              <a:solidFill>
                <a:prstClr val="black"/>
              </a:solidFill>
              <a:cs typeface="Arial" charset="0"/>
            </a:endParaRPr>
          </a:p>
        </p:txBody>
      </p:sp>
    </p:spTree>
  </p:cSld>
  <p:clrMap bg1="lt1" tx1="dk1" bg2="lt2" tx2="dk2" accent1="accent1" accent2="accent2" accent3="accent3" accent4="accent4" accent5="accent5" accent6="accent6" hlink="hlink" folHlink="folHlink"/>
  <p:sldLayoutIdLst>
    <p:sldLayoutId id="2147483840"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cs.oracle.com/javase/6/docs/api/java/util/ArrayList.html#ArrayList(int)" TargetMode="External"/><Relationship Id="rId2" Type="http://schemas.openxmlformats.org/officeDocument/2006/relationships/hyperlink" Target="https://docs.oracle.com/javase/6/docs/api/java/util/ArrayList.html#ArrayLis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E1469B74-E0F4-DD64-DAE2-66C6DA41274B}"/>
              </a:ext>
            </a:extLst>
          </p:cNvPr>
          <p:cNvSpPr>
            <a:spLocks noGrp="1"/>
          </p:cNvSpPr>
          <p:nvPr>
            <p:ph type="ctrTitle"/>
          </p:nvPr>
        </p:nvSpPr>
        <p:spPr>
          <a:xfrm>
            <a:off x="1220118" y="3028281"/>
            <a:ext cx="6858000" cy="2387600"/>
          </a:xfrm>
        </p:spPr>
        <p:txBody>
          <a:bodyPr/>
          <a:lstStyle/>
          <a:p>
            <a:pPr eaLnBrk="1" hangingPunct="1"/>
            <a:r>
              <a:rPr lang="en-US" altLang="en-US" dirty="0"/>
              <a:t>More About Exception Handling</a:t>
            </a:r>
          </a:p>
        </p:txBody>
      </p:sp>
      <p:sp>
        <p:nvSpPr>
          <p:cNvPr id="3075" name="Subtitle 2">
            <a:extLst>
              <a:ext uri="{FF2B5EF4-FFF2-40B4-BE49-F238E27FC236}">
                <a16:creationId xmlns:a16="http://schemas.microsoft.com/office/drawing/2014/main" id="{98794DA7-ED00-43F0-6A61-820A8E535225}"/>
              </a:ext>
            </a:extLst>
          </p:cNvPr>
          <p:cNvSpPr>
            <a:spLocks noGrp="1"/>
          </p:cNvSpPr>
          <p:nvPr>
            <p:ph type="subTitle" idx="1"/>
          </p:nvPr>
        </p:nvSpPr>
        <p:spPr/>
        <p:txBody>
          <a:bodyPr/>
          <a:lstStyle/>
          <a:p>
            <a:pPr eaLnBrk="1" hangingPunct="1"/>
            <a:r>
              <a:rPr lang="en-US" altLang="en-US"/>
              <a:t>Chapter 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D0108E1E-CBEC-D165-5A18-BCFCD5C94518}"/>
              </a:ext>
            </a:extLst>
          </p:cNvPr>
          <p:cNvSpPr>
            <a:spLocks noGrp="1"/>
          </p:cNvSpPr>
          <p:nvPr>
            <p:ph type="title"/>
          </p:nvPr>
        </p:nvSpPr>
        <p:spPr/>
        <p:txBody>
          <a:bodyPr/>
          <a:lstStyle/>
          <a:p>
            <a:pPr eaLnBrk="1" hangingPunct="1"/>
            <a:r>
              <a:rPr lang="en-US" altLang="en-US"/>
              <a:t>Kinds  of Exceptions</a:t>
            </a:r>
          </a:p>
        </p:txBody>
      </p:sp>
      <p:sp>
        <p:nvSpPr>
          <p:cNvPr id="23555" name="Content Placeholder 2">
            <a:extLst>
              <a:ext uri="{FF2B5EF4-FFF2-40B4-BE49-F238E27FC236}">
                <a16:creationId xmlns:a16="http://schemas.microsoft.com/office/drawing/2014/main" id="{7469A99E-4A2F-7F1B-A24C-09B6518D6C3E}"/>
              </a:ext>
            </a:extLst>
          </p:cNvPr>
          <p:cNvSpPr>
            <a:spLocks noGrp="1"/>
          </p:cNvSpPr>
          <p:nvPr>
            <p:ph idx="1"/>
          </p:nvPr>
        </p:nvSpPr>
        <p:spPr/>
        <p:txBody>
          <a:bodyPr/>
          <a:lstStyle/>
          <a:p>
            <a:pPr eaLnBrk="1" hangingPunct="1"/>
            <a:r>
              <a:rPr lang="en-US" altLang="en-US" i="1"/>
              <a:t>Checked</a:t>
            </a:r>
            <a:r>
              <a:rPr lang="en-US" altLang="en-US"/>
              <a:t> exception</a:t>
            </a:r>
          </a:p>
          <a:p>
            <a:pPr lvl="1" eaLnBrk="1" hangingPunct="1"/>
            <a:r>
              <a:rPr lang="en-US" altLang="en-US"/>
              <a:t>Must be caught in </a:t>
            </a:r>
            <a:r>
              <a:rPr lang="en-US" altLang="en-US" sz="3200" b="1">
                <a:solidFill>
                  <a:srgbClr val="0033CC"/>
                </a:solidFill>
                <a:latin typeface="Courier New" panose="02070309020205020404" pitchFamily="49" charset="0"/>
                <a:cs typeface="Courier New" panose="02070309020205020404" pitchFamily="49" charset="0"/>
              </a:rPr>
              <a:t>catch</a:t>
            </a:r>
            <a:r>
              <a:rPr lang="en-US" altLang="en-US"/>
              <a:t> block</a:t>
            </a:r>
          </a:p>
          <a:p>
            <a:pPr lvl="1" eaLnBrk="1" hangingPunct="1"/>
            <a:r>
              <a:rPr lang="en-US" altLang="en-US"/>
              <a:t>Or declared in </a:t>
            </a:r>
            <a:r>
              <a:rPr lang="en-US" altLang="en-US" sz="3200" b="1">
                <a:solidFill>
                  <a:srgbClr val="0033CC"/>
                </a:solidFill>
                <a:latin typeface="Courier New" panose="02070309020205020404" pitchFamily="49" charset="0"/>
                <a:cs typeface="Courier New" panose="02070309020205020404" pitchFamily="49" charset="0"/>
              </a:rPr>
              <a:t>throws</a:t>
            </a:r>
            <a:r>
              <a:rPr lang="en-US" altLang="en-US"/>
              <a:t> clause</a:t>
            </a:r>
          </a:p>
          <a:p>
            <a:pPr eaLnBrk="1" hangingPunct="1"/>
            <a:r>
              <a:rPr lang="en-US" altLang="en-US" i="1"/>
              <a:t>Unchecked</a:t>
            </a:r>
            <a:r>
              <a:rPr lang="en-US" altLang="en-US"/>
              <a:t> exception</a:t>
            </a:r>
          </a:p>
          <a:p>
            <a:pPr lvl="1" eaLnBrk="1" hangingPunct="1"/>
            <a:r>
              <a:rPr lang="en-US" altLang="en-US"/>
              <a:t>Also called </a:t>
            </a:r>
            <a:r>
              <a:rPr lang="en-US" altLang="en-US" i="1"/>
              <a:t>run-time</a:t>
            </a:r>
          </a:p>
          <a:p>
            <a:pPr lvl="1" eaLnBrk="1" hangingPunct="1"/>
            <a:r>
              <a:rPr lang="en-US" altLang="en-US"/>
              <a:t>Need not be caught in </a:t>
            </a:r>
            <a:r>
              <a:rPr lang="en-US" altLang="en-US" sz="3200" b="1">
                <a:solidFill>
                  <a:srgbClr val="0033CC"/>
                </a:solidFill>
                <a:latin typeface="Courier New" panose="02070309020205020404" pitchFamily="49" charset="0"/>
                <a:cs typeface="Courier New" panose="02070309020205020404" pitchFamily="49" charset="0"/>
              </a:rPr>
              <a:t>catch</a:t>
            </a:r>
            <a:r>
              <a:rPr lang="en-US" altLang="en-US"/>
              <a:t> block or declared in </a:t>
            </a:r>
            <a:r>
              <a:rPr lang="en-US" altLang="en-US" sz="3200" b="1">
                <a:solidFill>
                  <a:srgbClr val="0033CC"/>
                </a:solidFill>
                <a:latin typeface="Courier New" panose="02070309020205020404" pitchFamily="49" charset="0"/>
                <a:cs typeface="Courier New" panose="02070309020205020404" pitchFamily="49" charset="0"/>
              </a:rPr>
              <a:t>throws</a:t>
            </a:r>
            <a:r>
              <a:rPr lang="en-US" altLang="en-US"/>
              <a:t> </a:t>
            </a:r>
          </a:p>
          <a:p>
            <a:pPr lvl="1" eaLnBrk="1" hangingPunct="1"/>
            <a:r>
              <a:rPr lang="en-US" altLang="en-US"/>
              <a:t>Exceptions that coding problems exist, should be fixed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18C862D3-5AE3-8E14-8EBC-40FF4B630F00}"/>
              </a:ext>
            </a:extLst>
          </p:cNvPr>
          <p:cNvSpPr>
            <a:spLocks noGrp="1"/>
          </p:cNvSpPr>
          <p:nvPr>
            <p:ph type="title"/>
          </p:nvPr>
        </p:nvSpPr>
        <p:spPr/>
        <p:txBody>
          <a:bodyPr/>
          <a:lstStyle/>
          <a:p>
            <a:pPr eaLnBrk="1" hangingPunct="1"/>
            <a:r>
              <a:rPr lang="en-US" altLang="en-US"/>
              <a:t>Kinds  of Exceptions</a:t>
            </a:r>
          </a:p>
        </p:txBody>
      </p:sp>
      <p:sp>
        <p:nvSpPr>
          <p:cNvPr id="24579" name="Content Placeholder 2">
            <a:extLst>
              <a:ext uri="{FF2B5EF4-FFF2-40B4-BE49-F238E27FC236}">
                <a16:creationId xmlns:a16="http://schemas.microsoft.com/office/drawing/2014/main" id="{74123C48-456B-645A-BC10-D861A460EF34}"/>
              </a:ext>
            </a:extLst>
          </p:cNvPr>
          <p:cNvSpPr>
            <a:spLocks noGrp="1"/>
          </p:cNvSpPr>
          <p:nvPr>
            <p:ph idx="1"/>
          </p:nvPr>
        </p:nvSpPr>
        <p:spPr/>
        <p:txBody>
          <a:bodyPr/>
          <a:lstStyle/>
          <a:p>
            <a:pPr eaLnBrk="1" hangingPunct="1"/>
            <a:r>
              <a:rPr lang="en-US" altLang="en-US"/>
              <a:t>Examples why unchecked exceptions to are thrown</a:t>
            </a:r>
          </a:p>
          <a:p>
            <a:pPr lvl="1" eaLnBrk="1" hangingPunct="1"/>
            <a:r>
              <a:rPr lang="en-US" altLang="en-US"/>
              <a:t>Attempt to use array index out of bounds</a:t>
            </a:r>
          </a:p>
          <a:p>
            <a:pPr lvl="1" eaLnBrk="1" hangingPunct="1"/>
            <a:r>
              <a:rPr lang="en-US" altLang="en-US"/>
              <a:t>Division by zero</a:t>
            </a:r>
          </a:p>
          <a:p>
            <a:pPr eaLnBrk="1" hangingPunct="1"/>
            <a:r>
              <a:rPr lang="en-US" altLang="en-US"/>
              <a:t>Uncaught runtime exception terminates program execution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99903F6C-5165-A3AD-B81C-BC7A05C811E9}"/>
              </a:ext>
            </a:extLst>
          </p:cNvPr>
          <p:cNvSpPr>
            <a:spLocks noGrp="1"/>
          </p:cNvSpPr>
          <p:nvPr>
            <p:ph type="title"/>
          </p:nvPr>
        </p:nvSpPr>
        <p:spPr/>
        <p:txBody>
          <a:bodyPr/>
          <a:lstStyle/>
          <a:p>
            <a:pPr eaLnBrk="1" hangingPunct="1"/>
            <a:r>
              <a:rPr lang="en-US" altLang="en-US"/>
              <a:t>Kinds  of Exceptions</a:t>
            </a:r>
          </a:p>
        </p:txBody>
      </p:sp>
      <p:sp>
        <p:nvSpPr>
          <p:cNvPr id="25603" name="Content Placeholder 3">
            <a:extLst>
              <a:ext uri="{FF2B5EF4-FFF2-40B4-BE49-F238E27FC236}">
                <a16:creationId xmlns:a16="http://schemas.microsoft.com/office/drawing/2014/main" id="{98DFD274-361B-295E-525F-C504153E2C48}"/>
              </a:ext>
            </a:extLst>
          </p:cNvPr>
          <p:cNvSpPr>
            <a:spLocks noGrp="1"/>
          </p:cNvSpPr>
          <p:nvPr>
            <p:ph idx="1"/>
          </p:nvPr>
        </p:nvSpPr>
        <p:spPr/>
        <p:txBody>
          <a:bodyPr/>
          <a:lstStyle/>
          <a:p>
            <a:pPr eaLnBrk="1" hangingPunct="1"/>
            <a:r>
              <a:rPr lang="en-US" altLang="en-US"/>
              <a:t>Figure 9.1  Hierarchy of the predefined exception classes</a:t>
            </a:r>
          </a:p>
        </p:txBody>
      </p:sp>
      <p:sp>
        <p:nvSpPr>
          <p:cNvPr id="7" name="Oval 6">
            <a:extLst>
              <a:ext uri="{FF2B5EF4-FFF2-40B4-BE49-F238E27FC236}">
                <a16:creationId xmlns:a16="http://schemas.microsoft.com/office/drawing/2014/main" id="{EB43CE03-932E-123A-FA73-19D5F7843B00}"/>
              </a:ext>
            </a:extLst>
          </p:cNvPr>
          <p:cNvSpPr/>
          <p:nvPr/>
        </p:nvSpPr>
        <p:spPr>
          <a:xfrm>
            <a:off x="4727575" y="3073400"/>
            <a:ext cx="876300" cy="6429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pic>
        <p:nvPicPr>
          <p:cNvPr id="25607" name="Picture 7">
            <a:extLst>
              <a:ext uri="{FF2B5EF4-FFF2-40B4-BE49-F238E27FC236}">
                <a16:creationId xmlns:a16="http://schemas.microsoft.com/office/drawing/2014/main" id="{5E07D5AE-10A6-CAC0-3CD3-55FCD3D77BC1}"/>
              </a:ext>
            </a:extLst>
          </p:cNvPr>
          <p:cNvPicPr>
            <a:picLocks noChangeAspect="1" noChangeArrowheads="1"/>
          </p:cNvPicPr>
          <p:nvPr/>
        </p:nvPicPr>
        <p:blipFill>
          <a:blip r:embed="rId2"/>
          <a:srcRect/>
          <a:stretch>
            <a:fillRect/>
          </a:stretch>
        </p:blipFill>
        <p:spPr bwMode="auto">
          <a:xfrm>
            <a:off x="1509713" y="2771775"/>
            <a:ext cx="6562725" cy="3524250"/>
          </a:xfrm>
          <a:prstGeom prst="rect">
            <a:avLst/>
          </a:prstGeom>
          <a:noFill/>
          <a:ln w="12700" cap="flat" cmpd="sng" algn="ctr">
            <a:noFill/>
            <a:prstDash val="solid"/>
            <a:miter lim="800000"/>
            <a:headEnd/>
            <a:tailEnd/>
          </a:ln>
          <a:effectLst>
            <a:outerShdw dist="114300" dir="3000000" algn="ctr" rotWithShape="0">
              <a:schemeClr val="bg1">
                <a:lumMod val="50000"/>
              </a:scheme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AC23C97E-8C39-5346-ED39-0A3D21823493}"/>
              </a:ext>
            </a:extLst>
          </p:cNvPr>
          <p:cNvSpPr>
            <a:spLocks noGrp="1"/>
          </p:cNvSpPr>
          <p:nvPr>
            <p:ph type="title"/>
          </p:nvPr>
        </p:nvSpPr>
        <p:spPr/>
        <p:txBody>
          <a:bodyPr/>
          <a:lstStyle/>
          <a:p>
            <a:pPr eaLnBrk="1" hangingPunct="1"/>
            <a:r>
              <a:rPr lang="en-US" altLang="en-US"/>
              <a:t>Errors</a:t>
            </a:r>
          </a:p>
        </p:txBody>
      </p:sp>
      <p:sp>
        <p:nvSpPr>
          <p:cNvPr id="26627" name="Content Placeholder 2">
            <a:extLst>
              <a:ext uri="{FF2B5EF4-FFF2-40B4-BE49-F238E27FC236}">
                <a16:creationId xmlns:a16="http://schemas.microsoft.com/office/drawing/2014/main" id="{9867A8D2-6AA0-A7CB-AE69-A298F601647C}"/>
              </a:ext>
            </a:extLst>
          </p:cNvPr>
          <p:cNvSpPr>
            <a:spLocks noGrp="1"/>
          </p:cNvSpPr>
          <p:nvPr>
            <p:ph idx="1"/>
          </p:nvPr>
        </p:nvSpPr>
        <p:spPr/>
        <p:txBody>
          <a:bodyPr/>
          <a:lstStyle/>
          <a:p>
            <a:pPr eaLnBrk="1" hangingPunct="1"/>
            <a:r>
              <a:rPr lang="en-US" altLang="en-US"/>
              <a:t>An </a:t>
            </a:r>
            <a:r>
              <a:rPr lang="en-US" altLang="en-US" i="1"/>
              <a:t>error</a:t>
            </a:r>
            <a:r>
              <a:rPr lang="en-US" altLang="en-US"/>
              <a:t> is an object of class </a:t>
            </a:r>
            <a:r>
              <a:rPr lang="en-US" altLang="en-US" b="1">
                <a:solidFill>
                  <a:srgbClr val="0033CC"/>
                </a:solidFill>
                <a:latin typeface="Courier New" panose="02070309020205020404" pitchFamily="49" charset="0"/>
                <a:cs typeface="Courier New" panose="02070309020205020404" pitchFamily="49" charset="0"/>
              </a:rPr>
              <a:t>Error</a:t>
            </a:r>
          </a:p>
          <a:p>
            <a:pPr lvl="1" eaLnBrk="1" hangingPunct="1"/>
            <a:r>
              <a:rPr lang="en-US" altLang="en-US"/>
              <a:t>Similar to an unchecked exception</a:t>
            </a:r>
          </a:p>
          <a:p>
            <a:pPr lvl="1" eaLnBrk="1" hangingPunct="1"/>
            <a:r>
              <a:rPr lang="en-US" altLang="en-US"/>
              <a:t>Need not catch or declare in throws clause</a:t>
            </a:r>
          </a:p>
          <a:p>
            <a:pPr lvl="1" eaLnBrk="1" hangingPunct="1"/>
            <a:r>
              <a:rPr lang="en-US" altLang="en-US"/>
              <a:t>Object of class </a:t>
            </a:r>
            <a:r>
              <a:rPr lang="en-US" altLang="en-US" sz="3200" b="1">
                <a:solidFill>
                  <a:srgbClr val="0033CC"/>
                </a:solidFill>
                <a:latin typeface="Courier New" panose="02070309020205020404" pitchFamily="49" charset="0"/>
                <a:cs typeface="Courier New" panose="02070309020205020404" pitchFamily="49" charset="0"/>
              </a:rPr>
              <a:t>Error</a:t>
            </a:r>
            <a:r>
              <a:rPr lang="en-US" altLang="en-US"/>
              <a:t> generated when abnormal conditions occur</a:t>
            </a:r>
          </a:p>
          <a:p>
            <a:pPr eaLnBrk="1" hangingPunct="1"/>
            <a:r>
              <a:rPr lang="en-US" altLang="en-US"/>
              <a:t>Errors are more or less beyond your control</a:t>
            </a:r>
          </a:p>
          <a:p>
            <a:pPr lvl="1" eaLnBrk="1" hangingPunct="1"/>
            <a:r>
              <a:rPr lang="en-US" altLang="en-US"/>
              <a:t>Require change of program to resolve</a:t>
            </a:r>
          </a:p>
          <a:p>
            <a:pPr eaLnBrk="1" hangingPunct="1">
              <a:buFontTx/>
              <a:buNone/>
            </a:pP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474CC-0A56-A676-09B8-BB6AC8B0D800}"/>
              </a:ext>
            </a:extLst>
          </p:cNvPr>
          <p:cNvSpPr>
            <a:spLocks noGrp="1"/>
          </p:cNvSpPr>
          <p:nvPr>
            <p:ph type="title"/>
          </p:nvPr>
        </p:nvSpPr>
        <p:spPr/>
        <p:txBody>
          <a:bodyPr/>
          <a:lstStyle/>
          <a:p>
            <a:r>
              <a:rPr lang="en-US" dirty="0"/>
              <a:t>Handling Multiple Exceptions</a:t>
            </a:r>
          </a:p>
        </p:txBody>
      </p:sp>
      <p:sp>
        <p:nvSpPr>
          <p:cNvPr id="3" name="Content Placeholder 2">
            <a:extLst>
              <a:ext uri="{FF2B5EF4-FFF2-40B4-BE49-F238E27FC236}">
                <a16:creationId xmlns:a16="http://schemas.microsoft.com/office/drawing/2014/main" id="{DE97255A-11C5-C8E0-7616-9D8FEED6672D}"/>
              </a:ext>
            </a:extLst>
          </p:cNvPr>
          <p:cNvSpPr>
            <a:spLocks noGrp="1"/>
          </p:cNvSpPr>
          <p:nvPr>
            <p:ph idx="1"/>
          </p:nvPr>
        </p:nvSpPr>
        <p:spPr/>
        <p:txBody>
          <a:bodyPr/>
          <a:lstStyle/>
          <a:p>
            <a:r>
              <a:rPr lang="en-CA" b="0" i="0" dirty="0">
                <a:solidFill>
                  <a:srgbClr val="000000"/>
                </a:solidFill>
                <a:effectLst/>
                <a:latin typeface="Arial" panose="020B0604020202020204" pitchFamily="34" charset="0"/>
              </a:rPr>
              <a:t>In Java SE 7 and later, a single </a:t>
            </a:r>
            <a:r>
              <a:rPr lang="en-CA" dirty="0"/>
              <a:t>catch</a:t>
            </a:r>
            <a:r>
              <a:rPr lang="en-CA" b="0" i="0" dirty="0">
                <a:solidFill>
                  <a:srgbClr val="000000"/>
                </a:solidFill>
                <a:effectLst/>
                <a:latin typeface="Arial" panose="020B0604020202020204" pitchFamily="34" charset="0"/>
              </a:rPr>
              <a:t> block can handle more than one type of exception. This feature can reduce code duplication and lessen the temptation to catch an overly broad exception.</a:t>
            </a:r>
            <a:endParaRPr lang="en-US" dirty="0"/>
          </a:p>
        </p:txBody>
      </p:sp>
      <p:pic>
        <p:nvPicPr>
          <p:cNvPr id="5" name="Picture 4" descr="A white screen with black text&#10;&#10;Description automatically generated">
            <a:extLst>
              <a:ext uri="{FF2B5EF4-FFF2-40B4-BE49-F238E27FC236}">
                <a16:creationId xmlns:a16="http://schemas.microsoft.com/office/drawing/2014/main" id="{5728A884-1FA1-372E-5018-B620EF5B15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2520" y="3253635"/>
            <a:ext cx="4205962" cy="2661585"/>
          </a:xfrm>
          <a:prstGeom prst="rect">
            <a:avLst/>
          </a:prstGeom>
        </p:spPr>
      </p:pic>
    </p:spTree>
    <p:extLst>
      <p:ext uri="{BB962C8B-B14F-4D97-AF65-F5344CB8AC3E}">
        <p14:creationId xmlns:p14="http://schemas.microsoft.com/office/powerpoint/2010/main" val="2468370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776EC-F201-355F-7928-E9EBDD096F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C88EA-FB06-DB20-4E52-014F889F7B3E}"/>
              </a:ext>
            </a:extLst>
          </p:cNvPr>
          <p:cNvSpPr>
            <a:spLocks noGrp="1"/>
          </p:cNvSpPr>
          <p:nvPr>
            <p:ph type="title"/>
          </p:nvPr>
        </p:nvSpPr>
        <p:spPr/>
        <p:txBody>
          <a:bodyPr/>
          <a:lstStyle/>
          <a:p>
            <a:r>
              <a:rPr lang="en-US" dirty="0"/>
              <a:t>Handling Multiple Exceptions</a:t>
            </a:r>
          </a:p>
        </p:txBody>
      </p:sp>
      <p:sp>
        <p:nvSpPr>
          <p:cNvPr id="3" name="Content Placeholder 2">
            <a:extLst>
              <a:ext uri="{FF2B5EF4-FFF2-40B4-BE49-F238E27FC236}">
                <a16:creationId xmlns:a16="http://schemas.microsoft.com/office/drawing/2014/main" id="{7486B917-4A16-361F-B212-C14154593AA6}"/>
              </a:ext>
            </a:extLst>
          </p:cNvPr>
          <p:cNvSpPr>
            <a:spLocks noGrp="1"/>
          </p:cNvSpPr>
          <p:nvPr>
            <p:ph idx="1"/>
          </p:nvPr>
        </p:nvSpPr>
        <p:spPr/>
        <p:txBody>
          <a:bodyPr/>
          <a:lstStyle/>
          <a:p>
            <a:r>
              <a:rPr lang="en-CA" b="0" i="0" dirty="0">
                <a:solidFill>
                  <a:srgbClr val="000000"/>
                </a:solidFill>
                <a:effectLst/>
                <a:latin typeface="Arial" panose="020B0604020202020204" pitchFamily="34" charset="0"/>
              </a:rPr>
              <a:t>In releases prior to Java SE 7, it is difficult to create a common method to eliminate the duplicated code because the variable </a:t>
            </a:r>
            <a:r>
              <a:rPr lang="en-CA" dirty="0"/>
              <a:t>ex</a:t>
            </a:r>
            <a:r>
              <a:rPr lang="en-CA" b="0" i="0" dirty="0">
                <a:solidFill>
                  <a:srgbClr val="000000"/>
                </a:solidFill>
                <a:effectLst/>
                <a:latin typeface="Arial" panose="020B0604020202020204" pitchFamily="34" charset="0"/>
              </a:rPr>
              <a:t> has different types.</a:t>
            </a:r>
            <a:endParaRPr lang="en-US" dirty="0"/>
          </a:p>
        </p:txBody>
      </p:sp>
      <p:pic>
        <p:nvPicPr>
          <p:cNvPr id="5" name="Picture 4" descr="A white screen with black text&#10;&#10;Description automatically generated">
            <a:extLst>
              <a:ext uri="{FF2B5EF4-FFF2-40B4-BE49-F238E27FC236}">
                <a16:creationId xmlns:a16="http://schemas.microsoft.com/office/drawing/2014/main" id="{0203CF80-57B2-2EF4-60A9-FEC53CDBF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2520" y="3253635"/>
            <a:ext cx="4205962" cy="2661585"/>
          </a:xfrm>
          <a:prstGeom prst="rect">
            <a:avLst/>
          </a:prstGeom>
        </p:spPr>
      </p:pic>
      <p:sp>
        <p:nvSpPr>
          <p:cNvPr id="4" name="TextBox 3">
            <a:extLst>
              <a:ext uri="{FF2B5EF4-FFF2-40B4-BE49-F238E27FC236}">
                <a16:creationId xmlns:a16="http://schemas.microsoft.com/office/drawing/2014/main" id="{1AABA26D-9DF7-6C13-7CAB-89F9F31620EB}"/>
              </a:ext>
            </a:extLst>
          </p:cNvPr>
          <p:cNvSpPr txBox="1"/>
          <p:nvPr/>
        </p:nvSpPr>
        <p:spPr>
          <a:xfrm>
            <a:off x="151559" y="5861426"/>
            <a:ext cx="8840882" cy="369332"/>
          </a:xfrm>
          <a:prstGeom prst="rect">
            <a:avLst/>
          </a:prstGeom>
          <a:noFill/>
        </p:spPr>
        <p:txBody>
          <a:bodyPr wrap="none" rtlCol="0">
            <a:spAutoFit/>
          </a:bodyPr>
          <a:lstStyle/>
          <a:p>
            <a:r>
              <a:rPr lang="en-US" dirty="0"/>
              <a:t>https://</a:t>
            </a:r>
            <a:r>
              <a:rPr lang="en-US" dirty="0" err="1"/>
              <a:t>docs.oracle.com</a:t>
            </a:r>
            <a:r>
              <a:rPr lang="en-US" dirty="0"/>
              <a:t>/</a:t>
            </a:r>
            <a:r>
              <a:rPr lang="en-US" dirty="0" err="1"/>
              <a:t>javase</a:t>
            </a:r>
            <a:r>
              <a:rPr lang="en-US" dirty="0"/>
              <a:t>/8/docs/technotes/guides/language/catch-</a:t>
            </a:r>
            <a:r>
              <a:rPr lang="en-US" dirty="0" err="1"/>
              <a:t>multiple.html</a:t>
            </a:r>
            <a:endParaRPr lang="en-US" dirty="0"/>
          </a:p>
        </p:txBody>
      </p:sp>
    </p:spTree>
    <p:extLst>
      <p:ext uri="{BB962C8B-B14F-4D97-AF65-F5344CB8AC3E}">
        <p14:creationId xmlns:p14="http://schemas.microsoft.com/office/powerpoint/2010/main" val="1156973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238C7-4FA1-797B-C57F-6DFA2E20EF12}"/>
              </a:ext>
            </a:extLst>
          </p:cNvPr>
          <p:cNvSpPr>
            <a:spLocks noGrp="1"/>
          </p:cNvSpPr>
          <p:nvPr>
            <p:ph type="title"/>
          </p:nvPr>
        </p:nvSpPr>
        <p:spPr/>
        <p:txBody>
          <a:bodyPr/>
          <a:lstStyle/>
          <a:p>
            <a:r>
              <a:rPr lang="en-US" dirty="0"/>
              <a:t>Handling Multiple Exceptions</a:t>
            </a:r>
          </a:p>
        </p:txBody>
      </p:sp>
      <p:pic>
        <p:nvPicPr>
          <p:cNvPr id="5" name="Content Placeholder 4" descr="A screenshot of a computer&#10;&#10;Description automatically generated">
            <a:extLst>
              <a:ext uri="{FF2B5EF4-FFF2-40B4-BE49-F238E27FC236}">
                <a16:creationId xmlns:a16="http://schemas.microsoft.com/office/drawing/2014/main" id="{7F6D425C-EB68-22F4-3D8E-5C0A47C68A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3865142"/>
            <a:ext cx="7886700" cy="1825530"/>
          </a:xfrm>
        </p:spPr>
      </p:pic>
      <p:pic>
        <p:nvPicPr>
          <p:cNvPr id="7" name="Picture 6" descr="A white screen with black text&#10;&#10;Description automatically generated">
            <a:extLst>
              <a:ext uri="{FF2B5EF4-FFF2-40B4-BE49-F238E27FC236}">
                <a16:creationId xmlns:a16="http://schemas.microsoft.com/office/drawing/2014/main" id="{AC5553D6-4A95-3CDE-5663-66C4ED2DA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7469" y="1371599"/>
            <a:ext cx="3729972" cy="2360373"/>
          </a:xfrm>
          <a:prstGeom prst="rect">
            <a:avLst/>
          </a:prstGeom>
        </p:spPr>
      </p:pic>
    </p:spTree>
    <p:extLst>
      <p:ext uri="{BB962C8B-B14F-4D97-AF65-F5344CB8AC3E}">
        <p14:creationId xmlns:p14="http://schemas.microsoft.com/office/powerpoint/2010/main" val="2093155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658E2-6363-5177-691D-0416FA13A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7DFC7-1341-5110-A9E1-68FC5BF35DCC}"/>
              </a:ext>
            </a:extLst>
          </p:cNvPr>
          <p:cNvSpPr>
            <a:spLocks noGrp="1"/>
          </p:cNvSpPr>
          <p:nvPr>
            <p:ph type="title"/>
          </p:nvPr>
        </p:nvSpPr>
        <p:spPr/>
        <p:txBody>
          <a:bodyPr/>
          <a:lstStyle/>
          <a:p>
            <a:r>
              <a:rPr lang="en-US" dirty="0"/>
              <a:t>Handling Multiple Exceptions</a:t>
            </a:r>
          </a:p>
        </p:txBody>
      </p:sp>
      <p:pic>
        <p:nvPicPr>
          <p:cNvPr id="5" name="Content Placeholder 4" descr="A screenshot of a computer&#10;&#10;Description automatically generated">
            <a:extLst>
              <a:ext uri="{FF2B5EF4-FFF2-40B4-BE49-F238E27FC236}">
                <a16:creationId xmlns:a16="http://schemas.microsoft.com/office/drawing/2014/main" id="{4EFD920E-CB20-1AEA-2C3C-2519180400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1592" y="1603470"/>
            <a:ext cx="7886700" cy="1825530"/>
          </a:xfrm>
        </p:spPr>
      </p:pic>
      <p:sp>
        <p:nvSpPr>
          <p:cNvPr id="3" name="TextBox 2">
            <a:extLst>
              <a:ext uri="{FF2B5EF4-FFF2-40B4-BE49-F238E27FC236}">
                <a16:creationId xmlns:a16="http://schemas.microsoft.com/office/drawing/2014/main" id="{FF4F67B2-BB93-3081-A331-BF28366FD820}"/>
              </a:ext>
            </a:extLst>
          </p:cNvPr>
          <p:cNvSpPr txBox="1"/>
          <p:nvPr/>
        </p:nvSpPr>
        <p:spPr>
          <a:xfrm>
            <a:off x="939453" y="3790182"/>
            <a:ext cx="7575897" cy="1754326"/>
          </a:xfrm>
          <a:prstGeom prst="rect">
            <a:avLst/>
          </a:prstGeom>
          <a:noFill/>
        </p:spPr>
        <p:txBody>
          <a:bodyPr wrap="square" rtlCol="0">
            <a:spAutoFit/>
          </a:bodyPr>
          <a:lstStyle/>
          <a:p>
            <a:pPr algn="l"/>
            <a:r>
              <a:rPr lang="en-CA" b="1" i="0" dirty="0">
                <a:solidFill>
                  <a:srgbClr val="000000"/>
                </a:solidFill>
                <a:effectLst/>
                <a:latin typeface="Arial" panose="020B0604020202020204" pitchFamily="34" charset="0"/>
              </a:rPr>
              <a:t>Note</a:t>
            </a:r>
            <a:r>
              <a:rPr lang="en-CA" b="0" i="0" dirty="0">
                <a:solidFill>
                  <a:srgbClr val="000000"/>
                </a:solidFill>
                <a:effectLst/>
                <a:latin typeface="Arial" panose="020B0604020202020204" pitchFamily="34" charset="0"/>
              </a:rPr>
              <a:t>: If a catch block handles more than one exception type, then the catch parameter is implicitly final. In this example, the catch parameter ex is final and therefore you cannot assign any values to it within the catch block.</a:t>
            </a:r>
          </a:p>
          <a:p>
            <a:br>
              <a:rPr lang="en-CA" dirty="0"/>
            </a:br>
            <a:endParaRPr lang="en-US" dirty="0"/>
          </a:p>
        </p:txBody>
      </p:sp>
    </p:spTree>
    <p:extLst>
      <p:ext uri="{BB962C8B-B14F-4D97-AF65-F5344CB8AC3E}">
        <p14:creationId xmlns:p14="http://schemas.microsoft.com/office/powerpoint/2010/main" val="1381903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3CCDF-A7C7-71CB-C9B9-BA917446CDF4}"/>
              </a:ext>
            </a:extLst>
          </p:cNvPr>
          <p:cNvSpPr>
            <a:spLocks noGrp="1"/>
          </p:cNvSpPr>
          <p:nvPr>
            <p:ph type="title"/>
          </p:nvPr>
        </p:nvSpPr>
        <p:spPr/>
        <p:txBody>
          <a:bodyPr rtlCol="0">
            <a:normAutofit/>
          </a:bodyPr>
          <a:lstStyle/>
          <a:p>
            <a:pPr eaLnBrk="1" fontAlgn="auto" hangingPunct="1">
              <a:spcAft>
                <a:spcPts val="0"/>
              </a:spcAft>
              <a:defRPr/>
            </a:pPr>
            <a:r>
              <a:rPr lang="en-US" dirty="0"/>
              <a:t>The </a:t>
            </a:r>
            <a:r>
              <a:rPr lang="en-US" b="1" dirty="0">
                <a:solidFill>
                  <a:srgbClr val="0033CC"/>
                </a:solidFill>
                <a:latin typeface="Courier New" pitchFamily="49" charset="0"/>
                <a:ea typeface="+mn-ea"/>
                <a:cs typeface="Courier New" pitchFamily="49" charset="0"/>
              </a:rPr>
              <a:t>finally</a:t>
            </a:r>
            <a:r>
              <a:rPr lang="en-US" dirty="0"/>
              <a:t> Block</a:t>
            </a:r>
          </a:p>
        </p:txBody>
      </p:sp>
      <p:sp>
        <p:nvSpPr>
          <p:cNvPr id="30723" name="Content Placeholder 2">
            <a:extLst>
              <a:ext uri="{FF2B5EF4-FFF2-40B4-BE49-F238E27FC236}">
                <a16:creationId xmlns:a16="http://schemas.microsoft.com/office/drawing/2014/main" id="{69FF8211-464C-4A33-1DC5-55D5C0121661}"/>
              </a:ext>
            </a:extLst>
          </p:cNvPr>
          <p:cNvSpPr>
            <a:spLocks noGrp="1"/>
          </p:cNvSpPr>
          <p:nvPr>
            <p:ph idx="1"/>
          </p:nvPr>
        </p:nvSpPr>
        <p:spPr/>
        <p:txBody>
          <a:bodyPr/>
          <a:lstStyle/>
          <a:p>
            <a:pPr eaLnBrk="1" hangingPunct="1"/>
            <a:r>
              <a:rPr lang="en-US" altLang="en-US"/>
              <a:t>Possible to add a </a:t>
            </a:r>
            <a:r>
              <a:rPr lang="en-US" altLang="en-US" b="1">
                <a:solidFill>
                  <a:srgbClr val="0033CC"/>
                </a:solidFill>
                <a:latin typeface="Courier New" panose="02070309020205020404" pitchFamily="49" charset="0"/>
                <a:cs typeface="Courier New" panose="02070309020205020404" pitchFamily="49" charset="0"/>
              </a:rPr>
              <a:t>finally</a:t>
            </a:r>
            <a:r>
              <a:rPr lang="en-US" altLang="en-US"/>
              <a:t> block after sequence of </a:t>
            </a:r>
            <a:r>
              <a:rPr lang="en-US" altLang="en-US" b="1">
                <a:solidFill>
                  <a:srgbClr val="0033CC"/>
                </a:solidFill>
                <a:latin typeface="Courier New" panose="02070309020205020404" pitchFamily="49" charset="0"/>
                <a:cs typeface="Courier New" panose="02070309020205020404" pitchFamily="49" charset="0"/>
              </a:rPr>
              <a:t>catch</a:t>
            </a:r>
            <a:r>
              <a:rPr lang="en-US" altLang="en-US"/>
              <a:t> blocks</a:t>
            </a:r>
          </a:p>
          <a:p>
            <a:pPr eaLnBrk="1" hangingPunct="1"/>
            <a:r>
              <a:rPr lang="en-US" altLang="en-US"/>
              <a:t>Code in </a:t>
            </a:r>
            <a:r>
              <a:rPr lang="en-US" altLang="en-US" b="1">
                <a:solidFill>
                  <a:srgbClr val="0033CC"/>
                </a:solidFill>
                <a:latin typeface="Courier New" panose="02070309020205020404" pitchFamily="49" charset="0"/>
                <a:cs typeface="Courier New" panose="02070309020205020404" pitchFamily="49" charset="0"/>
              </a:rPr>
              <a:t>finally</a:t>
            </a:r>
            <a:r>
              <a:rPr lang="en-US" altLang="en-US"/>
              <a:t> block executed </a:t>
            </a:r>
          </a:p>
          <a:p>
            <a:pPr lvl="1" eaLnBrk="1" hangingPunct="1"/>
            <a:r>
              <a:rPr lang="en-US" altLang="en-US"/>
              <a:t>Whether or not  execution thrown</a:t>
            </a:r>
          </a:p>
          <a:p>
            <a:pPr lvl="1" eaLnBrk="1" hangingPunct="1"/>
            <a:r>
              <a:rPr lang="en-US" altLang="en-US"/>
              <a:t>Whether or not required </a:t>
            </a:r>
            <a:r>
              <a:rPr lang="en-US" altLang="en-US" sz="3200" b="1">
                <a:solidFill>
                  <a:srgbClr val="0033CC"/>
                </a:solidFill>
                <a:latin typeface="Courier New" panose="02070309020205020404" pitchFamily="49" charset="0"/>
                <a:cs typeface="Courier New" panose="02070309020205020404" pitchFamily="49" charset="0"/>
              </a:rPr>
              <a:t>catch</a:t>
            </a:r>
            <a:r>
              <a:rPr lang="en-US" altLang="en-US"/>
              <a:t> exists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4C37ABA3-5023-9A07-E670-E2219E64A50B}"/>
              </a:ext>
            </a:extLst>
          </p:cNvPr>
          <p:cNvSpPr>
            <a:spLocks noGrp="1"/>
          </p:cNvSpPr>
          <p:nvPr>
            <p:ph type="title"/>
          </p:nvPr>
        </p:nvSpPr>
        <p:spPr/>
        <p:txBody>
          <a:bodyPr/>
          <a:lstStyle/>
          <a:p>
            <a:pPr eaLnBrk="1" hangingPunct="1"/>
            <a:r>
              <a:rPr lang="en-US" altLang="en-US"/>
              <a:t>Rethrowing an Exception</a:t>
            </a:r>
          </a:p>
        </p:txBody>
      </p:sp>
      <p:sp>
        <p:nvSpPr>
          <p:cNvPr id="31747" name="Content Placeholder 2">
            <a:extLst>
              <a:ext uri="{FF2B5EF4-FFF2-40B4-BE49-F238E27FC236}">
                <a16:creationId xmlns:a16="http://schemas.microsoft.com/office/drawing/2014/main" id="{8AE055D3-68FB-02F4-3787-6B514F51B9DB}"/>
              </a:ext>
            </a:extLst>
          </p:cNvPr>
          <p:cNvSpPr>
            <a:spLocks noGrp="1"/>
          </p:cNvSpPr>
          <p:nvPr>
            <p:ph idx="1"/>
          </p:nvPr>
        </p:nvSpPr>
        <p:spPr/>
        <p:txBody>
          <a:bodyPr/>
          <a:lstStyle/>
          <a:p>
            <a:pPr eaLnBrk="1" hangingPunct="1"/>
            <a:r>
              <a:rPr lang="en-US" altLang="en-US"/>
              <a:t>Legal to throw an exception within a </a:t>
            </a:r>
            <a:r>
              <a:rPr lang="en-US" altLang="en-US" b="1">
                <a:solidFill>
                  <a:srgbClr val="0033CC"/>
                </a:solidFill>
                <a:latin typeface="Courier New" panose="02070309020205020404" pitchFamily="49" charset="0"/>
                <a:cs typeface="Courier New" panose="02070309020205020404" pitchFamily="49" charset="0"/>
              </a:rPr>
              <a:t>catch</a:t>
            </a:r>
            <a:r>
              <a:rPr lang="en-US" altLang="en-US"/>
              <a:t> block</a:t>
            </a:r>
          </a:p>
          <a:p>
            <a:pPr eaLnBrk="1" hangingPunct="1"/>
            <a:r>
              <a:rPr lang="en-US" altLang="en-US"/>
              <a:t>Possible to use contents of </a:t>
            </a:r>
            <a:r>
              <a:rPr lang="en-US" altLang="en-US" b="1">
                <a:solidFill>
                  <a:srgbClr val="0033CC"/>
                </a:solidFill>
                <a:latin typeface="Courier New" panose="02070309020205020404" pitchFamily="49" charset="0"/>
                <a:cs typeface="Courier New" panose="02070309020205020404" pitchFamily="49" charset="0"/>
              </a:rPr>
              <a:t>String</a:t>
            </a:r>
            <a:r>
              <a:rPr lang="en-US" altLang="en-US"/>
              <a:t> parameter to </a:t>
            </a:r>
            <a:r>
              <a:rPr lang="en-US" altLang="en-US" b="1">
                <a:solidFill>
                  <a:srgbClr val="0033CC"/>
                </a:solidFill>
                <a:latin typeface="Courier New" panose="02070309020205020404" pitchFamily="49" charset="0"/>
                <a:cs typeface="Courier New" panose="02070309020205020404" pitchFamily="49" charset="0"/>
              </a:rPr>
              <a:t>throw</a:t>
            </a:r>
            <a:r>
              <a:rPr lang="en-US" altLang="en-US"/>
              <a:t> same or different type exception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9E127-7FF4-1FB1-89D6-A43DB08E0A21}"/>
              </a:ext>
            </a:extLst>
          </p:cNvPr>
          <p:cNvSpPr>
            <a:spLocks noGrp="1"/>
          </p:cNvSpPr>
          <p:nvPr>
            <p:ph type="title"/>
          </p:nvPr>
        </p:nvSpPr>
        <p:spPr/>
        <p:txBody>
          <a:bodyPr/>
          <a:lstStyle/>
          <a:p>
            <a:r>
              <a:rPr lang="en-US" dirty="0"/>
              <a:t>Class </a:t>
            </a:r>
            <a:r>
              <a:rPr lang="en-US" dirty="0" err="1"/>
              <a:t>ArrayList</a:t>
            </a:r>
            <a:endParaRPr lang="en-US" dirty="0"/>
          </a:p>
        </p:txBody>
      </p:sp>
      <p:sp>
        <p:nvSpPr>
          <p:cNvPr id="3" name="Content Placeholder 2">
            <a:extLst>
              <a:ext uri="{FF2B5EF4-FFF2-40B4-BE49-F238E27FC236}">
                <a16:creationId xmlns:a16="http://schemas.microsoft.com/office/drawing/2014/main" id="{92926E22-2778-E7B3-9E4E-C6C85B98885B}"/>
              </a:ext>
            </a:extLst>
          </p:cNvPr>
          <p:cNvSpPr>
            <a:spLocks noGrp="1"/>
          </p:cNvSpPr>
          <p:nvPr>
            <p:ph idx="1"/>
          </p:nvPr>
        </p:nvSpPr>
        <p:spPr/>
        <p:txBody>
          <a:bodyPr/>
          <a:lstStyle/>
          <a:p>
            <a:r>
              <a:rPr lang="en-CA" dirty="0"/>
              <a:t>The Java API provides several predefined data structures, called collections, used to store groups of related objects in memory</a:t>
            </a:r>
          </a:p>
          <a:p>
            <a:r>
              <a:rPr lang="en-CA" dirty="0" err="1"/>
              <a:t>ArrayList</a:t>
            </a:r>
            <a:r>
              <a:rPr lang="en-CA" dirty="0"/>
              <a:t> (package </a:t>
            </a:r>
            <a:r>
              <a:rPr lang="en-CA" dirty="0" err="1"/>
              <a:t>java.util</a:t>
            </a:r>
            <a:r>
              <a:rPr lang="en-CA" dirty="0"/>
              <a:t>) provides a convenient solution to this problem—it can dynamically change its size to accommodate more elements. The T (by convention) is a placeholder—when declaring a new </a:t>
            </a:r>
            <a:r>
              <a:rPr lang="en-CA" dirty="0" err="1"/>
              <a:t>ArrayList</a:t>
            </a:r>
            <a:r>
              <a:rPr lang="en-CA" dirty="0"/>
              <a:t>, replace it with the type of elements that you want the </a:t>
            </a:r>
            <a:r>
              <a:rPr lang="en-CA" dirty="0" err="1"/>
              <a:t>ArrayList</a:t>
            </a:r>
            <a:r>
              <a:rPr lang="en-CA" dirty="0"/>
              <a:t> to hold.</a:t>
            </a:r>
            <a:br>
              <a:rPr lang="en-CA" dirty="0"/>
            </a:br>
            <a:br>
              <a:rPr lang="en-CA" dirty="0"/>
            </a:br>
            <a:r>
              <a:rPr lang="en-CA" dirty="0"/>
              <a:t>Example: </a:t>
            </a:r>
            <a:r>
              <a:rPr lang="en-CA" dirty="0" err="1"/>
              <a:t>ArrayList</a:t>
            </a:r>
            <a:r>
              <a:rPr lang="en-CA" dirty="0"/>
              <a:t>&lt;String&gt; list = new </a:t>
            </a:r>
            <a:r>
              <a:rPr lang="en-CA" dirty="0" err="1"/>
              <a:t>ArrayList</a:t>
            </a:r>
            <a:r>
              <a:rPr lang="en-CA" dirty="0"/>
              <a:t>();</a:t>
            </a:r>
            <a:br>
              <a:rPr lang="en-CA" dirty="0"/>
            </a:br>
            <a:r>
              <a:rPr lang="en-CA" b="1" i="0" dirty="0">
                <a:solidFill>
                  <a:srgbClr val="000000"/>
                </a:solidFill>
                <a:effectLst/>
                <a:latin typeface="Courier New" panose="02070309020205020404" pitchFamily="49" charset="0"/>
                <a:hlinkClick r:id="rId2"/>
              </a:rPr>
              <a:t>ArrayList</a:t>
            </a:r>
            <a:r>
              <a:rPr lang="en-CA" b="0" i="0" dirty="0">
                <a:solidFill>
                  <a:srgbClr val="000000"/>
                </a:solidFill>
                <a:effectLst/>
                <a:latin typeface="Courier New" panose="02070309020205020404" pitchFamily="49" charset="0"/>
              </a:rPr>
              <a:t>()</a:t>
            </a:r>
            <a:br>
              <a:rPr lang="en-CA" dirty="0"/>
            </a:br>
            <a:r>
              <a:rPr lang="en-CA" b="1" i="0" dirty="0">
                <a:solidFill>
                  <a:srgbClr val="000000"/>
                </a:solidFill>
                <a:effectLst/>
                <a:latin typeface="Courier New" panose="02070309020205020404" pitchFamily="49" charset="0"/>
                <a:hlinkClick r:id="rId3"/>
              </a:rPr>
              <a:t>ArrayList</a:t>
            </a:r>
            <a:r>
              <a:rPr lang="en-CA" b="0" i="0" dirty="0">
                <a:solidFill>
                  <a:srgbClr val="000000"/>
                </a:solidFill>
                <a:effectLst/>
                <a:latin typeface="Courier New" panose="02070309020205020404" pitchFamily="49" charset="0"/>
              </a:rPr>
              <a:t>(int </a:t>
            </a:r>
            <a:r>
              <a:rPr lang="en-CA" b="0" i="0" dirty="0" err="1">
                <a:solidFill>
                  <a:srgbClr val="000000"/>
                </a:solidFill>
                <a:effectLst/>
                <a:latin typeface="Courier New" panose="02070309020205020404" pitchFamily="49" charset="0"/>
              </a:rPr>
              <a:t>initialCapacity</a:t>
            </a:r>
            <a:r>
              <a:rPr lang="en-CA" b="0" i="0" dirty="0">
                <a:solidFill>
                  <a:srgbClr val="000000"/>
                </a:solidFill>
                <a:effectLst/>
                <a:latin typeface="Courier New" panose="02070309020205020404" pitchFamily="49" charset="0"/>
              </a:rPr>
              <a:t>)</a:t>
            </a:r>
            <a:endParaRPr lang="en-CA" dirty="0"/>
          </a:p>
          <a:p>
            <a:endParaRPr lang="en-CA" dirty="0"/>
          </a:p>
          <a:p>
            <a:endParaRPr lang="en-US" dirty="0"/>
          </a:p>
        </p:txBody>
      </p:sp>
      <p:sp>
        <p:nvSpPr>
          <p:cNvPr id="4" name="TextBox 3">
            <a:extLst>
              <a:ext uri="{FF2B5EF4-FFF2-40B4-BE49-F238E27FC236}">
                <a16:creationId xmlns:a16="http://schemas.microsoft.com/office/drawing/2014/main" id="{01FEC1A2-172C-1BF2-0873-6C2E1E7F5E46}"/>
              </a:ext>
            </a:extLst>
          </p:cNvPr>
          <p:cNvSpPr txBox="1"/>
          <p:nvPr/>
        </p:nvSpPr>
        <p:spPr>
          <a:xfrm>
            <a:off x="1299990" y="5585552"/>
            <a:ext cx="6853158" cy="369332"/>
          </a:xfrm>
          <a:prstGeom prst="rect">
            <a:avLst/>
          </a:prstGeom>
          <a:noFill/>
        </p:spPr>
        <p:txBody>
          <a:bodyPr wrap="none" rtlCol="0">
            <a:spAutoFit/>
          </a:bodyPr>
          <a:lstStyle/>
          <a:p>
            <a:r>
              <a:rPr lang="en-US" dirty="0"/>
              <a:t>https://</a:t>
            </a:r>
            <a:r>
              <a:rPr lang="en-US" dirty="0" err="1"/>
              <a:t>docs.oracle.com</a:t>
            </a:r>
            <a:r>
              <a:rPr lang="en-US" dirty="0"/>
              <a:t>/</a:t>
            </a:r>
            <a:r>
              <a:rPr lang="en-US" dirty="0" err="1"/>
              <a:t>javase</a:t>
            </a:r>
            <a:r>
              <a:rPr lang="en-US" dirty="0"/>
              <a:t>/8/docs/api/?java/util/</a:t>
            </a:r>
            <a:r>
              <a:rPr lang="en-US" dirty="0" err="1"/>
              <a:t>ArrayList.html</a:t>
            </a:r>
            <a:endParaRPr lang="en-US" dirty="0"/>
          </a:p>
        </p:txBody>
      </p:sp>
    </p:spTree>
    <p:extLst>
      <p:ext uri="{BB962C8B-B14F-4D97-AF65-F5344CB8AC3E}">
        <p14:creationId xmlns:p14="http://schemas.microsoft.com/office/powerpoint/2010/main" val="933858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926C0-4AD7-49F3-BAA6-228F4FB53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B5F2F-6A22-2CCF-E564-962A2AE18216}"/>
              </a:ext>
            </a:extLst>
          </p:cNvPr>
          <p:cNvSpPr>
            <a:spLocks noGrp="1"/>
          </p:cNvSpPr>
          <p:nvPr>
            <p:ph type="title"/>
          </p:nvPr>
        </p:nvSpPr>
        <p:spPr/>
        <p:txBody>
          <a:bodyPr/>
          <a:lstStyle/>
          <a:p>
            <a:r>
              <a:rPr lang="en-US" dirty="0"/>
              <a:t>Class </a:t>
            </a:r>
            <a:r>
              <a:rPr lang="en-US" dirty="0" err="1"/>
              <a:t>ArrayList</a:t>
            </a:r>
            <a:endParaRPr lang="en-US" dirty="0"/>
          </a:p>
        </p:txBody>
      </p:sp>
      <p:sp>
        <p:nvSpPr>
          <p:cNvPr id="3" name="Content Placeholder 2">
            <a:extLst>
              <a:ext uri="{FF2B5EF4-FFF2-40B4-BE49-F238E27FC236}">
                <a16:creationId xmlns:a16="http://schemas.microsoft.com/office/drawing/2014/main" id="{B00E5B1A-A109-14F8-0D0C-D788EF615392}"/>
              </a:ext>
            </a:extLst>
          </p:cNvPr>
          <p:cNvSpPr>
            <a:spLocks noGrp="1"/>
          </p:cNvSpPr>
          <p:nvPr>
            <p:ph idx="1"/>
          </p:nvPr>
        </p:nvSpPr>
        <p:spPr/>
        <p:txBody>
          <a:bodyPr/>
          <a:lstStyle/>
          <a:p>
            <a:endParaRPr lang="en-CA" dirty="0"/>
          </a:p>
          <a:p>
            <a:endParaRPr lang="en-US" dirty="0"/>
          </a:p>
        </p:txBody>
      </p:sp>
      <p:pic>
        <p:nvPicPr>
          <p:cNvPr id="5" name="Picture 4" descr="A screenshot of a computer&#10;&#10;Description automatically generated">
            <a:extLst>
              <a:ext uri="{FF2B5EF4-FFF2-40B4-BE49-F238E27FC236}">
                <a16:creationId xmlns:a16="http://schemas.microsoft.com/office/drawing/2014/main" id="{D08D30DE-DEF9-94A9-0250-3511D7F5FB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9452" y="1690688"/>
            <a:ext cx="7772400" cy="3723142"/>
          </a:xfrm>
          <a:prstGeom prst="rect">
            <a:avLst/>
          </a:prstGeom>
        </p:spPr>
      </p:pic>
    </p:spTree>
    <p:extLst>
      <p:ext uri="{BB962C8B-B14F-4D97-AF65-F5344CB8AC3E}">
        <p14:creationId xmlns:p14="http://schemas.microsoft.com/office/powerpoint/2010/main" val="682985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417A6-1EDC-A9D3-88C7-FDD76EA4EC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C471E5-45D8-A41A-C227-70A84439C873}"/>
              </a:ext>
            </a:extLst>
          </p:cNvPr>
          <p:cNvSpPr>
            <a:spLocks noGrp="1"/>
          </p:cNvSpPr>
          <p:nvPr>
            <p:ph type="title"/>
          </p:nvPr>
        </p:nvSpPr>
        <p:spPr/>
        <p:txBody>
          <a:bodyPr/>
          <a:lstStyle/>
          <a:p>
            <a:r>
              <a:rPr lang="en-US" dirty="0"/>
              <a:t>Try with Resource</a:t>
            </a:r>
          </a:p>
        </p:txBody>
      </p:sp>
      <p:sp>
        <p:nvSpPr>
          <p:cNvPr id="3" name="Content Placeholder 2">
            <a:extLst>
              <a:ext uri="{FF2B5EF4-FFF2-40B4-BE49-F238E27FC236}">
                <a16:creationId xmlns:a16="http://schemas.microsoft.com/office/drawing/2014/main" id="{FE45101C-B8AC-3CCE-6770-4ED36CEC0DA7}"/>
              </a:ext>
            </a:extLst>
          </p:cNvPr>
          <p:cNvSpPr>
            <a:spLocks noGrp="1"/>
          </p:cNvSpPr>
          <p:nvPr>
            <p:ph idx="1"/>
          </p:nvPr>
        </p:nvSpPr>
        <p:spPr/>
        <p:txBody>
          <a:bodyPr/>
          <a:lstStyle/>
          <a:p>
            <a:r>
              <a:rPr lang="en-CA" b="0" i="0" dirty="0">
                <a:solidFill>
                  <a:srgbClr val="000000"/>
                </a:solidFill>
                <a:effectLst/>
                <a:latin typeface="Arial" panose="020B0604020202020204" pitchFamily="34" charset="0"/>
              </a:rPr>
              <a:t>Prior to Java SE 7, you can use a </a:t>
            </a:r>
            <a:r>
              <a:rPr lang="en-CA" dirty="0"/>
              <a:t>finally</a:t>
            </a:r>
            <a:r>
              <a:rPr lang="en-CA" b="0" i="0" dirty="0">
                <a:solidFill>
                  <a:srgbClr val="000000"/>
                </a:solidFill>
                <a:effectLst/>
                <a:latin typeface="Arial" panose="020B0604020202020204" pitchFamily="34" charset="0"/>
              </a:rPr>
              <a:t> block to ensure that a resource is closed regardless of whether the </a:t>
            </a:r>
            <a:r>
              <a:rPr lang="en-CA" dirty="0"/>
              <a:t>try</a:t>
            </a:r>
            <a:r>
              <a:rPr lang="en-CA" b="0" i="0" dirty="0">
                <a:solidFill>
                  <a:srgbClr val="000000"/>
                </a:solidFill>
                <a:effectLst/>
                <a:latin typeface="Arial" panose="020B0604020202020204" pitchFamily="34" charset="0"/>
              </a:rPr>
              <a:t> statement completes normally or abruptly. </a:t>
            </a:r>
          </a:p>
        </p:txBody>
      </p:sp>
      <p:pic>
        <p:nvPicPr>
          <p:cNvPr id="6" name="Picture 5" descr="A screen shot of a computer&#10;&#10;Description automatically generated">
            <a:extLst>
              <a:ext uri="{FF2B5EF4-FFF2-40B4-BE49-F238E27FC236}">
                <a16:creationId xmlns:a16="http://schemas.microsoft.com/office/drawing/2014/main" id="{AE46CFAD-43E9-42BF-140F-98FB8EA8F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662" y="2942788"/>
            <a:ext cx="7772400" cy="1982073"/>
          </a:xfrm>
          <a:prstGeom prst="rect">
            <a:avLst/>
          </a:prstGeom>
        </p:spPr>
      </p:pic>
      <p:pic>
        <p:nvPicPr>
          <p:cNvPr id="8" name="Picture 7" descr="A white background with black text&#10;&#10;Description automatically generated">
            <a:extLst>
              <a:ext uri="{FF2B5EF4-FFF2-40B4-BE49-F238E27FC236}">
                <a16:creationId xmlns:a16="http://schemas.microsoft.com/office/drawing/2014/main" id="{880E6914-C0FB-C5ED-5C96-80BE23F64F41}"/>
              </a:ext>
            </a:extLst>
          </p:cNvPr>
          <p:cNvPicPr>
            <a:picLocks noChangeAspect="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834938" y="4992330"/>
            <a:ext cx="7772400" cy="1372871"/>
          </a:xfrm>
          <a:prstGeom prst="rect">
            <a:avLst/>
          </a:prstGeom>
        </p:spPr>
      </p:pic>
    </p:spTree>
    <p:extLst>
      <p:ext uri="{BB962C8B-B14F-4D97-AF65-F5344CB8AC3E}">
        <p14:creationId xmlns:p14="http://schemas.microsoft.com/office/powerpoint/2010/main" val="1685595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486D6-603C-8FB4-2A36-26FFB909EF11}"/>
              </a:ext>
            </a:extLst>
          </p:cNvPr>
          <p:cNvSpPr>
            <a:spLocks noGrp="1"/>
          </p:cNvSpPr>
          <p:nvPr>
            <p:ph type="title"/>
          </p:nvPr>
        </p:nvSpPr>
        <p:spPr/>
        <p:txBody>
          <a:bodyPr/>
          <a:lstStyle/>
          <a:p>
            <a:r>
              <a:rPr lang="en-US" dirty="0"/>
              <a:t>Try with Resource</a:t>
            </a:r>
          </a:p>
        </p:txBody>
      </p:sp>
      <p:sp>
        <p:nvSpPr>
          <p:cNvPr id="3" name="Content Placeholder 2">
            <a:extLst>
              <a:ext uri="{FF2B5EF4-FFF2-40B4-BE49-F238E27FC236}">
                <a16:creationId xmlns:a16="http://schemas.microsoft.com/office/drawing/2014/main" id="{A30D2BEC-7E4F-D6E2-B024-A477C9092354}"/>
              </a:ext>
            </a:extLst>
          </p:cNvPr>
          <p:cNvSpPr>
            <a:spLocks noGrp="1"/>
          </p:cNvSpPr>
          <p:nvPr>
            <p:ph idx="1"/>
          </p:nvPr>
        </p:nvSpPr>
        <p:spPr/>
        <p:txBody>
          <a:bodyPr/>
          <a:lstStyle/>
          <a:p>
            <a:r>
              <a:rPr lang="en-CA" b="0" i="0" dirty="0">
                <a:solidFill>
                  <a:srgbClr val="000000"/>
                </a:solidFill>
                <a:effectLst/>
                <a:latin typeface="Arial" panose="020B0604020202020204" pitchFamily="34" charset="0"/>
              </a:rPr>
              <a:t>The </a:t>
            </a:r>
            <a:r>
              <a:rPr lang="en-CA" dirty="0"/>
              <a:t>try</a:t>
            </a:r>
            <a:r>
              <a:rPr lang="en-CA" b="0" i="0" dirty="0">
                <a:solidFill>
                  <a:srgbClr val="000000"/>
                </a:solidFill>
                <a:effectLst/>
                <a:latin typeface="Arial" panose="020B0604020202020204" pitchFamily="34" charset="0"/>
              </a:rPr>
              <a:t>-with-resources statement is a </a:t>
            </a:r>
            <a:r>
              <a:rPr lang="en-CA" dirty="0"/>
              <a:t>try</a:t>
            </a:r>
            <a:r>
              <a:rPr lang="en-CA" b="0" i="0" dirty="0">
                <a:solidFill>
                  <a:srgbClr val="000000"/>
                </a:solidFill>
                <a:effectLst/>
                <a:latin typeface="Arial" panose="020B0604020202020204" pitchFamily="34" charset="0"/>
              </a:rPr>
              <a:t> statement that declares one or more resources. A </a:t>
            </a:r>
            <a:r>
              <a:rPr lang="en-CA" b="0" i="1" dirty="0">
                <a:solidFill>
                  <a:srgbClr val="000000"/>
                </a:solidFill>
                <a:effectLst/>
                <a:latin typeface="Arial" panose="020B0604020202020204" pitchFamily="34" charset="0"/>
              </a:rPr>
              <a:t>resource</a:t>
            </a:r>
            <a:r>
              <a:rPr lang="en-CA" b="0" i="0" dirty="0">
                <a:solidFill>
                  <a:srgbClr val="000000"/>
                </a:solidFill>
                <a:effectLst/>
                <a:latin typeface="Arial" panose="020B0604020202020204" pitchFamily="34" charset="0"/>
              </a:rPr>
              <a:t> is as an object that must be closed after the program is finished with it. </a:t>
            </a:r>
          </a:p>
          <a:p>
            <a:r>
              <a:rPr lang="en-CA" b="0" i="0" dirty="0">
                <a:solidFill>
                  <a:srgbClr val="000000"/>
                </a:solidFill>
                <a:effectLst/>
                <a:latin typeface="Arial" panose="020B0604020202020204" pitchFamily="34" charset="0"/>
              </a:rPr>
              <a:t>The </a:t>
            </a:r>
            <a:r>
              <a:rPr lang="en-CA" dirty="0"/>
              <a:t>try</a:t>
            </a:r>
            <a:r>
              <a:rPr lang="en-CA" b="0" i="0" dirty="0">
                <a:solidFill>
                  <a:srgbClr val="000000"/>
                </a:solidFill>
                <a:effectLst/>
                <a:latin typeface="Arial" panose="020B0604020202020204" pitchFamily="34" charset="0"/>
              </a:rPr>
              <a:t>-with-resources statement ensures that each resource is closed at the end of the statement. </a:t>
            </a:r>
          </a:p>
          <a:p>
            <a:r>
              <a:rPr lang="en-CA" b="0" i="0" dirty="0">
                <a:solidFill>
                  <a:srgbClr val="000000"/>
                </a:solidFill>
                <a:effectLst/>
                <a:latin typeface="Arial" panose="020B0604020202020204" pitchFamily="34" charset="0"/>
              </a:rPr>
              <a:t>Any object that implements </a:t>
            </a:r>
            <a:r>
              <a:rPr lang="en-CA" dirty="0" err="1"/>
              <a:t>java.lang.AutoCloseable</a:t>
            </a:r>
            <a:r>
              <a:rPr lang="en-CA" b="0" i="0" dirty="0">
                <a:solidFill>
                  <a:srgbClr val="000000"/>
                </a:solidFill>
                <a:effectLst/>
                <a:latin typeface="Arial" panose="020B0604020202020204" pitchFamily="34" charset="0"/>
              </a:rPr>
              <a:t>, which includes all objects which implement </a:t>
            </a:r>
            <a:r>
              <a:rPr lang="en-CA" dirty="0" err="1"/>
              <a:t>java.io.Closeable</a:t>
            </a:r>
            <a:r>
              <a:rPr lang="en-CA" b="0" i="0" dirty="0">
                <a:solidFill>
                  <a:srgbClr val="000000"/>
                </a:solidFill>
                <a:effectLst/>
                <a:latin typeface="Arial" panose="020B0604020202020204" pitchFamily="34" charset="0"/>
              </a:rPr>
              <a:t>, can be used as a resource.</a:t>
            </a:r>
            <a:endParaRPr lang="en-US" dirty="0"/>
          </a:p>
        </p:txBody>
      </p:sp>
      <p:sp>
        <p:nvSpPr>
          <p:cNvPr id="4" name="TextBox 3">
            <a:extLst>
              <a:ext uri="{FF2B5EF4-FFF2-40B4-BE49-F238E27FC236}">
                <a16:creationId xmlns:a16="http://schemas.microsoft.com/office/drawing/2014/main" id="{27E20865-47AB-9BA9-E002-C5EB60A7E8A4}"/>
              </a:ext>
            </a:extLst>
          </p:cNvPr>
          <p:cNvSpPr txBox="1"/>
          <p:nvPr/>
        </p:nvSpPr>
        <p:spPr>
          <a:xfrm>
            <a:off x="1156771" y="4682169"/>
            <a:ext cx="6720289" cy="646331"/>
          </a:xfrm>
          <a:prstGeom prst="rect">
            <a:avLst/>
          </a:prstGeom>
          <a:noFill/>
        </p:spPr>
        <p:txBody>
          <a:bodyPr wrap="square" rtlCol="0">
            <a:spAutoFit/>
          </a:bodyPr>
          <a:lstStyle/>
          <a:p>
            <a:r>
              <a:rPr lang="en-US" dirty="0"/>
              <a:t>https://</a:t>
            </a:r>
            <a:r>
              <a:rPr lang="en-US" dirty="0" err="1"/>
              <a:t>docs.oracle.com</a:t>
            </a:r>
            <a:r>
              <a:rPr lang="en-US" dirty="0"/>
              <a:t>/</a:t>
            </a:r>
            <a:r>
              <a:rPr lang="en-US" dirty="0" err="1"/>
              <a:t>javase</a:t>
            </a:r>
            <a:r>
              <a:rPr lang="en-US" dirty="0"/>
              <a:t>/8/docs/technotes/guides/language/try-with-</a:t>
            </a:r>
            <a:r>
              <a:rPr lang="en-US" dirty="0" err="1"/>
              <a:t>resources.html</a:t>
            </a:r>
            <a:endParaRPr lang="en-US" dirty="0"/>
          </a:p>
        </p:txBody>
      </p:sp>
    </p:spTree>
    <p:extLst>
      <p:ext uri="{BB962C8B-B14F-4D97-AF65-F5344CB8AC3E}">
        <p14:creationId xmlns:p14="http://schemas.microsoft.com/office/powerpoint/2010/main" val="729056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C227C-D35D-8034-6096-14970B11F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0CF8C-2F56-FB8E-7E4E-14FFEACD6257}"/>
              </a:ext>
            </a:extLst>
          </p:cNvPr>
          <p:cNvSpPr>
            <a:spLocks noGrp="1"/>
          </p:cNvSpPr>
          <p:nvPr>
            <p:ph type="title"/>
          </p:nvPr>
        </p:nvSpPr>
        <p:spPr/>
        <p:txBody>
          <a:bodyPr/>
          <a:lstStyle/>
          <a:p>
            <a:r>
              <a:rPr lang="en-US" dirty="0"/>
              <a:t>Try with Resource</a:t>
            </a:r>
          </a:p>
        </p:txBody>
      </p:sp>
      <p:sp>
        <p:nvSpPr>
          <p:cNvPr id="3" name="Content Placeholder 2">
            <a:extLst>
              <a:ext uri="{FF2B5EF4-FFF2-40B4-BE49-F238E27FC236}">
                <a16:creationId xmlns:a16="http://schemas.microsoft.com/office/drawing/2014/main" id="{252013F7-4AEB-F355-7590-DA370845EF91}"/>
              </a:ext>
            </a:extLst>
          </p:cNvPr>
          <p:cNvSpPr>
            <a:spLocks noGrp="1"/>
          </p:cNvSpPr>
          <p:nvPr>
            <p:ph idx="1"/>
          </p:nvPr>
        </p:nvSpPr>
        <p:spPr/>
        <p:txBody>
          <a:bodyPr/>
          <a:lstStyle/>
          <a:p>
            <a:r>
              <a:rPr lang="en-CA" b="0" i="0" dirty="0">
                <a:solidFill>
                  <a:srgbClr val="000000"/>
                </a:solidFill>
                <a:effectLst/>
                <a:latin typeface="Arial" panose="020B0604020202020204" pitchFamily="34" charset="0"/>
              </a:rPr>
              <a:t>The </a:t>
            </a:r>
            <a:r>
              <a:rPr lang="en-CA" dirty="0"/>
              <a:t>try</a:t>
            </a:r>
            <a:r>
              <a:rPr lang="en-CA" b="0" i="0" dirty="0">
                <a:solidFill>
                  <a:srgbClr val="000000"/>
                </a:solidFill>
                <a:effectLst/>
                <a:latin typeface="Arial" panose="020B0604020202020204" pitchFamily="34" charset="0"/>
              </a:rPr>
              <a:t>-with-resources statement is a </a:t>
            </a:r>
            <a:r>
              <a:rPr lang="en-CA" dirty="0"/>
              <a:t>try</a:t>
            </a:r>
            <a:r>
              <a:rPr lang="en-CA" b="0" i="0" dirty="0">
                <a:solidFill>
                  <a:srgbClr val="000000"/>
                </a:solidFill>
                <a:effectLst/>
                <a:latin typeface="Arial" panose="020B0604020202020204" pitchFamily="34" charset="0"/>
              </a:rPr>
              <a:t> statement that declares one or more resources. A </a:t>
            </a:r>
            <a:r>
              <a:rPr lang="en-CA" b="0" i="1" dirty="0">
                <a:solidFill>
                  <a:srgbClr val="000000"/>
                </a:solidFill>
                <a:effectLst/>
                <a:latin typeface="Arial" panose="020B0604020202020204" pitchFamily="34" charset="0"/>
              </a:rPr>
              <a:t>resource</a:t>
            </a:r>
            <a:r>
              <a:rPr lang="en-CA" b="0" i="0" dirty="0">
                <a:solidFill>
                  <a:srgbClr val="000000"/>
                </a:solidFill>
                <a:effectLst/>
                <a:latin typeface="Arial" panose="020B0604020202020204" pitchFamily="34" charset="0"/>
              </a:rPr>
              <a:t> is as an object that must be closed after the program is finished with it. </a:t>
            </a:r>
          </a:p>
        </p:txBody>
      </p:sp>
      <p:pic>
        <p:nvPicPr>
          <p:cNvPr id="5" name="Picture 4" descr="A close-up of a computer screen&#10;&#10;Description automatically generated">
            <a:extLst>
              <a:ext uri="{FF2B5EF4-FFF2-40B4-BE49-F238E27FC236}">
                <a16:creationId xmlns:a16="http://schemas.microsoft.com/office/drawing/2014/main" id="{F3BB37FC-D4E1-3D28-21F7-EB173EFDAE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706" y="3136715"/>
            <a:ext cx="8973287" cy="1836118"/>
          </a:xfrm>
          <a:prstGeom prst="rect">
            <a:avLst/>
          </a:prstGeom>
        </p:spPr>
      </p:pic>
      <p:sp>
        <p:nvSpPr>
          <p:cNvPr id="7" name="TextBox 6">
            <a:extLst>
              <a:ext uri="{FF2B5EF4-FFF2-40B4-BE49-F238E27FC236}">
                <a16:creationId xmlns:a16="http://schemas.microsoft.com/office/drawing/2014/main" id="{2BF17E14-1AB1-E73F-FEEF-CBE460BDB957}"/>
              </a:ext>
            </a:extLst>
          </p:cNvPr>
          <p:cNvSpPr txBox="1"/>
          <p:nvPr/>
        </p:nvSpPr>
        <p:spPr>
          <a:xfrm>
            <a:off x="966828" y="4972833"/>
            <a:ext cx="7359042" cy="646331"/>
          </a:xfrm>
          <a:prstGeom prst="rect">
            <a:avLst/>
          </a:prstGeom>
          <a:solidFill>
            <a:schemeClr val="accent2"/>
          </a:solidFill>
        </p:spPr>
        <p:txBody>
          <a:bodyPr wrap="square">
            <a:spAutoFit/>
          </a:bodyPr>
          <a:lstStyle/>
          <a:p>
            <a:r>
              <a:rPr lang="en-CA" b="0" i="0" dirty="0">
                <a:solidFill>
                  <a:srgbClr val="000000"/>
                </a:solidFill>
                <a:effectLst/>
                <a:latin typeface="Arial" panose="020B0604020202020204" pitchFamily="34" charset="0"/>
              </a:rPr>
              <a:t>A </a:t>
            </a:r>
            <a:r>
              <a:rPr lang="en-CA" b="0" i="1" dirty="0">
                <a:solidFill>
                  <a:srgbClr val="000000"/>
                </a:solidFill>
                <a:effectLst/>
                <a:latin typeface="Arial" panose="020B0604020202020204" pitchFamily="34" charset="0"/>
              </a:rPr>
              <a:t>resource</a:t>
            </a:r>
            <a:r>
              <a:rPr lang="en-CA" b="0" i="0" dirty="0">
                <a:solidFill>
                  <a:srgbClr val="000000"/>
                </a:solidFill>
                <a:effectLst/>
                <a:latin typeface="Arial" panose="020B0604020202020204" pitchFamily="34" charset="0"/>
              </a:rPr>
              <a:t> is as an object that must be closed after the program is finished with it. </a:t>
            </a:r>
          </a:p>
        </p:txBody>
      </p:sp>
    </p:spTree>
    <p:extLst>
      <p:ext uri="{BB962C8B-B14F-4D97-AF65-F5344CB8AC3E}">
        <p14:creationId xmlns:p14="http://schemas.microsoft.com/office/powerpoint/2010/main" val="1116962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BA013-A420-BE2F-13C9-9F382D726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AD0D2-A435-7E5C-589D-4AF8BA1FDA10}"/>
              </a:ext>
            </a:extLst>
          </p:cNvPr>
          <p:cNvSpPr>
            <a:spLocks noGrp="1"/>
          </p:cNvSpPr>
          <p:nvPr>
            <p:ph type="title"/>
          </p:nvPr>
        </p:nvSpPr>
        <p:spPr/>
        <p:txBody>
          <a:bodyPr/>
          <a:lstStyle/>
          <a:p>
            <a:r>
              <a:rPr lang="en-US" dirty="0"/>
              <a:t>Try with Resource</a:t>
            </a:r>
          </a:p>
        </p:txBody>
      </p:sp>
      <p:pic>
        <p:nvPicPr>
          <p:cNvPr id="7" name="Picture 6" descr="A screenshot of a computer program&#10;&#10;Description automatically generated">
            <a:extLst>
              <a:ext uri="{FF2B5EF4-FFF2-40B4-BE49-F238E27FC236}">
                <a16:creationId xmlns:a16="http://schemas.microsoft.com/office/drawing/2014/main" id="{7481E86E-28C5-8D59-BB17-7C09F7B5F8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1283130"/>
            <a:ext cx="8182627" cy="5118351"/>
          </a:xfrm>
          <a:prstGeom prst="rect">
            <a:avLst/>
          </a:prstGeom>
        </p:spPr>
      </p:pic>
    </p:spTree>
    <p:extLst>
      <p:ext uri="{BB962C8B-B14F-4D97-AF65-F5344CB8AC3E}">
        <p14:creationId xmlns:p14="http://schemas.microsoft.com/office/powerpoint/2010/main" val="2271325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617</TotalTime>
  <Words>652</Words>
  <Application>Microsoft Macintosh PowerPoint</Application>
  <PresentationFormat>On-screen Show (4:3)</PresentationFormat>
  <Paragraphs>57</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 Light</vt:lpstr>
      <vt:lpstr>Calibri</vt:lpstr>
      <vt:lpstr>Courier New</vt:lpstr>
      <vt:lpstr>Office Theme</vt:lpstr>
      <vt:lpstr>More About Exception Handling</vt:lpstr>
      <vt:lpstr>Kinds  of Exceptions</vt:lpstr>
      <vt:lpstr>Kinds  of Exceptions</vt:lpstr>
      <vt:lpstr>Kinds  of Exceptions</vt:lpstr>
      <vt:lpstr>Errors</vt:lpstr>
      <vt:lpstr>Handling Multiple Exceptions</vt:lpstr>
      <vt:lpstr>Handling Multiple Exceptions</vt:lpstr>
      <vt:lpstr>Handling Multiple Exceptions</vt:lpstr>
      <vt:lpstr>Handling Multiple Exceptions</vt:lpstr>
      <vt:lpstr>The finally Block</vt:lpstr>
      <vt:lpstr>Rethrowing an Exception</vt:lpstr>
      <vt:lpstr>Class ArrayList</vt:lpstr>
      <vt:lpstr>Class ArrayList</vt:lpstr>
      <vt:lpstr>Try with Resource</vt:lpstr>
      <vt:lpstr>Try with Resource</vt:lpstr>
      <vt:lpstr>Try with Resource</vt:lpstr>
      <vt:lpstr>Try with Resource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Handling</dc:title>
  <dc:creator>Steve Armstrong</dc:creator>
  <cp:lastModifiedBy>Muhammad Asaduzzaman</cp:lastModifiedBy>
  <cp:revision>75</cp:revision>
  <dcterms:created xsi:type="dcterms:W3CDTF">2007-10-18T00:00:25Z</dcterms:created>
  <dcterms:modified xsi:type="dcterms:W3CDTF">2024-10-29T19:51:28Z</dcterms:modified>
</cp:coreProperties>
</file>