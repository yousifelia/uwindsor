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781" r:id="rId1"/>
  </p:sldMasterIdLst>
  <p:sldIdLst>
    <p:sldId id="256" r:id="rId2"/>
    <p:sldId id="257" r:id="rId3"/>
    <p:sldId id="258" r:id="rId4"/>
    <p:sldId id="259" r:id="rId5"/>
    <p:sldId id="273" r:id="rId6"/>
    <p:sldId id="274" r:id="rId7"/>
    <p:sldId id="275" r:id="rId8"/>
    <p:sldId id="276" r:id="rId9"/>
    <p:sldId id="277" r:id="rId10"/>
    <p:sldId id="260" r:id="rId11"/>
    <p:sldId id="278" r:id="rId12"/>
    <p:sldId id="261" r:id="rId13"/>
    <p:sldId id="279" r:id="rId14"/>
    <p:sldId id="280" r:id="rId15"/>
    <p:sldId id="281" r:id="rId16"/>
    <p:sldId id="262" r:id="rId17"/>
    <p:sldId id="263" r:id="rId18"/>
    <p:sldId id="283" r:id="rId19"/>
    <p:sldId id="282" r:id="rId20"/>
    <p:sldId id="264" r:id="rId21"/>
    <p:sldId id="284" r:id="rId22"/>
    <p:sldId id="285" r:id="rId23"/>
    <p:sldId id="286" r:id="rId24"/>
    <p:sldId id="265" r:id="rId25"/>
    <p:sldId id="266" r:id="rId26"/>
    <p:sldId id="287" r:id="rId27"/>
    <p:sldId id="288" r:id="rId28"/>
    <p:sldId id="267" r:id="rId29"/>
    <p:sldId id="268" r:id="rId30"/>
    <p:sldId id="269" r:id="rId31"/>
    <p:sldId id="289" r:id="rId32"/>
    <p:sldId id="290" r:id="rId33"/>
    <p:sldId id="291" r:id="rId34"/>
    <p:sldId id="292" r:id="rId35"/>
    <p:sldId id="270" r:id="rId36"/>
    <p:sldId id="297" r:id="rId37"/>
    <p:sldId id="298" r:id="rId38"/>
    <p:sldId id="299" r:id="rId39"/>
    <p:sldId id="300" r:id="rId40"/>
    <p:sldId id="301" r:id="rId41"/>
    <p:sldId id="294" r:id="rId42"/>
    <p:sldId id="295" r:id="rId43"/>
    <p:sldId id="296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0" autoAdjust="0"/>
    <p:restoredTop sz="94564" autoAdjust="0"/>
  </p:normalViewPr>
  <p:slideViewPr>
    <p:cSldViewPr snapToGrid="0">
      <p:cViewPr varScale="1">
        <p:scale>
          <a:sx n="102" d="100"/>
          <a:sy n="102" d="100"/>
        </p:scale>
        <p:origin x="18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D2ED0DCC-CD28-0290-4B29-2A267FBB7E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525463"/>
            <a:ext cx="45053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1D702FF1-A680-54E2-4DBB-A41880EF94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088" y="2312988"/>
            <a:ext cx="160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7B6F0D-E221-DD81-FC59-EDE9C94E7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DFB37-113C-EE4F-8B2B-10B943AE229C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15D079A-7A9B-AEE5-FBCD-DE53C8C2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A8ADEDD-9047-8F73-85DB-8E79AC565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966740-3775-3D45-A564-201482C362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273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AB89A-4B6E-48B0-332C-B684762F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2C73E-16F2-C544-8306-721554CAA00E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51FC7-30A1-5D00-2102-94AA07E89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AFCD-2482-A85C-ED74-6E46E691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62D23E-D05D-554C-86BE-AF3131B4BE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2963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5E66F-E028-7460-8825-084C9A0A2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EF3E5-84F1-F741-8157-9C5BCBA91D87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69A9B-7ABC-108B-0500-2C8A719B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8A2F1-63E3-51C4-E9DF-899DDE70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5F2CF1-2503-B642-86CA-8902D99B1A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3103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DF2A62A-ADFC-6BCA-AE40-482DD4F2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C0DC17-93A2-8347-8D89-1B7555CC2574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AF20DBA-F84B-7A2A-20E8-B249EF6DC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2D035CA-CBE7-E199-3303-828DB0EF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472F5A-212F-054F-BB8B-BE7B5157B8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294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27015A6-5890-5DC2-360A-E74A7015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2C88AD-08A6-7048-A3CB-6CE572E03D33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6512023-4FAF-2944-F0B1-C4BF3369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E14CE34-FD59-1FA0-A3BA-839A62573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B6B05B-01C9-6443-A6D2-7231840C32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01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D3038FC-F575-4BDB-49F4-817E4BD7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D5EF3-5C36-D442-9178-EF399ECDAC09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81A12ED-F2B0-5C77-60C0-6F2E61B8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0319AC-70EF-6A6D-05BD-92BFD1CD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417F9F-3E3D-8F40-9CFA-EC14C10F7C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4507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2BB0491-BABE-1779-20BA-5236E6849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F5C1D-99B7-454B-BA70-1434DE7CD3FA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ACB25BE-0D39-ED5F-5624-94E0BB71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248AF4C-8491-BEEC-B746-4C4A780D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722233-5AC4-8541-A11A-2CC2AD5E3D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60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51E5C9-C075-00DF-53B0-7D5ED432C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7F04E-99D3-B745-BE10-F0D9BFB1845B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E3F1D3D-18FF-9C7A-B9C3-661E4CFC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FA5F549-503A-7AFA-61F4-7F156C08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8DE01-3C92-7240-99B6-8A2E69E23F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8618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F820539-39D8-579C-6378-EE9AF04E8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5A3B7-30C7-5348-90B4-E5CC6D3E3460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F551E4-7F25-59E4-8EC7-F130ED61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83E4417-5CBC-6010-0A18-23A96CF6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E99AEF-C7CC-8744-B1B1-B03959482F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5846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EB867-A302-1B2F-0FE3-44F5AF939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5F86CA-E951-8648-9ECB-9405854E1F93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03DE3-1C7C-5A74-C82A-A1D293F09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AE37E-9D82-DC06-9C91-07148D12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19D29-3087-814B-BD63-6DD05D3A16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245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1EE44-9D7C-E1B2-35B8-9E317176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5ACFC-005E-234D-BE90-B23F80036178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B470F-A4AE-2869-80CA-1DB5045B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5BAF8-0E5C-A7B4-45B4-E5757D2F9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67F867-F511-9F43-A1BD-D8B07CE803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310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CA32F88-2B64-3F90-0A79-0E95E32D5CE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188FEAA-3DAF-20D2-5793-E3A19083EA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7A885-E5C7-4C58-30CF-3AA6E47DA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70C1E03-2E62-C54E-80DE-9517DD265E2B}" type="datetimeFigureOut">
              <a:rPr lang="en-US"/>
              <a:pPr>
                <a:defRPr/>
              </a:pPr>
              <a:t>10/22/24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C445A-2F7C-74DA-7F18-4A1B2AC04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4CE21-1923-DB8A-C647-DA24C3387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DF364956-0490-DA43-A467-039422BFB07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CDEB642-74C6-BB20-65CA-236E068B232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5800" y="6400800"/>
            <a:ext cx="822960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900" i="1" dirty="0"/>
              <a:t>JAVA: An Introduction to Problem Solving &amp; Programming, 8</a:t>
            </a:r>
            <a:r>
              <a:rPr lang="en-US" altLang="en-US" sz="900" baseline="30000" dirty="0"/>
              <a:t>th</a:t>
            </a:r>
            <a:r>
              <a:rPr lang="en-US" altLang="en-US" sz="900" dirty="0"/>
              <a:t> Ed. By Walter Savitch</a:t>
            </a:r>
            <a:br>
              <a:rPr lang="en-US" altLang="en-US" sz="900" dirty="0"/>
            </a:br>
            <a:r>
              <a:rPr lang="en-US" altLang="en-US" sz="900" dirty="0"/>
              <a:t>ISBN </a:t>
            </a:r>
            <a:r>
              <a:rPr lang="en-US" sz="900" dirty="0"/>
              <a:t>0134462033 </a:t>
            </a:r>
            <a:r>
              <a:rPr lang="en-US" altLang="en-US" sz="900" dirty="0"/>
              <a:t> © 2018 Pearson Education, Inc., Hoboken, NJ. All Rights Reserved</a:t>
            </a:r>
          </a:p>
          <a:p>
            <a:pPr algn="ctr" eaLnBrk="1" hangingPunct="1">
              <a:spcBef>
                <a:spcPct val="50000"/>
              </a:spcBef>
              <a:defRPr/>
            </a:pPr>
            <a:endParaRPr lang="en-US" sz="900" dirty="0">
              <a:solidFill>
                <a:prstClr val="black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CodeSamples5.htm#Listing 9.1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CodeSamples5.htm#Listing 9.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CodeSamples5.htm#Listing 9.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CodeSamples5.htm#Listing 9.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CodeSamples5.htm#Listing 9.6" TargetMode="External"/><Relationship Id="rId2" Type="http://schemas.openxmlformats.org/officeDocument/2006/relationships/hyperlink" Target="CodeSamples5.htm#Listing 9.5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CodeSamples5.htm#Listing 9.7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CodeSamples5.htm#Listing 9.9" TargetMode="External"/><Relationship Id="rId2" Type="http://schemas.openxmlformats.org/officeDocument/2006/relationships/hyperlink" Target="CodeSamples5.htm#Listing 9.8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CodeSamples5.htm#Listing 9.11" TargetMode="External"/><Relationship Id="rId2" Type="http://schemas.openxmlformats.org/officeDocument/2006/relationships/hyperlink" Target="CodeSamples5.htm#Listing 9.1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CodeSamples5.htm#Listing 9.12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CodeSamples5.htm#Listing 9.1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CodeSamples5.htm#Listing 9.14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CodeSamples5.htm#Listing 9.15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CodeSamples5.htm#Listing 9.16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CodeSamples5.htm#Listing 9.18" TargetMode="External"/><Relationship Id="rId2" Type="http://schemas.openxmlformats.org/officeDocument/2006/relationships/hyperlink" Target="CodeSamples5.htm#Listing 9.17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5EADC362-F4FF-A70F-AE98-301AABB324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Exception Handling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EC9836B4-93CE-A2B9-B560-489C85513E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10EFC25D-682E-2200-9088-FC4D4252C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9BF7BE68-9120-777E-856C-1DDF9841A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663" y="1600200"/>
            <a:ext cx="7831137" cy="4525963"/>
          </a:xfrm>
        </p:spPr>
        <p:txBody>
          <a:bodyPr/>
          <a:lstStyle/>
          <a:p>
            <a:pPr eaLnBrk="1" hangingPunct="1"/>
            <a:r>
              <a:rPr lang="en-US" altLang="en-US"/>
              <a:t>Describe the notion of exception handling</a:t>
            </a:r>
          </a:p>
          <a:p>
            <a:pPr eaLnBrk="1" hangingPunct="1"/>
            <a:r>
              <a:rPr lang="en-US" altLang="en-US"/>
              <a:t>React correctly when certain exceptions occur</a:t>
            </a:r>
          </a:p>
          <a:p>
            <a:pPr eaLnBrk="1" hangingPunct="1"/>
            <a:r>
              <a:rPr lang="en-US" altLang="en-US"/>
              <a:t>Use Java's exception-handling facilities effectively in classes and programs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C1B4803-0A07-CA65-88A9-BA34ABCD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99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Basic Exception Handling: Outline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772ACEC7-2F07-F35F-8DA2-FBC8B5333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438" y="1925638"/>
            <a:ext cx="7091362" cy="4200525"/>
          </a:xfrm>
        </p:spPr>
        <p:txBody>
          <a:bodyPr/>
          <a:lstStyle/>
          <a:p>
            <a:pPr eaLnBrk="1" hangingPunct="1"/>
            <a:r>
              <a:rPr lang="en-US" altLang="en-US"/>
              <a:t>Exceptions in Java</a:t>
            </a:r>
          </a:p>
          <a:p>
            <a:pPr eaLnBrk="1" hangingPunct="1"/>
            <a:r>
              <a:rPr lang="en-US" altLang="en-US"/>
              <a:t>Predefined Exception Classes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9E3B9C1-1385-9BE0-40C6-8024B2F5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Exceptions in Java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82513A60-5BBA-A832-979C-0B26B3F97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exception is an object</a:t>
            </a:r>
          </a:p>
          <a:p>
            <a:pPr lvl="1" eaLnBrk="1" hangingPunct="1"/>
            <a:r>
              <a:rPr lang="en-US" altLang="en-US"/>
              <a:t>Signals the occurrence of unusual event during program execution</a:t>
            </a:r>
          </a:p>
          <a:p>
            <a:pPr eaLnBrk="1" hangingPunct="1"/>
            <a:r>
              <a:rPr lang="en-US" altLang="en-US"/>
              <a:t>Throwing an exception </a:t>
            </a:r>
          </a:p>
          <a:p>
            <a:pPr lvl="1" eaLnBrk="1" hangingPunct="1"/>
            <a:r>
              <a:rPr lang="en-US" altLang="en-US"/>
              <a:t>Creating the exception object</a:t>
            </a:r>
          </a:p>
          <a:p>
            <a:pPr eaLnBrk="1" hangingPunct="1"/>
            <a:r>
              <a:rPr lang="en-US" altLang="en-US"/>
              <a:t>Handling the exception</a:t>
            </a:r>
          </a:p>
          <a:p>
            <a:pPr lvl="1" eaLnBrk="1" hangingPunct="1"/>
            <a:r>
              <a:rPr lang="en-US" altLang="en-US"/>
              <a:t>Code that detects and deals with the exception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40DE9AA6-C365-A9AE-637B-03DDD92D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Exceptions in Java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489C2456-EBFF-A775-FE8C-996A4E9A5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Consider a program to assure us of a sufficient supply of milk</a:t>
            </a:r>
          </a:p>
          <a:p>
            <a:pPr eaLnBrk="1" hangingPunct="1"/>
            <a:r>
              <a:rPr lang="en-US" altLang="en-US" dirty="0"/>
              <a:t>View </a:t>
            </a:r>
            <a:r>
              <a:rPr lang="en-US" altLang="en-US" dirty="0">
                <a:hlinkClick r:id="rId2" action="ppaction://hlinkfile"/>
              </a:rPr>
              <a:t>possible solution</a:t>
            </a:r>
            <a:r>
              <a:rPr lang="en-US" altLang="en-US" dirty="0"/>
              <a:t>, listing 9.1</a:t>
            </a:r>
            <a:br>
              <a:rPr lang="en-US" altLang="en-US" dirty="0"/>
            </a:b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GotMilk</a:t>
            </a:r>
            <a:endParaRPr lang="en-US" altLang="en-US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172" name="Picture 2">
            <a:extLst>
              <a:ext uri="{FF2B5EF4-FFF2-40B4-BE49-F238E27FC236}">
                <a16:creationId xmlns:a16="http://schemas.microsoft.com/office/drawing/2014/main" id="{A0194244-4A39-7DC3-5DCC-1BA00B952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863" y="3903663"/>
            <a:ext cx="6505575" cy="21907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70335CA0-71D6-4629-0942-6F09EA6BA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1675" y="4475163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D1C77A4-D3CB-1358-F6E8-A2B026489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Exceptions in Java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C046EA96-45CA-5AD0-B345-58E249E6A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Now we revise the program to use exception-handling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new version</a:t>
            </a:r>
            <a:r>
              <a:rPr lang="en-US" altLang="en-US"/>
              <a:t>, listing 9.2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ExceptionDemo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02B82664-C377-77A9-5A43-619DD8A9330B}"/>
              </a:ext>
            </a:extLst>
          </p:cNvPr>
          <p:cNvGrpSpPr>
            <a:grpSpLocks/>
          </p:cNvGrpSpPr>
          <p:nvPr/>
        </p:nvGrpSpPr>
        <p:grpSpPr bwMode="auto">
          <a:xfrm>
            <a:off x="1085850" y="3735388"/>
            <a:ext cx="5583238" cy="2014537"/>
            <a:chOff x="1086255" y="3735503"/>
            <a:chExt cx="5582888" cy="2014659"/>
          </a:xfrm>
        </p:grpSpPr>
        <p:pic>
          <p:nvPicPr>
            <p:cNvPr id="8200" name="Picture 2">
              <a:extLst>
                <a:ext uri="{FF2B5EF4-FFF2-40B4-BE49-F238E27FC236}">
                  <a16:creationId xmlns:a16="http://schemas.microsoft.com/office/drawing/2014/main" id="{94CBB383-51D4-7864-6DCE-2528E98AD3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6255" y="4026137"/>
              <a:ext cx="5181600" cy="172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52FE71A7-D3AA-B641-D474-78C49E153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5239" y="3735503"/>
              <a:ext cx="1523904" cy="1006536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</a:rPr>
                <a:t>Sample 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screen output 1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2B92D96D-6E09-34D0-F24F-CBE26E360773}"/>
              </a:ext>
            </a:extLst>
          </p:cNvPr>
          <p:cNvGrpSpPr>
            <a:grpSpLocks/>
          </p:cNvGrpSpPr>
          <p:nvPr/>
        </p:nvGrpSpPr>
        <p:grpSpPr bwMode="auto">
          <a:xfrm>
            <a:off x="3027363" y="4121150"/>
            <a:ext cx="5700712" cy="1936750"/>
            <a:chOff x="3027025" y="4121367"/>
            <a:chExt cx="5701139" cy="1936938"/>
          </a:xfrm>
        </p:grpSpPr>
        <p:pic>
          <p:nvPicPr>
            <p:cNvPr id="8198" name="Picture 3">
              <a:extLst>
                <a:ext uri="{FF2B5EF4-FFF2-40B4-BE49-F238E27FC236}">
                  <a16:creationId xmlns:a16="http://schemas.microsoft.com/office/drawing/2014/main" id="{1886B9A2-37D7-2142-30FE-A24139672A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7025" y="4496205"/>
              <a:ext cx="5191125" cy="156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FD8FC41C-232A-6189-2B3E-CCCD9A9A0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4050" y="4121367"/>
              <a:ext cx="1524114" cy="1006573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</a:rPr>
                <a:t>Sample 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screen output 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90F34CA3-0DEE-CC7D-57C3-B882BA6B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49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Exceptions in Java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B15AA583-592C-6BB0-8FC2-1CAFC0035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try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</a:p>
          <a:p>
            <a:pPr lvl="1" eaLnBrk="1" hangingPunct="1"/>
            <a:r>
              <a:rPr lang="en-US" altLang="en-US"/>
              <a:t>Contains code where something could possibly go wrong</a:t>
            </a:r>
          </a:p>
          <a:p>
            <a:pPr lvl="1" eaLnBrk="1" hangingPunct="1"/>
            <a:r>
              <a:rPr lang="en-US" altLang="en-US"/>
              <a:t>If it does go wrong, we </a:t>
            </a:r>
            <a:r>
              <a:rPr lang="en-US" altLang="en-US" i="1"/>
              <a:t>throw an exception</a:t>
            </a:r>
            <a:endParaRPr lang="en-US" altLang="en-US"/>
          </a:p>
          <a:p>
            <a:pPr eaLnBrk="1" hangingPunct="1"/>
            <a:r>
              <a:rPr lang="en-US" altLang="en-US"/>
              <a:t>Note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block</a:t>
            </a:r>
          </a:p>
          <a:p>
            <a:pPr lvl="1" eaLnBrk="1" hangingPunct="1"/>
            <a:r>
              <a:rPr lang="en-US" altLang="en-US"/>
              <a:t>When exception thrown,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block begins execution</a:t>
            </a:r>
          </a:p>
          <a:p>
            <a:pPr lvl="1" eaLnBrk="1" hangingPunct="1"/>
            <a:r>
              <a:rPr lang="en-US" altLang="en-US"/>
              <a:t>Similar to method with parameter</a:t>
            </a:r>
          </a:p>
          <a:p>
            <a:pPr lvl="1" eaLnBrk="1" hangingPunct="1"/>
            <a:r>
              <a:rPr lang="en-US" altLang="en-US"/>
              <a:t>Parameter is the thrown object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B0998276-0B76-870F-81DD-6B024545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Exceptions in Java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07BD1A59-4D24-D04F-6E44-87F771DF4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flow of control when no exception is thrown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demo with no exception</a:t>
            </a:r>
            <a:r>
              <a:rPr lang="en-US" altLang="en-US"/>
              <a:t>, listing 9.3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ExceptionDemo</a:t>
            </a:r>
          </a:p>
        </p:txBody>
      </p:sp>
      <p:grpSp>
        <p:nvGrpSpPr>
          <p:cNvPr id="10244" name="Group 3">
            <a:extLst>
              <a:ext uri="{FF2B5EF4-FFF2-40B4-BE49-F238E27FC236}">
                <a16:creationId xmlns:a16="http://schemas.microsoft.com/office/drawing/2014/main" id="{95A2B2F8-53CF-9044-CFFB-2FE09FBE9205}"/>
              </a:ext>
            </a:extLst>
          </p:cNvPr>
          <p:cNvGrpSpPr>
            <a:grpSpLocks/>
          </p:cNvGrpSpPr>
          <p:nvPr/>
        </p:nvGrpSpPr>
        <p:grpSpPr bwMode="auto">
          <a:xfrm>
            <a:off x="1670050" y="3930650"/>
            <a:ext cx="6462713" cy="2014538"/>
            <a:chOff x="1086255" y="3735503"/>
            <a:chExt cx="6462409" cy="2014659"/>
          </a:xfrm>
        </p:grpSpPr>
        <p:pic>
          <p:nvPicPr>
            <p:cNvPr id="10245" name="Picture 2">
              <a:extLst>
                <a:ext uri="{FF2B5EF4-FFF2-40B4-BE49-F238E27FC236}">
                  <a16:creationId xmlns:a16="http://schemas.microsoft.com/office/drawing/2014/main" id="{040A80FB-B929-E725-8EDD-96DAD7C8D5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6255" y="4026033"/>
              <a:ext cx="5181356" cy="172412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053D83CB-C07E-17C4-3364-A024E6B70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5302" y="3735503"/>
              <a:ext cx="2403362" cy="1016061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</a:rPr>
                <a:t>Sample 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screen output with no exception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B7420A9-9639-6060-74B6-03D9DFCB4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Exceptions in Java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4CEBEC8D-94FA-E171-6D9B-2A498ADFB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flow of control when exception IS thrown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demo with exception</a:t>
            </a:r>
            <a:r>
              <a:rPr lang="en-US" altLang="en-US"/>
              <a:t>, listing 9.4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ExceptionDemo</a:t>
            </a:r>
          </a:p>
          <a:p>
            <a:pPr eaLnBrk="1" hangingPunct="1"/>
            <a:endParaRPr lang="en-US" altLang="en-US"/>
          </a:p>
        </p:txBody>
      </p:sp>
      <p:grpSp>
        <p:nvGrpSpPr>
          <p:cNvPr id="11268" name="Group 4">
            <a:extLst>
              <a:ext uri="{FF2B5EF4-FFF2-40B4-BE49-F238E27FC236}">
                <a16:creationId xmlns:a16="http://schemas.microsoft.com/office/drawing/2014/main" id="{9FBFECD6-3ABA-B082-2FE4-4B8F4E9D2CB0}"/>
              </a:ext>
            </a:extLst>
          </p:cNvPr>
          <p:cNvGrpSpPr>
            <a:grpSpLocks/>
          </p:cNvGrpSpPr>
          <p:nvPr/>
        </p:nvGrpSpPr>
        <p:grpSpPr bwMode="auto">
          <a:xfrm>
            <a:off x="1820863" y="4062413"/>
            <a:ext cx="6389687" cy="1801812"/>
            <a:chOff x="3027025" y="4257555"/>
            <a:chExt cx="6389350" cy="1800750"/>
          </a:xfrm>
        </p:grpSpPr>
        <p:pic>
          <p:nvPicPr>
            <p:cNvPr id="11269" name="Picture 3">
              <a:extLst>
                <a:ext uri="{FF2B5EF4-FFF2-40B4-BE49-F238E27FC236}">
                  <a16:creationId xmlns:a16="http://schemas.microsoft.com/office/drawing/2014/main" id="{339223D6-7EE7-8747-82E3-1E531FB884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7025" y="4495540"/>
              <a:ext cx="5190851" cy="15627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81C25A9D-43D7-C99B-1D3A-261FC93FA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3635" y="4257555"/>
              <a:ext cx="2782740" cy="1015401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</a:rPr>
                <a:t>Sample 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screen output when exception is thrown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3FEE16DC-023F-82D5-59E7-8455CFF9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Predefined Exception Classes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A87C15F6-6ECA-3246-0943-FAF3FA2D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1600200"/>
            <a:ext cx="8705850" cy="4525963"/>
          </a:xfrm>
        </p:spPr>
        <p:txBody>
          <a:bodyPr/>
          <a:lstStyle/>
          <a:p>
            <a:pPr eaLnBrk="1" hangingPunct="1"/>
            <a:r>
              <a:rPr lang="en-US" altLang="en-US"/>
              <a:t>Java has predefined exception classes within Java Class Library</a:t>
            </a:r>
          </a:p>
          <a:p>
            <a:pPr lvl="1" eaLnBrk="1" hangingPunct="1"/>
            <a:r>
              <a:rPr lang="en-US" altLang="en-US" sz="2400"/>
              <a:t>Can place method invocation in </a:t>
            </a: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 sz="2400"/>
              <a:t> block</a:t>
            </a:r>
          </a:p>
          <a:p>
            <a:pPr lvl="1" eaLnBrk="1" hangingPunct="1"/>
            <a:r>
              <a:rPr lang="en-US" altLang="en-US" sz="2400"/>
              <a:t>Follow with </a:t>
            </a: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 sz="2400"/>
              <a:t> block for this type of exception</a:t>
            </a:r>
          </a:p>
          <a:p>
            <a:pPr eaLnBrk="1" hangingPunct="1"/>
            <a:r>
              <a:rPr lang="en-US" altLang="en-US"/>
              <a:t>Example classes</a:t>
            </a:r>
          </a:p>
          <a:p>
            <a:pPr lvl="1" eaLnBrk="1" hangingPunct="1"/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BadStringOperationException</a:t>
            </a:r>
            <a:endParaRPr lang="en-US" altLang="en-US" sz="32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ClassNotFoundException</a:t>
            </a:r>
          </a:p>
          <a:p>
            <a:pPr lvl="1" eaLnBrk="1" hangingPunct="1"/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</a:p>
          <a:p>
            <a:pPr lvl="1" eaLnBrk="1" hangingPunct="1"/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NoSuchMethodException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24F466C7-C0B3-9F71-7CEE-61322963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Predefined Exception Classes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37BED212-1ED8-BAC5-2C65-8ED8B19A9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code</a:t>
            </a:r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2D368648-45A8-EE0F-5B5E-39218F5B8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2538413"/>
            <a:ext cx="6442075" cy="327501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3242D652-CCFD-5799-C538-7CF4FCD4E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Defining Your Own Exception Classes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F6091D4A-22C7-746D-FFFD-4341504DF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Must be derived class of some predefined exception class</a:t>
            </a:r>
          </a:p>
          <a:p>
            <a:pPr lvl="1" eaLnBrk="1" hangingPunct="1"/>
            <a:r>
              <a:rPr lang="en-US" altLang="en-US"/>
              <a:t>Text uses classes derived from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class</a:t>
            </a:r>
            <a:r>
              <a:rPr lang="en-US" altLang="en-US"/>
              <a:t>, listing 9.5</a:t>
            </a:r>
            <a:br>
              <a:rPr lang="en-US" altLang="en-US"/>
            </a:b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DivideByZeroException </a:t>
            </a:r>
            <a:b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extends Exception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demo program</a:t>
            </a:r>
            <a:r>
              <a:rPr lang="en-US" altLang="en-US"/>
              <a:t>, listing 9.6</a:t>
            </a:r>
            <a:br>
              <a:rPr lang="en-US" altLang="en-US"/>
            </a:b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DivideByZeroDemo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EE4A061-9F7B-231A-D5E9-03F6854E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Defining Your Own Exception Classes</a:t>
            </a:r>
          </a:p>
        </p:txBody>
      </p:sp>
      <p:sp>
        <p:nvSpPr>
          <p:cNvPr id="15363" name="Content Placeholder 11">
            <a:extLst>
              <a:ext uri="{FF2B5EF4-FFF2-40B4-BE49-F238E27FC236}">
                <a16:creationId xmlns:a16="http://schemas.microsoft.com/office/drawing/2014/main" id="{4A9EF867-0594-3368-542B-312FE9AE6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45415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Different runs of the program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40EAED85-7E86-4F04-6C8F-F62BF0B87BE2}"/>
              </a:ext>
            </a:extLst>
          </p:cNvPr>
          <p:cNvGrpSpPr>
            <a:grpSpLocks/>
          </p:cNvGrpSpPr>
          <p:nvPr/>
        </p:nvGrpSpPr>
        <p:grpSpPr bwMode="auto">
          <a:xfrm>
            <a:off x="938213" y="2641600"/>
            <a:ext cx="6261100" cy="1685925"/>
            <a:chOff x="938403" y="2640902"/>
            <a:chExt cx="6261037" cy="1685925"/>
          </a:xfrm>
        </p:grpSpPr>
        <p:pic>
          <p:nvPicPr>
            <p:cNvPr id="15371" name="Picture 2">
              <a:extLst>
                <a:ext uri="{FF2B5EF4-FFF2-40B4-BE49-F238E27FC236}">
                  <a16:creationId xmlns:a16="http://schemas.microsoft.com/office/drawing/2014/main" id="{29FC87B8-5D6C-40D6-DFBB-830396BD18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8403" y="2640902"/>
              <a:ext cx="5657793" cy="16859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1D3C5DDA-8A5E-A854-5714-FCB6A2C59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5455" y="2948877"/>
              <a:ext cx="1523985" cy="1006475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</a:rPr>
                <a:t>Sample 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screen output 1</a:t>
              </a: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034A0ADA-0A1C-9E60-BD57-6DE08703C594}"/>
              </a:ext>
            </a:extLst>
          </p:cNvPr>
          <p:cNvGrpSpPr>
            <a:grpSpLocks/>
          </p:cNvGrpSpPr>
          <p:nvPr/>
        </p:nvGrpSpPr>
        <p:grpSpPr bwMode="auto">
          <a:xfrm>
            <a:off x="1641475" y="2228850"/>
            <a:ext cx="6289675" cy="3276600"/>
            <a:chOff x="1642110" y="2229612"/>
            <a:chExt cx="6288850" cy="3276600"/>
          </a:xfrm>
        </p:grpSpPr>
        <p:pic>
          <p:nvPicPr>
            <p:cNvPr id="15369" name="Picture 3">
              <a:extLst>
                <a:ext uri="{FF2B5EF4-FFF2-40B4-BE49-F238E27FC236}">
                  <a16:creationId xmlns:a16="http://schemas.microsoft.com/office/drawing/2014/main" id="{5A3642FE-8A3A-B490-9641-BA6643B52C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2110" y="2229612"/>
              <a:ext cx="5676155" cy="327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69F53905-7AFA-4A8B-A3A8-2BE353AD1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7160" y="3571050"/>
              <a:ext cx="1523800" cy="1006475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</a:rPr>
                <a:t>Sample 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screen output 2</a:t>
              </a:r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73032C19-2EEE-B8A2-6D47-C918FDDBA908}"/>
              </a:ext>
            </a:extLst>
          </p:cNvPr>
          <p:cNvGrpSpPr>
            <a:grpSpLocks/>
          </p:cNvGrpSpPr>
          <p:nvPr/>
        </p:nvGrpSpPr>
        <p:grpSpPr bwMode="auto">
          <a:xfrm>
            <a:off x="2762250" y="2133600"/>
            <a:ext cx="5961063" cy="3543300"/>
            <a:chOff x="0" y="614934"/>
            <a:chExt cx="5961952" cy="3543300"/>
          </a:xfrm>
        </p:grpSpPr>
        <p:pic>
          <p:nvPicPr>
            <p:cNvPr id="15367" name="Picture 5">
              <a:extLst>
                <a:ext uri="{FF2B5EF4-FFF2-40B4-BE49-F238E27FC236}">
                  <a16:creationId xmlns:a16="http://schemas.microsoft.com/office/drawing/2014/main" id="{37BCD5BE-B050-296B-B12C-6ABB7745CA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14934"/>
              <a:ext cx="5638054" cy="354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 Box 7">
              <a:extLst>
                <a:ext uri="{FF2B5EF4-FFF2-40B4-BE49-F238E27FC236}">
                  <a16:creationId xmlns:a16="http://schemas.microsoft.com/office/drawing/2014/main" id="{0CEF18D7-0212-4E22-23CF-E3DC9F63E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7725" y="1619822"/>
              <a:ext cx="1524227" cy="1006475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</a:rPr>
                <a:t>Sample 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screen output 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1789C9B2-AE47-C2C4-3597-77C50C8E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Defining Your Own Exception Classes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985EDAD8-93C6-3DE0-A833-850808A6B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getMessage</a:t>
            </a:r>
            <a:r>
              <a:rPr lang="en-US" altLang="en-US"/>
              <a:t> defined in exception classes</a:t>
            </a:r>
          </a:p>
          <a:p>
            <a:pPr lvl="1" eaLnBrk="1" hangingPunct="1"/>
            <a:r>
              <a:rPr lang="en-US" altLang="en-US"/>
              <a:t>Returns string passed as argument to constructor</a:t>
            </a:r>
          </a:p>
          <a:p>
            <a:pPr lvl="1" eaLnBrk="1" hangingPunct="1"/>
            <a:r>
              <a:rPr lang="en-US" altLang="en-US"/>
              <a:t>If no actual parameter used, default message returned</a:t>
            </a:r>
          </a:p>
          <a:p>
            <a:pPr eaLnBrk="1" hangingPunct="1"/>
            <a:r>
              <a:rPr lang="en-US" altLang="en-US"/>
              <a:t>The type of an object is the name of the exception class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9601DEFA-A091-4D80-5460-221FD76D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Defining Your Own Exception Classes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E77E5914-CF2E-134C-C038-DB67E9FAD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Guidelines</a:t>
            </a:r>
          </a:p>
          <a:p>
            <a:pPr eaLnBrk="1" hangingPunct="1"/>
            <a:r>
              <a:rPr lang="en-US" altLang="en-US"/>
              <a:t>Use the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altLang="en-US"/>
              <a:t> as the base class</a:t>
            </a:r>
          </a:p>
          <a:p>
            <a:pPr eaLnBrk="1" hangingPunct="1"/>
            <a:r>
              <a:rPr lang="en-US" altLang="en-US"/>
              <a:t>Define at least two constructors</a:t>
            </a:r>
          </a:p>
          <a:p>
            <a:pPr lvl="1" eaLnBrk="1" hangingPunct="1"/>
            <a:r>
              <a:rPr lang="en-US" altLang="en-US"/>
              <a:t>Default, no parameter</a:t>
            </a:r>
          </a:p>
          <a:p>
            <a:pPr lvl="1" eaLnBrk="1" hangingPunct="1"/>
            <a:r>
              <a:rPr lang="en-US" altLang="en-US"/>
              <a:t>With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/>
              <a:t> parameter</a:t>
            </a:r>
          </a:p>
          <a:p>
            <a:pPr eaLnBrk="1" hangingPunct="1"/>
            <a:r>
              <a:rPr lang="en-US" altLang="en-US"/>
              <a:t>Start constructor definition with call to constructor of base class, using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super</a:t>
            </a:r>
          </a:p>
          <a:p>
            <a:pPr eaLnBrk="1" hangingPunct="1"/>
            <a:r>
              <a:rPr lang="en-US" altLang="en-US"/>
              <a:t>Do not override inherited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getMessage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0EAB4DE-1A1B-EDBC-C126-F71100DC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35242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More About Exception Classes: Outline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DBD8ED88-158D-487D-CDEE-834B4A915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Declaring Exceptions (Passing the Buck)</a:t>
            </a:r>
          </a:p>
          <a:p>
            <a:pPr eaLnBrk="1" hangingPunct="1"/>
            <a:r>
              <a:rPr lang="en-US" altLang="en-US"/>
              <a:t>Kinds of Exceptions</a:t>
            </a:r>
          </a:p>
          <a:p>
            <a:pPr eaLnBrk="1" hangingPunct="1"/>
            <a:r>
              <a:rPr lang="en-US" altLang="en-US"/>
              <a:t>Errors</a:t>
            </a:r>
          </a:p>
          <a:p>
            <a:pPr eaLnBrk="1" hangingPunct="1"/>
            <a:r>
              <a:rPr lang="en-US" altLang="en-US"/>
              <a:t>Multiple Throws and Catches</a:t>
            </a:r>
          </a:p>
          <a:p>
            <a:pPr eaLnBrk="1" hangingPunct="1"/>
            <a:r>
              <a:rPr lang="en-US" altLang="en-US"/>
              <a:t>The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altLang="en-US"/>
              <a:t> Block</a:t>
            </a:r>
          </a:p>
          <a:p>
            <a:pPr eaLnBrk="1" hangingPunct="1"/>
            <a:r>
              <a:rPr lang="en-US" altLang="en-US"/>
              <a:t>Rethrowing an Exception</a:t>
            </a:r>
          </a:p>
          <a:p>
            <a:pPr eaLnBrk="1" hangingPunct="1"/>
            <a:r>
              <a:rPr lang="en-US" altLang="en-US"/>
              <a:t>Case Study: A Line-Oriented Calculator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F575FA1-1403-4BD2-77FF-1B0F7A332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Declaring Exceptions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D2494760-60FF-B7B8-570C-1545259D9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method where code throws exception</a:t>
            </a:r>
          </a:p>
          <a:p>
            <a:pPr lvl="1" eaLnBrk="1" hangingPunct="1"/>
            <a:r>
              <a:rPr lang="en-US" altLang="en-US"/>
              <a:t>May want to handle immediately</a:t>
            </a:r>
          </a:p>
          <a:p>
            <a:pPr lvl="1" eaLnBrk="1" hangingPunct="1"/>
            <a:r>
              <a:rPr lang="en-US" altLang="en-US"/>
              <a:t>May want to delay until something else is done</a:t>
            </a:r>
          </a:p>
          <a:p>
            <a:pPr eaLnBrk="1" hangingPunct="1"/>
            <a:r>
              <a:rPr lang="en-US" altLang="en-US"/>
              <a:t>Method that does not </a:t>
            </a:r>
            <a:r>
              <a:rPr lang="en-US" altLang="en-US" u="sng"/>
              <a:t>catch</a:t>
            </a:r>
            <a:r>
              <a:rPr lang="en-US" altLang="en-US"/>
              <a:t> an exception</a:t>
            </a:r>
          </a:p>
          <a:p>
            <a:pPr lvl="1" eaLnBrk="1" hangingPunct="1"/>
            <a:r>
              <a:rPr lang="en-US" altLang="en-US"/>
              <a:t>Notify programmers with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en-US" altLang="en-US"/>
              <a:t> clause</a:t>
            </a:r>
          </a:p>
          <a:p>
            <a:pPr lvl="1" eaLnBrk="1" hangingPunct="1"/>
            <a:r>
              <a:rPr lang="en-US" altLang="en-US"/>
              <a:t>Programmer then given responsibility to handle exception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DF9270C-B882-BE95-FB93-1837827D7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Declaring Exceptions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720D0AD-27A7-87D4-73D8-BC3916574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syntax for throws clause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Note distinction</a:t>
            </a:r>
          </a:p>
          <a:p>
            <a:pPr lvl="1" eaLnBrk="1" hangingPunct="1"/>
            <a:r>
              <a:rPr lang="en-US" altLang="en-US"/>
              <a:t>Keyword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US" altLang="en-US"/>
              <a:t> used to throw exception</a:t>
            </a:r>
          </a:p>
          <a:p>
            <a:pPr lvl="1" eaLnBrk="1" hangingPunct="1"/>
            <a:r>
              <a:rPr lang="en-US" altLang="en-US"/>
              <a:t>Keyword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en-US" altLang="en-US"/>
              <a:t> used in method heading to declare an exception</a:t>
            </a: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5BBFC48C-6159-E19E-5E58-7763F4CD9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435225"/>
            <a:ext cx="7577137" cy="74453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D2F132B3-2196-C8F0-C60B-991D7DB3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Declaring Exceptions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96F24588-F073-CB31-10E7-1E2663F47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If a method throws exception and exception not caught inside the method</a:t>
            </a:r>
          </a:p>
          <a:p>
            <a:pPr lvl="1" eaLnBrk="1" hangingPunct="1"/>
            <a:r>
              <a:rPr lang="en-US" altLang="en-US"/>
              <a:t>Method ends immediately after exception thrown</a:t>
            </a:r>
          </a:p>
          <a:p>
            <a:pPr eaLnBrk="1" hangingPunct="1"/>
            <a:r>
              <a:rPr lang="en-US" altLang="en-US"/>
              <a:t>A throws clause in overriding method</a:t>
            </a:r>
          </a:p>
          <a:p>
            <a:pPr lvl="1" eaLnBrk="1" hangingPunct="1"/>
            <a:r>
              <a:rPr lang="en-US" altLang="en-US"/>
              <a:t>Can declare fewer exceptions than declared</a:t>
            </a:r>
          </a:p>
          <a:p>
            <a:pPr lvl="1" eaLnBrk="1" hangingPunct="1"/>
            <a:r>
              <a:rPr lang="en-US" altLang="en-US"/>
              <a:t>But not more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program example</a:t>
            </a:r>
            <a:r>
              <a:rPr lang="en-US" altLang="en-US"/>
              <a:t>, listing 9.7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DoDivision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17AF147B-31E8-6012-DF61-EBD2F113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Kinds  of Exceptions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427D73F1-A4A2-B074-F7A6-3E862227A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most cases, exception is caught …</a:t>
            </a:r>
          </a:p>
          <a:p>
            <a:pPr lvl="1" eaLnBrk="1" hangingPunct="1"/>
            <a:r>
              <a:rPr lang="en-US" altLang="en-US"/>
              <a:t>In a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block … or</a:t>
            </a:r>
          </a:p>
          <a:p>
            <a:pPr lvl="1" eaLnBrk="1" hangingPunct="1"/>
            <a:r>
              <a:rPr lang="en-US" altLang="en-US"/>
              <a:t>Be declared in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en-US" altLang="en-US"/>
              <a:t> clause</a:t>
            </a:r>
          </a:p>
          <a:p>
            <a:pPr eaLnBrk="1" hangingPunct="1"/>
            <a:r>
              <a:rPr lang="en-US" altLang="en-US"/>
              <a:t>But Java has exceptions you do not need to account for</a:t>
            </a:r>
          </a:p>
          <a:p>
            <a:pPr eaLnBrk="1" hangingPunct="1"/>
            <a:r>
              <a:rPr lang="en-US" altLang="en-US"/>
              <a:t>Categories of exceptions</a:t>
            </a:r>
          </a:p>
          <a:p>
            <a:pPr lvl="1" eaLnBrk="1" hangingPunct="1"/>
            <a:r>
              <a:rPr lang="en-US" altLang="en-US"/>
              <a:t>Checked exceptions</a:t>
            </a:r>
          </a:p>
          <a:p>
            <a:pPr lvl="1" eaLnBrk="1" hangingPunct="1"/>
            <a:r>
              <a:rPr lang="en-US" altLang="en-US"/>
              <a:t>Unchecked exceptions 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06B6A3FF-12A6-FCEB-D72A-CF612303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Kinds  of Exceptions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EBCEFEC2-BC8A-108C-762F-BBAADFC6D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i="1"/>
              <a:t>Checked</a:t>
            </a:r>
            <a:r>
              <a:rPr lang="en-US" altLang="en-US"/>
              <a:t> exception</a:t>
            </a:r>
          </a:p>
          <a:p>
            <a:pPr lvl="1" eaLnBrk="1" hangingPunct="1"/>
            <a:r>
              <a:rPr lang="en-US" altLang="en-US"/>
              <a:t>Must be caught in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block</a:t>
            </a:r>
          </a:p>
          <a:p>
            <a:pPr lvl="1" eaLnBrk="1" hangingPunct="1"/>
            <a:r>
              <a:rPr lang="en-US" altLang="en-US"/>
              <a:t>Or declared in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en-US" altLang="en-US"/>
              <a:t> clause</a:t>
            </a:r>
          </a:p>
          <a:p>
            <a:pPr eaLnBrk="1" hangingPunct="1"/>
            <a:r>
              <a:rPr lang="en-US" altLang="en-US" i="1"/>
              <a:t>Unchecked</a:t>
            </a:r>
            <a:r>
              <a:rPr lang="en-US" altLang="en-US"/>
              <a:t> exception</a:t>
            </a:r>
          </a:p>
          <a:p>
            <a:pPr lvl="1" eaLnBrk="1" hangingPunct="1"/>
            <a:r>
              <a:rPr lang="en-US" altLang="en-US"/>
              <a:t>Also called </a:t>
            </a:r>
            <a:r>
              <a:rPr lang="en-US" altLang="en-US" i="1"/>
              <a:t>run-time</a:t>
            </a:r>
          </a:p>
          <a:p>
            <a:pPr lvl="1" eaLnBrk="1" hangingPunct="1"/>
            <a:r>
              <a:rPr lang="en-US" altLang="en-US"/>
              <a:t>Need not be caught in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block or declared in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Exceptions that coding problems exist, should be fixed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C59496DF-1A6C-968E-9D82-6B3E76D0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Kinds  of Exceptions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F094ECAE-0D50-5F81-DFD0-A1F133A14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Examples why unchecked exceptions to are thrown</a:t>
            </a:r>
          </a:p>
          <a:p>
            <a:pPr lvl="1" eaLnBrk="1" hangingPunct="1"/>
            <a:r>
              <a:rPr lang="en-US" altLang="en-US"/>
              <a:t>Attempt to use array index out of bounds</a:t>
            </a:r>
          </a:p>
          <a:p>
            <a:pPr lvl="1" eaLnBrk="1" hangingPunct="1"/>
            <a:r>
              <a:rPr lang="en-US" altLang="en-US"/>
              <a:t>Division by zero</a:t>
            </a:r>
          </a:p>
          <a:p>
            <a:pPr eaLnBrk="1" hangingPunct="1"/>
            <a:r>
              <a:rPr lang="en-US" altLang="en-US"/>
              <a:t>Uncaught runtime exception terminates program execution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DC4A7A3C-F220-A5E5-8F2F-ADD2144B4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Kinds  of Exceptions</a:t>
            </a:r>
          </a:p>
        </p:txBody>
      </p:sp>
      <p:sp>
        <p:nvSpPr>
          <p:cNvPr id="25603" name="Content Placeholder 3">
            <a:extLst>
              <a:ext uri="{FF2B5EF4-FFF2-40B4-BE49-F238E27FC236}">
                <a16:creationId xmlns:a16="http://schemas.microsoft.com/office/drawing/2014/main" id="{A57EBBCB-E7F9-B2AD-DA4A-8F0CE1F06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9.1  Hierarchy of the predefined exception classes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16905D-1467-4A10-1263-FD4DB8004530}"/>
              </a:ext>
            </a:extLst>
          </p:cNvPr>
          <p:cNvSpPr/>
          <p:nvPr/>
        </p:nvSpPr>
        <p:spPr>
          <a:xfrm>
            <a:off x="4727575" y="3073400"/>
            <a:ext cx="876300" cy="6429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25607" name="Picture 7">
            <a:extLst>
              <a:ext uri="{FF2B5EF4-FFF2-40B4-BE49-F238E27FC236}">
                <a16:creationId xmlns:a16="http://schemas.microsoft.com/office/drawing/2014/main" id="{CDB17D08-70D0-9E57-3716-7DF380D52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9713" y="2771775"/>
            <a:ext cx="6562725" cy="3524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dist="114300" dir="3000000" algn="ctr" rotWithShape="0">
              <a:schemeClr val="bg1">
                <a:lumMod val="50000"/>
              </a:scheme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45C5C8F8-CF5C-2E30-9F0A-A4CACA798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Errors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4DE83A1E-02D0-2015-F537-9592CCF72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</a:t>
            </a:r>
            <a:r>
              <a:rPr lang="en-US" altLang="en-US" i="1"/>
              <a:t>error</a:t>
            </a:r>
            <a:r>
              <a:rPr lang="en-US" altLang="en-US"/>
              <a:t> is an object of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lvl="1" eaLnBrk="1" hangingPunct="1"/>
            <a:r>
              <a:rPr lang="en-US" altLang="en-US"/>
              <a:t>Similar to an unchecked exception</a:t>
            </a:r>
          </a:p>
          <a:p>
            <a:pPr lvl="1" eaLnBrk="1" hangingPunct="1"/>
            <a:r>
              <a:rPr lang="en-US" altLang="en-US"/>
              <a:t>Need not catch or declare in throws clause</a:t>
            </a:r>
          </a:p>
          <a:p>
            <a:pPr lvl="1" eaLnBrk="1" hangingPunct="1"/>
            <a:r>
              <a:rPr lang="en-US" altLang="en-US"/>
              <a:t>Object of class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US" altLang="en-US"/>
              <a:t> generated when abnormal conditions occur</a:t>
            </a:r>
          </a:p>
          <a:p>
            <a:pPr eaLnBrk="1" hangingPunct="1"/>
            <a:r>
              <a:rPr lang="en-US" altLang="en-US"/>
              <a:t>Errors are more or less beyond your control</a:t>
            </a:r>
          </a:p>
          <a:p>
            <a:pPr lvl="1" eaLnBrk="1" hangingPunct="1"/>
            <a:r>
              <a:rPr lang="en-US" altLang="en-US"/>
              <a:t>Require change of program to resolve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E68DDA34-238E-0D70-0BD0-D75202E08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Multiple Throws and Catches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CEF60609-FBF4-9BDC-67A2-F32793F95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462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A try block can throw any number of exceptions of different types</a:t>
            </a:r>
          </a:p>
          <a:p>
            <a:pPr eaLnBrk="1" hangingPunct="1"/>
            <a:r>
              <a:rPr lang="en-US" altLang="en-US"/>
              <a:t>Each catch block can catch exceptions of only one type</a:t>
            </a:r>
          </a:p>
          <a:p>
            <a:pPr lvl="1" eaLnBrk="1" hangingPunct="1"/>
            <a:r>
              <a:rPr lang="en-US" altLang="en-US"/>
              <a:t>Order of catch blocks matter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example program</a:t>
            </a:r>
            <a:r>
              <a:rPr lang="en-US" altLang="en-US"/>
              <a:t>, listing 9.8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TwoCatchesDemo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exception class </a:t>
            </a:r>
            <a:r>
              <a:rPr lang="en-US" altLang="en-US"/>
              <a:t>used, listing 9.9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NegativeNumberException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BD480B55-E1E7-9CE4-BFB3-5AB2E7BED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Multiple Throws and Catches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88CBA01F-EC8F-B577-BEC6-AC4C5C126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multiple sample runs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242BBA3A-97E5-4C2B-477E-4D1AF4259E0C}"/>
              </a:ext>
            </a:extLst>
          </p:cNvPr>
          <p:cNvGrpSpPr>
            <a:grpSpLocks/>
          </p:cNvGrpSpPr>
          <p:nvPr/>
        </p:nvGrpSpPr>
        <p:grpSpPr bwMode="auto">
          <a:xfrm>
            <a:off x="993775" y="2516188"/>
            <a:ext cx="7067550" cy="1981200"/>
            <a:chOff x="1323975" y="2438400"/>
            <a:chExt cx="7068597" cy="1981200"/>
          </a:xfrm>
        </p:grpSpPr>
        <p:pic>
          <p:nvPicPr>
            <p:cNvPr id="28683" name="Picture 2">
              <a:extLst>
                <a:ext uri="{FF2B5EF4-FFF2-40B4-BE49-F238E27FC236}">
                  <a16:creationId xmlns:a16="http://schemas.microsoft.com/office/drawing/2014/main" id="{2648E2AB-C309-5C99-E86F-1F9C0AAEB8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3975" y="2438400"/>
              <a:ext cx="6495425" cy="198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D8570469-315B-B2E1-E49A-911DCBF40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8346" y="2808287"/>
              <a:ext cx="1524226" cy="1006475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</a:rPr>
                <a:t>Sample 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screen output 1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BF896870-362E-4C14-0120-D0125B276957}"/>
              </a:ext>
            </a:extLst>
          </p:cNvPr>
          <p:cNvGrpSpPr>
            <a:grpSpLocks/>
          </p:cNvGrpSpPr>
          <p:nvPr/>
        </p:nvGrpSpPr>
        <p:grpSpPr bwMode="auto">
          <a:xfrm>
            <a:off x="1246188" y="3171825"/>
            <a:ext cx="7026275" cy="1485900"/>
            <a:chOff x="1343025" y="4009012"/>
            <a:chExt cx="7026849" cy="1485900"/>
          </a:xfrm>
        </p:grpSpPr>
        <p:pic>
          <p:nvPicPr>
            <p:cNvPr id="28681" name="Picture 3">
              <a:extLst>
                <a:ext uri="{FF2B5EF4-FFF2-40B4-BE49-F238E27FC236}">
                  <a16:creationId xmlns:a16="http://schemas.microsoft.com/office/drawing/2014/main" id="{1E7DC50C-9AC4-1771-956A-D8238537D3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3025" y="4009012"/>
              <a:ext cx="6458478" cy="1485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C39D1956-F377-C8BC-A390-18B2272F9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5749" y="4185225"/>
              <a:ext cx="1524125" cy="1006475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</a:rPr>
                <a:t>Sample 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screen output 2</a:t>
              </a:r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B569C8FC-D275-D872-41D7-001B4155BAA9}"/>
              </a:ext>
            </a:extLst>
          </p:cNvPr>
          <p:cNvGrpSpPr>
            <a:grpSpLocks/>
          </p:cNvGrpSpPr>
          <p:nvPr/>
        </p:nvGrpSpPr>
        <p:grpSpPr bwMode="auto">
          <a:xfrm>
            <a:off x="1420813" y="3751263"/>
            <a:ext cx="6673850" cy="1924050"/>
            <a:chOff x="1420847" y="3751026"/>
            <a:chExt cx="6673410" cy="1924050"/>
          </a:xfrm>
        </p:grpSpPr>
        <p:pic>
          <p:nvPicPr>
            <p:cNvPr id="28679" name="Picture 4">
              <a:extLst>
                <a:ext uri="{FF2B5EF4-FFF2-40B4-BE49-F238E27FC236}">
                  <a16:creationId xmlns:a16="http://schemas.microsoft.com/office/drawing/2014/main" id="{F0F36E67-295E-E4D6-3811-6F0163BE55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0847" y="3751026"/>
              <a:ext cx="6457524" cy="192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DB3A3CB0-FC76-A2F7-11A7-D46897570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0357" y="4201876"/>
              <a:ext cx="1523900" cy="1006475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</a:rPr>
                <a:t>Sample 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screen output 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006F05E-B9BA-4B75-05C4-8D0D28DE9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Multiple Throws and Catches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2602EEB0-0FEB-3EBC-0A2E-9E51C2F98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Exceptions can deal with invalid user input</a:t>
            </a:r>
          </a:p>
          <a:p>
            <a:pPr eaLnBrk="1" hangingPunct="1"/>
            <a:r>
              <a:rPr lang="en-US" altLang="en-US" sz="2800"/>
              <a:t>To handle an exception thrown by a method</a:t>
            </a:r>
          </a:p>
          <a:p>
            <a:pPr lvl="1" eaLnBrk="1" hangingPunct="1"/>
            <a:r>
              <a:rPr lang="en-US" altLang="en-US" sz="2400"/>
              <a:t>It does not matter </a:t>
            </a:r>
            <a:r>
              <a:rPr lang="en-US" altLang="en-US" sz="2400" u="sng"/>
              <a:t>where</a:t>
            </a:r>
            <a:r>
              <a:rPr lang="en-US" altLang="en-US" sz="2400"/>
              <a:t> in the method the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US" altLang="en-US" sz="2400"/>
              <a:t> occurs</a:t>
            </a:r>
          </a:p>
          <a:p>
            <a:pPr eaLnBrk="1" hangingPunct="1"/>
            <a:r>
              <a:rPr lang="en-US" altLang="en-US" sz="2800"/>
              <a:t>Use of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US" altLang="en-US" sz="2800"/>
              <a:t> statement be should be reserved for cases where it is unavoidable</a:t>
            </a:r>
          </a:p>
          <a:p>
            <a:pPr eaLnBrk="1" hangingPunct="1"/>
            <a:r>
              <a:rPr lang="en-US" altLang="en-US" sz="2800"/>
              <a:t>Text suggests separate methods for throwing and catching of exceptions</a:t>
            </a:r>
          </a:p>
          <a:p>
            <a:pPr eaLnBrk="1" hangingPunct="1"/>
            <a:r>
              <a:rPr lang="en-US" altLang="en-US" sz="2800"/>
              <a:t>Nested try-catch blocks rarely useful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9537-1710-44C3-2CEE-C388C16B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finally</a:t>
            </a:r>
            <a:r>
              <a:rPr lang="en-US" dirty="0"/>
              <a:t> Block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A05F6A26-568A-61AF-9834-A69863FD7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Possible to add a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altLang="en-US"/>
              <a:t> block after sequence of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blocks</a:t>
            </a:r>
          </a:p>
          <a:p>
            <a:pPr eaLnBrk="1" hangingPunct="1"/>
            <a:r>
              <a:rPr lang="en-US" altLang="en-US"/>
              <a:t>Code in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altLang="en-US"/>
              <a:t> block executed </a:t>
            </a:r>
          </a:p>
          <a:p>
            <a:pPr lvl="1" eaLnBrk="1" hangingPunct="1"/>
            <a:r>
              <a:rPr lang="en-US" altLang="en-US"/>
              <a:t>Whether or not  execution thrown</a:t>
            </a:r>
          </a:p>
          <a:p>
            <a:pPr lvl="1" eaLnBrk="1" hangingPunct="1"/>
            <a:r>
              <a:rPr lang="en-US" altLang="en-US"/>
              <a:t>Whether or not required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exists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8B7FB4CF-E005-A804-D5F4-E994A8389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Rethrowing an Exception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B103E053-D969-27EB-3DA4-4F40106DB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Legal to throw an exception within a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block</a:t>
            </a:r>
          </a:p>
          <a:p>
            <a:pPr eaLnBrk="1" hangingPunct="1"/>
            <a:r>
              <a:rPr lang="en-US" altLang="en-US"/>
              <a:t>Possible to use contents of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/>
              <a:t> parameter to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US" altLang="en-US"/>
              <a:t> same or different type exception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5B42A86C-A528-DD8B-562B-2A145407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63" y="35242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Case Study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8B1D1D8C-6186-E81C-37A3-9F6DDB7D7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Line-Oriented Calculator</a:t>
            </a:r>
          </a:p>
          <a:p>
            <a:pPr lvl="1" eaLnBrk="1" hangingPunct="1"/>
            <a:r>
              <a:rPr lang="en-US" altLang="en-US"/>
              <a:t>Should do addition, subtraction, division, multiplication</a:t>
            </a:r>
          </a:p>
          <a:p>
            <a:pPr lvl="1" eaLnBrk="1" hangingPunct="1"/>
            <a:r>
              <a:rPr lang="en-US" altLang="en-US"/>
              <a:t>Will use line input/output</a:t>
            </a:r>
          </a:p>
          <a:p>
            <a:pPr eaLnBrk="1" hangingPunct="1"/>
            <a:r>
              <a:rPr lang="en-US" altLang="en-US"/>
              <a:t>User will enter</a:t>
            </a:r>
          </a:p>
          <a:p>
            <a:pPr lvl="1" eaLnBrk="1" hangingPunct="1"/>
            <a:r>
              <a:rPr lang="en-US" altLang="en-US"/>
              <a:t>Operation, space, number</a:t>
            </a:r>
          </a:p>
          <a:p>
            <a:pPr lvl="1" eaLnBrk="1" hangingPunct="1"/>
            <a:r>
              <a:rPr lang="en-US" altLang="en-US"/>
              <a:t>Calculator displays result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54443B0A-6760-A2DD-9115-2CA4F5E7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FED71677-7E63-DE15-69A2-92015A6DC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675" y="132715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Proposed initial methods</a:t>
            </a:r>
          </a:p>
          <a:p>
            <a:pPr lvl="1" eaLnBrk="1" hangingPunct="1"/>
            <a:r>
              <a:rPr lang="en-US" altLang="en-US"/>
              <a:t>Method to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reset</a:t>
            </a:r>
            <a:r>
              <a:rPr lang="en-US" altLang="en-US"/>
              <a:t> value of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en-US" altLang="en-US"/>
              <a:t> to zero</a:t>
            </a:r>
          </a:p>
          <a:p>
            <a:pPr lvl="1" eaLnBrk="1" hangingPunct="1"/>
            <a:r>
              <a:rPr lang="en-US" altLang="en-US"/>
              <a:t>Method to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evaluate</a:t>
            </a:r>
            <a:r>
              <a:rPr lang="en-US" altLang="en-US"/>
              <a:t> result of one operation</a:t>
            </a:r>
          </a:p>
          <a:p>
            <a:pPr lvl="1" eaLnBrk="1" hangingPunct="1"/>
            <a:r>
              <a:rPr lang="en-US" altLang="en-US"/>
              <a:t>Method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doCalculation</a:t>
            </a:r>
            <a:r>
              <a:rPr lang="en-US" altLang="en-US"/>
              <a:t> to perform series of operations</a:t>
            </a:r>
          </a:p>
          <a:p>
            <a:pPr lvl="1" eaLnBrk="1" hangingPunct="1"/>
            <a:r>
              <a:rPr lang="en-US" altLang="en-US"/>
              <a:t>Accessor method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getResult</a:t>
            </a:r>
            <a:r>
              <a:rPr lang="en-US" altLang="en-US"/>
              <a:t>: returns value of instance variable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</a:p>
          <a:p>
            <a:pPr lvl="1" eaLnBrk="1" hangingPunct="1"/>
            <a:r>
              <a:rPr lang="en-US" altLang="en-US"/>
              <a:t>Mutator method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setResults</a:t>
            </a:r>
            <a:r>
              <a:rPr lang="en-US" altLang="en-US"/>
              <a:t>: sets value of instance variable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844F2D91-FFAE-DD5A-20F1-3711AAA62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78AB08C4-AC5D-82A1-934A-2031E1E91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2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exception class</a:t>
            </a:r>
            <a:r>
              <a:rPr lang="en-US" altLang="en-US"/>
              <a:t>, listing 9.10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UnknownOpException</a:t>
            </a:r>
          </a:p>
          <a:p>
            <a:pPr eaLnBrk="1" hangingPunct="1"/>
            <a:r>
              <a:rPr lang="en-US" altLang="en-US"/>
              <a:t>View first </a:t>
            </a:r>
            <a:r>
              <a:rPr lang="en-US" altLang="en-US">
                <a:hlinkClick r:id="rId3" action="ppaction://hlinkfile"/>
              </a:rPr>
              <a:t>version of calculator</a:t>
            </a:r>
            <a:r>
              <a:rPr lang="en-US" altLang="en-US"/>
              <a:t>, listing 9.11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PreLimCalculator</a:t>
            </a:r>
          </a:p>
          <a:p>
            <a:pPr eaLnBrk="1" hangingPunct="1"/>
            <a:endParaRPr lang="en-US" altLang="en-US"/>
          </a:p>
        </p:txBody>
      </p:sp>
      <p:pic>
        <p:nvPicPr>
          <p:cNvPr id="34820" name="Picture 2">
            <a:extLst>
              <a:ext uri="{FF2B5EF4-FFF2-40B4-BE49-F238E27FC236}">
                <a16:creationId xmlns:a16="http://schemas.microsoft.com/office/drawing/2014/main" id="{B70736A8-60D8-56B3-55A3-906A5CF49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3713163"/>
            <a:ext cx="5121275" cy="25034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A698663E-469D-F724-5386-A8F3E3BEE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663" y="4202113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E2988072-FEE8-9EF3-7963-A28338FCF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17E9B13F-11B1-7C24-9E2C-3FC5A3B3F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Final version adds exception handling</a:t>
            </a:r>
          </a:p>
          <a:p>
            <a:pPr eaLnBrk="1" hangingPunct="1"/>
            <a:r>
              <a:rPr lang="en-US" altLang="en-US"/>
              <a:t>Ways to handle unknown operator</a:t>
            </a:r>
          </a:p>
          <a:p>
            <a:pPr lvl="1" eaLnBrk="1" hangingPunct="1"/>
            <a:r>
              <a:rPr lang="en-US" altLang="en-US"/>
              <a:t>Catch exception in 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evaluate</a:t>
            </a:r>
            <a:endParaRPr lang="en-US" altLang="en-US" sz="32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Let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evaluate</a:t>
            </a:r>
            <a:r>
              <a:rPr lang="en-US" altLang="en-US"/>
              <a:t> throw exception, catch exception in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doCalculation</a:t>
            </a:r>
          </a:p>
          <a:p>
            <a:pPr lvl="1" eaLnBrk="1" hangingPunct="1"/>
            <a:r>
              <a:rPr lang="en-US" altLang="en-US"/>
              <a:t>Let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evaluate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doCalculation</a:t>
            </a:r>
            <a:r>
              <a:rPr lang="en-US" altLang="en-US"/>
              <a:t> both throw exception, catch in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  <a:p>
            <a:pPr eaLnBrk="1" hangingPunct="1"/>
            <a:r>
              <a:rPr lang="en-US" altLang="en-US"/>
              <a:t>Latter option chosen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3EC8D556-47A5-17DD-6D1C-9B79B687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4ED793F9-4890-D92B-3C6C-EA895D551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final version</a:t>
            </a:r>
            <a:r>
              <a:rPr lang="en-US" altLang="en-US"/>
              <a:t>, listing 9.12</a:t>
            </a:r>
            <a:br>
              <a:rPr lang="en-US" altLang="en-US"/>
            </a:b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Calculator</a:t>
            </a:r>
          </a:p>
        </p:txBody>
      </p:sp>
      <p:pic>
        <p:nvPicPr>
          <p:cNvPr id="50178" name="Picture 2">
            <a:extLst>
              <a:ext uri="{FF2B5EF4-FFF2-40B4-BE49-F238E27FC236}">
                <a16:creationId xmlns:a16="http://schemas.microsoft.com/office/drawing/2014/main" id="{F77FA5E0-C0E9-E4EF-6F93-0DB291E39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138" y="2670175"/>
            <a:ext cx="6438900" cy="32670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9" name="Picture 3">
            <a:extLst>
              <a:ext uri="{FF2B5EF4-FFF2-40B4-BE49-F238E27FC236}">
                <a16:creationId xmlns:a16="http://schemas.microsoft.com/office/drawing/2014/main" id="{3F609C9D-1401-9F46-11F6-0B17016DD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3146425"/>
            <a:ext cx="6438900" cy="274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4">
            <a:extLst>
              <a:ext uri="{FF2B5EF4-FFF2-40B4-BE49-F238E27FC236}">
                <a16:creationId xmlns:a16="http://schemas.microsoft.com/office/drawing/2014/main" id="{BDA4FF87-D9E8-95FF-B263-2BB4A0913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3502025"/>
            <a:ext cx="6429375" cy="27336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4157458A-83EC-F9DB-D933-A9630B78A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663" y="4202113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45C653AF-8064-E3C3-7C99-32080E9A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Graphics Supplement: Outline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47E2AE60-C332-6516-C1F7-3BEB5CDE1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1984375"/>
            <a:ext cx="7480300" cy="4141788"/>
          </a:xfrm>
        </p:spPr>
        <p:txBody>
          <a:bodyPr/>
          <a:lstStyle/>
          <a:p>
            <a:pPr eaLnBrk="1" hangingPunct="1"/>
            <a:r>
              <a:rPr lang="en-US" altLang="en-US"/>
              <a:t>Additional User Interface Controls and Shapes</a:t>
            </a:r>
          </a:p>
          <a:p>
            <a:pPr eaLnBrk="1" hangingPunct="1"/>
            <a:r>
              <a:rPr lang="en-US" altLang="en-US"/>
              <a:t>Handling Mouse Events</a:t>
            </a:r>
          </a:p>
          <a:p>
            <a:pPr eaLnBrk="1" hangingPunct="1"/>
            <a:r>
              <a:rPr lang="en-US" altLang="en-US"/>
              <a:t>Introduction to the Timeline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6E8128CA-CBA5-A235-B06E-48FB5C06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Additional User Controls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E0F6F19C-16D0-215F-4D4F-C29BC99B0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2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CheckBox, RadioButton (in ToggleGroup), Spinner, and ChoiceBox demo</a:t>
            </a:r>
          </a:p>
          <a:p>
            <a:pPr eaLnBrk="1" hangingPunct="1"/>
            <a:r>
              <a:rPr lang="en-US" altLang="en-US"/>
              <a:t>Example selecting pizza options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controls demo</a:t>
            </a:r>
            <a:r>
              <a:rPr lang="en-US" altLang="en-US"/>
              <a:t>, listing 9.13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AdditionalControlsDemo</a:t>
            </a:r>
          </a:p>
          <a:p>
            <a:pPr eaLnBrk="1" hangingPunct="1"/>
            <a:endParaRPr lang="en-US" altLang="en-US"/>
          </a:p>
        </p:txBody>
      </p:sp>
      <p:pic>
        <p:nvPicPr>
          <p:cNvPr id="38916" name="Picture 5">
            <a:extLst>
              <a:ext uri="{FF2B5EF4-FFF2-40B4-BE49-F238E27FC236}">
                <a16:creationId xmlns:a16="http://schemas.microsoft.com/office/drawing/2014/main" id="{BDE477D5-1A56-742D-EF3A-04F4B810E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3041650"/>
            <a:ext cx="3346450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6">
            <a:extLst>
              <a:ext uri="{FF2B5EF4-FFF2-40B4-BE49-F238E27FC236}">
                <a16:creationId xmlns:a16="http://schemas.microsoft.com/office/drawing/2014/main" id="{7686F8A2-808A-1751-B4FF-28372C338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863" y="3714750"/>
            <a:ext cx="2230437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0DC6DBD8-5A93-6A6D-1C60-1235C6CE7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Images and Shapes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5AEB887A-B732-D2DD-620C-49FB9759B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51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We can load and display images with the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</a:t>
            </a:r>
            <a:r>
              <a:rPr lang="en-US" altLang="en-US"/>
              <a:t> object placed into an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ImageView</a:t>
            </a:r>
            <a:r>
              <a:rPr lang="en-US" altLang="en-US"/>
              <a:t> and added to the pane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Shape objects can be manipulated unlike drawing shapes using stroke/fill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image demo</a:t>
            </a:r>
            <a:r>
              <a:rPr lang="en-US" altLang="en-US"/>
              <a:t>, listing 9.14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ImageShapeDemo</a:t>
            </a:r>
          </a:p>
          <a:p>
            <a:pPr eaLnBrk="1" hangingPunct="1"/>
            <a:endParaRPr lang="en-US" altLang="en-US"/>
          </a:p>
        </p:txBody>
      </p:sp>
      <p:pic>
        <p:nvPicPr>
          <p:cNvPr id="39940" name="Picture 7">
            <a:extLst>
              <a:ext uri="{FF2B5EF4-FFF2-40B4-BE49-F238E27FC236}">
                <a16:creationId xmlns:a16="http://schemas.microsoft.com/office/drawing/2014/main" id="{19742047-9540-50A7-3844-C4AA59603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0" y="3644900"/>
            <a:ext cx="3346450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76BB8B20-23B6-BF78-6560-3D1623FC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Mouse Click and Mouse Move Events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15C2CBEA-E93C-307C-D8E8-D7063D782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51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Mouse events are handled in essentially the same manner that we used to handle button clicks except we implement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EventHandler&lt;MouseEvent&gt;</a:t>
            </a:r>
            <a:r>
              <a:rPr lang="en-US" altLang="en-US"/>
              <a:t> and override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setOnMousePressed</a:t>
            </a:r>
            <a:r>
              <a:rPr lang="en-US" altLang="en-US"/>
              <a:t> for mouse clicks and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setOnMousePressed</a:t>
            </a:r>
            <a:r>
              <a:rPr lang="en-US" altLang="en-US"/>
              <a:t> for mouse motion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mouse demo1</a:t>
            </a:r>
            <a:r>
              <a:rPr lang="en-US" altLang="en-US"/>
              <a:t>, listing 9.15,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MousePaint</a:t>
            </a:r>
          </a:p>
          <a:p>
            <a:pPr eaLnBrk="1" hangingPunct="1"/>
            <a:endParaRPr lang="en-US" altLang="en-US"/>
          </a:p>
        </p:txBody>
      </p:sp>
      <p:pic>
        <p:nvPicPr>
          <p:cNvPr id="40964" name="Picture 1">
            <a:extLst>
              <a:ext uri="{FF2B5EF4-FFF2-40B4-BE49-F238E27FC236}">
                <a16:creationId xmlns:a16="http://schemas.microsoft.com/office/drawing/2014/main" id="{CB73728A-97CF-E989-8268-1F1D86D78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950" y="3571875"/>
            <a:ext cx="2755900" cy="266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A413A946-5ED9-EB5E-AB80-F05F5CD2D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Moving a Circle Object to the Mouse Location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BA9ED616-257E-F9A8-D696-16AE93D78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51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Instead of painting circles this program moves a Circle object to the coordinates of the mouse every time the mouse is moved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mouse demo2</a:t>
            </a:r>
            <a:r>
              <a:rPr lang="en-US" altLang="en-US"/>
              <a:t>, listing 9.16,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MouseCircle</a:t>
            </a:r>
            <a:endParaRPr lang="en-US" altLang="en-US"/>
          </a:p>
        </p:txBody>
      </p:sp>
      <p:pic>
        <p:nvPicPr>
          <p:cNvPr id="41988" name="Picture 4">
            <a:extLst>
              <a:ext uri="{FF2B5EF4-FFF2-40B4-BE49-F238E27FC236}">
                <a16:creationId xmlns:a16="http://schemas.microsoft.com/office/drawing/2014/main" id="{A844D32D-5D14-704B-9026-C96CE4498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25" y="3030538"/>
            <a:ext cx="5797550" cy="23415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19C40BEE-E2F0-4A31-53A4-7E5F77771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Timeline 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D86B3B3C-C764-C260-536A-F6CA8F8E4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51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The Timeline class is used to create animations</a:t>
            </a:r>
          </a:p>
          <a:p>
            <a:pPr lvl="1" eaLnBrk="1" hangingPunct="1"/>
            <a:r>
              <a:rPr lang="en-US" altLang="en-US"/>
              <a:t>In this example we simply move a ball around the screen</a:t>
            </a:r>
          </a:p>
          <a:p>
            <a:pPr lvl="1" eaLnBrk="1" hangingPunct="1"/>
            <a:r>
              <a:rPr lang="en-US" altLang="en-US"/>
              <a:t>The ball has velocity in the x and y directions</a:t>
            </a:r>
          </a:p>
          <a:p>
            <a:pPr lvl="1" eaLnBrk="1" hangingPunct="1"/>
            <a:r>
              <a:rPr lang="en-US" altLang="en-US"/>
              <a:t>The timeline object has a keyframe that contains an ActionEvent handler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ball</a:t>
            </a:r>
            <a:r>
              <a:rPr lang="en-US" altLang="en-US"/>
              <a:t>, listing 9.17,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Ball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bouncing ball</a:t>
            </a:r>
            <a:r>
              <a:rPr lang="en-US" altLang="en-US"/>
              <a:t>, listing 9.18,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BounceBall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12A1A1D1-5D9F-5996-34FF-3280891C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37337373-5A00-7D2F-76AE-FFA6EE05D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463" y="154146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An exception is an object derived from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</a:p>
          <a:p>
            <a:pPr lvl="1" eaLnBrk="1" hangingPunct="1"/>
            <a:r>
              <a:rPr lang="en-US" altLang="en-US"/>
              <a:t>Descendants of class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US" altLang="en-US"/>
              <a:t> behave like exceptions</a:t>
            </a:r>
          </a:p>
          <a:p>
            <a:pPr eaLnBrk="1" hangingPunct="1"/>
            <a:r>
              <a:rPr lang="en-US" altLang="en-US"/>
              <a:t>Exception handling allows design of normal cases separate from exceptional situations</a:t>
            </a:r>
          </a:p>
          <a:p>
            <a:pPr eaLnBrk="1" hangingPunct="1"/>
            <a:r>
              <a:rPr lang="en-US" altLang="en-US"/>
              <a:t>Two kinds of exceptions</a:t>
            </a:r>
          </a:p>
          <a:p>
            <a:pPr lvl="1" eaLnBrk="1" hangingPunct="1"/>
            <a:r>
              <a:rPr lang="en-US" altLang="en-US"/>
              <a:t>Checked and unchecked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EA8FD92C-236C-702A-D162-C6D32F019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895C0FFB-5CC1-C4CF-E5CB-8E6DED666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Exceptions can be thrown by</a:t>
            </a:r>
          </a:p>
          <a:p>
            <a:pPr lvl="1" eaLnBrk="1" hangingPunct="1"/>
            <a:r>
              <a:rPr lang="en-US" altLang="en-US"/>
              <a:t>Java statements</a:t>
            </a:r>
          </a:p>
          <a:p>
            <a:pPr lvl="1" eaLnBrk="1" hangingPunct="1"/>
            <a:r>
              <a:rPr lang="en-US" altLang="en-US"/>
              <a:t>Methods from class libraries</a:t>
            </a:r>
          </a:p>
          <a:p>
            <a:pPr lvl="1" eaLnBrk="1" hangingPunct="1"/>
            <a:r>
              <a:rPr lang="en-US" altLang="en-US"/>
              <a:t>Programmer use of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US" altLang="en-US"/>
              <a:t> statement</a:t>
            </a:r>
          </a:p>
          <a:p>
            <a:pPr eaLnBrk="1" hangingPunct="1"/>
            <a:r>
              <a:rPr lang="en-US" altLang="en-US"/>
              <a:t>Method that might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US" altLang="en-US"/>
              <a:t> but not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an exception should use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en-US" altLang="en-US"/>
              <a:t> clause</a:t>
            </a:r>
          </a:p>
          <a:p>
            <a:pPr eaLnBrk="1" hangingPunct="1"/>
            <a:r>
              <a:rPr lang="en-US" altLang="en-US"/>
              <a:t>Exception is caught in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block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F00075C-9AC2-3F49-E108-AC153D2D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3717069B-9F2D-2FC3-904F-26A4B9CDD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/>
              <a:t> block followed by one or mor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blocks</a:t>
            </a:r>
          </a:p>
          <a:p>
            <a:pPr lvl="1" eaLnBrk="1" hangingPunct="1"/>
            <a:r>
              <a:rPr lang="en-US" altLang="en-US"/>
              <a:t>More specific exception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types should come first</a:t>
            </a:r>
          </a:p>
          <a:p>
            <a:pPr eaLnBrk="1" hangingPunct="1"/>
            <a:r>
              <a:rPr lang="en-US" altLang="en-US"/>
              <a:t>Every exception type has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getMessage</a:t>
            </a:r>
            <a:r>
              <a:rPr lang="en-US" altLang="en-US"/>
              <a:t> method usable to recover description of caught description</a:t>
            </a:r>
          </a:p>
          <a:p>
            <a:pPr eaLnBrk="1" hangingPunct="1"/>
            <a:r>
              <a:rPr lang="en-US" altLang="en-US"/>
              <a:t>Do not overuse exceptions</a:t>
            </a:r>
          </a:p>
          <a:p>
            <a:pPr eaLnBrk="1" hangingPunct="1"/>
            <a:r>
              <a:rPr lang="en-US" altLang="en-US"/>
              <a:t>Other GUI controls include radio buttons, check boxes, and spinners</a:t>
            </a:r>
          </a:p>
          <a:p>
            <a:pPr eaLnBrk="1" hangingPunct="1"/>
            <a:r>
              <a:rPr lang="en-US" altLang="en-US"/>
              <a:t>Mouse event handlers can capture button clicks and mouse motion</a:t>
            </a:r>
          </a:p>
          <a:p>
            <a:pPr eaLnBrk="1" hangingPunct="1"/>
            <a:r>
              <a:rPr lang="en-US" altLang="en-US"/>
              <a:t>The Timeline object is used for animation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</TotalTime>
  <Words>1448</Words>
  <Application>Microsoft Macintosh PowerPoint</Application>
  <PresentationFormat>On-screen Show (4:3)</PresentationFormat>
  <Paragraphs>236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 Light</vt:lpstr>
      <vt:lpstr>Calibri</vt:lpstr>
      <vt:lpstr>Courier New</vt:lpstr>
      <vt:lpstr>Office Theme</vt:lpstr>
      <vt:lpstr>Exception Handling</vt:lpstr>
      <vt:lpstr>Objectives</vt:lpstr>
      <vt:lpstr>Basic Exception Handling: Outline</vt:lpstr>
      <vt:lpstr>Exceptions in Java</vt:lpstr>
      <vt:lpstr>Exceptions in Java</vt:lpstr>
      <vt:lpstr>Exceptions in Java</vt:lpstr>
      <vt:lpstr>Exceptions in Java</vt:lpstr>
      <vt:lpstr>Exceptions in Java</vt:lpstr>
      <vt:lpstr>Exceptions in Java</vt:lpstr>
      <vt:lpstr>Predefined Exception Classes</vt:lpstr>
      <vt:lpstr>Predefined Exception Classes</vt:lpstr>
      <vt:lpstr>Defining Your Own Exception Classes</vt:lpstr>
      <vt:lpstr>Defining Your Own Exception Classes</vt:lpstr>
      <vt:lpstr>Defining Your Own Exception Classes</vt:lpstr>
      <vt:lpstr>Defining Your Own Exception Classes</vt:lpstr>
      <vt:lpstr>More About Exception Classes: Outline</vt:lpstr>
      <vt:lpstr>Declaring Exceptions</vt:lpstr>
      <vt:lpstr>Declaring Exceptions</vt:lpstr>
      <vt:lpstr>Declaring Exceptions</vt:lpstr>
      <vt:lpstr>Kinds  of Exceptions</vt:lpstr>
      <vt:lpstr>Kinds  of Exceptions</vt:lpstr>
      <vt:lpstr>Kinds  of Exceptions</vt:lpstr>
      <vt:lpstr>Kinds  of Exceptions</vt:lpstr>
      <vt:lpstr>Errors</vt:lpstr>
      <vt:lpstr>Multiple Throws and Catches</vt:lpstr>
      <vt:lpstr>Multiple Throws and Catches</vt:lpstr>
      <vt:lpstr>Multiple Throws and Catches</vt:lpstr>
      <vt:lpstr>The finally Block</vt:lpstr>
      <vt:lpstr>Rethrowing an Exception</vt:lpstr>
      <vt:lpstr>Case Study</vt:lpstr>
      <vt:lpstr>Case Study</vt:lpstr>
      <vt:lpstr>Case Study</vt:lpstr>
      <vt:lpstr>Case Study</vt:lpstr>
      <vt:lpstr>Case Study</vt:lpstr>
      <vt:lpstr>Graphics Supplement: Outline</vt:lpstr>
      <vt:lpstr>Additional User Controls</vt:lpstr>
      <vt:lpstr>Images and Shapes</vt:lpstr>
      <vt:lpstr>Mouse Click and Mouse Move Events</vt:lpstr>
      <vt:lpstr>Moving a Circle Object to the Mouse Location</vt:lpstr>
      <vt:lpstr>Timeline </vt:lpstr>
      <vt:lpstr>Summary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</dc:title>
  <dc:creator>Steve Armstrong</dc:creator>
  <cp:lastModifiedBy>Muhammad Asaduzzaman</cp:lastModifiedBy>
  <cp:revision>70</cp:revision>
  <dcterms:created xsi:type="dcterms:W3CDTF">2007-10-18T00:00:25Z</dcterms:created>
  <dcterms:modified xsi:type="dcterms:W3CDTF">2024-10-22T17:35:16Z</dcterms:modified>
</cp:coreProperties>
</file>